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5" name="Image 0" descr="/home/claude/pyadventure/icon_snake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8668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713232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HYI.AI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722376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 3 CONTENT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 HYI.AI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7223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ADVENTURE — BECOME A PYTHON EXPLORER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7223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game-style journey through your first lines of Python — earn XP, complete missions, and defeat the Boss Battle.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343400"/>
            <a:ext cx="2468880" cy="594360"/>
          </a:xfrm>
          <a:prstGeom prst="roundRect">
            <a:avLst>
              <a:gd name="adj" fmla="val 49231"/>
            </a:avLst>
          </a:prstGeom>
          <a:solidFill>
            <a:srgbClr val="F4B740"/>
          </a:solidFill>
        </p:spPr>
      </p:sp>
      <p:pic>
        <p:nvPicPr>
          <p:cNvPr id="11" name="Image 1" descr="/home/claude/pyadventure/icon_play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4805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343400"/>
            <a:ext cx="1920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ADVENTURE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520440" y="4343400"/>
            <a:ext cx="1371600" cy="594360"/>
          </a:xfrm>
          <a:prstGeom prst="roundRect">
            <a:avLst>
              <a:gd name="adj" fmla="val 15385"/>
            </a:avLst>
          </a:prstGeom>
          <a:solidFill>
            <a:srgbClr val="2C23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520440" y="4343400"/>
            <a:ext cx="1371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51937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 0 / 500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5486400"/>
            <a:ext cx="4069080" cy="164592"/>
          </a:xfrm>
          <a:prstGeom prst="roundRect">
            <a:avLst>
              <a:gd name="adj" fmla="val 50000"/>
            </a:avLst>
          </a:prstGeom>
          <a:solidFill>
            <a:srgbClr val="2C2350"/>
          </a:solidFill>
        </p:spPr>
      </p:sp>
      <p:sp>
        <p:nvSpPr>
          <p:cNvPr id="17" name="Shape 13"/>
          <p:cNvSpPr/>
          <p:nvPr/>
        </p:nvSpPr>
        <p:spPr>
          <a:xfrm>
            <a:off x="822960" y="5486400"/>
            <a:ext cx="109728" cy="164592"/>
          </a:xfrm>
          <a:prstGeom prst="roundRect">
            <a:avLst>
              <a:gd name="adj" fmla="val 75000"/>
            </a:avLst>
          </a:prstGeom>
          <a:solidFill>
            <a:srgbClr val="F4B740"/>
          </a:solidFill>
        </p:spPr>
      </p:sp>
      <p:sp>
        <p:nvSpPr>
          <p:cNvPr id="18" name="Shape 14"/>
          <p:cNvSpPr/>
          <p:nvPr/>
        </p:nvSpPr>
        <p:spPr>
          <a:xfrm>
            <a:off x="822960" y="5897880"/>
            <a:ext cx="6035040" cy="502920"/>
          </a:xfrm>
          <a:prstGeom prst="roundRect">
            <a:avLst>
              <a:gd name="adj" fmla="val 18182"/>
            </a:avLst>
          </a:prstGeom>
          <a:solidFill>
            <a:srgbClr val="2C2350"/>
          </a:solidFill>
        </p:spPr>
      </p:sp>
      <p:sp>
        <p:nvSpPr>
          <p:cNvPr id="19" name="Text 15"/>
          <p:cNvSpPr/>
          <p:nvPr/>
        </p:nvSpPr>
        <p:spPr>
          <a:xfrm>
            <a:off x="1005840" y="5897880"/>
            <a:ext cx="5669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4B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“Think first. Code second. Debug fearlessly.”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366760" y="1463040"/>
            <a:ext cx="3017520" cy="4023360"/>
          </a:xfrm>
          <a:prstGeom prst="roundRect">
            <a:avLst>
              <a:gd name="adj" fmla="val 5455"/>
            </a:avLst>
          </a:prstGeom>
          <a:solidFill>
            <a:srgbClr val="241B4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89720" y="2011680"/>
            <a:ext cx="1371600" cy="137160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2" name="Image 2" descr="/home/claude/pyadventure/icon_snake_go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2" y="2313432"/>
            <a:ext cx="768096" cy="7680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3611880"/>
            <a:ext cx="2468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49640" y="420624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Rookie Coder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49640" y="470916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Missions: 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9509760" y="470916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49640" y="507492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Badges: 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509760" y="507492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String?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20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1240201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5577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sequence of characters — letters, numbers, symbols — wrapped in quotes.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1396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2" name="Shape 10"/>
          <p:cNvSpPr/>
          <p:nvPr/>
        </p:nvSpPr>
        <p:spPr>
          <a:xfrm>
            <a:off x="868680" y="21396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3" name="Shape 11"/>
          <p:cNvSpPr/>
          <p:nvPr/>
        </p:nvSpPr>
        <p:spPr>
          <a:xfrm>
            <a:off x="1069848" y="21396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4" name="Text 12"/>
          <p:cNvSpPr/>
          <p:nvPr/>
        </p:nvSpPr>
        <p:spPr>
          <a:xfrm>
            <a:off x="704088" y="2395728"/>
            <a:ext cx="4946904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"Python"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greeting = 'Hello there'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multi = """Multiple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lines"""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5349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quotes, double quotes, or triple quotes — all make a string.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F3EDFE"/>
          </a:solidFill>
        </p:spPr>
      </p:sp>
      <p:sp>
        <p:nvSpPr>
          <p:cNvPr id="17" name="Shape 15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8" name="Image 0" descr="/home/claude/pyadventure/icon_quot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CHARACTERS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82512" y="2286000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223760" y="2286000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82512" y="2670048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23760" y="2670048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space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82512" y="3054096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\"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23760" y="3054096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inside a string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82512" y="3438144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\\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223760" y="3438144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backslash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82512" y="3794760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547104" y="392277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30" name="Shape 27"/>
          <p:cNvSpPr/>
          <p:nvPr/>
        </p:nvSpPr>
        <p:spPr>
          <a:xfrm>
            <a:off x="6748272" y="392277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31" name="Shape 28"/>
          <p:cNvSpPr/>
          <p:nvPr/>
        </p:nvSpPr>
        <p:spPr>
          <a:xfrm>
            <a:off x="6949440" y="392277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32" name="Text 29"/>
          <p:cNvSpPr/>
          <p:nvPr/>
        </p:nvSpPr>
        <p:spPr>
          <a:xfrm>
            <a:off x="6583680" y="4178808"/>
            <a:ext cx="4718304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print("She said \"Python is fun!\"")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466344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4C1D95"/>
          </a:solidFill>
        </p:spPr>
      </p:sp>
      <p:sp>
        <p:nvSpPr>
          <p:cNvPr id="34" name="Shape 31"/>
          <p:cNvSpPr/>
          <p:nvPr/>
        </p:nvSpPr>
        <p:spPr>
          <a:xfrm>
            <a:off x="713232" y="4828032"/>
            <a:ext cx="457200" cy="45720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35" name="Image 1" descr="/home/claude/pyadventure/icon_gamepad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4928616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298448" y="4855464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31520" y="5193792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your name using single quotes, then double quotes.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Indexing &amp; Slicing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40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2480401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5577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in a string has a position — starting at 0 from the left, -1 from the right.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F3ED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87752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1D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286000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08760" y="2587752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F3ED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2587752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1D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64408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286000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2587752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F3ED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587752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1D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377440" y="3264408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2286000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587752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F3ED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587752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1D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46120" y="3264408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2286000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2587752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F3ED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2587752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1D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114800" y="3264408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2286000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2587752"/>
            <a:ext cx="731520" cy="640080"/>
          </a:xfrm>
          <a:prstGeom prst="roundRect">
            <a:avLst>
              <a:gd name="adj" fmla="val 11429"/>
            </a:avLst>
          </a:prstGeom>
          <a:solidFill>
            <a:srgbClr val="F3ED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587752"/>
            <a:ext cx="731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1D9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83480" y="3264408"/>
            <a:ext cx="777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84048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7512" y="39684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36" name="Shape 34"/>
          <p:cNvSpPr/>
          <p:nvPr/>
        </p:nvSpPr>
        <p:spPr>
          <a:xfrm>
            <a:off x="868680" y="39684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37" name="Shape 35"/>
          <p:cNvSpPr/>
          <p:nvPr/>
        </p:nvSpPr>
        <p:spPr>
          <a:xfrm>
            <a:off x="1069848" y="39684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38" name="Text 36"/>
          <p:cNvSpPr/>
          <p:nvPr/>
        </p:nvSpPr>
        <p:spPr>
          <a:xfrm>
            <a:off x="704088" y="4224528"/>
            <a:ext cx="494690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word = "PYTHON"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print(word[0])    # P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print(word[-1])   # 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72200" y="1554480"/>
            <a:ext cx="5532120" cy="3246120"/>
          </a:xfrm>
          <a:prstGeom prst="roundRect">
            <a:avLst>
              <a:gd name="adj" fmla="val 3944"/>
            </a:avLst>
          </a:prstGeom>
          <a:solidFill>
            <a:srgbClr val="4C1D95"/>
          </a:solidFill>
        </p:spPr>
      </p:sp>
      <p:sp>
        <p:nvSpPr>
          <p:cNvPr id="40" name="Shape 38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41" name="Image 0" descr="/home/claude/pyadventure/icon_cut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— word[start:stop]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6382512" y="224028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547104" y="23682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45" name="Shape 42"/>
          <p:cNvSpPr/>
          <p:nvPr/>
        </p:nvSpPr>
        <p:spPr>
          <a:xfrm>
            <a:off x="6748272" y="23682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46" name="Shape 43"/>
          <p:cNvSpPr/>
          <p:nvPr/>
        </p:nvSpPr>
        <p:spPr>
          <a:xfrm>
            <a:off x="6949440" y="23682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47" name="Text 44"/>
          <p:cNvSpPr/>
          <p:nvPr/>
        </p:nvSpPr>
        <p:spPr>
          <a:xfrm>
            <a:off x="6583680" y="2624328"/>
            <a:ext cx="4718304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word = "PYTHON"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print(word[0:3])   # PYT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print(word[2:])    # THON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print(word[:4])    # PYTH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print(word[::-1])  # NOHTYP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word[1:4]  ·  word[-3:]  ·  word[::2]  — what do they print?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String Methods — Clean &amp;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60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3720602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Text 7"/>
          <p:cNvSpPr/>
          <p:nvPr/>
        </p:nvSpPr>
        <p:spPr>
          <a:xfrm>
            <a:off x="502920" y="1508760"/>
            <a:ext cx="5577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are built-in actions you can call on a string with a dot — string.method().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232257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2" name="Shape 10"/>
          <p:cNvSpPr/>
          <p:nvPr/>
        </p:nvSpPr>
        <p:spPr>
          <a:xfrm>
            <a:off x="868680" y="232257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3" name="Shape 11"/>
          <p:cNvSpPr/>
          <p:nvPr/>
        </p:nvSpPr>
        <p:spPr>
          <a:xfrm>
            <a:off x="1069848" y="232257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4" name="Text 12"/>
          <p:cNvSpPr/>
          <p:nvPr/>
        </p:nvSpPr>
        <p:spPr>
          <a:xfrm>
            <a:off x="704088" y="2578608"/>
            <a:ext cx="4946904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  rahul sharma  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print(name.strip())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print(name.upper())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print(name.title())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print(len(name))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5532120" cy="3703320"/>
          </a:xfrm>
          <a:prstGeom prst="roundRect">
            <a:avLst>
              <a:gd name="adj" fmla="val 3457"/>
            </a:avLst>
          </a:prstGeom>
          <a:solidFill>
            <a:srgbClr val="F3EDFE"/>
          </a:solidFill>
        </p:spPr>
      </p:sp>
      <p:sp>
        <p:nvSpPr>
          <p:cNvPr id="16" name="Shape 14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7" name="Image 0" descr="/home/claude/pyadventure/icon_palett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CHEAT SHEET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82512" y="228600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.upper()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21040" y="22860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82512" y="2852928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.lower()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21040" y="2852928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lowercase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82512" y="3419856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.title()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21040" y="3419856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Capitalized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82512" y="3986784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.strip()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21040" y="3986784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outer spaces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82512" y="4553712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len()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321040" y="4553712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the characters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String Methods — Search &amp;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70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4509821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Shape 7"/>
          <p:cNvSpPr/>
          <p:nvPr/>
        </p:nvSpPr>
        <p:spPr>
          <a:xfrm>
            <a:off x="502920" y="155448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" y="16824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1" name="Shape 9"/>
          <p:cNvSpPr/>
          <p:nvPr/>
        </p:nvSpPr>
        <p:spPr>
          <a:xfrm>
            <a:off x="868680" y="16824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2" name="Shape 10"/>
          <p:cNvSpPr/>
          <p:nvPr/>
        </p:nvSpPr>
        <p:spPr>
          <a:xfrm>
            <a:off x="1069848" y="16824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3" name="Text 11"/>
          <p:cNvSpPr/>
          <p:nvPr/>
        </p:nvSpPr>
        <p:spPr>
          <a:xfrm>
            <a:off x="704088" y="1938528"/>
            <a:ext cx="4946904" cy="2514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sentence = "python is fun and python is powerful"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print(sentence.count("python"))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print(sentence.find("fun"))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print(sentence.replace("fun", "cool"))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words = sentence.split()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print("-".join(words))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532120" cy="3017520"/>
          </a:xfrm>
          <a:prstGeom prst="roundRect">
            <a:avLst>
              <a:gd name="adj" fmla="val 4242"/>
            </a:avLst>
          </a:prstGeom>
          <a:solidFill>
            <a:srgbClr val="4C1D95"/>
          </a:solidFill>
        </p:spPr>
      </p:sp>
      <p:sp>
        <p:nvSpPr>
          <p:cNvPr id="15" name="Shape 13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6" name="Image 0" descr="/home/claude/pyadventure/icon_search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SPLIT METHODS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82512" y="219456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.count(x)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0" y="2194560"/>
            <a:ext cx="3108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x appears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82512" y="269748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.find(x)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2697480"/>
            <a:ext cx="3108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where x starts, or -1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82512" y="320040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.replace(a,b)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12480" y="3200400"/>
            <a:ext cx="3108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a for b everywhere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82512" y="370332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.split()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12480" y="3703320"/>
            <a:ext cx="3108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text into a list of words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82512" y="420624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.join(list)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4206240"/>
            <a:ext cx="31089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glues a list back into text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480060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use .count() to find how many times your name repeats in a sentence you write.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Joining, Repeating &amp; Formatting Text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90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5637276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365760"/>
          </a:xfrm>
          <a:prstGeom prst="roundRect">
            <a:avLst>
              <a:gd name="adj" fmla="val 25000"/>
            </a:avLst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502920" y="155448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CONCATENATION   ·   * REPETITION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" y="218541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3" name="Shape 11"/>
          <p:cNvSpPr/>
          <p:nvPr/>
        </p:nvSpPr>
        <p:spPr>
          <a:xfrm>
            <a:off x="868680" y="218541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4" name="Shape 12"/>
          <p:cNvSpPr/>
          <p:nvPr/>
        </p:nvSpPr>
        <p:spPr>
          <a:xfrm>
            <a:off x="1069848" y="218541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5" name="Text 13"/>
          <p:cNvSpPr/>
          <p:nvPr/>
        </p:nvSpPr>
        <p:spPr>
          <a:xfrm>
            <a:off x="704088" y="2441448"/>
            <a:ext cx="4992624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first = "Py"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second = "thon"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print(first + second)   # Python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print("=" * 10)          # ==========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FFF3D6"/>
          </a:solidFill>
        </p:spPr>
      </p:sp>
      <p:sp>
        <p:nvSpPr>
          <p:cNvPr id="17" name="Text 15"/>
          <p:cNvSpPr/>
          <p:nvPr/>
        </p:nvSpPr>
        <p:spPr>
          <a:xfrm>
            <a:off x="731520" y="393192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STRINGS ARE IMMUTABLE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4224528"/>
            <a:ext cx="49377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change a character directly — word[0] = "J" fails. Instead, build a new string.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5532120" cy="365760"/>
          </a:xfrm>
          <a:prstGeom prst="roundRect">
            <a:avLst>
              <a:gd name="adj" fmla="val 25000"/>
            </a:avLst>
          </a:prstGeom>
          <a:solidFill>
            <a:srgbClr val="4C1D95"/>
          </a:solidFill>
        </p:spPr>
      </p:sp>
      <p:sp>
        <p:nvSpPr>
          <p:cNvPr id="20" name="Text 18"/>
          <p:cNvSpPr/>
          <p:nvPr/>
        </p:nvSpPr>
        <p:spPr>
          <a:xfrm>
            <a:off x="6172200" y="1554480"/>
            <a:ext cx="5532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— QUICK RECAP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2057400"/>
            <a:ext cx="5532120" cy="1600200"/>
          </a:xfrm>
          <a:prstGeom prst="roundRect">
            <a:avLst>
              <a:gd name="adj" fmla="val 5143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36792" y="218541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23" name="Shape 21"/>
          <p:cNvSpPr/>
          <p:nvPr/>
        </p:nvSpPr>
        <p:spPr>
          <a:xfrm>
            <a:off x="6537960" y="218541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24" name="Shape 22"/>
          <p:cNvSpPr/>
          <p:nvPr/>
        </p:nvSpPr>
        <p:spPr>
          <a:xfrm>
            <a:off x="6739128" y="218541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25" name="Text 23"/>
          <p:cNvSpPr/>
          <p:nvPr/>
        </p:nvSpPr>
        <p:spPr>
          <a:xfrm>
            <a:off x="6373368" y="2441448"/>
            <a:ext cx="5129784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"Rahul"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age = 15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print(f"Hello, {name}! You are {age}.")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3794760"/>
            <a:ext cx="5532120" cy="1417320"/>
          </a:xfrm>
          <a:prstGeom prst="roundRect">
            <a:avLst>
              <a:gd name="adj" fmla="val 7742"/>
            </a:avLst>
          </a:prstGeom>
          <a:solidFill>
            <a:srgbClr val="F3EDFE"/>
          </a:solidFill>
        </p:spPr>
      </p:sp>
      <p:sp>
        <p:nvSpPr>
          <p:cNvPr id="27" name="Text 25"/>
          <p:cNvSpPr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4224528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can hold any expression inside { } — even a method call, like f"{name.upper()}".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Mission — Palindrome Checker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110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6877477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F3EDFE"/>
          </a:solidFill>
        </p:spPr>
      </p:sp>
      <p:sp>
        <p:nvSpPr>
          <p:cNvPr id="10" name="Shape 8"/>
          <p:cNvSpPr/>
          <p:nvPr/>
        </p:nvSpPr>
        <p:spPr>
          <a:xfrm>
            <a:off x="713232" y="1719072"/>
            <a:ext cx="457200" cy="45720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1" name="Image 0" descr="/home/claude/pyadventure/icon_puzzl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1965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8448" y="1755648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2103120"/>
            <a:ext cx="49377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palindrome reads the same forwards and backwards — like ‘madam’ or ‘level’. Write a program to check if a word is a palindrome.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92608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" y="305409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6" name="Shape 13"/>
          <p:cNvSpPr/>
          <p:nvPr/>
        </p:nvSpPr>
        <p:spPr>
          <a:xfrm>
            <a:off x="868680" y="305409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7" name="Shape 14"/>
          <p:cNvSpPr/>
          <p:nvPr/>
        </p:nvSpPr>
        <p:spPr>
          <a:xfrm>
            <a:off x="1069848" y="305409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8" name="Text 15"/>
          <p:cNvSpPr/>
          <p:nvPr/>
        </p:nvSpPr>
        <p:spPr>
          <a:xfrm>
            <a:off x="704088" y="3310128"/>
            <a:ext cx="4992624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word = "madam"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reversed_word = word[::-1]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word == reversed_word: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print("Palindrome!")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else: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print("Not a palindrome")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72200" y="1554480"/>
            <a:ext cx="5532120" cy="3520440"/>
          </a:xfrm>
          <a:prstGeom prst="roundRect">
            <a:avLst>
              <a:gd name="adj" fmla="val 3636"/>
            </a:avLst>
          </a:prstGeom>
          <a:solidFill>
            <a:srgbClr val="4C1D95"/>
          </a:solidFill>
        </p:spPr>
      </p:sp>
      <p:sp>
        <p:nvSpPr>
          <p:cNvPr id="20" name="Shape 17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1" name="Image 1" descr="/home/claude/pyadventure/icon_gamepad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382512" y="2212848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checker on each word below — palindrome or not?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382512" y="2651760"/>
            <a:ext cx="5120640" cy="438912"/>
          </a:xfrm>
          <a:prstGeom prst="roundRect">
            <a:avLst>
              <a:gd name="adj" fmla="val 18750"/>
            </a:avLst>
          </a:prstGeom>
          <a:solidFill>
            <a:srgbClr val="241B44"/>
          </a:solidFill>
        </p:spPr>
      </p:sp>
      <p:sp>
        <p:nvSpPr>
          <p:cNvPr id="25" name="Text 21"/>
          <p:cNvSpPr/>
          <p:nvPr/>
        </p:nvSpPr>
        <p:spPr>
          <a:xfrm>
            <a:off x="6537960" y="2651760"/>
            <a:ext cx="3291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"level"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10104120" y="271576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104120" y="2715768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382512" y="3218688"/>
            <a:ext cx="5120640" cy="438912"/>
          </a:xfrm>
          <a:prstGeom prst="roundRect">
            <a:avLst>
              <a:gd name="adj" fmla="val 18750"/>
            </a:avLst>
          </a:prstGeom>
          <a:solidFill>
            <a:srgbClr val="241B44"/>
          </a:solidFill>
        </p:spPr>
      </p:sp>
      <p:sp>
        <p:nvSpPr>
          <p:cNvPr id="29" name="Text 25"/>
          <p:cNvSpPr/>
          <p:nvPr/>
        </p:nvSpPr>
        <p:spPr>
          <a:xfrm>
            <a:off x="6537960" y="3218688"/>
            <a:ext cx="3291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"python"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10104120" y="32826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104120" y="3282696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382512" y="3785616"/>
            <a:ext cx="5120640" cy="438912"/>
          </a:xfrm>
          <a:prstGeom prst="roundRect">
            <a:avLst>
              <a:gd name="adj" fmla="val 18750"/>
            </a:avLst>
          </a:prstGeom>
          <a:solidFill>
            <a:srgbClr val="241B44"/>
          </a:solidFill>
        </p:spPr>
      </p:sp>
      <p:sp>
        <p:nvSpPr>
          <p:cNvPr id="33" name="Text 29"/>
          <p:cNvSpPr/>
          <p:nvPr/>
        </p:nvSpPr>
        <p:spPr>
          <a:xfrm>
            <a:off x="6537960" y="3785616"/>
            <a:ext cx="3291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"racecar"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104120" y="384962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104120" y="3849624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382512" y="4352544"/>
            <a:ext cx="5120640" cy="438912"/>
          </a:xfrm>
          <a:prstGeom prst="roundRect">
            <a:avLst>
              <a:gd name="adj" fmla="val 18750"/>
            </a:avLst>
          </a:prstGeom>
          <a:solidFill>
            <a:srgbClr val="241B44"/>
          </a:solidFill>
        </p:spPr>
      </p:sp>
      <p:sp>
        <p:nvSpPr>
          <p:cNvPr id="37" name="Text 33"/>
          <p:cNvSpPr/>
          <p:nvPr/>
        </p:nvSpPr>
        <p:spPr>
          <a:xfrm>
            <a:off x="6537960" y="4352544"/>
            <a:ext cx="32918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"noon"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10104120" y="441655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3A2E5C"/>
          </a:solidFill>
          <a:ln w="9525">
            <a:solidFill>
              <a:srgbClr val="F4B74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104120" y="4416552"/>
            <a:ext cx="12344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String Puzzle Boss Battle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5/5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130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8" name="Shape 6"/>
          <p:cNvSpPr/>
          <p:nvPr/>
        </p:nvSpPr>
        <p:spPr>
          <a:xfrm>
            <a:off x="457200" y="6510528"/>
            <a:ext cx="8117677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9" name="Shape 7"/>
          <p:cNvSpPr/>
          <p:nvPr/>
        </p:nvSpPr>
        <p:spPr>
          <a:xfrm>
            <a:off x="502920" y="1554480"/>
            <a:ext cx="5394960" cy="3520440"/>
          </a:xfrm>
          <a:prstGeom prst="roundRect">
            <a:avLst>
              <a:gd name="adj" fmla="val 3636"/>
            </a:avLst>
          </a:prstGeom>
          <a:solidFill>
            <a:srgbClr val="F3EDFE"/>
          </a:solidFill>
        </p:spPr>
      </p:sp>
      <p:sp>
        <p:nvSpPr>
          <p:cNvPr id="10" name="Shape 8"/>
          <p:cNvSpPr/>
          <p:nvPr/>
        </p:nvSpPr>
        <p:spPr>
          <a:xfrm>
            <a:off x="713232" y="1737360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1" name="Image 0" descr="/home/claude/pyadventure/icon_puzzl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874" y="1848002"/>
            <a:ext cx="281635" cy="281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8448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2286000"/>
            <a:ext cx="329184" cy="32918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4" name="Text 11"/>
          <p:cNvSpPr/>
          <p:nvPr/>
        </p:nvSpPr>
        <p:spPr>
          <a:xfrm>
            <a:off x="731520" y="228600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2258568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vowels in "programming"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2971800"/>
            <a:ext cx="329184" cy="32918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7" name="Text 14"/>
          <p:cNvSpPr/>
          <p:nvPr/>
        </p:nvSpPr>
        <p:spPr>
          <a:xfrm>
            <a:off x="731520" y="297180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2944368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string "python"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3657600"/>
            <a:ext cx="329184" cy="329184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0" name="Text 17"/>
          <p:cNvSpPr/>
          <p:nvPr/>
        </p:nvSpPr>
        <p:spPr>
          <a:xfrm>
            <a:off x="731520" y="365760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3630168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longest word in "the quick brown fox"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4434840"/>
            <a:ext cx="4937760" cy="548640"/>
          </a:xfrm>
          <a:prstGeom prst="roundRect">
            <a:avLst>
              <a:gd name="adj" fmla="val 16667"/>
            </a:avLst>
          </a:prstGeom>
          <a:solidFill>
            <a:srgbClr val="E7F8EC"/>
          </a:solidFill>
        </p:spPr>
      </p:sp>
      <p:sp>
        <p:nvSpPr>
          <p:cNvPr id="23" name="Text 20"/>
          <p:cNvSpPr/>
          <p:nvPr/>
        </p:nvSpPr>
        <p:spPr>
          <a:xfrm>
            <a:off x="731520" y="4434840"/>
            <a:ext cx="4937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= +15 XP each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72200" y="1554480"/>
            <a:ext cx="5532120" cy="3520440"/>
          </a:xfrm>
          <a:prstGeom prst="roundRect">
            <a:avLst>
              <a:gd name="adj" fmla="val 3636"/>
            </a:avLst>
          </a:prstGeom>
          <a:solidFill>
            <a:srgbClr val="4C1D95"/>
          </a:solidFill>
        </p:spPr>
      </p:sp>
      <p:sp>
        <p:nvSpPr>
          <p:cNvPr id="25" name="Shape 22"/>
          <p:cNvSpPr/>
          <p:nvPr/>
        </p:nvSpPr>
        <p:spPr>
          <a:xfrm>
            <a:off x="6382512" y="1737360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6" name="Image 1" descr="/home/claude/pyadventure/icon_bolt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48002"/>
            <a:ext cx="281635" cy="28163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COUNTER — STARTER CODE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382512" y="2194560"/>
            <a:ext cx="5120640" cy="2697480"/>
          </a:xfrm>
          <a:prstGeom prst="roundRect">
            <a:avLst>
              <a:gd name="adj" fmla="val 3051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547104" y="232257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30" name="Shape 26"/>
          <p:cNvSpPr/>
          <p:nvPr/>
        </p:nvSpPr>
        <p:spPr>
          <a:xfrm>
            <a:off x="6748272" y="232257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31" name="Shape 27"/>
          <p:cNvSpPr/>
          <p:nvPr/>
        </p:nvSpPr>
        <p:spPr>
          <a:xfrm>
            <a:off x="6949440" y="232257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32" name="Text 28"/>
          <p:cNvSpPr/>
          <p:nvPr/>
        </p:nvSpPr>
        <p:spPr>
          <a:xfrm>
            <a:off x="6583680" y="2578608"/>
            <a:ext cx="4718304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 = "programming"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vowels = "aeiou"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count = 0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ch in text: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ch in vowels: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count = count + 1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print(count)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778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5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Practice Arena &amp; Debugging Arena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EAE0FB"/>
          </a:solidFill>
        </p:spPr>
      </p:sp>
      <p:sp>
        <p:nvSpPr>
          <p:cNvPr id="7" name="Shape 5"/>
          <p:cNvSpPr/>
          <p:nvPr/>
        </p:nvSpPr>
        <p:spPr>
          <a:xfrm>
            <a:off x="457200" y="6510528"/>
            <a:ext cx="9921606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8" name="Shape 6"/>
          <p:cNvSpPr/>
          <p:nvPr/>
        </p:nvSpPr>
        <p:spPr>
          <a:xfrm>
            <a:off x="502920" y="1554480"/>
            <a:ext cx="5394960" cy="3703320"/>
          </a:xfrm>
          <a:prstGeom prst="roundRect">
            <a:avLst>
              <a:gd name="adj" fmla="val 3457"/>
            </a:avLst>
          </a:prstGeom>
          <a:solidFill>
            <a:srgbClr val="F3EDFE"/>
          </a:solidFill>
        </p:spPr>
      </p:sp>
      <p:sp>
        <p:nvSpPr>
          <p:cNvPr id="9" name="Shape 7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rgbClr val="7C3AED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10" name="Image 0" descr="/home/claude/pyadventure/icon_fla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66290"/>
            <a:ext cx="281635" cy="2816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8308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PRACTICE MISSIONS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Reverse any word the user types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238658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</p:spPr>
      </p:sp>
      <p:sp>
        <p:nvSpPr>
          <p:cNvPr id="14" name="Text 11"/>
          <p:cNvSpPr/>
          <p:nvPr/>
        </p:nvSpPr>
        <p:spPr>
          <a:xfrm>
            <a:off x="4389120" y="238658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288036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 how many times a letter appears in a word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0" y="293522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F9D55"/>
          </a:solidFill>
        </p:spPr>
      </p:sp>
      <p:sp>
        <p:nvSpPr>
          <p:cNvPr id="17" name="Text 14"/>
          <p:cNvSpPr/>
          <p:nvPr/>
        </p:nvSpPr>
        <p:spPr>
          <a:xfrm>
            <a:off x="4389120" y="293522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31520" y="342900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if two strings are equal, ignoring case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89120" y="348386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</p:spPr>
      </p:sp>
      <p:sp>
        <p:nvSpPr>
          <p:cNvPr id="20" name="Text 17"/>
          <p:cNvSpPr/>
          <p:nvPr/>
        </p:nvSpPr>
        <p:spPr>
          <a:xfrm>
            <a:off x="4389120" y="348386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" y="397764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 mad-libs sentence using f-strings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0" y="40325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8A1E"/>
          </a:solidFill>
        </p:spPr>
      </p:sp>
      <p:sp>
        <p:nvSpPr>
          <p:cNvPr id="23" name="Text 20"/>
          <p:cNvSpPr/>
          <p:nvPr/>
        </p:nvSpPr>
        <p:spPr>
          <a:xfrm>
            <a:off x="4389120" y="403250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31520" y="4526280"/>
            <a:ext cx="3566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password strength (length &gt;= 8)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89120" y="458114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</p:sp>
      <p:sp>
        <p:nvSpPr>
          <p:cNvPr id="26" name="Text 23"/>
          <p:cNvSpPr/>
          <p:nvPr/>
        </p:nvSpPr>
        <p:spPr>
          <a:xfrm>
            <a:off x="4389120" y="4581144"/>
            <a:ext cx="1371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554480"/>
            <a:ext cx="5532120" cy="3703320"/>
          </a:xfrm>
          <a:prstGeom prst="roundRect">
            <a:avLst>
              <a:gd name="adj" fmla="val 3457"/>
            </a:avLst>
          </a:prstGeom>
          <a:solidFill>
            <a:srgbClr val="1B1533"/>
          </a:solidFill>
        </p:spPr>
      </p:sp>
      <p:sp>
        <p:nvSpPr>
          <p:cNvPr id="28" name="Shape 25"/>
          <p:cNvSpPr/>
          <p:nvPr/>
        </p:nvSpPr>
        <p:spPr>
          <a:xfrm>
            <a:off x="6382512" y="1755648"/>
            <a:ext cx="502920" cy="50292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29" name="Image 1" descr="/home/claude/pyadventure/icon_bug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154" y="1866290"/>
            <a:ext cx="281635" cy="28163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95160" y="17830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CODE DETECTIVE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382512" y="228600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</p:spPr>
      </p:sp>
      <p:sp>
        <p:nvSpPr>
          <p:cNvPr id="32" name="Text 28"/>
          <p:cNvSpPr/>
          <p:nvPr/>
        </p:nvSpPr>
        <p:spPr>
          <a:xfrm>
            <a:off x="6537960" y="235915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537960" y="2615184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 = "Rahul   print(name)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382512" y="329184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</p:spPr>
      </p:sp>
      <p:sp>
        <p:nvSpPr>
          <p:cNvPr id="35" name="Text 31"/>
          <p:cNvSpPr/>
          <p:nvPr/>
        </p:nvSpPr>
        <p:spPr>
          <a:xfrm>
            <a:off x="6537960" y="336499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537960" y="3621024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word = "Python"   print(word[10])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382512" y="429768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241B44"/>
          </a:solidFill>
        </p:spPr>
      </p:sp>
      <p:sp>
        <p:nvSpPr>
          <p:cNvPr id="38" name="Text 34"/>
          <p:cNvSpPr/>
          <p:nvPr/>
        </p:nvSpPr>
        <p:spPr>
          <a:xfrm>
            <a:off x="6537960" y="4370832"/>
            <a:ext cx="1188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537960" y="4626864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 = "hello"   text[0] = "H"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System:  Correct answer +10 · Output prediction +15 · Debugging +20 · Challenge complete +30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3" name="Shape 1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4C1D95"/>
          </a:solidFill>
        </p:spPr>
      </p:sp>
      <p:sp>
        <p:nvSpPr>
          <p:cNvPr id="4" name="Shape 2"/>
          <p:cNvSpPr/>
          <p:nvPr/>
        </p:nvSpPr>
        <p:spPr>
          <a:xfrm>
            <a:off x="502920" y="457200"/>
            <a:ext cx="594360" cy="59436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5" name="Image 0" descr="/home/claude/pyadventure/icon_lock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587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5720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⚔ FINAL BOSS — SECRET MESSAGE ENCODER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0195560" y="3200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8" name="Text 5"/>
          <p:cNvSpPr/>
          <p:nvPr/>
        </p:nvSpPr>
        <p:spPr>
          <a:xfrm>
            <a:off x="10195560" y="320040"/>
            <a:ext cx="1691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BOSS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195560" y="8046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170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3A2E5C"/>
          </a:solidFill>
        </p:spPr>
      </p:sp>
      <p:sp>
        <p:nvSpPr>
          <p:cNvPr id="11" name="Shape 8"/>
          <p:cNvSpPr/>
          <p:nvPr/>
        </p:nvSpPr>
        <p:spPr>
          <a:xfrm>
            <a:off x="457200" y="6510528"/>
            <a:ext cx="11274552" cy="109728"/>
          </a:xfrm>
          <a:prstGeom prst="roundRect">
            <a:avLst>
              <a:gd name="adj" fmla="val 50000"/>
            </a:avLst>
          </a:prstGeom>
          <a:solidFill>
            <a:srgbClr val="F4B740"/>
          </a:solidFill>
        </p:spPr>
      </p:sp>
      <p:sp>
        <p:nvSpPr>
          <p:cNvPr id="12" name="Shape 9"/>
          <p:cNvSpPr/>
          <p:nvPr/>
        </p:nvSpPr>
        <p:spPr>
          <a:xfrm>
            <a:off x="502920" y="1371600"/>
            <a:ext cx="5623560" cy="1051560"/>
          </a:xfrm>
          <a:prstGeom prst="roundRect">
            <a:avLst>
              <a:gd name="adj" fmla="val 10435"/>
            </a:avLst>
          </a:prstGeom>
          <a:solidFill>
            <a:srgbClr val="241B44"/>
          </a:solidFill>
        </p:spPr>
      </p:sp>
      <p:sp>
        <p:nvSpPr>
          <p:cNvPr id="13" name="Text 10"/>
          <p:cNvSpPr/>
          <p:nvPr/>
        </p:nvSpPr>
        <p:spPr>
          <a:xfrm>
            <a:off x="731520" y="1371600"/>
            <a:ext cx="516636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secret message, reverse it, then uppercase it to encode it — and reverse the process to decode.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2606040"/>
            <a:ext cx="5623560" cy="1783080"/>
          </a:xfrm>
          <a:prstGeom prst="roundRect">
            <a:avLst>
              <a:gd name="adj" fmla="val 4615"/>
            </a:avLst>
          </a:prstGeom>
          <a:solidFill>
            <a:srgbClr val="1B1533"/>
          </a:solidFill>
          <a:effectLst>
            <a:outerShdw blurRad="101600" dist="38100" dir="5400000" algn="bl" rotWithShape="0">
              <a:srgbClr val="1B1533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" y="2734056"/>
            <a:ext cx="100584" cy="100584"/>
          </a:xfrm>
          <a:prstGeom prst="ellipse">
            <a:avLst/>
          </a:prstGeom>
          <a:solidFill>
            <a:srgbClr val="F16057"/>
          </a:solidFill>
        </p:spPr>
      </p:sp>
      <p:sp>
        <p:nvSpPr>
          <p:cNvPr id="16" name="Shape 13"/>
          <p:cNvSpPr/>
          <p:nvPr/>
        </p:nvSpPr>
        <p:spPr>
          <a:xfrm>
            <a:off x="868680" y="2734056"/>
            <a:ext cx="100584" cy="100584"/>
          </a:xfrm>
          <a:prstGeom prst="ellipse">
            <a:avLst/>
          </a:prstGeom>
          <a:solidFill>
            <a:srgbClr val="F5BD4F"/>
          </a:solidFill>
        </p:spPr>
      </p:sp>
      <p:sp>
        <p:nvSpPr>
          <p:cNvPr id="17" name="Shape 14"/>
          <p:cNvSpPr/>
          <p:nvPr/>
        </p:nvSpPr>
        <p:spPr>
          <a:xfrm>
            <a:off x="1069848" y="2734056"/>
            <a:ext cx="100584" cy="100584"/>
          </a:xfrm>
          <a:prstGeom prst="ellipse">
            <a:avLst/>
          </a:prstGeom>
          <a:solidFill>
            <a:srgbClr val="3EC94F"/>
          </a:solidFill>
        </p:spPr>
      </p:sp>
      <p:sp>
        <p:nvSpPr>
          <p:cNvPr id="18" name="Text 15"/>
          <p:cNvSpPr/>
          <p:nvPr/>
        </p:nvSpPr>
        <p:spPr>
          <a:xfrm>
            <a:off x="704088" y="2990088"/>
            <a:ext cx="5221224" cy="1280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message = "meet me at noon"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secret = message[::-1].upper()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9E4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print(secret)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4526280"/>
            <a:ext cx="5623560" cy="685800"/>
          </a:xfrm>
          <a:prstGeom prst="roundRect">
            <a:avLst>
              <a:gd name="adj" fmla="val 16000"/>
            </a:avLst>
          </a:prstGeom>
          <a:solidFill>
            <a:srgbClr val="F4B740"/>
          </a:solidFill>
        </p:spPr>
      </p:sp>
      <p:sp>
        <p:nvSpPr>
          <p:cNvPr id="20" name="Text 17"/>
          <p:cNvSpPr/>
          <p:nvPr/>
        </p:nvSpPr>
        <p:spPr>
          <a:xfrm>
            <a:off x="502920" y="4526280"/>
            <a:ext cx="56235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BOSS DEFEATED  •  +50 XP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0" y="1234440"/>
            <a:ext cx="5303520" cy="3977640"/>
          </a:xfrm>
          <a:prstGeom prst="roundRect">
            <a:avLst>
              <a:gd name="adj" fmla="val 3218"/>
            </a:avLst>
          </a:prstGeom>
          <a:solidFill>
            <a:srgbClr val="241B44"/>
          </a:solidFill>
        </p:spPr>
      </p:sp>
      <p:sp>
        <p:nvSpPr>
          <p:cNvPr id="22" name="Text 19"/>
          <p:cNvSpPr/>
          <p:nvPr/>
        </p:nvSpPr>
        <p:spPr>
          <a:xfrm>
            <a:off x="6629400" y="13716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LEVEL 1 COMPLETE!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629400" y="1828800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3A2E5C"/>
          </a:solidFill>
        </p:spPr>
      </p:sp>
      <p:sp>
        <p:nvSpPr>
          <p:cNvPr id="24" name="Text 21"/>
          <p:cNvSpPr/>
          <p:nvPr/>
        </p:nvSpPr>
        <p:spPr>
          <a:xfrm>
            <a:off x="6629400" y="1828800"/>
            <a:ext cx="2423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String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189720" y="1828800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3A2E5C"/>
          </a:solidFill>
        </p:spPr>
      </p:sp>
      <p:sp>
        <p:nvSpPr>
          <p:cNvPr id="26" name="Text 23"/>
          <p:cNvSpPr/>
          <p:nvPr/>
        </p:nvSpPr>
        <p:spPr>
          <a:xfrm>
            <a:off x="9189720" y="1828800"/>
            <a:ext cx="2423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629400" y="2331720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3A2E5C"/>
          </a:solidFill>
        </p:spPr>
      </p:sp>
      <p:sp>
        <p:nvSpPr>
          <p:cNvPr id="28" name="Text 25"/>
          <p:cNvSpPr/>
          <p:nvPr/>
        </p:nvSpPr>
        <p:spPr>
          <a:xfrm>
            <a:off x="6629400" y="2331720"/>
            <a:ext cx="2423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189720" y="2331720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3A2E5C"/>
          </a:solidFill>
        </p:spPr>
      </p:sp>
      <p:sp>
        <p:nvSpPr>
          <p:cNvPr id="30" name="Text 27"/>
          <p:cNvSpPr/>
          <p:nvPr/>
        </p:nvSpPr>
        <p:spPr>
          <a:xfrm>
            <a:off x="9189720" y="2331720"/>
            <a:ext cx="2423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&amp; f-strings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629400" y="2834640"/>
            <a:ext cx="2423160" cy="402336"/>
          </a:xfrm>
          <a:prstGeom prst="roundRect">
            <a:avLst>
              <a:gd name="adj" fmla="val 18182"/>
            </a:avLst>
          </a:prstGeom>
          <a:solidFill>
            <a:srgbClr val="3A2E5C"/>
          </a:solidFill>
        </p:spPr>
      </p:sp>
      <p:sp>
        <p:nvSpPr>
          <p:cNvPr id="32" name="Text 29"/>
          <p:cNvSpPr/>
          <p:nvPr/>
        </p:nvSpPr>
        <p:spPr>
          <a:xfrm>
            <a:off x="6629400" y="2834640"/>
            <a:ext cx="24231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Palindrome &amp; Puzzles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629400" y="36118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RANK: PYTHON EXPLORER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629400" y="4023360"/>
            <a:ext cx="4846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9E4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"Think first. Code second. Debug fearlessly."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629400" y="4526280"/>
            <a:ext cx="4846320" cy="6858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</p:spPr>
      </p:sp>
      <p:sp>
        <p:nvSpPr>
          <p:cNvPr id="36" name="Shape 33"/>
          <p:cNvSpPr/>
          <p:nvPr/>
        </p:nvSpPr>
        <p:spPr>
          <a:xfrm>
            <a:off x="6766560" y="4645152"/>
            <a:ext cx="457200" cy="457200"/>
          </a:xfrm>
          <a:prstGeom prst="ellipse">
            <a:avLst/>
          </a:prstGeom>
          <a:solidFill>
            <a:srgbClr val="F4B740"/>
          </a:solidFill>
          <a:effectLst>
            <a:outerShdw blurRad="76200" dist="25400" dir="5400000" algn="bl" rotWithShape="0">
              <a:srgbClr val="1B1533">
                <a:alpha val="25000"/>
              </a:srgbClr>
            </a:outerShdw>
          </a:effectLst>
        </p:spPr>
      </p:sp>
      <p:pic>
        <p:nvPicPr>
          <p:cNvPr id="37" name="Image 1" descr="/home/claude/pyadventure/icon_rocket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4745736"/>
            <a:ext cx="256032" cy="25603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7315200" y="4526280"/>
            <a:ext cx="4023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Lists &amp; Collections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4345</Words>
  <Application>WPS Writer</Application>
  <PresentationFormat>On-screen Show (16:9)</PresentationFormat>
  <Paragraphs>396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Century Schoolbook</vt:lpstr>
      <vt:lpstr>Century Schoolbook</vt:lpstr>
      <vt:lpstr>Century Schoolbook</vt:lpstr>
      <vt:lpstr>Courier New</vt:lpstr>
      <vt:lpstr>Courier New</vt:lpstr>
      <vt:lpstr>Courier New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pawansharma</cp:lastModifiedBy>
  <cp:revision>2</cp:revision>
  <dcterms:created xsi:type="dcterms:W3CDTF">2026-08-20T07:29:26Z</dcterms:created>
  <dcterms:modified xsi:type="dcterms:W3CDTF">2026-08-20T07:29:26Z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1033-4.9.0.7859</vt:lpwstr>
  </property>
</Properties>
</file>