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image" Target="../media/image-4-4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5" name="Image 0" descr="/home/claude/pyadventure/icon_snak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8668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7132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HYI.AI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1600200"/>
            <a:ext cx="7223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DAY 4 CONTENT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 HYI.AI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 — BECOME A PYTHON EXPLORER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up your Python skills — earn XP, complete missions, and defeat the Boss Battle.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343400"/>
            <a:ext cx="2468880" cy="594360"/>
          </a:xfrm>
          <a:prstGeom prst="roundRect">
            <a:avLst>
              <a:gd name="adj" fmla="val 49231"/>
            </a:avLst>
          </a:prstGeom>
          <a:solidFill>
            <a:srgbClr val="F4B740"/>
          </a:solidFill>
          <a:ln/>
        </p:spPr>
      </p:sp>
      <p:pic>
        <p:nvPicPr>
          <p:cNvPr id="11" name="Image 1" descr="/home/claude/pyadventure/icon_pla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4805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4343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ADVENTURE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520440" y="4343400"/>
            <a:ext cx="1371600" cy="594360"/>
          </a:xfrm>
          <a:prstGeom prst="roundRect">
            <a:avLst>
              <a:gd name="adj" fmla="val 15385"/>
            </a:avLst>
          </a:prstGeom>
          <a:solidFill>
            <a:srgbClr val="2C23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520440" y="43434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2960" y="5193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 0 / 500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" y="548640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2C2350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" y="5486400"/>
            <a:ext cx="109728" cy="164592"/>
          </a:xfrm>
          <a:prstGeom prst="roundRect">
            <a:avLst>
              <a:gd name="adj" fmla="val 75000"/>
            </a:avLst>
          </a:prstGeom>
          <a:solidFill>
            <a:srgbClr val="F4B740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" y="5897880"/>
            <a:ext cx="6035040" cy="502920"/>
          </a:xfrm>
          <a:prstGeom prst="roundRect">
            <a:avLst>
              <a:gd name="adj" fmla="val 18182"/>
            </a:avLst>
          </a:prstGeom>
          <a:solidFill>
            <a:srgbClr val="2C2350"/>
          </a:solidFill>
          <a:ln/>
        </p:spPr>
      </p:sp>
      <p:sp>
        <p:nvSpPr>
          <p:cNvPr id="19" name="Text 15"/>
          <p:cNvSpPr/>
          <p:nvPr/>
        </p:nvSpPr>
        <p:spPr>
          <a:xfrm>
            <a:off x="1005840" y="589788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4B7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“Think first. Code second. Debug fearlessly.”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8366760" y="1463040"/>
            <a:ext cx="3017520" cy="4023360"/>
          </a:xfrm>
          <a:prstGeom prst="roundRect">
            <a:avLst>
              <a:gd name="adj" fmla="val 5455"/>
            </a:avLst>
          </a:prstGeom>
          <a:solidFill>
            <a:srgbClr val="241B4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189720" y="2011680"/>
            <a:ext cx="1371600" cy="13716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22" name="Image 2" descr="/home/claude/pyadventure/icon_snak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2" y="2313432"/>
            <a:ext cx="768096" cy="7680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49640" y="3611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549640" y="4206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Rank: Rookie Coder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54964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Missions: 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950976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0/8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549640" y="5074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Badges: 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9509760" y="5074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3" name="Image 0" descr="/home/claude/pyadventure/icon_pyth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926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6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Lists: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stores many values together in a single variable — like a row of labeled boxes!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1475720" y="320040"/>
            <a:ext cx="292608" cy="29260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7" name="Image 1" descr="/home/claude/pyadventure/icon_star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0094" y="384414"/>
            <a:ext cx="163860" cy="1638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1064240" y="685800"/>
            <a:ext cx="201168" cy="2011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9" name="Image 2" descr="/home/claude/pyadventure/icon_star_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497" y="730057"/>
            <a:ext cx="112654" cy="11265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7200" y="1417320"/>
            <a:ext cx="5532120" cy="1417320"/>
          </a:xfrm>
          <a:prstGeom prst="roundRect">
            <a:avLst>
              <a:gd name="adj" fmla="val 5806"/>
            </a:avLst>
          </a:prstGeom>
          <a:solidFill>
            <a:srgbClr val="1A1533"/>
          </a:solidFill>
          <a:ln/>
          <a:effectLst>
            <a:outerShdw sx="100000" sy="100000" kx="0" ky="0" algn="bl" rotWithShape="0" blurRad="88900" dist="38100" dir="5400000">
              <a:srgbClr val="1B1533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621792" y="154533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12" name="Shape 7"/>
          <p:cNvSpPr/>
          <p:nvPr/>
        </p:nvSpPr>
        <p:spPr>
          <a:xfrm>
            <a:off x="822960" y="154533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13" name="Shape 8"/>
          <p:cNvSpPr/>
          <p:nvPr/>
        </p:nvSpPr>
        <p:spPr>
          <a:xfrm>
            <a:off x="1024128" y="154533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14" name="Text 9"/>
          <p:cNvSpPr/>
          <p:nvPr/>
        </p:nvSpPr>
        <p:spPr>
          <a:xfrm>
            <a:off x="658368" y="1801368"/>
            <a:ext cx="5129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"mango", "banana"]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print(fruits[0])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print(fruits[1])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263640" y="141732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1E9FB"/>
          </a:solidFill>
          <a:ln/>
        </p:spPr>
      </p:sp>
      <p:sp>
        <p:nvSpPr>
          <p:cNvPr id="16" name="Text 11"/>
          <p:cNvSpPr/>
          <p:nvPr/>
        </p:nvSpPr>
        <p:spPr>
          <a:xfrm>
            <a:off x="6492240" y="15727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492240" y="1847088"/>
            <a:ext cx="1554480" cy="68580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18" name="Text 13"/>
          <p:cNvSpPr/>
          <p:nvPr/>
        </p:nvSpPr>
        <p:spPr>
          <a:xfrm>
            <a:off x="6492240" y="184708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29600" y="15727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229600" y="1847088"/>
            <a:ext cx="1554480" cy="68580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21" name="Text 16"/>
          <p:cNvSpPr/>
          <p:nvPr/>
        </p:nvSpPr>
        <p:spPr>
          <a:xfrm>
            <a:off x="8229600" y="184708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9966960" y="15727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966960" y="1847088"/>
            <a:ext cx="1554480" cy="685800"/>
          </a:xfrm>
          <a:prstGeom prst="roundRect">
            <a:avLst>
              <a:gd name="adj" fmla="val 13333"/>
            </a:avLst>
          </a:prstGeom>
          <a:solidFill>
            <a:srgbClr val="EC4899"/>
          </a:solidFill>
          <a:ln/>
        </p:spPr>
      </p:sp>
      <p:sp>
        <p:nvSpPr>
          <p:cNvPr id="24" name="Text 19"/>
          <p:cNvSpPr/>
          <p:nvPr/>
        </p:nvSpPr>
        <p:spPr>
          <a:xfrm>
            <a:off x="9966960" y="184708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banana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457200" y="2999232"/>
            <a:ext cx="5532120" cy="137160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 w="15875">
            <a:solidFill>
              <a:srgbClr val="F1C94E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658368" y="3182112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27" name="Image 3" descr="/home/claude/pyadventure/icon_bulb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10" y="3292754"/>
            <a:ext cx="281635" cy="28163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98448" y="32004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List?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1298448" y="35661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an ordered collection of items, written with square brackets [ ]. Items can be added, removed, or changed — lists are mutable!</a:t>
            </a:r>
            <a:endParaRPr lang="en-US" sz="1080" dirty="0"/>
          </a:p>
        </p:txBody>
      </p:sp>
      <p:sp>
        <p:nvSpPr>
          <p:cNvPr id="30" name="Shape 24"/>
          <p:cNvSpPr/>
          <p:nvPr/>
        </p:nvSpPr>
        <p:spPr>
          <a:xfrm>
            <a:off x="6263640" y="2999232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A1533"/>
          </a:solidFill>
          <a:ln/>
        </p:spPr>
      </p:sp>
      <p:sp>
        <p:nvSpPr>
          <p:cNvPr id="31" name="Text 25"/>
          <p:cNvSpPr/>
          <p:nvPr/>
        </p:nvSpPr>
        <p:spPr>
          <a:xfrm>
            <a:off x="6492240" y="3154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CAN HOLD ANY TYPE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6492240" y="34747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[1, 2, 3, 4]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mixed = ["Rahul", 15, True]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457200" y="4553712"/>
            <a:ext cx="11247120" cy="1417320"/>
          </a:xfrm>
          <a:prstGeom prst="roundRect">
            <a:avLst>
              <a:gd name="adj" fmla="val 9032"/>
            </a:avLst>
          </a:prstGeom>
          <a:solidFill>
            <a:srgbClr val="EDE7FB"/>
          </a:solidFill>
          <a:ln/>
        </p:spPr>
      </p:sp>
      <p:sp>
        <p:nvSpPr>
          <p:cNvPr id="34" name="Shape 28"/>
          <p:cNvSpPr/>
          <p:nvPr/>
        </p:nvSpPr>
        <p:spPr>
          <a:xfrm>
            <a:off x="658368" y="4718304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35" name="Image 4" descr="/home/claude/pyadventure/icon_clipboar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818888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23444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Time!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1234440" y="50749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list of your 3 favorite movies and print the second one.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035040" y="4709160"/>
            <a:ext cx="5394960" cy="1170432"/>
          </a:xfrm>
          <a:prstGeom prst="roundRect">
            <a:avLst>
              <a:gd name="adj" fmla="val 7031"/>
            </a:avLst>
          </a:prstGeom>
          <a:solidFill>
            <a:srgbClr val="1A1533"/>
          </a:solidFill>
          <a:ln/>
          <a:effectLst>
            <a:outerShdw sx="100000" sy="100000" kx="0" ky="0" algn="bl" rotWithShape="0" blurRad="88900" dist="38100" dir="5400000">
              <a:srgbClr val="1B1533">
                <a:alpha val="25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199632" y="483717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40" name="Shape 33"/>
          <p:cNvSpPr/>
          <p:nvPr/>
        </p:nvSpPr>
        <p:spPr>
          <a:xfrm>
            <a:off x="6400800" y="483717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41" name="Shape 34"/>
          <p:cNvSpPr/>
          <p:nvPr/>
        </p:nvSpPr>
        <p:spPr>
          <a:xfrm>
            <a:off x="6601968" y="483717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42" name="Text 35"/>
          <p:cNvSpPr/>
          <p:nvPr/>
        </p:nvSpPr>
        <p:spPr>
          <a:xfrm>
            <a:off x="6236208" y="5093208"/>
            <a:ext cx="499262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 = ["Zootopia", "Coco", "Luca"]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print(movies[1])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Coco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457200" y="6108192"/>
            <a:ext cx="11247120" cy="502920"/>
          </a:xfrm>
          <a:prstGeom prst="roundRect">
            <a:avLst>
              <a:gd name="adj" fmla="val 21818"/>
            </a:avLst>
          </a:prstGeom>
          <a:solidFill>
            <a:srgbClr val="FFF6DC"/>
          </a:solidFill>
          <a:ln/>
        </p:spPr>
      </p:sp>
      <p:sp>
        <p:nvSpPr>
          <p:cNvPr id="44" name="Shape 37"/>
          <p:cNvSpPr/>
          <p:nvPr/>
        </p:nvSpPr>
        <p:spPr>
          <a:xfrm>
            <a:off x="594360" y="6172200"/>
            <a:ext cx="347472" cy="34747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45" name="Image 5" descr="/home/claude/pyadventure/icon_star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804" y="6248644"/>
            <a:ext cx="194584" cy="194584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051560" y="610819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list indexes start at 0, just like strings!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3" name="Image 0" descr="/home/claude/pyadventure/icon_pyth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926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6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List Operations: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come with built-in methods to add, remove, and organize items.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1475720" y="320040"/>
            <a:ext cx="292608" cy="29260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7" name="Image 1" descr="/home/claude/pyadventure/icon_star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0094" y="384414"/>
            <a:ext cx="163860" cy="1638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1064240" y="685800"/>
            <a:ext cx="201168" cy="2011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9" name="Image 2" descr="/home/claude/pyadventure/icon_star_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497" y="730057"/>
            <a:ext cx="112654" cy="11265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7200" y="1417320"/>
            <a:ext cx="5532120" cy="1691640"/>
          </a:xfrm>
          <a:prstGeom prst="roundRect">
            <a:avLst>
              <a:gd name="adj" fmla="val 4865"/>
            </a:avLst>
          </a:prstGeom>
          <a:solidFill>
            <a:srgbClr val="1A1533"/>
          </a:solidFill>
          <a:ln/>
          <a:effectLst>
            <a:outerShdw sx="100000" sy="100000" kx="0" ky="0" algn="bl" rotWithShape="0" blurRad="88900" dist="38100" dir="5400000">
              <a:srgbClr val="1B1533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621792" y="154533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12" name="Shape 7"/>
          <p:cNvSpPr/>
          <p:nvPr/>
        </p:nvSpPr>
        <p:spPr>
          <a:xfrm>
            <a:off x="822960" y="154533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13" name="Shape 8"/>
          <p:cNvSpPr/>
          <p:nvPr/>
        </p:nvSpPr>
        <p:spPr>
          <a:xfrm>
            <a:off x="1024128" y="154533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14" name="Text 9"/>
          <p:cNvSpPr/>
          <p:nvPr/>
        </p:nvSpPr>
        <p:spPr>
          <a:xfrm>
            <a:off x="658368" y="1801368"/>
            <a:ext cx="5129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"mango"]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fruits.append("banana")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fruits.remove("apple")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print(fruits)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print(len(fruits))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263640" y="141732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F1E9FB"/>
          </a:solidFill>
          <a:ln/>
        </p:spPr>
      </p:sp>
      <p:sp>
        <p:nvSpPr>
          <p:cNvPr id="16" name="Shape 11"/>
          <p:cNvSpPr/>
          <p:nvPr/>
        </p:nvSpPr>
        <p:spPr>
          <a:xfrm>
            <a:off x="6446520" y="1554480"/>
            <a:ext cx="438912" cy="438912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17" name="Image 3" descr="/home/claude/pyadventure/icon_listU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081" y="1651041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5160" y="1581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CHEAT SHEET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492240" y="20574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.append(x)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22960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x to the end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492240" y="23225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.remove(x)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8229600" y="232257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first match of x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492240" y="2587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len(list)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229600" y="25877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the items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492240" y="28529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.sort()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229600" y="28529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arranges items in order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57200" y="3291840"/>
            <a:ext cx="5532120" cy="1078992"/>
          </a:xfrm>
          <a:prstGeom prst="roundRect">
            <a:avLst>
              <a:gd name="adj" fmla="val 10169"/>
            </a:avLst>
          </a:prstGeom>
          <a:solidFill>
            <a:srgbClr val="FFF6DC"/>
          </a:solidFill>
          <a:ln w="15875">
            <a:solidFill>
              <a:srgbClr val="F1C94E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658368" y="347472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29" name="Image 4" descr="/home/claude/pyadventure/icon_bulb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10" y="3585362"/>
            <a:ext cx="281635" cy="28163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98448" y="349300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Through a List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1298448" y="385876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fruit in fruits:</a:t>
            </a:r>
            <a:endParaRPr lang="en-US" sz="10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print(fruit)</a:t>
            </a:r>
            <a:endParaRPr lang="en-US" sz="1080" dirty="0"/>
          </a:p>
        </p:txBody>
      </p:sp>
      <p:sp>
        <p:nvSpPr>
          <p:cNvPr id="32" name="Shape 25"/>
          <p:cNvSpPr/>
          <p:nvPr/>
        </p:nvSpPr>
        <p:spPr>
          <a:xfrm>
            <a:off x="6263640" y="3291840"/>
            <a:ext cx="5440680" cy="1078992"/>
          </a:xfrm>
          <a:prstGeom prst="roundRect">
            <a:avLst>
              <a:gd name="adj" fmla="val 10169"/>
            </a:avLst>
          </a:prstGeom>
          <a:solidFill>
            <a:srgbClr val="1A1533"/>
          </a:solidFill>
          <a:ln/>
        </p:spPr>
      </p:sp>
      <p:sp>
        <p:nvSpPr>
          <p:cNvPr id="33" name="Text 26"/>
          <p:cNvSpPr/>
          <p:nvPr/>
        </p:nvSpPr>
        <p:spPr>
          <a:xfrm>
            <a:off x="6492240" y="345643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fruit in fruits: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print(fruit)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457200" y="4553712"/>
            <a:ext cx="11247120" cy="1417320"/>
          </a:xfrm>
          <a:prstGeom prst="roundRect">
            <a:avLst>
              <a:gd name="adj" fmla="val 9032"/>
            </a:avLst>
          </a:prstGeom>
          <a:solidFill>
            <a:srgbClr val="EDE7FB"/>
          </a:solidFill>
          <a:ln/>
        </p:spPr>
      </p:sp>
      <p:sp>
        <p:nvSpPr>
          <p:cNvPr id="35" name="Shape 28"/>
          <p:cNvSpPr/>
          <p:nvPr/>
        </p:nvSpPr>
        <p:spPr>
          <a:xfrm>
            <a:off x="658368" y="4718304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36" name="Image 5" descr="/home/claude/pyadventure/icon_clipboar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4818888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23444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Time!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1234440" y="50749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3 numbers to a list, then print their total using a loop.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6035040" y="4709160"/>
            <a:ext cx="5394960" cy="1170432"/>
          </a:xfrm>
          <a:prstGeom prst="roundRect">
            <a:avLst>
              <a:gd name="adj" fmla="val 7031"/>
            </a:avLst>
          </a:prstGeom>
          <a:solidFill>
            <a:srgbClr val="1A1533"/>
          </a:solidFill>
          <a:ln/>
          <a:effectLst>
            <a:outerShdw sx="100000" sy="100000" kx="0" ky="0" algn="bl" rotWithShape="0" blurRad="88900" dist="38100" dir="5400000">
              <a:srgbClr val="1B1533">
                <a:alpha val="2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199632" y="483717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41" name="Shape 33"/>
          <p:cNvSpPr/>
          <p:nvPr/>
        </p:nvSpPr>
        <p:spPr>
          <a:xfrm>
            <a:off x="6400800" y="483717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42" name="Shape 34"/>
          <p:cNvSpPr/>
          <p:nvPr/>
        </p:nvSpPr>
        <p:spPr>
          <a:xfrm>
            <a:off x="6601968" y="483717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43" name="Text 35"/>
          <p:cNvSpPr/>
          <p:nvPr/>
        </p:nvSpPr>
        <p:spPr>
          <a:xfrm>
            <a:off x="6236208" y="5093208"/>
            <a:ext cx="499262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[4, 7, 9]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nums: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n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457200" y="6108192"/>
            <a:ext cx="11247120" cy="502920"/>
          </a:xfrm>
          <a:prstGeom prst="roundRect">
            <a:avLst>
              <a:gd name="adj" fmla="val 21818"/>
            </a:avLst>
          </a:prstGeom>
          <a:solidFill>
            <a:srgbClr val="FFF6DC"/>
          </a:solidFill>
          <a:ln/>
        </p:spPr>
      </p:sp>
      <p:sp>
        <p:nvSpPr>
          <p:cNvPr id="45" name="Shape 37"/>
          <p:cNvSpPr/>
          <p:nvPr/>
        </p:nvSpPr>
        <p:spPr>
          <a:xfrm>
            <a:off x="594360" y="6172200"/>
            <a:ext cx="347472" cy="34747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46" name="Image 6" descr="/home/claude/pyadventure/icon_star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804" y="6248644"/>
            <a:ext cx="194584" cy="194584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051560" y="610819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can hold numbers, text, even other lists — all in the same variable!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3" name="Image 0" descr="/home/claude/pyadventure/icon_pyth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926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6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Dictionaries: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stores key–value pairs — like a real dictionary matching a word to its meaning!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1475720" y="320040"/>
            <a:ext cx="292608" cy="29260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7" name="Image 1" descr="/home/claude/pyadventure/icon_star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0094" y="384414"/>
            <a:ext cx="163860" cy="1638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1064240" y="685800"/>
            <a:ext cx="201168" cy="2011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9" name="Image 2" descr="/home/claude/pyadventure/icon_star_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497" y="730057"/>
            <a:ext cx="112654" cy="11265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7200" y="1417320"/>
            <a:ext cx="5532120" cy="1417320"/>
          </a:xfrm>
          <a:prstGeom prst="roundRect">
            <a:avLst>
              <a:gd name="adj" fmla="val 5806"/>
            </a:avLst>
          </a:prstGeom>
          <a:solidFill>
            <a:srgbClr val="1A1533"/>
          </a:solidFill>
          <a:ln/>
          <a:effectLst>
            <a:outerShdw sx="100000" sy="100000" kx="0" ky="0" algn="bl" rotWithShape="0" blurRad="88900" dist="38100" dir="5400000">
              <a:srgbClr val="1B1533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621792" y="154533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12" name="Shape 7"/>
          <p:cNvSpPr/>
          <p:nvPr/>
        </p:nvSpPr>
        <p:spPr>
          <a:xfrm>
            <a:off x="822960" y="154533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13" name="Shape 8"/>
          <p:cNvSpPr/>
          <p:nvPr/>
        </p:nvSpPr>
        <p:spPr>
          <a:xfrm>
            <a:off x="1024128" y="154533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14" name="Text 9"/>
          <p:cNvSpPr/>
          <p:nvPr/>
        </p:nvSpPr>
        <p:spPr>
          <a:xfrm>
            <a:off x="658368" y="1801368"/>
            <a:ext cx="51297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{"name": "Riya", "age": 15}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print(student["name"])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print(student["age"])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263640" y="141732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1E9FB"/>
          </a:solidFill>
          <a:ln/>
        </p:spPr>
      </p:sp>
      <p:sp>
        <p:nvSpPr>
          <p:cNvPr id="16" name="Shape 11"/>
          <p:cNvSpPr/>
          <p:nvPr/>
        </p:nvSpPr>
        <p:spPr>
          <a:xfrm>
            <a:off x="6492240" y="1572768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9B59B6"/>
          </a:solidFill>
          <a:ln/>
        </p:spPr>
      </p:sp>
      <p:sp>
        <p:nvSpPr>
          <p:cNvPr id="17" name="Text 12"/>
          <p:cNvSpPr/>
          <p:nvPr/>
        </p:nvSpPr>
        <p:spPr>
          <a:xfrm>
            <a:off x="6492240" y="15727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</p:txBody>
      </p:sp>
      <p:pic>
        <p:nvPicPr>
          <p:cNvPr id="18" name="Image 3" descr="/home/claude/pyadventure/icon_arrowRigh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636776"/>
            <a:ext cx="201168" cy="20116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503920" y="1572768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8503920" y="1572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Riya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492240" y="1975104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9B59B6"/>
          </a:solidFill>
          <a:ln/>
        </p:spPr>
      </p:sp>
      <p:sp>
        <p:nvSpPr>
          <p:cNvPr id="22" name="Text 16"/>
          <p:cNvSpPr/>
          <p:nvPr/>
        </p:nvSpPr>
        <p:spPr>
          <a:xfrm>
            <a:off x="6492240" y="197510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100" dirty="0"/>
          </a:p>
        </p:txBody>
      </p:sp>
      <p:pic>
        <p:nvPicPr>
          <p:cNvPr id="23" name="Image 4" descr="/home/claude/pyadventure/icon_arrowRight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2039112"/>
            <a:ext cx="201168" cy="20116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503920" y="1975104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503920" y="197510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492240" y="237744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9B59B6"/>
          </a:solidFill>
          <a:ln/>
        </p:spPr>
      </p:sp>
      <p:sp>
        <p:nvSpPr>
          <p:cNvPr id="27" name="Text 20"/>
          <p:cNvSpPr/>
          <p:nvPr/>
        </p:nvSpPr>
        <p:spPr>
          <a:xfrm>
            <a:off x="6492240" y="2377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100" dirty="0"/>
          </a:p>
        </p:txBody>
      </p:sp>
      <p:pic>
        <p:nvPicPr>
          <p:cNvPr id="28" name="Image 5" descr="/home/claude/pyadventure/icon_arrowRight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2441448"/>
            <a:ext cx="201168" cy="20116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8503920" y="237744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8503920" y="23774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457200" y="2999232"/>
            <a:ext cx="5532120" cy="137160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 w="15875">
            <a:solidFill>
              <a:srgbClr val="F1C94E"/>
            </a:solidFill>
            <a:prstDash val="dash"/>
          </a:ln>
        </p:spPr>
      </p:sp>
      <p:sp>
        <p:nvSpPr>
          <p:cNvPr id="32" name="Shape 24"/>
          <p:cNvSpPr/>
          <p:nvPr/>
        </p:nvSpPr>
        <p:spPr>
          <a:xfrm>
            <a:off x="658368" y="3182112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33" name="Image 6" descr="/home/claude/pyadventure/icon_bulb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10" y="3292754"/>
            <a:ext cx="281635" cy="28163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298448" y="32004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Dictionary?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1298448" y="35661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stores data as key: value pairs inside curly braces { }. Instead of a number index, you use a key to look up a value.</a:t>
            </a:r>
            <a:endParaRPr lang="en-US" sz="1080" dirty="0"/>
          </a:p>
        </p:txBody>
      </p:sp>
      <p:sp>
        <p:nvSpPr>
          <p:cNvPr id="36" name="Shape 27"/>
          <p:cNvSpPr/>
          <p:nvPr/>
        </p:nvSpPr>
        <p:spPr>
          <a:xfrm>
            <a:off x="6263640" y="2999232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A1533"/>
          </a:solidFill>
          <a:ln/>
        </p:spPr>
      </p:sp>
      <p:sp>
        <p:nvSpPr>
          <p:cNvPr id="37" name="Text 28"/>
          <p:cNvSpPr/>
          <p:nvPr/>
        </p:nvSpPr>
        <p:spPr>
          <a:xfrm>
            <a:off x="6492240" y="3154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MUST BE UNIQUE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6492240" y="342900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"Riya",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"age": 15,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"class": "9"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457200" y="4553712"/>
            <a:ext cx="11247120" cy="1417320"/>
          </a:xfrm>
          <a:prstGeom prst="roundRect">
            <a:avLst>
              <a:gd name="adj" fmla="val 9032"/>
            </a:avLst>
          </a:prstGeom>
          <a:solidFill>
            <a:srgbClr val="EDE7FB"/>
          </a:solidFill>
          <a:ln/>
        </p:spPr>
      </p:sp>
      <p:sp>
        <p:nvSpPr>
          <p:cNvPr id="40" name="Shape 31"/>
          <p:cNvSpPr/>
          <p:nvPr/>
        </p:nvSpPr>
        <p:spPr>
          <a:xfrm>
            <a:off x="658368" y="4718304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41" name="Image 7" descr="/home/claude/pyadventure/icon_clipboard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4818888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23444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Time!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1234440" y="50749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dictionary for your own profile with name, age, and favorite subject.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6035040" y="4709160"/>
            <a:ext cx="5394960" cy="1170432"/>
          </a:xfrm>
          <a:prstGeom prst="roundRect">
            <a:avLst>
              <a:gd name="adj" fmla="val 7031"/>
            </a:avLst>
          </a:prstGeom>
          <a:solidFill>
            <a:srgbClr val="1A1533"/>
          </a:solidFill>
          <a:ln/>
          <a:effectLst>
            <a:outerShdw sx="100000" sy="100000" kx="0" ky="0" algn="bl" rotWithShape="0" blurRad="88900" dist="38100" dir="5400000">
              <a:srgbClr val="1B1533">
                <a:alpha val="25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6199632" y="483717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46" name="Shape 36"/>
          <p:cNvSpPr/>
          <p:nvPr/>
        </p:nvSpPr>
        <p:spPr>
          <a:xfrm>
            <a:off x="6400800" y="483717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47" name="Shape 37"/>
          <p:cNvSpPr/>
          <p:nvPr/>
        </p:nvSpPr>
        <p:spPr>
          <a:xfrm>
            <a:off x="6601968" y="483717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48" name="Text 38"/>
          <p:cNvSpPr/>
          <p:nvPr/>
        </p:nvSpPr>
        <p:spPr>
          <a:xfrm>
            <a:off x="6236208" y="5093208"/>
            <a:ext cx="499262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 = {"name": "Aman", "age": 14,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"subject": "Math"}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print(me)</a:t>
            </a:r>
            <a:endParaRPr lang="en-US" sz="1050" dirty="0"/>
          </a:p>
        </p:txBody>
      </p:sp>
      <p:sp>
        <p:nvSpPr>
          <p:cNvPr id="49" name="Shape 39"/>
          <p:cNvSpPr/>
          <p:nvPr/>
        </p:nvSpPr>
        <p:spPr>
          <a:xfrm>
            <a:off x="457200" y="6108192"/>
            <a:ext cx="11247120" cy="502920"/>
          </a:xfrm>
          <a:prstGeom prst="roundRect">
            <a:avLst>
              <a:gd name="adj" fmla="val 21818"/>
            </a:avLst>
          </a:prstGeom>
          <a:solidFill>
            <a:srgbClr val="FFF6DC"/>
          </a:solidFill>
          <a:ln/>
        </p:spPr>
      </p:sp>
      <p:sp>
        <p:nvSpPr>
          <p:cNvPr id="50" name="Shape 40"/>
          <p:cNvSpPr/>
          <p:nvPr/>
        </p:nvSpPr>
        <p:spPr>
          <a:xfrm>
            <a:off x="594360" y="6172200"/>
            <a:ext cx="347472" cy="34747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51" name="Image 8" descr="/home/claude/pyadventure/icon_star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804" y="6248644"/>
            <a:ext cx="194584" cy="194584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1051560" y="610819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keys must be unique — each key points to exactly one value!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3" name="Image 0" descr="/home/claude/pyadventure/icon_pyth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926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6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Dictionary Operations: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come with built-in methods to read, update, and loop through data.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1475720" y="320040"/>
            <a:ext cx="292608" cy="29260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7" name="Image 1" descr="/home/claude/pyadventure/icon_star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0094" y="384414"/>
            <a:ext cx="163860" cy="1638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1064240" y="685800"/>
            <a:ext cx="201168" cy="2011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9" name="Image 2" descr="/home/claude/pyadventure/icon_star_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497" y="730057"/>
            <a:ext cx="112654" cy="11265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7200" y="1417320"/>
            <a:ext cx="5532120" cy="1691640"/>
          </a:xfrm>
          <a:prstGeom prst="roundRect">
            <a:avLst>
              <a:gd name="adj" fmla="val 4865"/>
            </a:avLst>
          </a:prstGeom>
          <a:solidFill>
            <a:srgbClr val="1A1533"/>
          </a:solidFill>
          <a:ln/>
          <a:effectLst>
            <a:outerShdw sx="100000" sy="100000" kx="0" ky="0" algn="bl" rotWithShape="0" blurRad="88900" dist="38100" dir="5400000">
              <a:srgbClr val="1B1533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621792" y="154533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12" name="Shape 7"/>
          <p:cNvSpPr/>
          <p:nvPr/>
        </p:nvSpPr>
        <p:spPr>
          <a:xfrm>
            <a:off x="822960" y="154533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13" name="Shape 8"/>
          <p:cNvSpPr/>
          <p:nvPr/>
        </p:nvSpPr>
        <p:spPr>
          <a:xfrm>
            <a:off x="1024128" y="154533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14" name="Text 9"/>
          <p:cNvSpPr/>
          <p:nvPr/>
        </p:nvSpPr>
        <p:spPr>
          <a:xfrm>
            <a:off x="658368" y="1801368"/>
            <a:ext cx="5129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{"name": "Riya", "age": 15}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student["age"] = 16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student["school"] = "ABC School"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print(student)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263640" y="141732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F1E9FB"/>
          </a:solidFill>
          <a:ln/>
        </p:spPr>
      </p:sp>
      <p:sp>
        <p:nvSpPr>
          <p:cNvPr id="16" name="Shape 11"/>
          <p:cNvSpPr/>
          <p:nvPr/>
        </p:nvSpPr>
        <p:spPr>
          <a:xfrm>
            <a:off x="6446520" y="1554480"/>
            <a:ext cx="438912" cy="438912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17" name="Image 3" descr="/home/claude/pyadventure/icon_ke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081" y="1651041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5160" y="1581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CHEAT SHEET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492240" y="20574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.keys()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22960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keys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492240" y="23225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.values()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8229600" y="232257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values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492240" y="2587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.items()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229600" y="25877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 together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492240" y="28529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.update()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229600" y="28529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or changes entries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57200" y="3291840"/>
            <a:ext cx="5532120" cy="1078992"/>
          </a:xfrm>
          <a:prstGeom prst="roundRect">
            <a:avLst>
              <a:gd name="adj" fmla="val 10169"/>
            </a:avLst>
          </a:prstGeom>
          <a:solidFill>
            <a:srgbClr val="FFF6DC"/>
          </a:solidFill>
          <a:ln w="15875">
            <a:solidFill>
              <a:srgbClr val="F1C94E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658368" y="347472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29" name="Image 4" descr="/home/claude/pyadventure/icon_bulb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10" y="3585362"/>
            <a:ext cx="281635" cy="28163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98448" y="349300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Through a Dictionary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1298448" y="385876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key in student:</a:t>
            </a:r>
            <a:endParaRPr lang="en-US" sz="10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print(key, student[key])</a:t>
            </a:r>
            <a:endParaRPr lang="en-US" sz="1080" dirty="0"/>
          </a:p>
        </p:txBody>
      </p:sp>
      <p:sp>
        <p:nvSpPr>
          <p:cNvPr id="32" name="Shape 25"/>
          <p:cNvSpPr/>
          <p:nvPr/>
        </p:nvSpPr>
        <p:spPr>
          <a:xfrm>
            <a:off x="6263640" y="3291840"/>
            <a:ext cx="5440680" cy="1078992"/>
          </a:xfrm>
          <a:prstGeom prst="roundRect">
            <a:avLst>
              <a:gd name="adj" fmla="val 10169"/>
            </a:avLst>
          </a:prstGeom>
          <a:solidFill>
            <a:srgbClr val="1A1533"/>
          </a:solidFill>
          <a:ln/>
        </p:spPr>
      </p:sp>
      <p:sp>
        <p:nvSpPr>
          <p:cNvPr id="33" name="Text 26"/>
          <p:cNvSpPr/>
          <p:nvPr/>
        </p:nvSpPr>
        <p:spPr>
          <a:xfrm>
            <a:off x="6492240" y="345643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key in student: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print(key, student[key])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457200" y="4553712"/>
            <a:ext cx="11247120" cy="1417320"/>
          </a:xfrm>
          <a:prstGeom prst="roundRect">
            <a:avLst>
              <a:gd name="adj" fmla="val 9032"/>
            </a:avLst>
          </a:prstGeom>
          <a:solidFill>
            <a:srgbClr val="EDE7FB"/>
          </a:solidFill>
          <a:ln/>
        </p:spPr>
      </p:sp>
      <p:sp>
        <p:nvSpPr>
          <p:cNvPr id="35" name="Shape 28"/>
          <p:cNvSpPr/>
          <p:nvPr/>
        </p:nvSpPr>
        <p:spPr>
          <a:xfrm>
            <a:off x="658368" y="4718304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36" name="Image 5" descr="/home/claude/pyadventure/icon_clipboar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4818888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23444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Time!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1234440" y="50749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profile dictionary — change your age and add a new key called ‘city’.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6035040" y="4709160"/>
            <a:ext cx="5394960" cy="1170432"/>
          </a:xfrm>
          <a:prstGeom prst="roundRect">
            <a:avLst>
              <a:gd name="adj" fmla="val 7031"/>
            </a:avLst>
          </a:prstGeom>
          <a:solidFill>
            <a:srgbClr val="1A1533"/>
          </a:solidFill>
          <a:ln/>
          <a:effectLst>
            <a:outerShdw sx="100000" sy="100000" kx="0" ky="0" algn="bl" rotWithShape="0" blurRad="88900" dist="38100" dir="5400000">
              <a:srgbClr val="1B1533">
                <a:alpha val="2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199632" y="4837176"/>
            <a:ext cx="100584" cy="100584"/>
          </a:xfrm>
          <a:prstGeom prst="ellipse">
            <a:avLst/>
          </a:prstGeom>
          <a:solidFill>
            <a:srgbClr val="F16057"/>
          </a:solidFill>
          <a:ln/>
        </p:spPr>
      </p:sp>
      <p:sp>
        <p:nvSpPr>
          <p:cNvPr id="41" name="Shape 33"/>
          <p:cNvSpPr/>
          <p:nvPr/>
        </p:nvSpPr>
        <p:spPr>
          <a:xfrm>
            <a:off x="6400800" y="483717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42" name="Shape 34"/>
          <p:cNvSpPr/>
          <p:nvPr/>
        </p:nvSpPr>
        <p:spPr>
          <a:xfrm>
            <a:off x="6601968" y="4837176"/>
            <a:ext cx="100584" cy="100584"/>
          </a:xfrm>
          <a:prstGeom prst="ellipse">
            <a:avLst/>
          </a:prstGeom>
          <a:solidFill>
            <a:srgbClr val="3EC94F"/>
          </a:solidFill>
          <a:ln/>
        </p:spPr>
      </p:sp>
      <p:sp>
        <p:nvSpPr>
          <p:cNvPr id="43" name="Text 35"/>
          <p:cNvSpPr/>
          <p:nvPr/>
        </p:nvSpPr>
        <p:spPr>
          <a:xfrm>
            <a:off x="6236208" y="5093208"/>
            <a:ext cx="499262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me["age"] = 15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me["city"] = "Indore"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print(me)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457200" y="6108192"/>
            <a:ext cx="11247120" cy="502920"/>
          </a:xfrm>
          <a:prstGeom prst="roundRect">
            <a:avLst>
              <a:gd name="adj" fmla="val 21818"/>
            </a:avLst>
          </a:prstGeom>
          <a:solidFill>
            <a:srgbClr val="FFF6DC"/>
          </a:solidFill>
          <a:ln/>
        </p:spPr>
      </p:sp>
      <p:sp>
        <p:nvSpPr>
          <p:cNvPr id="45" name="Shape 37"/>
          <p:cNvSpPr/>
          <p:nvPr/>
        </p:nvSpPr>
        <p:spPr>
          <a:xfrm>
            <a:off x="594360" y="6172200"/>
            <a:ext cx="347472" cy="34747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46" name="Image 6" descr="/home/claude/pyadventure/icon_star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804" y="6248644"/>
            <a:ext cx="194584" cy="194584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051560" y="610819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dict[key] = value to add a new pair or change an existing one!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3" name="Image 0" descr="/home/claude/pyadventure/icon_pyth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924" y="444764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66160" y="16459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6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Quiz Time!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3995928" y="841248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6" name="Text 3"/>
          <p:cNvSpPr/>
          <p:nvPr/>
        </p:nvSpPr>
        <p:spPr>
          <a:xfrm>
            <a:off x="3995928" y="8412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test what you learned about Lists &amp; Dictionaries!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1292840" y="274320"/>
            <a:ext cx="384048" cy="38404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8" name="Image 1" descr="/home/claude/pyadventure/icon_question_vio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331" y="358811"/>
            <a:ext cx="215067" cy="21506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914400"/>
            <a:ext cx="201168" cy="2011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10" name="Image 2" descr="/home/claude/pyadventure/icon_star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97" y="958657"/>
            <a:ext cx="112654" cy="11265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691640" y="502920"/>
            <a:ext cx="164592" cy="16459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12" name="Image 3" descr="/home/claude/pyadventure/icon_star_vio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7850" y="539130"/>
            <a:ext cx="92172" cy="9217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57200" y="1417320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EAF2FF"/>
          </a:solidFill>
          <a:ln/>
          <a:effectLst>
            <a:outerShdw sx="100000" sy="100000" kx="0" ky="0" algn="bl" rotWithShape="0" blurRad="63500" dist="25400" dir="5400000">
              <a:srgbClr val="1B1533">
                <a:alpha val="1200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621792" y="1581912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9"/>
          <p:cNvSpPr/>
          <p:nvPr/>
        </p:nvSpPr>
        <p:spPr>
          <a:xfrm>
            <a:off x="621792" y="1581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1097280" y="1545336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symbol is used to create a list?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21792" y="2194560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94944" y="2240280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3"/>
          <p:cNvSpPr/>
          <p:nvPr/>
        </p:nvSpPr>
        <p:spPr>
          <a:xfrm>
            <a:off x="694944" y="22402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1024128" y="2194560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1792" y="2596896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94944" y="2642616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17"/>
          <p:cNvSpPr/>
          <p:nvPr/>
        </p:nvSpPr>
        <p:spPr>
          <a:xfrm>
            <a:off x="694944" y="2642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024128" y="2596896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21792" y="2999232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94944" y="3044952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1"/>
          <p:cNvSpPr/>
          <p:nvPr/>
        </p:nvSpPr>
        <p:spPr>
          <a:xfrm>
            <a:off x="694944" y="30449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1024128" y="2999232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21792" y="3401568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94944" y="3447288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5"/>
          <p:cNvSpPr/>
          <p:nvPr/>
        </p:nvSpPr>
        <p:spPr>
          <a:xfrm>
            <a:off x="694944" y="34472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1024128" y="3401568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251960" y="1417320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E8F7EC"/>
          </a:solidFill>
          <a:ln/>
          <a:effectLst>
            <a:outerShdw sx="100000" sy="100000" kx="0" ky="0" algn="bl" rotWithShape="0" blurRad="63500" dist="25400" dir="5400000">
              <a:srgbClr val="1B1533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416552" y="1581912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29"/>
          <p:cNvSpPr/>
          <p:nvPr/>
        </p:nvSpPr>
        <p:spPr>
          <a:xfrm>
            <a:off x="4416552" y="1581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4892040" y="1545336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index of the first item in a list?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4416552" y="2194560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489704" y="2240280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9" name="Text 33"/>
          <p:cNvSpPr/>
          <p:nvPr/>
        </p:nvSpPr>
        <p:spPr>
          <a:xfrm>
            <a:off x="4489704" y="22402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4818888" y="2194560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4416552" y="2596896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4489704" y="2642616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3" name="Text 37"/>
          <p:cNvSpPr/>
          <p:nvPr/>
        </p:nvSpPr>
        <p:spPr>
          <a:xfrm>
            <a:off x="4489704" y="2642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4818888" y="2596896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4416552" y="2999232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4489704" y="3044952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7" name="Text 41"/>
          <p:cNvSpPr/>
          <p:nvPr/>
        </p:nvSpPr>
        <p:spPr>
          <a:xfrm>
            <a:off x="4489704" y="30449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48" name="Text 42"/>
          <p:cNvSpPr/>
          <p:nvPr/>
        </p:nvSpPr>
        <p:spPr>
          <a:xfrm>
            <a:off x="4818888" y="2999232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4416552" y="3401568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4489704" y="3447288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1" name="Text 45"/>
          <p:cNvSpPr/>
          <p:nvPr/>
        </p:nvSpPr>
        <p:spPr>
          <a:xfrm>
            <a:off x="4489704" y="34472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52" name="Text 46"/>
          <p:cNvSpPr/>
          <p:nvPr/>
        </p:nvSpPr>
        <p:spPr>
          <a:xfrm>
            <a:off x="4818888" y="3401568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has no index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8046720" y="1417320"/>
            <a:ext cx="3611880" cy="2212848"/>
          </a:xfrm>
          <a:prstGeom prst="roundRect">
            <a:avLst>
              <a:gd name="adj" fmla="val 4959"/>
            </a:avLst>
          </a:prstGeom>
          <a:solidFill>
            <a:srgbClr val="F3EAFB"/>
          </a:solidFill>
          <a:ln/>
          <a:effectLst>
            <a:outerShdw sx="100000" sy="100000" kx="0" ky="0" algn="bl" rotWithShape="0" blurRad="63500" dist="25400" dir="5400000">
              <a:srgbClr val="1B1533">
                <a:alpha val="12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8211312" y="1581912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55" name="Text 49"/>
          <p:cNvSpPr/>
          <p:nvPr/>
        </p:nvSpPr>
        <p:spPr>
          <a:xfrm>
            <a:off x="8211312" y="1581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6" name="Text 50"/>
          <p:cNvSpPr/>
          <p:nvPr/>
        </p:nvSpPr>
        <p:spPr>
          <a:xfrm>
            <a:off x="8686800" y="1545336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symbol is used to create a dictionary?</a:t>
            </a:r>
            <a:endParaRPr lang="en-US" sz="1150" dirty="0"/>
          </a:p>
        </p:txBody>
      </p:sp>
      <p:sp>
        <p:nvSpPr>
          <p:cNvPr id="57" name="Shape 51"/>
          <p:cNvSpPr/>
          <p:nvPr/>
        </p:nvSpPr>
        <p:spPr>
          <a:xfrm>
            <a:off x="8211312" y="2194560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8284464" y="2240280"/>
            <a:ext cx="237744" cy="23774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59" name="Text 53"/>
          <p:cNvSpPr/>
          <p:nvPr/>
        </p:nvSpPr>
        <p:spPr>
          <a:xfrm>
            <a:off x="8284464" y="22402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60" name="Text 54"/>
          <p:cNvSpPr/>
          <p:nvPr/>
        </p:nvSpPr>
        <p:spPr>
          <a:xfrm>
            <a:off x="8613648" y="2194560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endParaRPr lang="en-US" sz="1100" dirty="0"/>
          </a:p>
        </p:txBody>
      </p:sp>
      <p:sp>
        <p:nvSpPr>
          <p:cNvPr id="61" name="Shape 55"/>
          <p:cNvSpPr/>
          <p:nvPr/>
        </p:nvSpPr>
        <p:spPr>
          <a:xfrm>
            <a:off x="8211312" y="2596896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8284464" y="2642616"/>
            <a:ext cx="237744" cy="23774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3" name="Text 57"/>
          <p:cNvSpPr/>
          <p:nvPr/>
        </p:nvSpPr>
        <p:spPr>
          <a:xfrm>
            <a:off x="8284464" y="2642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64" name="Text 58"/>
          <p:cNvSpPr/>
          <p:nvPr/>
        </p:nvSpPr>
        <p:spPr>
          <a:xfrm>
            <a:off x="8613648" y="2596896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</p:txBody>
      </p:sp>
      <p:sp>
        <p:nvSpPr>
          <p:cNvPr id="65" name="Shape 59"/>
          <p:cNvSpPr/>
          <p:nvPr/>
        </p:nvSpPr>
        <p:spPr>
          <a:xfrm>
            <a:off x="8211312" y="2999232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8284464" y="3044952"/>
            <a:ext cx="237744" cy="23774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7" name="Text 61"/>
          <p:cNvSpPr/>
          <p:nvPr/>
        </p:nvSpPr>
        <p:spPr>
          <a:xfrm>
            <a:off x="8284464" y="30449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68" name="Text 62"/>
          <p:cNvSpPr/>
          <p:nvPr/>
        </p:nvSpPr>
        <p:spPr>
          <a:xfrm>
            <a:off x="8613648" y="2999232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100" dirty="0"/>
          </a:p>
        </p:txBody>
      </p:sp>
      <p:sp>
        <p:nvSpPr>
          <p:cNvPr id="69" name="Shape 63"/>
          <p:cNvSpPr/>
          <p:nvPr/>
        </p:nvSpPr>
        <p:spPr>
          <a:xfrm>
            <a:off x="8211312" y="3401568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8284464" y="3447288"/>
            <a:ext cx="237744" cy="23774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71" name="Text 65"/>
          <p:cNvSpPr/>
          <p:nvPr/>
        </p:nvSpPr>
        <p:spPr>
          <a:xfrm>
            <a:off x="8284464" y="34472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72" name="Text 66"/>
          <p:cNvSpPr/>
          <p:nvPr/>
        </p:nvSpPr>
        <p:spPr>
          <a:xfrm>
            <a:off x="8613648" y="3401568"/>
            <a:ext cx="2825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1100" dirty="0"/>
          </a:p>
        </p:txBody>
      </p:sp>
      <p:sp>
        <p:nvSpPr>
          <p:cNvPr id="73" name="Shape 67"/>
          <p:cNvSpPr/>
          <p:nvPr/>
        </p:nvSpPr>
        <p:spPr>
          <a:xfrm>
            <a:off x="457200" y="3794760"/>
            <a:ext cx="5532120" cy="2212848"/>
          </a:xfrm>
          <a:prstGeom prst="roundRect">
            <a:avLst>
              <a:gd name="adj" fmla="val 4959"/>
            </a:avLst>
          </a:prstGeom>
          <a:solidFill>
            <a:srgbClr val="FFF3E0"/>
          </a:solidFill>
          <a:ln/>
          <a:effectLst>
            <a:outerShdw sx="100000" sy="100000" kx="0" ky="0" algn="bl" rotWithShape="0" blurRad="63500" dist="25400" dir="5400000">
              <a:srgbClr val="1B1533">
                <a:alpha val="12000"/>
              </a:srgbClr>
            </a:outerShdw>
          </a:effectLst>
        </p:spPr>
      </p:sp>
      <p:sp>
        <p:nvSpPr>
          <p:cNvPr id="74" name="Shape 68"/>
          <p:cNvSpPr/>
          <p:nvPr/>
        </p:nvSpPr>
        <p:spPr>
          <a:xfrm>
            <a:off x="621792" y="3959352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5" name="Text 69"/>
          <p:cNvSpPr/>
          <p:nvPr/>
        </p:nvSpPr>
        <p:spPr>
          <a:xfrm>
            <a:off x="621792" y="3959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6" name="Text 70"/>
          <p:cNvSpPr/>
          <p:nvPr/>
        </p:nvSpPr>
        <p:spPr>
          <a:xfrm>
            <a:off x="1097280" y="3922776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access "name" in a dict called student?</a:t>
            </a:r>
            <a:endParaRPr lang="en-US" sz="1150" dirty="0"/>
          </a:p>
        </p:txBody>
      </p:sp>
      <p:sp>
        <p:nvSpPr>
          <p:cNvPr id="77" name="Shape 71"/>
          <p:cNvSpPr/>
          <p:nvPr/>
        </p:nvSpPr>
        <p:spPr>
          <a:xfrm>
            <a:off x="621792" y="4572000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78" name="Shape 72"/>
          <p:cNvSpPr/>
          <p:nvPr/>
        </p:nvSpPr>
        <p:spPr>
          <a:xfrm>
            <a:off x="694944" y="4617720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9" name="Text 73"/>
          <p:cNvSpPr/>
          <p:nvPr/>
        </p:nvSpPr>
        <p:spPr>
          <a:xfrm>
            <a:off x="694944" y="46177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80" name="Text 74"/>
          <p:cNvSpPr/>
          <p:nvPr/>
        </p:nvSpPr>
        <p:spPr>
          <a:xfrm>
            <a:off x="1024128" y="4572000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student(name)</a:t>
            </a:r>
            <a:endParaRPr lang="en-US" sz="1100" dirty="0"/>
          </a:p>
        </p:txBody>
      </p:sp>
      <p:sp>
        <p:nvSpPr>
          <p:cNvPr id="81" name="Shape 75"/>
          <p:cNvSpPr/>
          <p:nvPr/>
        </p:nvSpPr>
        <p:spPr>
          <a:xfrm>
            <a:off x="621792" y="4974336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82" name="Shape 76"/>
          <p:cNvSpPr/>
          <p:nvPr/>
        </p:nvSpPr>
        <p:spPr>
          <a:xfrm>
            <a:off x="694944" y="5020056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3" name="Text 77"/>
          <p:cNvSpPr/>
          <p:nvPr/>
        </p:nvSpPr>
        <p:spPr>
          <a:xfrm>
            <a:off x="694944" y="5020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84" name="Text 78"/>
          <p:cNvSpPr/>
          <p:nvPr/>
        </p:nvSpPr>
        <p:spPr>
          <a:xfrm>
            <a:off x="1024128" y="4974336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student["name"]</a:t>
            </a:r>
            <a:endParaRPr lang="en-US" sz="1100" dirty="0"/>
          </a:p>
        </p:txBody>
      </p:sp>
      <p:sp>
        <p:nvSpPr>
          <p:cNvPr id="85" name="Shape 79"/>
          <p:cNvSpPr/>
          <p:nvPr/>
        </p:nvSpPr>
        <p:spPr>
          <a:xfrm>
            <a:off x="621792" y="5376672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86" name="Shape 80"/>
          <p:cNvSpPr/>
          <p:nvPr/>
        </p:nvSpPr>
        <p:spPr>
          <a:xfrm>
            <a:off x="694944" y="5422392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7" name="Text 81"/>
          <p:cNvSpPr/>
          <p:nvPr/>
        </p:nvSpPr>
        <p:spPr>
          <a:xfrm>
            <a:off x="694944" y="54223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88" name="Text 82"/>
          <p:cNvSpPr/>
          <p:nvPr/>
        </p:nvSpPr>
        <p:spPr>
          <a:xfrm>
            <a:off x="1024128" y="5376672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student.name</a:t>
            </a:r>
            <a:endParaRPr lang="en-US" sz="1100" dirty="0"/>
          </a:p>
        </p:txBody>
      </p:sp>
      <p:sp>
        <p:nvSpPr>
          <p:cNvPr id="89" name="Shape 83"/>
          <p:cNvSpPr/>
          <p:nvPr/>
        </p:nvSpPr>
        <p:spPr>
          <a:xfrm>
            <a:off x="621792" y="5779008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90" name="Shape 84"/>
          <p:cNvSpPr/>
          <p:nvPr/>
        </p:nvSpPr>
        <p:spPr>
          <a:xfrm>
            <a:off x="694944" y="5824728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1" name="Text 85"/>
          <p:cNvSpPr/>
          <p:nvPr/>
        </p:nvSpPr>
        <p:spPr>
          <a:xfrm>
            <a:off x="694944" y="58247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92" name="Text 86"/>
          <p:cNvSpPr/>
          <p:nvPr/>
        </p:nvSpPr>
        <p:spPr>
          <a:xfrm>
            <a:off x="1024128" y="5779008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student[0]</a:t>
            </a:r>
            <a:endParaRPr lang="en-US" sz="1100" dirty="0"/>
          </a:p>
        </p:txBody>
      </p:sp>
      <p:sp>
        <p:nvSpPr>
          <p:cNvPr id="93" name="Shape 87"/>
          <p:cNvSpPr/>
          <p:nvPr/>
        </p:nvSpPr>
        <p:spPr>
          <a:xfrm>
            <a:off x="6172200" y="3794760"/>
            <a:ext cx="5532120" cy="2212848"/>
          </a:xfrm>
          <a:prstGeom prst="roundRect">
            <a:avLst>
              <a:gd name="adj" fmla="val 4959"/>
            </a:avLst>
          </a:prstGeom>
          <a:solidFill>
            <a:srgbClr val="FFEAF2"/>
          </a:solidFill>
          <a:ln/>
          <a:effectLst>
            <a:outerShdw sx="100000" sy="100000" kx="0" ky="0" algn="bl" rotWithShape="0" blurRad="63500" dist="25400" dir="5400000">
              <a:srgbClr val="1B1533">
                <a:alpha val="12000"/>
              </a:srgbClr>
            </a:outerShdw>
          </a:effectLst>
        </p:spPr>
      </p:sp>
      <p:sp>
        <p:nvSpPr>
          <p:cNvPr id="94" name="Shape 88"/>
          <p:cNvSpPr/>
          <p:nvPr/>
        </p:nvSpPr>
        <p:spPr>
          <a:xfrm>
            <a:off x="6336792" y="3959352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95" name="Text 89"/>
          <p:cNvSpPr/>
          <p:nvPr/>
        </p:nvSpPr>
        <p:spPr>
          <a:xfrm>
            <a:off x="6336792" y="3959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96" name="Text 90"/>
          <p:cNvSpPr/>
          <p:nvPr/>
        </p:nvSpPr>
        <p:spPr>
          <a:xfrm>
            <a:off x="6812280" y="3922776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adds an item to the end of a list?</a:t>
            </a:r>
            <a:endParaRPr lang="en-US" sz="1150" dirty="0"/>
          </a:p>
        </p:txBody>
      </p:sp>
      <p:sp>
        <p:nvSpPr>
          <p:cNvPr id="97" name="Shape 91"/>
          <p:cNvSpPr/>
          <p:nvPr/>
        </p:nvSpPr>
        <p:spPr>
          <a:xfrm>
            <a:off x="6336792" y="4572000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98" name="Shape 92"/>
          <p:cNvSpPr/>
          <p:nvPr/>
        </p:nvSpPr>
        <p:spPr>
          <a:xfrm>
            <a:off x="6409944" y="4617720"/>
            <a:ext cx="237744" cy="23774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99" name="Text 93"/>
          <p:cNvSpPr/>
          <p:nvPr/>
        </p:nvSpPr>
        <p:spPr>
          <a:xfrm>
            <a:off x="6409944" y="46177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100" name="Text 94"/>
          <p:cNvSpPr/>
          <p:nvPr/>
        </p:nvSpPr>
        <p:spPr>
          <a:xfrm>
            <a:off x="6739128" y="4572000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.add()</a:t>
            </a:r>
            <a:endParaRPr lang="en-US" sz="1100" dirty="0"/>
          </a:p>
        </p:txBody>
      </p:sp>
      <p:sp>
        <p:nvSpPr>
          <p:cNvPr id="101" name="Shape 95"/>
          <p:cNvSpPr/>
          <p:nvPr/>
        </p:nvSpPr>
        <p:spPr>
          <a:xfrm>
            <a:off x="6336792" y="4974336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102" name="Shape 96"/>
          <p:cNvSpPr/>
          <p:nvPr/>
        </p:nvSpPr>
        <p:spPr>
          <a:xfrm>
            <a:off x="6409944" y="5020056"/>
            <a:ext cx="237744" cy="23774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03" name="Text 97"/>
          <p:cNvSpPr/>
          <p:nvPr/>
        </p:nvSpPr>
        <p:spPr>
          <a:xfrm>
            <a:off x="6409944" y="50200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104" name="Text 98"/>
          <p:cNvSpPr/>
          <p:nvPr/>
        </p:nvSpPr>
        <p:spPr>
          <a:xfrm>
            <a:off x="6739128" y="4974336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.append()</a:t>
            </a:r>
            <a:endParaRPr lang="en-US" sz="1100" dirty="0"/>
          </a:p>
        </p:txBody>
      </p:sp>
      <p:sp>
        <p:nvSpPr>
          <p:cNvPr id="105" name="Shape 99"/>
          <p:cNvSpPr/>
          <p:nvPr/>
        </p:nvSpPr>
        <p:spPr>
          <a:xfrm>
            <a:off x="6336792" y="5376672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106" name="Shape 100"/>
          <p:cNvSpPr/>
          <p:nvPr/>
        </p:nvSpPr>
        <p:spPr>
          <a:xfrm>
            <a:off x="6409944" y="5422392"/>
            <a:ext cx="237744" cy="23774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07" name="Text 101"/>
          <p:cNvSpPr/>
          <p:nvPr/>
        </p:nvSpPr>
        <p:spPr>
          <a:xfrm>
            <a:off x="6409944" y="54223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108" name="Text 102"/>
          <p:cNvSpPr/>
          <p:nvPr/>
        </p:nvSpPr>
        <p:spPr>
          <a:xfrm>
            <a:off x="6739128" y="5376672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.insert()</a:t>
            </a:r>
            <a:endParaRPr lang="en-US" sz="1100" dirty="0"/>
          </a:p>
        </p:txBody>
      </p:sp>
      <p:sp>
        <p:nvSpPr>
          <p:cNvPr id="109" name="Shape 103"/>
          <p:cNvSpPr/>
          <p:nvPr/>
        </p:nvSpPr>
        <p:spPr>
          <a:xfrm>
            <a:off x="6336792" y="5779008"/>
            <a:ext cx="52029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110" name="Shape 104"/>
          <p:cNvSpPr/>
          <p:nvPr/>
        </p:nvSpPr>
        <p:spPr>
          <a:xfrm>
            <a:off x="6409944" y="5824728"/>
            <a:ext cx="237744" cy="23774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11" name="Text 105"/>
          <p:cNvSpPr/>
          <p:nvPr/>
        </p:nvSpPr>
        <p:spPr>
          <a:xfrm>
            <a:off x="6409944" y="58247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112" name="Text 106"/>
          <p:cNvSpPr/>
          <p:nvPr/>
        </p:nvSpPr>
        <p:spPr>
          <a:xfrm>
            <a:off x="6739128" y="5779008"/>
            <a:ext cx="4745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.push()</a:t>
            </a:r>
            <a:endParaRPr lang="en-US" sz="1100" dirty="0"/>
          </a:p>
        </p:txBody>
      </p:sp>
      <p:sp>
        <p:nvSpPr>
          <p:cNvPr id="113" name="Shape 107"/>
          <p:cNvSpPr/>
          <p:nvPr/>
        </p:nvSpPr>
        <p:spPr>
          <a:xfrm>
            <a:off x="2651760" y="6355080"/>
            <a:ext cx="68580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CF2"/>
            </a:solidFill>
            <a:prstDash val="dash"/>
          </a:ln>
        </p:spPr>
      </p:sp>
      <p:sp>
        <p:nvSpPr>
          <p:cNvPr id="114" name="Shape 108"/>
          <p:cNvSpPr/>
          <p:nvPr/>
        </p:nvSpPr>
        <p:spPr>
          <a:xfrm>
            <a:off x="2788920" y="6400800"/>
            <a:ext cx="292608" cy="29260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115" name="Image 4" descr="/home/claude/pyadventure/icon_star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3294" y="6465174"/>
            <a:ext cx="163860" cy="163860"/>
          </a:xfrm>
          <a:prstGeom prst="rect">
            <a:avLst/>
          </a:prstGeom>
        </p:spPr>
      </p:pic>
      <p:sp>
        <p:nvSpPr>
          <p:cNvPr id="116" name="Text 109"/>
          <p:cNvSpPr/>
          <p:nvPr/>
        </p:nvSpPr>
        <p:spPr>
          <a:xfrm>
            <a:off x="3200400" y="635508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Lists use [ ] with positions — dictionaries use { } with keys!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3" name="Image 0" descr="/home/claude/pyadventure/icon_clip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92608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6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Assessment: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43000" y="84124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Dictionaries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you've learned — solve these on your own, no multiple choice this time!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1475720" y="320040"/>
            <a:ext cx="292608" cy="29260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8" name="Image 1" descr="/home/claude/pyadventure/icon_star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0094" y="384414"/>
            <a:ext cx="163860" cy="1638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064240" y="685800"/>
            <a:ext cx="201168" cy="2011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10" name="Image 2" descr="/home/claude/pyadventure/icon_star_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497" y="730057"/>
            <a:ext cx="112654" cy="11265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57200" y="1691640"/>
            <a:ext cx="5532120" cy="32004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/>
        </p:spPr>
      </p:sp>
      <p:sp>
        <p:nvSpPr>
          <p:cNvPr id="12" name="Shape 7"/>
          <p:cNvSpPr/>
          <p:nvPr/>
        </p:nvSpPr>
        <p:spPr>
          <a:xfrm>
            <a:off x="658368" y="1828800"/>
            <a:ext cx="457200" cy="45720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13" name="Image 3" descr="/home/claude/pyadventure/icon_listU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92938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18562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LISTS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85800" y="2377440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0"/>
          <p:cNvSpPr/>
          <p:nvPr/>
        </p:nvSpPr>
        <p:spPr>
          <a:xfrm>
            <a:off x="685800" y="2377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143000" y="23317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list of 5 numbers and print the largest one using max().</a:t>
            </a:r>
            <a:endParaRPr lang="en-US" sz="1080" dirty="0"/>
          </a:p>
        </p:txBody>
      </p:sp>
      <p:sp>
        <p:nvSpPr>
          <p:cNvPr id="18" name="Shape 12"/>
          <p:cNvSpPr/>
          <p:nvPr/>
        </p:nvSpPr>
        <p:spPr>
          <a:xfrm>
            <a:off x="685800" y="3154680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3"/>
          <p:cNvSpPr/>
          <p:nvPr/>
        </p:nvSpPr>
        <p:spPr>
          <a:xfrm>
            <a:off x="685800" y="3154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143000" y="310896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loop that prints each item in a list with its index.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685800" y="3931920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16"/>
          <p:cNvSpPr/>
          <p:nvPr/>
        </p:nvSpPr>
        <p:spPr>
          <a:xfrm>
            <a:off x="685800" y="3931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43000" y="38862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third item from a list and print the updated list.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6199632" y="1691640"/>
            <a:ext cx="5532120" cy="3200400"/>
          </a:xfrm>
          <a:prstGeom prst="roundRect">
            <a:avLst>
              <a:gd name="adj" fmla="val 4000"/>
            </a:avLst>
          </a:prstGeom>
          <a:solidFill>
            <a:srgbClr val="F3EAFB"/>
          </a:solidFill>
          <a:ln/>
        </p:spPr>
      </p:sp>
      <p:sp>
        <p:nvSpPr>
          <p:cNvPr id="25" name="Shape 19"/>
          <p:cNvSpPr/>
          <p:nvPr/>
        </p:nvSpPr>
        <p:spPr>
          <a:xfrm>
            <a:off x="6400800" y="1828800"/>
            <a:ext cx="457200" cy="457200"/>
          </a:xfrm>
          <a:prstGeom prst="ellipse">
            <a:avLst/>
          </a:prstGeom>
          <a:solidFill>
            <a:srgbClr val="9B59B6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26" name="Image 4" descr="/home/claude/pyadventure/icon_key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192938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76872" y="18562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DICTIONARIES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428232" y="2377440"/>
            <a:ext cx="329184" cy="32918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9" name="Text 22"/>
          <p:cNvSpPr/>
          <p:nvPr/>
        </p:nvSpPr>
        <p:spPr>
          <a:xfrm>
            <a:off x="6428232" y="2377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885432" y="23317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dictionary for a book (title, author, year) and print each value.</a:t>
            </a:r>
            <a:endParaRPr lang="en-US" sz="1080" dirty="0"/>
          </a:p>
        </p:txBody>
      </p:sp>
      <p:sp>
        <p:nvSpPr>
          <p:cNvPr id="31" name="Shape 24"/>
          <p:cNvSpPr/>
          <p:nvPr/>
        </p:nvSpPr>
        <p:spPr>
          <a:xfrm>
            <a:off x="6428232" y="3154680"/>
            <a:ext cx="329184" cy="32918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32" name="Text 25"/>
          <p:cNvSpPr/>
          <p:nvPr/>
        </p:nvSpPr>
        <p:spPr>
          <a:xfrm>
            <a:off x="6428232" y="3154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885432" y="310896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key "price" to the dictionary.</a:t>
            </a:r>
            <a:endParaRPr lang="en-US" sz="1080" dirty="0"/>
          </a:p>
        </p:txBody>
      </p:sp>
      <p:sp>
        <p:nvSpPr>
          <p:cNvPr id="34" name="Shape 27"/>
          <p:cNvSpPr/>
          <p:nvPr/>
        </p:nvSpPr>
        <p:spPr>
          <a:xfrm>
            <a:off x="6428232" y="3931920"/>
            <a:ext cx="329184" cy="329184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35" name="Text 28"/>
          <p:cNvSpPr/>
          <p:nvPr/>
        </p:nvSpPr>
        <p:spPr>
          <a:xfrm>
            <a:off x="6428232" y="3931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6885432" y="38862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through the dictionary and print “key: value” for each pair.</a:t>
            </a:r>
            <a:endParaRPr lang="en-US" sz="1080" dirty="0"/>
          </a:p>
        </p:txBody>
      </p:sp>
      <p:sp>
        <p:nvSpPr>
          <p:cNvPr id="37" name="Shape 30"/>
          <p:cNvSpPr/>
          <p:nvPr/>
        </p:nvSpPr>
        <p:spPr>
          <a:xfrm>
            <a:off x="457200" y="5029200"/>
            <a:ext cx="11274552" cy="1051560"/>
          </a:xfrm>
          <a:prstGeom prst="roundRect">
            <a:avLst>
              <a:gd name="adj" fmla="val 12174"/>
            </a:avLst>
          </a:prstGeom>
          <a:solidFill>
            <a:srgbClr val="1A1533"/>
          </a:solidFill>
          <a:ln/>
        </p:spPr>
      </p:sp>
      <p:sp>
        <p:nvSpPr>
          <p:cNvPr id="38" name="Shape 31"/>
          <p:cNvSpPr/>
          <p:nvPr/>
        </p:nvSpPr>
        <p:spPr>
          <a:xfrm>
            <a:off x="658368" y="5166360"/>
            <a:ext cx="457200" cy="457200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63500" dist="25400" dir="5400000">
              <a:srgbClr val="1B1533">
                <a:alpha val="20000"/>
              </a:srgbClr>
            </a:outerShdw>
          </a:effectLst>
        </p:spPr>
      </p:sp>
      <p:pic>
        <p:nvPicPr>
          <p:cNvPr id="39" name="Image 5" descr="/home/claude/pyadventure/icon_tasks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266944"/>
            <a:ext cx="256032" cy="25603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234440" y="5148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CHALLENGE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1234440" y="546811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list of 3 dictionaries, each with a student's name and marks. Print the name of the student with the highest marks.</a:t>
            </a:r>
            <a:endParaRPr lang="en-US" sz="1080" dirty="0"/>
          </a:p>
        </p:txBody>
      </p:sp>
      <p:sp>
        <p:nvSpPr>
          <p:cNvPr id="42" name="Shape 34"/>
          <p:cNvSpPr/>
          <p:nvPr/>
        </p:nvSpPr>
        <p:spPr>
          <a:xfrm>
            <a:off x="457200" y="6199632"/>
            <a:ext cx="11274552" cy="457200"/>
          </a:xfrm>
          <a:prstGeom prst="roundRect">
            <a:avLst>
              <a:gd name="adj" fmla="val 24000"/>
            </a:avLst>
          </a:prstGeom>
          <a:solidFill>
            <a:srgbClr val="FFF6DC"/>
          </a:solidFill>
          <a:ln/>
        </p:spPr>
      </p:sp>
      <p:sp>
        <p:nvSpPr>
          <p:cNvPr id="43" name="Text 35"/>
          <p:cNvSpPr/>
          <p:nvPr/>
        </p:nvSpPr>
        <p:spPr>
          <a:xfrm>
            <a:off x="640080" y="61996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 Part A = 20 pts  ·  Part B = 20 pts  ·  Bonus Challenge = 40 pts  ·  Neatness &amp; comments = 20 pts  ·  Total = 100 pts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2026-08-24T06:25:19Z</dcterms:created>
  <dcterms:modified xsi:type="dcterms:W3CDTF">2026-08-24T06:25:19Z</dcterms:modified>
</cp:coreProperties>
</file>