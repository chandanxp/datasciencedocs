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5486400" cy="5486400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85800"/>
            <a:ext cx="822960" cy="82296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1B1533">
                <a:alpha val="25000"/>
              </a:srgbClr>
            </a:outerShdw>
          </a:effectLst>
        </p:spPr>
      </p:sp>
      <p:pic>
        <p:nvPicPr>
          <p:cNvPr id="5" name="Image 0" descr="/home/claude/pyadventure/icon_snake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011" y="866851"/>
            <a:ext cx="460858" cy="4608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71323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HYI.AI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1600200"/>
            <a:ext cx="72237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DAY 1 CONTENT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OF HYI.AI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" y="3246120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spc="100" kern="0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ADVENTURE — BECOME A PYTHON EXPLORER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22960" y="370332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game-style journey through your first lines of Python — earn XP, complete missions, and defeat the Boss Battle.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22960" y="4343400"/>
            <a:ext cx="2468880" cy="594360"/>
          </a:xfrm>
          <a:prstGeom prst="roundRect">
            <a:avLst>
              <a:gd name="adj" fmla="val 49231"/>
            </a:avLst>
          </a:prstGeom>
          <a:solidFill>
            <a:srgbClr val="F4B740"/>
          </a:solidFill>
          <a:ln/>
        </p:spPr>
      </p:sp>
      <p:pic>
        <p:nvPicPr>
          <p:cNvPr id="11" name="Image 1" descr="/home/claude/pyadventure/icon_play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448056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43434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ADVENTURE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3520440" y="4343400"/>
            <a:ext cx="1371600" cy="594360"/>
          </a:xfrm>
          <a:prstGeom prst="roundRect">
            <a:avLst>
              <a:gd name="adj" fmla="val 15385"/>
            </a:avLst>
          </a:prstGeom>
          <a:solidFill>
            <a:srgbClr val="2C235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520440" y="434340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822960" y="51937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 0 / 500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22960" y="5486400"/>
            <a:ext cx="4069080" cy="164592"/>
          </a:xfrm>
          <a:prstGeom prst="roundRect">
            <a:avLst>
              <a:gd name="adj" fmla="val 50000"/>
            </a:avLst>
          </a:prstGeom>
          <a:solidFill>
            <a:srgbClr val="2C2350"/>
          </a:solidFill>
          <a:ln/>
        </p:spPr>
      </p:sp>
      <p:sp>
        <p:nvSpPr>
          <p:cNvPr id="17" name="Shape 13"/>
          <p:cNvSpPr/>
          <p:nvPr/>
        </p:nvSpPr>
        <p:spPr>
          <a:xfrm>
            <a:off x="822960" y="5486400"/>
            <a:ext cx="109728" cy="164592"/>
          </a:xfrm>
          <a:prstGeom prst="roundRect">
            <a:avLst>
              <a:gd name="adj" fmla="val 75000"/>
            </a:avLst>
          </a:prstGeom>
          <a:solidFill>
            <a:srgbClr val="F4B740"/>
          </a:solidFill>
          <a:ln/>
        </p:spPr>
      </p:sp>
      <p:sp>
        <p:nvSpPr>
          <p:cNvPr id="18" name="Shape 14"/>
          <p:cNvSpPr/>
          <p:nvPr/>
        </p:nvSpPr>
        <p:spPr>
          <a:xfrm>
            <a:off x="822960" y="5897880"/>
            <a:ext cx="6035040" cy="502920"/>
          </a:xfrm>
          <a:prstGeom prst="roundRect">
            <a:avLst>
              <a:gd name="adj" fmla="val 18182"/>
            </a:avLst>
          </a:prstGeom>
          <a:solidFill>
            <a:srgbClr val="2C2350"/>
          </a:solidFill>
          <a:ln/>
        </p:spPr>
      </p:sp>
      <p:sp>
        <p:nvSpPr>
          <p:cNvPr id="19" name="Text 15"/>
          <p:cNvSpPr/>
          <p:nvPr/>
        </p:nvSpPr>
        <p:spPr>
          <a:xfrm>
            <a:off x="1005840" y="589788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4B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“Think first. Code second. Debug fearlessly.”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8366760" y="1463040"/>
            <a:ext cx="3017520" cy="4023360"/>
          </a:xfrm>
          <a:prstGeom prst="roundRect">
            <a:avLst>
              <a:gd name="adj" fmla="val 5455"/>
            </a:avLst>
          </a:prstGeom>
          <a:solidFill>
            <a:srgbClr val="241B44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9189720" y="2011680"/>
            <a:ext cx="1371600" cy="137160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1B1533">
                <a:alpha val="25000"/>
              </a:srgbClr>
            </a:outerShdw>
          </a:effectLst>
        </p:spPr>
      </p:sp>
      <p:pic>
        <p:nvPicPr>
          <p:cNvPr id="22" name="Image 2" descr="/home/claude/pyadventure/icon_snake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1472" y="2313432"/>
            <a:ext cx="768096" cy="76809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549640" y="36118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8549640" y="42062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Rank: Rookie Coder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854964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Missions: 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9509760" y="4709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0/8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8549640" y="50749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Badges: 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9509760" y="5074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0/8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5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Enter the World of Coding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95560" y="32004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10195560" y="3200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0/8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95560" y="80467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0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6510528"/>
            <a:ext cx="11274552" cy="109728"/>
          </a:xfrm>
          <a:prstGeom prst="roundRect">
            <a:avLst>
              <a:gd name="adj" fmla="val 50000"/>
            </a:avLst>
          </a:prstGeom>
          <a:solidFill>
            <a:srgbClr val="EAE0FB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6510528"/>
            <a:ext cx="676473" cy="109728"/>
          </a:xfrm>
          <a:prstGeom prst="roundRect">
            <a:avLst>
              <a:gd name="adj" fmla="val 50000"/>
            </a:avLst>
          </a:prstGeom>
          <a:solidFill>
            <a:srgbClr val="F4B740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08760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means giving clear instructions to a computer so it can perform a task.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286000"/>
            <a:ext cx="5577840" cy="2880360"/>
          </a:xfrm>
          <a:prstGeom prst="roundRect">
            <a:avLst>
              <a:gd name="adj" fmla="val 4444"/>
            </a:avLst>
          </a:prstGeom>
          <a:solidFill>
            <a:srgbClr val="F3EDFE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48716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🥪  REAL-WORLD MISSION: MAKE A SANDWICH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2971800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971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2953512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bread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" y="3355848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3558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88720" y="3337560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cheese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77240" y="3739896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7398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88720" y="3721608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vegetables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" y="4123944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1239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88720" y="4105656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another bread slice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77240" y="4507992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5079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88720" y="4489704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355080" y="1508760"/>
            <a:ext cx="5349240" cy="1463040"/>
          </a:xfrm>
          <a:prstGeom prst="roundRect">
            <a:avLst>
              <a:gd name="adj" fmla="val 8750"/>
            </a:avLst>
          </a:prstGeom>
          <a:solidFill>
            <a:srgbClr val="4C1D95"/>
          </a:solidFill>
          <a:ln/>
        </p:spPr>
      </p:sp>
      <p:sp>
        <p:nvSpPr>
          <p:cNvPr id="28" name="Shape 26"/>
          <p:cNvSpPr/>
          <p:nvPr/>
        </p:nvSpPr>
        <p:spPr>
          <a:xfrm>
            <a:off x="6583680" y="1874520"/>
            <a:ext cx="15087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0" y="187452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092440" y="1874520"/>
            <a:ext cx="27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8366760" y="1874520"/>
            <a:ext cx="15087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8366760" y="187452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875520" y="1874520"/>
            <a:ext cx="27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0149840" y="1874520"/>
            <a:ext cx="15087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10149840" y="187452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355080" y="3200400"/>
            <a:ext cx="5349240" cy="1965960"/>
          </a:xfrm>
          <a:prstGeom prst="roundRect">
            <a:avLst>
              <a:gd name="adj" fmla="val 6512"/>
            </a:avLst>
          </a:prstGeom>
          <a:solidFill>
            <a:srgbClr val="F3EDFE"/>
          </a:solidFill>
          <a:ln/>
        </p:spPr>
      </p:sp>
      <p:sp>
        <p:nvSpPr>
          <p:cNvPr id="37" name="Shape 35"/>
          <p:cNvSpPr/>
          <p:nvPr/>
        </p:nvSpPr>
        <p:spPr>
          <a:xfrm>
            <a:off x="6583680" y="3401568"/>
            <a:ext cx="502920" cy="50292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1B1533">
                <a:alpha val="25000"/>
              </a:srgbClr>
            </a:outerShdw>
          </a:effectLst>
        </p:spPr>
      </p:sp>
      <p:pic>
        <p:nvPicPr>
          <p:cNvPr id="38" name="Image 0" descr="/home/claude/pyadventure/icon_gamepa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4322" y="3512210"/>
            <a:ext cx="281635" cy="281635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7223760" y="3429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MISSION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6583680" y="393192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you wanted a robot to make a sandwich, would you simply say — Make a sandwich?"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6583680" y="475488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583680" y="47548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8138160" y="475488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138160" y="47548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502920" y="54406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is exact. Vague instructions confuse a computer — every step must be spelled out.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5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Meet Python &amp; Your First Code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95560" y="32004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10195560" y="3200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1/8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95560" y="80467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20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6510528"/>
            <a:ext cx="11274552" cy="109728"/>
          </a:xfrm>
          <a:prstGeom prst="roundRect">
            <a:avLst>
              <a:gd name="adj" fmla="val 50000"/>
            </a:avLst>
          </a:prstGeom>
          <a:solidFill>
            <a:srgbClr val="EAE0FB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6510528"/>
            <a:ext cx="1803928" cy="109728"/>
          </a:xfrm>
          <a:prstGeom prst="roundRect">
            <a:avLst>
              <a:gd name="adj" fmla="val 50000"/>
            </a:avLst>
          </a:prstGeom>
          <a:solidFill>
            <a:srgbClr val="F4B740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1554480"/>
            <a:ext cx="5394960" cy="2331720"/>
          </a:xfrm>
          <a:prstGeom prst="roundRect">
            <a:avLst>
              <a:gd name="adj" fmla="val 5490"/>
            </a:avLst>
          </a:prstGeom>
          <a:solidFill>
            <a:srgbClr val="F3EDFE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1755648"/>
            <a:ext cx="502920" cy="50292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1B1533">
                <a:alpha val="25000"/>
              </a:srgbClr>
            </a:outerShdw>
          </a:effectLst>
        </p:spPr>
      </p:sp>
      <p:pic>
        <p:nvPicPr>
          <p:cNvPr id="11" name="Image 0" descr="/home/claude/pyadventure/icon_snak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162" y="1866290"/>
            <a:ext cx="281635" cy="28163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71600" y="17830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SUPERPOWER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31520" y="228600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is a programming language with readable syntax, so beginners can focus on logic instead of confusing symbols.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31520" y="3154680"/>
            <a:ext cx="120700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3154680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029968" y="3154680"/>
            <a:ext cx="120700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2029968" y="3154680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328416" y="3154680"/>
            <a:ext cx="120700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3328416" y="3154680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626864" y="3154680"/>
            <a:ext cx="120700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1" name="Text 18"/>
          <p:cNvSpPr/>
          <p:nvPr/>
        </p:nvSpPr>
        <p:spPr>
          <a:xfrm>
            <a:off x="4626864" y="3154680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731520" y="3538728"/>
            <a:ext cx="120700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3" name="Text 20"/>
          <p:cNvSpPr/>
          <p:nvPr/>
        </p:nvSpPr>
        <p:spPr>
          <a:xfrm>
            <a:off x="731520" y="3538728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029968" y="3538728"/>
            <a:ext cx="120700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5" name="Text 22"/>
          <p:cNvSpPr/>
          <p:nvPr/>
        </p:nvSpPr>
        <p:spPr>
          <a:xfrm>
            <a:off x="2029968" y="3538728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3328416" y="3538728"/>
            <a:ext cx="120700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7" name="Text 24"/>
          <p:cNvSpPr/>
          <p:nvPr/>
        </p:nvSpPr>
        <p:spPr>
          <a:xfrm>
            <a:off x="3328416" y="3538728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626864" y="3538728"/>
            <a:ext cx="120700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9" name="Text 26"/>
          <p:cNvSpPr/>
          <p:nvPr/>
        </p:nvSpPr>
        <p:spPr>
          <a:xfrm>
            <a:off x="4626864" y="3538728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172200" y="157276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MISSION 1 — MAKE PYTHON SPEAK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6172200" y="1965960"/>
            <a:ext cx="5532120" cy="1234440"/>
          </a:xfrm>
          <a:prstGeom prst="roundRect">
            <a:avLst>
              <a:gd name="adj" fmla="val 6667"/>
            </a:avLst>
          </a:prstGeom>
          <a:solidFill>
            <a:srgbClr val="1B1533"/>
          </a:solidFill>
          <a:ln/>
          <a:effectLst>
            <a:outerShdw sx="100000" sy="100000" kx="0" ky="0" algn="bl" rotWithShape="0" blurRad="101600" dist="38100" dir="5400000">
              <a:srgbClr val="1B1533">
                <a:alpha val="3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336792" y="2093976"/>
            <a:ext cx="100584" cy="100584"/>
          </a:xfrm>
          <a:prstGeom prst="ellipse">
            <a:avLst/>
          </a:prstGeom>
          <a:solidFill>
            <a:srgbClr val="F16057"/>
          </a:solidFill>
          <a:ln/>
        </p:spPr>
      </p:sp>
      <p:sp>
        <p:nvSpPr>
          <p:cNvPr id="33" name="Shape 30"/>
          <p:cNvSpPr/>
          <p:nvPr/>
        </p:nvSpPr>
        <p:spPr>
          <a:xfrm>
            <a:off x="6537960" y="2093976"/>
            <a:ext cx="100584" cy="100584"/>
          </a:xfrm>
          <a:prstGeom prst="ellipse">
            <a:avLst/>
          </a:prstGeom>
          <a:solidFill>
            <a:srgbClr val="F5BD4F"/>
          </a:solidFill>
          <a:ln/>
        </p:spPr>
      </p:sp>
      <p:sp>
        <p:nvSpPr>
          <p:cNvPr id="34" name="Shape 31"/>
          <p:cNvSpPr/>
          <p:nvPr/>
        </p:nvSpPr>
        <p:spPr>
          <a:xfrm>
            <a:off x="6739128" y="2093976"/>
            <a:ext cx="100584" cy="100584"/>
          </a:xfrm>
          <a:prstGeom prst="ellipse">
            <a:avLst/>
          </a:prstGeom>
          <a:solidFill>
            <a:srgbClr val="3EC94F"/>
          </a:solidFill>
          <a:ln/>
        </p:spPr>
      </p:sp>
      <p:sp>
        <p:nvSpPr>
          <p:cNvPr id="35" name="Text 32"/>
          <p:cNvSpPr/>
          <p:nvPr/>
        </p:nvSpPr>
        <p:spPr>
          <a:xfrm>
            <a:off x="6373368" y="2350008"/>
            <a:ext cx="512978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print("Hello World")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6172200" y="3337560"/>
            <a:ext cx="5532120" cy="548640"/>
          </a:xfrm>
          <a:prstGeom prst="roundRect">
            <a:avLst>
              <a:gd name="adj" fmla="val 16667"/>
            </a:avLst>
          </a:prstGeom>
          <a:solidFill>
            <a:srgbClr val="E7F8EC"/>
          </a:solidFill>
          <a:ln/>
        </p:spPr>
      </p:sp>
      <p:sp>
        <p:nvSpPr>
          <p:cNvPr id="37" name="Text 34"/>
          <p:cNvSpPr/>
          <p:nvPr/>
        </p:nvSpPr>
        <p:spPr>
          <a:xfrm>
            <a:off x="6355080" y="333756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9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 Hello World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172200" y="4069080"/>
            <a:ext cx="5532120" cy="868680"/>
          </a:xfrm>
          <a:prstGeom prst="roundRect">
            <a:avLst>
              <a:gd name="adj" fmla="val 14737"/>
            </a:avLst>
          </a:prstGeom>
          <a:solidFill>
            <a:srgbClr val="4C1D95"/>
          </a:solidFill>
          <a:ln/>
        </p:spPr>
      </p:sp>
      <p:sp>
        <p:nvSpPr>
          <p:cNvPr id="39" name="Shape 36"/>
          <p:cNvSpPr/>
          <p:nvPr/>
        </p:nvSpPr>
        <p:spPr>
          <a:xfrm>
            <a:off x="6355080" y="4187952"/>
            <a:ext cx="621792" cy="621792"/>
          </a:xfrm>
          <a:prstGeom prst="ellipse">
            <a:avLst/>
          </a:prstGeom>
          <a:solidFill>
            <a:srgbClr val="F4B740"/>
          </a:solidFill>
          <a:ln/>
          <a:effectLst>
            <a:outerShdw sx="100000" sy="100000" kx="0" ky="0" algn="bl" rotWithShape="0" blurRad="76200" dist="25400" dir="5400000">
              <a:srgbClr val="1B1533">
                <a:alpha val="25000"/>
              </a:srgbClr>
            </a:outerShdw>
          </a:effectLst>
        </p:spPr>
      </p:sp>
      <p:pic>
        <p:nvPicPr>
          <p:cNvPr id="40" name="Image 1" descr="/home/claude/pyadventure/icon_trophy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1874" y="4324746"/>
            <a:ext cx="348204" cy="348204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7132320" y="41605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 UNLOCKED</a:t>
            </a:r>
            <a:endParaRPr lang="en-US" sz="1200" dirty="0"/>
          </a:p>
        </p:txBody>
      </p:sp>
      <p:sp>
        <p:nvSpPr>
          <p:cNvPr id="42" name="Text 38"/>
          <p:cNvSpPr/>
          <p:nvPr/>
        </p:nvSpPr>
        <p:spPr>
          <a:xfrm>
            <a:off x="7132320" y="446227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Explorer   •   +20 XP</a:t>
            </a:r>
            <a:endParaRPr lang="en-US" sz="1250" dirty="0"/>
          </a:p>
        </p:txBody>
      </p:sp>
      <p:sp>
        <p:nvSpPr>
          <p:cNvPr id="43" name="Text 39"/>
          <p:cNvSpPr/>
          <p:nvPr/>
        </p:nvSpPr>
        <p:spPr>
          <a:xfrm>
            <a:off x="502920" y="5440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INSTRUCTIONS → PYTHON CODE → OUTPUT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5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print() Command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95560" y="32004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10195560" y="3200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2/8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95560" y="80467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40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6510528"/>
            <a:ext cx="11274552" cy="109728"/>
          </a:xfrm>
          <a:prstGeom prst="roundRect">
            <a:avLst>
              <a:gd name="adj" fmla="val 50000"/>
            </a:avLst>
          </a:prstGeom>
          <a:solidFill>
            <a:srgbClr val="EAE0FB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6510528"/>
            <a:ext cx="2931384" cy="109728"/>
          </a:xfrm>
          <a:prstGeom prst="roundRect">
            <a:avLst>
              <a:gd name="adj" fmla="val 50000"/>
            </a:avLst>
          </a:prstGeom>
          <a:solidFill>
            <a:srgbClr val="F4B740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155448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1B1533"/>
          </a:solidFill>
          <a:ln/>
          <a:effectLst>
            <a:outerShdw sx="100000" sy="100000" kx="0" ky="0" algn="bl" rotWithShape="0" blurRad="101600" dist="38100" dir="5400000">
              <a:srgbClr val="1B1533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7512" y="1682496"/>
            <a:ext cx="100584" cy="100584"/>
          </a:xfrm>
          <a:prstGeom prst="ellipse">
            <a:avLst/>
          </a:prstGeom>
          <a:solidFill>
            <a:srgbClr val="F16057"/>
          </a:solidFill>
          <a:ln/>
        </p:spPr>
      </p:sp>
      <p:sp>
        <p:nvSpPr>
          <p:cNvPr id="11" name="Shape 9"/>
          <p:cNvSpPr/>
          <p:nvPr/>
        </p:nvSpPr>
        <p:spPr>
          <a:xfrm>
            <a:off x="868680" y="1682496"/>
            <a:ext cx="100584" cy="100584"/>
          </a:xfrm>
          <a:prstGeom prst="ellipse">
            <a:avLst/>
          </a:prstGeom>
          <a:solidFill>
            <a:srgbClr val="F5BD4F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1682496"/>
            <a:ext cx="100584" cy="100584"/>
          </a:xfrm>
          <a:prstGeom prst="ellipse">
            <a:avLst/>
          </a:prstGeom>
          <a:solidFill>
            <a:srgbClr val="3EC94F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" y="1938528"/>
            <a:ext cx="4946904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print("Hello")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print("I am learning Python")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print("Python is fun")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02920" y="3401568"/>
            <a:ext cx="5349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runs instructions from top to bottom — one line, one action.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931920"/>
            <a:ext cx="5349240" cy="1554480"/>
          </a:xfrm>
          <a:prstGeom prst="roundRect">
            <a:avLst>
              <a:gd name="adj" fmla="val 8235"/>
            </a:avLst>
          </a:prstGeom>
          <a:solidFill>
            <a:srgbClr val="F3EDFE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09651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QUOTATION MARKS = TEXT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77240" y="4434840"/>
            <a:ext cx="2377440" cy="914400"/>
          </a:xfrm>
          <a:prstGeom prst="roundRect">
            <a:avLst>
              <a:gd name="adj" fmla="val 9000"/>
            </a:avLst>
          </a:prstGeom>
          <a:solidFill>
            <a:srgbClr val="1B1533"/>
          </a:solidFill>
          <a:ln/>
          <a:effectLst>
            <a:outerShdw sx="100000" sy="100000" kx="0" ky="0" algn="bl" rotWithShape="0" blurRad="101600" dist="38100" dir="5400000">
              <a:srgbClr val="1B1533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41832" y="4562856"/>
            <a:ext cx="100584" cy="100584"/>
          </a:xfrm>
          <a:prstGeom prst="ellipse">
            <a:avLst/>
          </a:prstGeom>
          <a:solidFill>
            <a:srgbClr val="F16057"/>
          </a:solidFill>
          <a:ln/>
        </p:spPr>
      </p:sp>
      <p:sp>
        <p:nvSpPr>
          <p:cNvPr id="19" name="Shape 17"/>
          <p:cNvSpPr/>
          <p:nvPr/>
        </p:nvSpPr>
        <p:spPr>
          <a:xfrm>
            <a:off x="1143000" y="4562856"/>
            <a:ext cx="100584" cy="100584"/>
          </a:xfrm>
          <a:prstGeom prst="ellipse">
            <a:avLst/>
          </a:prstGeom>
          <a:solidFill>
            <a:srgbClr val="F5BD4F"/>
          </a:solidFill>
          <a:ln/>
        </p:spPr>
      </p:sp>
      <p:sp>
        <p:nvSpPr>
          <p:cNvPr id="20" name="Shape 18"/>
          <p:cNvSpPr/>
          <p:nvPr/>
        </p:nvSpPr>
        <p:spPr>
          <a:xfrm>
            <a:off x="1344168" y="4562856"/>
            <a:ext cx="100584" cy="100584"/>
          </a:xfrm>
          <a:prstGeom prst="ellipse">
            <a:avLst/>
          </a:prstGeom>
          <a:solidFill>
            <a:srgbClr val="3EC94F"/>
          </a:solidFill>
          <a:ln/>
        </p:spPr>
      </p:sp>
      <p:sp>
        <p:nvSpPr>
          <p:cNvPr id="21" name="Text 19"/>
          <p:cNvSpPr/>
          <p:nvPr/>
        </p:nvSpPr>
        <p:spPr>
          <a:xfrm>
            <a:off x="978408" y="4818888"/>
            <a:ext cx="197510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print(10 + 5)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B8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15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91840" y="4434840"/>
            <a:ext cx="2377440" cy="914400"/>
          </a:xfrm>
          <a:prstGeom prst="roundRect">
            <a:avLst>
              <a:gd name="adj" fmla="val 9000"/>
            </a:avLst>
          </a:prstGeom>
          <a:solidFill>
            <a:srgbClr val="1B1533"/>
          </a:solidFill>
          <a:ln/>
          <a:effectLst>
            <a:outerShdw sx="100000" sy="100000" kx="0" ky="0" algn="bl" rotWithShape="0" blurRad="101600" dist="38100" dir="5400000">
              <a:srgbClr val="1B1533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456432" y="4562856"/>
            <a:ext cx="100584" cy="100584"/>
          </a:xfrm>
          <a:prstGeom prst="ellipse">
            <a:avLst/>
          </a:prstGeom>
          <a:solidFill>
            <a:srgbClr val="F16057"/>
          </a:solidFill>
          <a:ln/>
        </p:spPr>
      </p:sp>
      <p:sp>
        <p:nvSpPr>
          <p:cNvPr id="24" name="Shape 22"/>
          <p:cNvSpPr/>
          <p:nvPr/>
        </p:nvSpPr>
        <p:spPr>
          <a:xfrm>
            <a:off x="3657600" y="4562856"/>
            <a:ext cx="100584" cy="100584"/>
          </a:xfrm>
          <a:prstGeom prst="ellipse">
            <a:avLst/>
          </a:prstGeom>
          <a:solidFill>
            <a:srgbClr val="F5BD4F"/>
          </a:solidFill>
          <a:ln/>
        </p:spPr>
      </p:sp>
      <p:sp>
        <p:nvSpPr>
          <p:cNvPr id="25" name="Shape 23"/>
          <p:cNvSpPr/>
          <p:nvPr/>
        </p:nvSpPr>
        <p:spPr>
          <a:xfrm>
            <a:off x="3858768" y="4562856"/>
            <a:ext cx="100584" cy="100584"/>
          </a:xfrm>
          <a:prstGeom prst="ellipse">
            <a:avLst/>
          </a:prstGeom>
          <a:solidFill>
            <a:srgbClr val="3EC94F"/>
          </a:solidFill>
          <a:ln/>
        </p:spPr>
      </p:sp>
      <p:sp>
        <p:nvSpPr>
          <p:cNvPr id="26" name="Text 24"/>
          <p:cNvSpPr/>
          <p:nvPr/>
        </p:nvSpPr>
        <p:spPr>
          <a:xfrm>
            <a:off x="3493008" y="4818888"/>
            <a:ext cx="197510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print("10 + 5")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B8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10 + 5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72200" y="1554480"/>
            <a:ext cx="5532120" cy="3931920"/>
          </a:xfrm>
          <a:prstGeom prst="roundRect">
            <a:avLst>
              <a:gd name="adj" fmla="val 3256"/>
            </a:avLst>
          </a:prstGeom>
          <a:solidFill>
            <a:srgbClr val="4C1D95"/>
          </a:solidFill>
          <a:ln/>
        </p:spPr>
      </p:sp>
      <p:sp>
        <p:nvSpPr>
          <p:cNvPr id="28" name="Shape 26"/>
          <p:cNvSpPr/>
          <p:nvPr/>
        </p:nvSpPr>
        <p:spPr>
          <a:xfrm>
            <a:off x="6382512" y="1737360"/>
            <a:ext cx="502920" cy="502920"/>
          </a:xfrm>
          <a:prstGeom prst="ellipse">
            <a:avLst/>
          </a:prstGeom>
          <a:solidFill>
            <a:srgbClr val="F4B740"/>
          </a:solidFill>
          <a:ln/>
          <a:effectLst>
            <a:outerShdw sx="100000" sy="100000" kx="0" ky="0" algn="bl" rotWithShape="0" blurRad="76200" dist="25400" dir="5400000">
              <a:srgbClr val="1B1533">
                <a:alpha val="25000"/>
              </a:srgbClr>
            </a:outerShdw>
          </a:effectLst>
        </p:spPr>
      </p:sp>
      <p:pic>
        <p:nvPicPr>
          <p:cNvPr id="29" name="Image 0" descr="/home/claude/pyadventure/icon_gamepad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3154" y="1848002"/>
            <a:ext cx="281635" cy="281635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699516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GAME — PREDICT THE OUTPUT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6382512" y="221284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9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answer before you run the code!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6382512" y="2606040"/>
            <a:ext cx="5120640" cy="786384"/>
          </a:xfrm>
          <a:prstGeom prst="roundRect">
            <a:avLst>
              <a:gd name="adj" fmla="val 11628"/>
            </a:avLst>
          </a:prstGeom>
          <a:solidFill>
            <a:srgbClr val="241B44"/>
          </a:solidFill>
          <a:ln/>
        </p:spPr>
      </p:sp>
      <p:sp>
        <p:nvSpPr>
          <p:cNvPr id="33" name="Text 30"/>
          <p:cNvSpPr/>
          <p:nvPr/>
        </p:nvSpPr>
        <p:spPr>
          <a:xfrm>
            <a:off x="6537960" y="266090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1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537960" y="2935224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print("Python")   print("Programming")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10195560" y="2807208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3A2E5C"/>
          </a:solidFill>
          <a:ln w="9525">
            <a:solidFill>
              <a:srgbClr val="F4B74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0195560" y="280720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6382512" y="3538728"/>
            <a:ext cx="5120640" cy="786384"/>
          </a:xfrm>
          <a:prstGeom prst="roundRect">
            <a:avLst>
              <a:gd name="adj" fmla="val 11628"/>
            </a:avLst>
          </a:prstGeom>
          <a:solidFill>
            <a:srgbClr val="241B44"/>
          </a:solidFill>
          <a:ln/>
        </p:spPr>
      </p:sp>
      <p:sp>
        <p:nvSpPr>
          <p:cNvPr id="38" name="Text 35"/>
          <p:cNvSpPr/>
          <p:nvPr/>
        </p:nvSpPr>
        <p:spPr>
          <a:xfrm>
            <a:off x="6537960" y="359359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2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6537960" y="386791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print(20 + 10)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10195560" y="3739896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3A2E5C"/>
          </a:solidFill>
          <a:ln w="9525">
            <a:solidFill>
              <a:srgbClr val="F4B74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0195560" y="373989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6382512" y="4471416"/>
            <a:ext cx="5120640" cy="786384"/>
          </a:xfrm>
          <a:prstGeom prst="roundRect">
            <a:avLst>
              <a:gd name="adj" fmla="val 11628"/>
            </a:avLst>
          </a:prstGeom>
          <a:solidFill>
            <a:srgbClr val="241B44"/>
          </a:solidFill>
          <a:ln/>
        </p:spPr>
      </p:sp>
      <p:sp>
        <p:nvSpPr>
          <p:cNvPr id="43" name="Text 40"/>
          <p:cNvSpPr/>
          <p:nvPr/>
        </p:nvSpPr>
        <p:spPr>
          <a:xfrm>
            <a:off x="6537960" y="45262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3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6537960" y="480060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print("20 + 10")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10195560" y="4672584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3A2E5C"/>
          </a:solidFill>
          <a:ln w="9525">
            <a:solidFill>
              <a:srgbClr val="F4B74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10195560" y="4672584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5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Variable Boxes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95560" y="32004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10195560" y="3200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3/8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95560" y="80467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55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6510528"/>
            <a:ext cx="11274552" cy="109728"/>
          </a:xfrm>
          <a:prstGeom prst="roundRect">
            <a:avLst>
              <a:gd name="adj" fmla="val 50000"/>
            </a:avLst>
          </a:prstGeom>
          <a:solidFill>
            <a:srgbClr val="EAE0FB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6510528"/>
            <a:ext cx="4171584" cy="109728"/>
          </a:xfrm>
          <a:prstGeom prst="roundRect">
            <a:avLst>
              <a:gd name="adj" fmla="val 50000"/>
            </a:avLst>
          </a:prstGeom>
          <a:solidFill>
            <a:srgbClr val="F4B740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0876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is a named place used to store a value — like a labelled box.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057400"/>
            <a:ext cx="1645920" cy="1371600"/>
          </a:xfrm>
          <a:prstGeom prst="roundRect">
            <a:avLst>
              <a:gd name="adj" fmla="val 8000"/>
            </a:avLst>
          </a:prstGeom>
          <a:solidFill>
            <a:srgbClr val="F3EDFE"/>
          </a:solidFill>
          <a:ln w="19050">
            <a:solidFill>
              <a:srgbClr val="7C3AED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1097280" y="2212848"/>
            <a:ext cx="457200" cy="45720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1B1533">
                <a:alpha val="25000"/>
              </a:srgbClr>
            </a:outerShdw>
          </a:effectLst>
        </p:spPr>
      </p:sp>
      <p:pic>
        <p:nvPicPr>
          <p:cNvPr id="12" name="Image 0" descr="/home/claude/pyadventure/icon_box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864" y="2313432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02920" y="274320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02920" y="30449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15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"Rahul"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2377440" y="2057400"/>
            <a:ext cx="1645920" cy="1371600"/>
          </a:xfrm>
          <a:prstGeom prst="roundRect">
            <a:avLst>
              <a:gd name="adj" fmla="val 8000"/>
            </a:avLst>
          </a:prstGeom>
          <a:solidFill>
            <a:srgbClr val="F3EDFE"/>
          </a:solidFill>
          <a:ln w="19050">
            <a:solidFill>
              <a:srgbClr val="7C3AED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2971800" y="2212848"/>
            <a:ext cx="457200" cy="45720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1B1533">
                <a:alpha val="25000"/>
              </a:srgbClr>
            </a:outerShdw>
          </a:effectLst>
        </p:spPr>
      </p:sp>
      <p:pic>
        <p:nvPicPr>
          <p:cNvPr id="17" name="Image 1" descr="/home/claude/pyadventure/icon_box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2384" y="2313432"/>
            <a:ext cx="256032" cy="25603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377440" y="274320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2377440" y="30449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15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4251960" y="2057400"/>
            <a:ext cx="1645920" cy="1371600"/>
          </a:xfrm>
          <a:prstGeom prst="roundRect">
            <a:avLst>
              <a:gd name="adj" fmla="val 8000"/>
            </a:avLst>
          </a:prstGeom>
          <a:solidFill>
            <a:srgbClr val="F3EDFE"/>
          </a:solidFill>
          <a:ln w="19050">
            <a:solidFill>
              <a:srgbClr val="7C3AED"/>
            </a:solidFill>
            <a:prstDash val="dash"/>
          </a:ln>
        </p:spPr>
      </p:sp>
      <p:sp>
        <p:nvSpPr>
          <p:cNvPr id="21" name="Shape 17"/>
          <p:cNvSpPr/>
          <p:nvPr/>
        </p:nvSpPr>
        <p:spPr>
          <a:xfrm>
            <a:off x="4846320" y="2212848"/>
            <a:ext cx="457200" cy="45720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1B1533">
                <a:alpha val="25000"/>
              </a:srgbClr>
            </a:outerShdw>
          </a:effectLst>
        </p:spPr>
      </p:sp>
      <p:pic>
        <p:nvPicPr>
          <p:cNvPr id="22" name="Image 2" descr="/home/claude/pyadventure/icon_box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904" y="2313432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251960" y="274320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4251960" y="30449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15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85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6766560" y="246888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6" name="Shape 21"/>
          <p:cNvSpPr/>
          <p:nvPr/>
        </p:nvSpPr>
        <p:spPr>
          <a:xfrm>
            <a:off x="7360920" y="2057400"/>
            <a:ext cx="4343400" cy="1371600"/>
          </a:xfrm>
          <a:prstGeom prst="roundRect">
            <a:avLst>
              <a:gd name="adj" fmla="val 6000"/>
            </a:avLst>
          </a:prstGeom>
          <a:solidFill>
            <a:srgbClr val="1B1533"/>
          </a:solidFill>
          <a:ln/>
          <a:effectLst>
            <a:outerShdw sx="100000" sy="100000" kx="0" ky="0" algn="bl" rotWithShape="0" blurRad="101600" dist="38100" dir="5400000">
              <a:srgbClr val="1B1533">
                <a:alpha val="3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525512" y="2185416"/>
            <a:ext cx="100584" cy="100584"/>
          </a:xfrm>
          <a:prstGeom prst="ellipse">
            <a:avLst/>
          </a:prstGeom>
          <a:solidFill>
            <a:srgbClr val="F16057"/>
          </a:solidFill>
          <a:ln/>
        </p:spPr>
      </p:sp>
      <p:sp>
        <p:nvSpPr>
          <p:cNvPr id="28" name="Shape 23"/>
          <p:cNvSpPr/>
          <p:nvPr/>
        </p:nvSpPr>
        <p:spPr>
          <a:xfrm>
            <a:off x="7726680" y="2185416"/>
            <a:ext cx="100584" cy="100584"/>
          </a:xfrm>
          <a:prstGeom prst="ellipse">
            <a:avLst/>
          </a:prstGeom>
          <a:solidFill>
            <a:srgbClr val="F5BD4F"/>
          </a:solidFill>
          <a:ln/>
        </p:spPr>
      </p:sp>
      <p:sp>
        <p:nvSpPr>
          <p:cNvPr id="29" name="Shape 24"/>
          <p:cNvSpPr/>
          <p:nvPr/>
        </p:nvSpPr>
        <p:spPr>
          <a:xfrm>
            <a:off x="7927848" y="2185416"/>
            <a:ext cx="100584" cy="100584"/>
          </a:xfrm>
          <a:prstGeom prst="ellipse">
            <a:avLst/>
          </a:prstGeom>
          <a:solidFill>
            <a:srgbClr val="3EC94F"/>
          </a:solidFill>
          <a:ln/>
        </p:spPr>
      </p:sp>
      <p:sp>
        <p:nvSpPr>
          <p:cNvPr id="30" name="Text 25"/>
          <p:cNvSpPr/>
          <p:nvPr/>
        </p:nvSpPr>
        <p:spPr>
          <a:xfrm>
            <a:off x="7562088" y="2441448"/>
            <a:ext cx="394106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"Rahul"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15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 = 85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502920" y="3703320"/>
            <a:ext cx="5394960" cy="1371600"/>
          </a:xfrm>
          <a:prstGeom prst="roundRect">
            <a:avLst>
              <a:gd name="adj" fmla="val 9333"/>
            </a:avLst>
          </a:prstGeom>
          <a:solidFill>
            <a:srgbClr val="F3EDFE"/>
          </a:solidFill>
          <a:ln/>
        </p:spPr>
      </p:sp>
      <p:sp>
        <p:nvSpPr>
          <p:cNvPr id="32" name="Text 27"/>
          <p:cNvSpPr/>
          <p:nvPr/>
        </p:nvSpPr>
        <p:spPr>
          <a:xfrm>
            <a:off x="777240" y="385876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ASSIGNMENT OPERATOR  =</a:t>
            </a:r>
            <a:endParaRPr lang="en-US" sz="1250" dirty="0"/>
          </a:p>
        </p:txBody>
      </p:sp>
      <p:sp>
        <p:nvSpPr>
          <p:cNvPr id="33" name="Text 28"/>
          <p:cNvSpPr/>
          <p:nvPr/>
        </p:nvSpPr>
        <p:spPr>
          <a:xfrm>
            <a:off x="777240" y="4206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5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15   →   store 15 inside age</a:t>
            </a:r>
            <a:endParaRPr lang="en-US" sz="1300" dirty="0"/>
          </a:p>
        </p:txBody>
      </p:sp>
      <p:sp>
        <p:nvSpPr>
          <p:cNvPr id="34" name="Text 29"/>
          <p:cNvSpPr/>
          <p:nvPr/>
        </p:nvSpPr>
        <p:spPr>
          <a:xfrm>
            <a:off x="777240" y="45720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100  then  score = 150  →  old value is replaced</a:t>
            </a:r>
            <a:endParaRPr lang="en-US" sz="1150" dirty="0"/>
          </a:p>
        </p:txBody>
      </p:sp>
      <p:sp>
        <p:nvSpPr>
          <p:cNvPr id="35" name="Shape 30"/>
          <p:cNvSpPr/>
          <p:nvPr/>
        </p:nvSpPr>
        <p:spPr>
          <a:xfrm>
            <a:off x="6172200" y="3703320"/>
            <a:ext cx="5532120" cy="1691640"/>
          </a:xfrm>
          <a:prstGeom prst="roundRect">
            <a:avLst>
              <a:gd name="adj" fmla="val 7568"/>
            </a:avLst>
          </a:prstGeom>
          <a:solidFill>
            <a:srgbClr val="4C1D95"/>
          </a:solidFill>
          <a:ln/>
        </p:spPr>
      </p:sp>
      <p:sp>
        <p:nvSpPr>
          <p:cNvPr id="36" name="Shape 31"/>
          <p:cNvSpPr/>
          <p:nvPr/>
        </p:nvSpPr>
        <p:spPr>
          <a:xfrm>
            <a:off x="6382512" y="3877056"/>
            <a:ext cx="457200" cy="457200"/>
          </a:xfrm>
          <a:prstGeom prst="ellipse">
            <a:avLst/>
          </a:prstGeom>
          <a:solidFill>
            <a:srgbClr val="F4B740"/>
          </a:solidFill>
          <a:ln/>
          <a:effectLst>
            <a:outerShdw sx="100000" sy="100000" kx="0" ky="0" algn="bl" rotWithShape="0" blurRad="76200" dist="25400" dir="5400000">
              <a:srgbClr val="1B1533">
                <a:alpha val="25000"/>
              </a:srgbClr>
            </a:outerShdw>
          </a:effectLst>
        </p:spPr>
      </p:sp>
      <p:pic>
        <p:nvPicPr>
          <p:cNvPr id="37" name="Image 3" descr="/home/claude/pyadventure/icon_gamepad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3096" y="3977640"/>
            <a:ext cx="256032" cy="256032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6949440" y="390448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BOX GAME</a:t>
            </a:r>
            <a:endParaRPr lang="en-US" sz="1250" dirty="0"/>
          </a:p>
        </p:txBody>
      </p:sp>
      <p:sp>
        <p:nvSpPr>
          <p:cNvPr id="39" name="Text 33"/>
          <p:cNvSpPr/>
          <p:nvPr/>
        </p:nvSpPr>
        <p:spPr>
          <a:xfrm>
            <a:off x="6382512" y="4315968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15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16</a:t>
            </a:r>
            <a:endParaRPr lang="en-US" sz="1300" dirty="0"/>
          </a:p>
        </p:txBody>
      </p:sp>
      <p:sp>
        <p:nvSpPr>
          <p:cNvPr id="40" name="Text 34"/>
          <p:cNvSpPr/>
          <p:nvPr/>
        </p:nvSpPr>
        <p:spPr>
          <a:xfrm>
            <a:off x="8869680" y="4315968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new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C9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of age?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5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Meet the Data Types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95560" y="32004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10195560" y="3200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4/8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95560" y="80467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70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6510528"/>
            <a:ext cx="11274552" cy="109728"/>
          </a:xfrm>
          <a:prstGeom prst="roundRect">
            <a:avLst>
              <a:gd name="adj" fmla="val 50000"/>
            </a:avLst>
          </a:prstGeom>
          <a:solidFill>
            <a:srgbClr val="EAE0FB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6510528"/>
            <a:ext cx="5299039" cy="109728"/>
          </a:xfrm>
          <a:prstGeom prst="roundRect">
            <a:avLst>
              <a:gd name="adj" fmla="val 50000"/>
            </a:avLst>
          </a:prstGeom>
          <a:solidFill>
            <a:srgbClr val="F4B740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1554480"/>
            <a:ext cx="2514600" cy="1920240"/>
          </a:xfrm>
          <a:prstGeom prst="roundRect">
            <a:avLst>
              <a:gd name="adj" fmla="val 6667"/>
            </a:avLst>
          </a:prstGeom>
          <a:solidFill>
            <a:srgbClr val="F3EDFE"/>
          </a:solidFill>
          <a:ln/>
        </p:spPr>
      </p:sp>
      <p:sp>
        <p:nvSpPr>
          <p:cNvPr id="10" name="Shape 8"/>
          <p:cNvSpPr/>
          <p:nvPr/>
        </p:nvSpPr>
        <p:spPr>
          <a:xfrm>
            <a:off x="1485900" y="1737360"/>
            <a:ext cx="548640" cy="54864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1B1533">
                <a:alpha val="25000"/>
              </a:srgbClr>
            </a:outerShdw>
          </a:effectLst>
        </p:spPr>
      </p:sp>
      <p:pic>
        <p:nvPicPr>
          <p:cNvPr id="11" name="Image 0" descr="/home/claude/pyadventure/icon_has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6601" y="1858061"/>
            <a:ext cx="307238" cy="30723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02920" y="23774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1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02920" y="27432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numbers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005840" y="3108960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1005840" y="3108960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1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246120" y="1554480"/>
            <a:ext cx="2514600" cy="1920240"/>
          </a:xfrm>
          <a:prstGeom prst="roundRect">
            <a:avLst>
              <a:gd name="adj" fmla="val 6667"/>
            </a:avLst>
          </a:prstGeom>
          <a:solidFill>
            <a:srgbClr val="F3EDFE"/>
          </a:solidFill>
          <a:ln/>
        </p:spPr>
      </p:sp>
      <p:sp>
        <p:nvSpPr>
          <p:cNvPr id="17" name="Shape 14"/>
          <p:cNvSpPr/>
          <p:nvPr/>
        </p:nvSpPr>
        <p:spPr>
          <a:xfrm>
            <a:off x="4229100" y="1737360"/>
            <a:ext cx="548640" cy="54864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1B1533">
                <a:alpha val="25000"/>
              </a:srgbClr>
            </a:outerShdw>
          </a:effectLst>
        </p:spPr>
      </p:sp>
      <p:pic>
        <p:nvPicPr>
          <p:cNvPr id="18" name="Image 1" descr="/home/claude/pyadventure/icon_calc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9801" y="1858061"/>
            <a:ext cx="307238" cy="30723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246120" y="23774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1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3246120" y="27432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numbers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3749040" y="3108960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2" name="Text 18"/>
          <p:cNvSpPr/>
          <p:nvPr/>
        </p:nvSpPr>
        <p:spPr>
          <a:xfrm>
            <a:off x="3749040" y="3108960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1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5.7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989320" y="1554480"/>
            <a:ext cx="2514600" cy="1920240"/>
          </a:xfrm>
          <a:prstGeom prst="roundRect">
            <a:avLst>
              <a:gd name="adj" fmla="val 6667"/>
            </a:avLst>
          </a:prstGeom>
          <a:solidFill>
            <a:srgbClr val="F3EDFE"/>
          </a:solidFill>
          <a:ln/>
        </p:spPr>
      </p:sp>
      <p:sp>
        <p:nvSpPr>
          <p:cNvPr id="24" name="Shape 20"/>
          <p:cNvSpPr/>
          <p:nvPr/>
        </p:nvSpPr>
        <p:spPr>
          <a:xfrm>
            <a:off x="6972300" y="1737360"/>
            <a:ext cx="548640" cy="54864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1B1533">
                <a:alpha val="25000"/>
              </a:srgbClr>
            </a:outerShdw>
          </a:effectLst>
        </p:spPr>
      </p:sp>
      <p:pic>
        <p:nvPicPr>
          <p:cNvPr id="25" name="Image 2" descr="/home/claude/pyadventure/icon_keyboar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3001" y="1858061"/>
            <a:ext cx="307238" cy="30723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989320" y="23774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1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5989320" y="27432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6492240" y="3108960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9" name="Text 24"/>
          <p:cNvSpPr/>
          <p:nvPr/>
        </p:nvSpPr>
        <p:spPr>
          <a:xfrm>
            <a:off x="6492240" y="3108960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1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"Python"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8732520" y="1554480"/>
            <a:ext cx="2514600" cy="1920240"/>
          </a:xfrm>
          <a:prstGeom prst="roundRect">
            <a:avLst>
              <a:gd name="adj" fmla="val 6667"/>
            </a:avLst>
          </a:prstGeom>
          <a:solidFill>
            <a:srgbClr val="F3EDFE"/>
          </a:solidFill>
          <a:ln/>
        </p:spPr>
      </p:sp>
      <p:sp>
        <p:nvSpPr>
          <p:cNvPr id="31" name="Shape 26"/>
          <p:cNvSpPr/>
          <p:nvPr/>
        </p:nvSpPr>
        <p:spPr>
          <a:xfrm>
            <a:off x="9715500" y="1737360"/>
            <a:ext cx="548640" cy="54864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1B1533">
                <a:alpha val="25000"/>
              </a:srgbClr>
            </a:outerShdw>
          </a:effectLst>
        </p:spPr>
      </p:sp>
      <p:pic>
        <p:nvPicPr>
          <p:cNvPr id="32" name="Image 3" descr="/home/claude/pyadventure/icon_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6201" y="185806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8732520" y="23774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1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</a:t>
            </a:r>
            <a:endParaRPr lang="en-US" sz="1600" dirty="0"/>
          </a:p>
        </p:txBody>
      </p:sp>
      <p:sp>
        <p:nvSpPr>
          <p:cNvPr id="34" name="Text 28"/>
          <p:cNvSpPr/>
          <p:nvPr/>
        </p:nvSpPr>
        <p:spPr>
          <a:xfrm>
            <a:off x="8732520" y="27432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/ False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9235440" y="3108960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6" name="Text 30"/>
          <p:cNvSpPr/>
          <p:nvPr/>
        </p:nvSpPr>
        <p:spPr>
          <a:xfrm>
            <a:off x="9235440" y="3108960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1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502920" y="3749040"/>
            <a:ext cx="5349240" cy="1051560"/>
          </a:xfrm>
          <a:prstGeom prst="roundRect">
            <a:avLst>
              <a:gd name="adj" fmla="val 7826"/>
            </a:avLst>
          </a:prstGeom>
          <a:solidFill>
            <a:srgbClr val="1B1533"/>
          </a:solidFill>
          <a:ln/>
          <a:effectLst>
            <a:outerShdw sx="100000" sy="100000" kx="0" ky="0" algn="bl" rotWithShape="0" blurRad="101600" dist="38100" dir="5400000">
              <a:srgbClr val="1B1533">
                <a:alpha val="30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667512" y="3877056"/>
            <a:ext cx="100584" cy="100584"/>
          </a:xfrm>
          <a:prstGeom prst="ellipse">
            <a:avLst/>
          </a:prstGeom>
          <a:solidFill>
            <a:srgbClr val="F16057"/>
          </a:solidFill>
          <a:ln/>
        </p:spPr>
      </p:sp>
      <p:sp>
        <p:nvSpPr>
          <p:cNvPr id="39" name="Shape 33"/>
          <p:cNvSpPr/>
          <p:nvPr/>
        </p:nvSpPr>
        <p:spPr>
          <a:xfrm>
            <a:off x="868680" y="3877056"/>
            <a:ext cx="100584" cy="100584"/>
          </a:xfrm>
          <a:prstGeom prst="ellipse">
            <a:avLst/>
          </a:prstGeom>
          <a:solidFill>
            <a:srgbClr val="F5BD4F"/>
          </a:solidFill>
          <a:ln/>
        </p:spPr>
      </p:sp>
      <p:sp>
        <p:nvSpPr>
          <p:cNvPr id="40" name="Shape 34"/>
          <p:cNvSpPr/>
          <p:nvPr/>
        </p:nvSpPr>
        <p:spPr>
          <a:xfrm>
            <a:off x="1069848" y="3877056"/>
            <a:ext cx="100584" cy="100584"/>
          </a:xfrm>
          <a:prstGeom prst="ellipse">
            <a:avLst/>
          </a:prstGeom>
          <a:solidFill>
            <a:srgbClr val="3EC94F"/>
          </a:solidFill>
          <a:ln/>
        </p:spPr>
      </p:sp>
      <p:sp>
        <p:nvSpPr>
          <p:cNvPr id="41" name="Text 35"/>
          <p:cNvSpPr/>
          <p:nvPr/>
        </p:nvSpPr>
        <p:spPr>
          <a:xfrm>
            <a:off x="704088" y="4133088"/>
            <a:ext cx="49469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15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print(type(age))   # → int</a:t>
            </a:r>
            <a:endParaRPr lang="en-US" sz="1300" dirty="0"/>
          </a:p>
        </p:txBody>
      </p:sp>
      <p:sp>
        <p:nvSpPr>
          <p:cNvPr id="42" name="Text 36"/>
          <p:cNvSpPr/>
          <p:nvPr/>
        </p:nvSpPr>
        <p:spPr>
          <a:xfrm>
            <a:off x="502920" y="489204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type()  tells you the data type of any value.</a:t>
            </a:r>
            <a:endParaRPr lang="en-US" sz="1200" dirty="0"/>
          </a:p>
        </p:txBody>
      </p:sp>
      <p:sp>
        <p:nvSpPr>
          <p:cNvPr id="43" name="Shape 37"/>
          <p:cNvSpPr/>
          <p:nvPr/>
        </p:nvSpPr>
        <p:spPr>
          <a:xfrm>
            <a:off x="6172200" y="3749040"/>
            <a:ext cx="5532120" cy="1828800"/>
          </a:xfrm>
          <a:prstGeom prst="roundRect">
            <a:avLst>
              <a:gd name="adj" fmla="val 7000"/>
            </a:avLst>
          </a:prstGeom>
          <a:solidFill>
            <a:srgbClr val="4C1D95"/>
          </a:solidFill>
          <a:ln/>
        </p:spPr>
      </p:sp>
      <p:sp>
        <p:nvSpPr>
          <p:cNvPr id="44" name="Shape 38"/>
          <p:cNvSpPr/>
          <p:nvPr/>
        </p:nvSpPr>
        <p:spPr>
          <a:xfrm>
            <a:off x="6382512" y="3913632"/>
            <a:ext cx="457200" cy="457200"/>
          </a:xfrm>
          <a:prstGeom prst="ellipse">
            <a:avLst/>
          </a:prstGeom>
          <a:solidFill>
            <a:srgbClr val="F4B740"/>
          </a:solidFill>
          <a:ln/>
          <a:effectLst>
            <a:outerShdw sx="100000" sy="100000" kx="0" ky="0" algn="bl" rotWithShape="0" blurRad="76200" dist="25400" dir="5400000">
              <a:srgbClr val="1B1533">
                <a:alpha val="25000"/>
              </a:srgbClr>
            </a:outerShdw>
          </a:effectLst>
        </p:spPr>
      </p:sp>
      <p:pic>
        <p:nvPicPr>
          <p:cNvPr id="45" name="Image 4" descr="/home/claude/pyadventure/icon_gamepad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3096" y="4014216"/>
            <a:ext cx="256032" cy="256032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6949440" y="395020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 DETECTIVE</a:t>
            </a:r>
            <a:endParaRPr lang="en-US" sz="1250" dirty="0"/>
          </a:p>
        </p:txBody>
      </p:sp>
      <p:sp>
        <p:nvSpPr>
          <p:cNvPr id="47" name="Text 40"/>
          <p:cNvSpPr/>
          <p:nvPr/>
        </p:nvSpPr>
        <p:spPr>
          <a:xfrm>
            <a:off x="6382512" y="434340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15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 = 99.50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"Aman"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is_student = True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5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Python Becomes a Calculator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95560" y="32004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10195560" y="3200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5/8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95560" y="80467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90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6510528"/>
            <a:ext cx="11274552" cy="109728"/>
          </a:xfrm>
          <a:prstGeom prst="roundRect">
            <a:avLst>
              <a:gd name="adj" fmla="val 50000"/>
            </a:avLst>
          </a:prstGeom>
          <a:solidFill>
            <a:srgbClr val="EAE0FB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6510528"/>
            <a:ext cx="6539240" cy="109728"/>
          </a:xfrm>
          <a:prstGeom prst="roundRect">
            <a:avLst>
              <a:gd name="adj" fmla="val 50000"/>
            </a:avLst>
          </a:prstGeom>
          <a:solidFill>
            <a:srgbClr val="F4B740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1554480"/>
            <a:ext cx="1261872" cy="841248"/>
          </a:xfrm>
          <a:prstGeom prst="roundRect">
            <a:avLst>
              <a:gd name="adj" fmla="val 10870"/>
            </a:avLst>
          </a:prstGeom>
          <a:solidFill>
            <a:srgbClr val="F3EDFE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600200"/>
            <a:ext cx="1261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02920" y="2011680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874520" y="1554480"/>
            <a:ext cx="1261872" cy="841248"/>
          </a:xfrm>
          <a:prstGeom prst="roundRect">
            <a:avLst>
              <a:gd name="adj" fmla="val 10870"/>
            </a:avLst>
          </a:prstGeom>
          <a:solidFill>
            <a:srgbClr val="F3EDFE"/>
          </a:solidFill>
          <a:ln/>
        </p:spPr>
      </p:sp>
      <p:sp>
        <p:nvSpPr>
          <p:cNvPr id="13" name="Text 11"/>
          <p:cNvSpPr/>
          <p:nvPr/>
        </p:nvSpPr>
        <p:spPr>
          <a:xfrm>
            <a:off x="1874520" y="1600200"/>
            <a:ext cx="1261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874520" y="2011680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46120" y="1554480"/>
            <a:ext cx="1261872" cy="841248"/>
          </a:xfrm>
          <a:prstGeom prst="roundRect">
            <a:avLst>
              <a:gd name="adj" fmla="val 10870"/>
            </a:avLst>
          </a:prstGeom>
          <a:solidFill>
            <a:srgbClr val="F3EDFE"/>
          </a:solidFill>
          <a:ln/>
        </p:spPr>
      </p:sp>
      <p:sp>
        <p:nvSpPr>
          <p:cNvPr id="16" name="Text 14"/>
          <p:cNvSpPr/>
          <p:nvPr/>
        </p:nvSpPr>
        <p:spPr>
          <a:xfrm>
            <a:off x="3246120" y="1600200"/>
            <a:ext cx="1261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246120" y="2011680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17720" y="1554480"/>
            <a:ext cx="1261872" cy="841248"/>
          </a:xfrm>
          <a:prstGeom prst="roundRect">
            <a:avLst>
              <a:gd name="adj" fmla="val 10870"/>
            </a:avLst>
          </a:prstGeom>
          <a:solidFill>
            <a:srgbClr val="F3EDFE"/>
          </a:solidFill>
          <a:ln/>
        </p:spPr>
      </p:sp>
      <p:sp>
        <p:nvSpPr>
          <p:cNvPr id="19" name="Text 17"/>
          <p:cNvSpPr/>
          <p:nvPr/>
        </p:nvSpPr>
        <p:spPr>
          <a:xfrm>
            <a:off x="4617720" y="1600200"/>
            <a:ext cx="1261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617720" y="2011680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02920" y="2514600"/>
            <a:ext cx="1261872" cy="841248"/>
          </a:xfrm>
          <a:prstGeom prst="roundRect">
            <a:avLst>
              <a:gd name="adj" fmla="val 10870"/>
            </a:avLst>
          </a:prstGeom>
          <a:solidFill>
            <a:srgbClr val="F3EDFE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2560320"/>
            <a:ext cx="1261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02920" y="2971800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Div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874520" y="2514600"/>
            <a:ext cx="1261872" cy="841248"/>
          </a:xfrm>
          <a:prstGeom prst="roundRect">
            <a:avLst>
              <a:gd name="adj" fmla="val 10870"/>
            </a:avLst>
          </a:prstGeom>
          <a:solidFill>
            <a:srgbClr val="F3EDFE"/>
          </a:solidFill>
          <a:ln/>
        </p:spPr>
      </p:sp>
      <p:sp>
        <p:nvSpPr>
          <p:cNvPr id="25" name="Text 23"/>
          <p:cNvSpPr/>
          <p:nvPr/>
        </p:nvSpPr>
        <p:spPr>
          <a:xfrm>
            <a:off x="1874520" y="2560320"/>
            <a:ext cx="1261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874520" y="2971800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Remainder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46120" y="2514600"/>
            <a:ext cx="1261872" cy="841248"/>
          </a:xfrm>
          <a:prstGeom prst="roundRect">
            <a:avLst>
              <a:gd name="adj" fmla="val 10870"/>
            </a:avLst>
          </a:prstGeom>
          <a:solidFill>
            <a:srgbClr val="F3EDFE"/>
          </a:solidFill>
          <a:ln/>
        </p:spPr>
      </p:sp>
      <p:sp>
        <p:nvSpPr>
          <p:cNvPr id="28" name="Text 26"/>
          <p:cNvSpPr/>
          <p:nvPr/>
        </p:nvSpPr>
        <p:spPr>
          <a:xfrm>
            <a:off x="3246120" y="2560320"/>
            <a:ext cx="1261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3246120" y="2971800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02920" y="3611880"/>
            <a:ext cx="5532120" cy="1691640"/>
          </a:xfrm>
          <a:prstGeom prst="roundRect">
            <a:avLst>
              <a:gd name="adj" fmla="val 4865"/>
            </a:avLst>
          </a:prstGeom>
          <a:solidFill>
            <a:srgbClr val="1B1533"/>
          </a:solidFill>
          <a:ln/>
          <a:effectLst>
            <a:outerShdw sx="100000" sy="100000" kx="0" ky="0" algn="bl" rotWithShape="0" blurRad="101600" dist="38100" dir="5400000">
              <a:srgbClr val="1B1533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67512" y="3739896"/>
            <a:ext cx="100584" cy="100584"/>
          </a:xfrm>
          <a:prstGeom prst="ellipse">
            <a:avLst/>
          </a:prstGeom>
          <a:solidFill>
            <a:srgbClr val="F16057"/>
          </a:solidFill>
          <a:ln/>
        </p:spPr>
      </p:sp>
      <p:sp>
        <p:nvSpPr>
          <p:cNvPr id="32" name="Shape 30"/>
          <p:cNvSpPr/>
          <p:nvPr/>
        </p:nvSpPr>
        <p:spPr>
          <a:xfrm>
            <a:off x="868680" y="3739896"/>
            <a:ext cx="100584" cy="100584"/>
          </a:xfrm>
          <a:prstGeom prst="ellipse">
            <a:avLst/>
          </a:prstGeom>
          <a:solidFill>
            <a:srgbClr val="F5BD4F"/>
          </a:solidFill>
          <a:ln/>
        </p:spPr>
      </p:sp>
      <p:sp>
        <p:nvSpPr>
          <p:cNvPr id="33" name="Shape 31"/>
          <p:cNvSpPr/>
          <p:nvPr/>
        </p:nvSpPr>
        <p:spPr>
          <a:xfrm>
            <a:off x="1069848" y="3739896"/>
            <a:ext cx="100584" cy="100584"/>
          </a:xfrm>
          <a:prstGeom prst="ellipse">
            <a:avLst/>
          </a:prstGeom>
          <a:solidFill>
            <a:srgbClr val="3EC94F"/>
          </a:solidFill>
          <a:ln/>
        </p:spPr>
      </p:sp>
      <p:sp>
        <p:nvSpPr>
          <p:cNvPr id="34" name="Text 32"/>
          <p:cNvSpPr/>
          <p:nvPr/>
        </p:nvSpPr>
        <p:spPr>
          <a:xfrm>
            <a:off x="704088" y="3995928"/>
            <a:ext cx="512978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10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3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 + b)   # 13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 * b)   # 30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263640" y="1554480"/>
            <a:ext cx="5440680" cy="3749040"/>
          </a:xfrm>
          <a:prstGeom prst="roundRect">
            <a:avLst>
              <a:gd name="adj" fmla="val 3415"/>
            </a:avLst>
          </a:prstGeom>
          <a:solidFill>
            <a:srgbClr val="4C1D95"/>
          </a:solidFill>
          <a:ln/>
        </p:spPr>
      </p:sp>
      <p:sp>
        <p:nvSpPr>
          <p:cNvPr id="36" name="Shape 34"/>
          <p:cNvSpPr/>
          <p:nvPr/>
        </p:nvSpPr>
        <p:spPr>
          <a:xfrm>
            <a:off x="6473952" y="1737360"/>
            <a:ext cx="502920" cy="502920"/>
          </a:xfrm>
          <a:prstGeom prst="ellipse">
            <a:avLst/>
          </a:prstGeom>
          <a:solidFill>
            <a:srgbClr val="F4B740"/>
          </a:solidFill>
          <a:ln/>
          <a:effectLst>
            <a:outerShdw sx="100000" sy="100000" kx="0" ky="0" algn="bl" rotWithShape="0" blurRad="76200" dist="25400" dir="5400000">
              <a:srgbClr val="1B1533">
                <a:alpha val="25000"/>
              </a:srgbClr>
            </a:outerShdw>
          </a:effectLst>
        </p:spPr>
      </p:sp>
      <p:pic>
        <p:nvPicPr>
          <p:cNvPr id="37" name="Image 0" descr="/home/claude/pyadventure/icon_bolt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4594" y="1848002"/>
            <a:ext cx="281635" cy="281635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7086600" y="176479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BOSS BATTLE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6473952" y="21945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= +10 XP. What will Python print?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6473952" y="2578608"/>
            <a:ext cx="5074920" cy="2514600"/>
          </a:xfrm>
          <a:prstGeom prst="roundRect">
            <a:avLst>
              <a:gd name="adj" fmla="val 3273"/>
            </a:avLst>
          </a:prstGeom>
          <a:solidFill>
            <a:srgbClr val="1B1533"/>
          </a:solidFill>
          <a:ln/>
          <a:effectLst>
            <a:outerShdw sx="100000" sy="100000" kx="0" ky="0" algn="bl" rotWithShape="0" blurRad="101600" dist="38100" dir="5400000">
              <a:srgbClr val="1B1533">
                <a:alpha val="30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6638544" y="2706624"/>
            <a:ext cx="100584" cy="100584"/>
          </a:xfrm>
          <a:prstGeom prst="ellipse">
            <a:avLst/>
          </a:prstGeom>
          <a:solidFill>
            <a:srgbClr val="F16057"/>
          </a:solidFill>
          <a:ln/>
        </p:spPr>
      </p:sp>
      <p:sp>
        <p:nvSpPr>
          <p:cNvPr id="42" name="Shape 39"/>
          <p:cNvSpPr/>
          <p:nvPr/>
        </p:nvSpPr>
        <p:spPr>
          <a:xfrm>
            <a:off x="6839712" y="2706624"/>
            <a:ext cx="100584" cy="100584"/>
          </a:xfrm>
          <a:prstGeom prst="ellipse">
            <a:avLst/>
          </a:prstGeom>
          <a:solidFill>
            <a:srgbClr val="F5BD4F"/>
          </a:solidFill>
          <a:ln/>
        </p:spPr>
      </p:sp>
      <p:sp>
        <p:nvSpPr>
          <p:cNvPr id="43" name="Shape 40"/>
          <p:cNvSpPr/>
          <p:nvPr/>
        </p:nvSpPr>
        <p:spPr>
          <a:xfrm>
            <a:off x="7040880" y="2706624"/>
            <a:ext cx="100584" cy="100584"/>
          </a:xfrm>
          <a:prstGeom prst="ellipse">
            <a:avLst/>
          </a:prstGeom>
          <a:solidFill>
            <a:srgbClr val="3EC94F"/>
          </a:solidFill>
          <a:ln/>
        </p:spPr>
      </p:sp>
      <p:sp>
        <p:nvSpPr>
          <p:cNvPr id="44" name="Text 41"/>
          <p:cNvSpPr/>
          <p:nvPr/>
        </p:nvSpPr>
        <p:spPr>
          <a:xfrm>
            <a:off x="6675120" y="2962656"/>
            <a:ext cx="467258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10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3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 + b)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 - b)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 * b)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 / b)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 % b)</a:t>
            </a:r>
            <a:endParaRPr lang="en-US" sz="1250" dirty="0"/>
          </a:p>
        </p:txBody>
      </p:sp>
      <p:sp>
        <p:nvSpPr>
          <p:cNvPr id="45" name="Text 42"/>
          <p:cNvSpPr/>
          <p:nvPr/>
        </p:nvSpPr>
        <p:spPr>
          <a:xfrm>
            <a:off x="502920" y="548640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 defeated → +10 XP each correct prediction, all five right = full clear.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5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Talk to the User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95560" y="32004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10195560" y="3200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6/8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95560" y="80467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110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6510528"/>
            <a:ext cx="11274552" cy="109728"/>
          </a:xfrm>
          <a:prstGeom prst="roundRect">
            <a:avLst>
              <a:gd name="adj" fmla="val 50000"/>
            </a:avLst>
          </a:prstGeom>
          <a:solidFill>
            <a:srgbClr val="EAE0FB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6510528"/>
            <a:ext cx="7666695" cy="109728"/>
          </a:xfrm>
          <a:prstGeom prst="roundRect">
            <a:avLst>
              <a:gd name="adj" fmla="val 50000"/>
            </a:avLst>
          </a:prstGeom>
          <a:solidFill>
            <a:srgbClr val="F4B740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0876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 allows Python to take information typed by the user.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01168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1B1533"/>
          </a:solidFill>
          <a:ln/>
          <a:effectLst>
            <a:outerShdw sx="100000" sy="100000" kx="0" ky="0" algn="bl" rotWithShape="0" blurRad="101600" dist="38100" dir="5400000">
              <a:srgbClr val="1B1533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7512" y="2139696"/>
            <a:ext cx="100584" cy="100584"/>
          </a:xfrm>
          <a:prstGeom prst="ellipse">
            <a:avLst/>
          </a:prstGeom>
          <a:solidFill>
            <a:srgbClr val="F16057"/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" y="2139696"/>
            <a:ext cx="100584" cy="100584"/>
          </a:xfrm>
          <a:prstGeom prst="ellipse">
            <a:avLst/>
          </a:prstGeom>
          <a:solidFill>
            <a:srgbClr val="F5BD4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9848" y="2139696"/>
            <a:ext cx="100584" cy="100584"/>
          </a:xfrm>
          <a:prstGeom prst="ellipse">
            <a:avLst/>
          </a:prstGeom>
          <a:solidFill>
            <a:srgbClr val="3EC94F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" y="2395728"/>
            <a:ext cx="49469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input("Enter your name: ")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print(name)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3611880"/>
            <a:ext cx="5349240" cy="1234440"/>
          </a:xfrm>
          <a:prstGeom prst="roundRect">
            <a:avLst>
              <a:gd name="adj" fmla="val 8889"/>
            </a:avLst>
          </a:prstGeom>
          <a:solidFill>
            <a:srgbClr val="FFF3D6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7490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NOTE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31520" y="4041648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conversion (int(), float(), str()) is not included in Day 1 — it's introduced later.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2011680"/>
            <a:ext cx="5532120" cy="1417320"/>
          </a:xfrm>
          <a:prstGeom prst="roundRect">
            <a:avLst>
              <a:gd name="adj" fmla="val 9032"/>
            </a:avLst>
          </a:prstGeom>
          <a:solidFill>
            <a:srgbClr val="F3EDFE"/>
          </a:solidFill>
          <a:ln/>
        </p:spPr>
      </p:sp>
      <p:sp>
        <p:nvSpPr>
          <p:cNvPr id="19" name="Shape 17"/>
          <p:cNvSpPr/>
          <p:nvPr/>
        </p:nvSpPr>
        <p:spPr>
          <a:xfrm>
            <a:off x="6355080" y="2377440"/>
            <a:ext cx="109728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237744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452360" y="2377440"/>
            <a:ext cx="2011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653528" y="2377440"/>
            <a:ext cx="109728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7653528" y="237744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750808" y="2377440"/>
            <a:ext cx="2011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951976" y="2377440"/>
            <a:ext cx="109728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8951976" y="237744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0049256" y="2377440"/>
            <a:ext cx="2011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0250424" y="2377440"/>
            <a:ext cx="109728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10250424" y="237744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72200" y="3657600"/>
            <a:ext cx="5532120" cy="1280160"/>
          </a:xfrm>
          <a:prstGeom prst="roundRect">
            <a:avLst>
              <a:gd name="adj" fmla="val 10000"/>
            </a:avLst>
          </a:prstGeom>
          <a:solidFill>
            <a:srgbClr val="1B1533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3840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your name:  Rahul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00800" y="42976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9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 Rahul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5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Make Your Output Look Smart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95560" y="32004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10195560" y="3200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7/8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95560" y="80467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130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6510528"/>
            <a:ext cx="11274552" cy="109728"/>
          </a:xfrm>
          <a:prstGeom prst="roundRect">
            <a:avLst>
              <a:gd name="adj" fmla="val 50000"/>
            </a:avLst>
          </a:prstGeom>
          <a:solidFill>
            <a:srgbClr val="EAE0FB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6510528"/>
            <a:ext cx="8906896" cy="109728"/>
          </a:xfrm>
          <a:prstGeom prst="roundRect">
            <a:avLst>
              <a:gd name="adj" fmla="val 50000"/>
            </a:avLst>
          </a:prstGeom>
          <a:solidFill>
            <a:srgbClr val="F4B740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0876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f-strings are the easiest way for beginners to combine text and variables.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01168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1B1533"/>
          </a:solidFill>
          <a:ln/>
          <a:effectLst>
            <a:outerShdw sx="100000" sy="100000" kx="0" ky="0" algn="bl" rotWithShape="0" blurRad="101600" dist="38100" dir="5400000">
              <a:srgbClr val="1B1533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7512" y="2139696"/>
            <a:ext cx="100584" cy="100584"/>
          </a:xfrm>
          <a:prstGeom prst="ellipse">
            <a:avLst/>
          </a:prstGeom>
          <a:solidFill>
            <a:srgbClr val="F16057"/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" y="2139696"/>
            <a:ext cx="100584" cy="100584"/>
          </a:xfrm>
          <a:prstGeom prst="ellipse">
            <a:avLst/>
          </a:prstGeom>
          <a:solidFill>
            <a:srgbClr val="F5BD4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9848" y="2139696"/>
            <a:ext cx="100584" cy="100584"/>
          </a:xfrm>
          <a:prstGeom prst="ellipse">
            <a:avLst/>
          </a:prstGeom>
          <a:solidFill>
            <a:srgbClr val="3EC94F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" y="2395728"/>
            <a:ext cx="4946904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"Rahul"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15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print(f"My name is {name}")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print(f"I am {age} years old")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3886200"/>
            <a:ext cx="5349240" cy="777240"/>
          </a:xfrm>
          <a:prstGeom prst="roundRect">
            <a:avLst>
              <a:gd name="adj" fmla="val 11765"/>
            </a:avLst>
          </a:prstGeom>
          <a:solidFill>
            <a:srgbClr val="E7F8EC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88620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9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 My name is Rahul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F9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I am 15 years old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72200" y="1554480"/>
            <a:ext cx="5532120" cy="1691640"/>
          </a:xfrm>
          <a:prstGeom prst="roundRect">
            <a:avLst>
              <a:gd name="adj" fmla="val 7568"/>
            </a:avLst>
          </a:prstGeom>
          <a:solidFill>
            <a:srgbClr val="F3EDFE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169164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1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+ "text {variable}"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55080" y="2103120"/>
            <a:ext cx="5166360" cy="1005840"/>
          </a:xfrm>
          <a:prstGeom prst="roundRect">
            <a:avLst>
              <a:gd name="adj" fmla="val 8182"/>
            </a:avLst>
          </a:prstGeom>
          <a:solidFill>
            <a:srgbClr val="1B1533"/>
          </a:solidFill>
          <a:ln/>
          <a:effectLst>
            <a:outerShdw sx="100000" sy="100000" kx="0" ky="0" algn="bl" rotWithShape="0" blurRad="101600" dist="38100" dir="5400000">
              <a:srgbClr val="1B1533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9672" y="2231136"/>
            <a:ext cx="100584" cy="100584"/>
          </a:xfrm>
          <a:prstGeom prst="ellipse">
            <a:avLst/>
          </a:prstGeom>
          <a:solidFill>
            <a:srgbClr val="F16057"/>
          </a:solidFill>
          <a:ln/>
        </p:spPr>
      </p:sp>
      <p:sp>
        <p:nvSpPr>
          <p:cNvPr id="21" name="Shape 19"/>
          <p:cNvSpPr/>
          <p:nvPr/>
        </p:nvSpPr>
        <p:spPr>
          <a:xfrm>
            <a:off x="6720840" y="2231136"/>
            <a:ext cx="100584" cy="100584"/>
          </a:xfrm>
          <a:prstGeom prst="ellipse">
            <a:avLst/>
          </a:prstGeom>
          <a:solidFill>
            <a:srgbClr val="F5BD4F"/>
          </a:solidFill>
          <a:ln/>
        </p:spPr>
      </p:sp>
      <p:sp>
        <p:nvSpPr>
          <p:cNvPr id="22" name="Shape 20"/>
          <p:cNvSpPr/>
          <p:nvPr/>
        </p:nvSpPr>
        <p:spPr>
          <a:xfrm>
            <a:off x="6922008" y="2231136"/>
            <a:ext cx="100584" cy="100584"/>
          </a:xfrm>
          <a:prstGeom prst="ellipse">
            <a:avLst/>
          </a:prstGeom>
          <a:solidFill>
            <a:srgbClr val="3EC94F"/>
          </a:solidFill>
          <a:ln/>
        </p:spPr>
      </p:sp>
      <p:sp>
        <p:nvSpPr>
          <p:cNvPr id="23" name="Text 21"/>
          <p:cNvSpPr/>
          <p:nvPr/>
        </p:nvSpPr>
        <p:spPr>
          <a:xfrm>
            <a:off x="6556248" y="2487168"/>
            <a:ext cx="476402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10; b = 20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print(f"Total: {a + b}")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72200" y="3429000"/>
            <a:ext cx="5532120" cy="1737360"/>
          </a:xfrm>
          <a:prstGeom prst="roundRect">
            <a:avLst>
              <a:gd name="adj" fmla="val 7368"/>
            </a:avLst>
          </a:prstGeom>
          <a:solidFill>
            <a:srgbClr val="4C1D95"/>
          </a:solidFill>
          <a:ln/>
        </p:spPr>
      </p:sp>
      <p:sp>
        <p:nvSpPr>
          <p:cNvPr id="25" name="Shape 23"/>
          <p:cNvSpPr/>
          <p:nvPr/>
        </p:nvSpPr>
        <p:spPr>
          <a:xfrm>
            <a:off x="6382512" y="3611880"/>
            <a:ext cx="502920" cy="502920"/>
          </a:xfrm>
          <a:prstGeom prst="ellipse">
            <a:avLst/>
          </a:prstGeom>
          <a:solidFill>
            <a:srgbClr val="F4B740"/>
          </a:solidFill>
          <a:ln/>
          <a:effectLst>
            <a:outerShdw sx="100000" sy="100000" kx="0" ky="0" algn="bl" rotWithShape="0" blurRad="76200" dist="25400" dir="5400000">
              <a:srgbClr val="1B1533">
                <a:alpha val="25000"/>
              </a:srgbClr>
            </a:outerShdw>
          </a:effectLst>
        </p:spPr>
      </p:sp>
      <p:pic>
        <p:nvPicPr>
          <p:cNvPr id="26" name="Image 0" descr="/home/claude/pyadventure/icon_palett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3154" y="3722522"/>
            <a:ext cx="281635" cy="281635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6995160" y="36576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FORMATTING CHALLENGE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382512" y="411480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own three-line student introduction using f-strings — name, class, and school.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5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Enter the Python Lab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95560" y="32004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10195560" y="3200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8/8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95560" y="80467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150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6510528"/>
            <a:ext cx="11274552" cy="109728"/>
          </a:xfrm>
          <a:prstGeom prst="roundRect">
            <a:avLst>
              <a:gd name="adj" fmla="val 50000"/>
            </a:avLst>
          </a:prstGeom>
          <a:solidFill>
            <a:srgbClr val="EAE0FB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6510528"/>
            <a:ext cx="10034351" cy="109728"/>
          </a:xfrm>
          <a:prstGeom prst="roundRect">
            <a:avLst>
              <a:gd name="adj" fmla="val 50000"/>
            </a:avLst>
          </a:prstGeom>
          <a:solidFill>
            <a:srgbClr val="F4B740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1554480"/>
            <a:ext cx="5394960" cy="3566160"/>
          </a:xfrm>
          <a:prstGeom prst="roundRect">
            <a:avLst>
              <a:gd name="adj" fmla="val 3590"/>
            </a:avLst>
          </a:prstGeom>
          <a:solidFill>
            <a:srgbClr val="F3EDFE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1755648"/>
            <a:ext cx="502920" cy="50292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1B1533">
                <a:alpha val="25000"/>
              </a:srgbClr>
            </a:outerShdw>
          </a:effectLst>
        </p:spPr>
      </p:sp>
      <p:pic>
        <p:nvPicPr>
          <p:cNvPr id="11" name="Image 0" descr="/home/claude/pyadventure/icon_lapto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162" y="1866290"/>
            <a:ext cx="281635" cy="28163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71600" y="17830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SETUP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31520" y="2331720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2331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115568" y="2304288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Chrome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31520" y="2752344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4"/>
          <p:cNvSpPr/>
          <p:nvPr/>
        </p:nvSpPr>
        <p:spPr>
          <a:xfrm>
            <a:off x="731520" y="27523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115568" y="2724912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colab.research.google.com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31520" y="3172968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0" name="Text 17"/>
          <p:cNvSpPr/>
          <p:nvPr/>
        </p:nvSpPr>
        <p:spPr>
          <a:xfrm>
            <a:off x="731520" y="31729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115568" y="3145536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with Google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31520" y="3593592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3" name="Text 20"/>
          <p:cNvSpPr/>
          <p:nvPr/>
        </p:nvSpPr>
        <p:spPr>
          <a:xfrm>
            <a:off x="731520" y="35935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115568" y="3566160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"New Notebook"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731520" y="4014216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6" name="Text 23"/>
          <p:cNvSpPr/>
          <p:nvPr/>
        </p:nvSpPr>
        <p:spPr>
          <a:xfrm>
            <a:off x="731520" y="4014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115568" y="3986784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Python code in a cell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731520" y="4434840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9" name="Text 26"/>
          <p:cNvSpPr/>
          <p:nvPr/>
        </p:nvSpPr>
        <p:spPr>
          <a:xfrm>
            <a:off x="731520" y="4434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115568" y="4407408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with ▶ or Shift + Enter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172200" y="1554480"/>
            <a:ext cx="5532120" cy="3566160"/>
          </a:xfrm>
          <a:prstGeom prst="roundRect">
            <a:avLst>
              <a:gd name="adj" fmla="val 3590"/>
            </a:avLst>
          </a:prstGeom>
          <a:solidFill>
            <a:srgbClr val="4C1D95"/>
          </a:solidFill>
          <a:ln/>
        </p:spPr>
      </p:sp>
      <p:sp>
        <p:nvSpPr>
          <p:cNvPr id="32" name="Shape 29"/>
          <p:cNvSpPr/>
          <p:nvPr/>
        </p:nvSpPr>
        <p:spPr>
          <a:xfrm>
            <a:off x="6382512" y="1755648"/>
            <a:ext cx="502920" cy="502920"/>
          </a:xfrm>
          <a:prstGeom prst="ellipse">
            <a:avLst/>
          </a:prstGeom>
          <a:solidFill>
            <a:srgbClr val="F4B740"/>
          </a:solidFill>
          <a:ln/>
          <a:effectLst>
            <a:outerShdw sx="100000" sy="100000" kx="0" ky="0" algn="bl" rotWithShape="0" blurRad="76200" dist="25400" dir="5400000">
              <a:srgbClr val="1B1533">
                <a:alpha val="25000"/>
              </a:srgbClr>
            </a:outerShdw>
          </a:effectLst>
        </p:spPr>
      </p:sp>
      <p:pic>
        <p:nvPicPr>
          <p:cNvPr id="33" name="Image 1" descr="/home/claude/pyadventure/icon_brain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3154" y="1866290"/>
            <a:ext cx="281635" cy="281635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6995160" y="17830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LIKE A PROGRAMMER</a:t>
            </a:r>
            <a:endParaRPr lang="en-US" sz="1300" dirty="0"/>
          </a:p>
        </p:txBody>
      </p:sp>
      <p:sp>
        <p:nvSpPr>
          <p:cNvPr id="35" name="Shape 31"/>
          <p:cNvSpPr/>
          <p:nvPr/>
        </p:nvSpPr>
        <p:spPr>
          <a:xfrm>
            <a:off x="6382512" y="2286000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F4B740"/>
          </a:solidFill>
          <a:ln/>
        </p:spPr>
      </p:sp>
      <p:sp>
        <p:nvSpPr>
          <p:cNvPr id="36" name="Text 32"/>
          <p:cNvSpPr/>
          <p:nvPr/>
        </p:nvSpPr>
        <p:spPr>
          <a:xfrm>
            <a:off x="6382512" y="228600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7909560" y="228600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given?</a:t>
            </a:r>
            <a:endParaRPr lang="en-US" sz="1100" dirty="0"/>
          </a:p>
        </p:txBody>
      </p:sp>
      <p:sp>
        <p:nvSpPr>
          <p:cNvPr id="38" name="Shape 34"/>
          <p:cNvSpPr/>
          <p:nvPr/>
        </p:nvSpPr>
        <p:spPr>
          <a:xfrm>
            <a:off x="6382512" y="2816352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F4B740"/>
          </a:solidFill>
          <a:ln/>
        </p:spPr>
      </p:sp>
      <p:sp>
        <p:nvSpPr>
          <p:cNvPr id="39" name="Text 35"/>
          <p:cNvSpPr/>
          <p:nvPr/>
        </p:nvSpPr>
        <p:spPr>
          <a:xfrm>
            <a:off x="6382512" y="281635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40" name="Text 36"/>
          <p:cNvSpPr/>
          <p:nvPr/>
        </p:nvSpPr>
        <p:spPr>
          <a:xfrm>
            <a:off x="7909560" y="281635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info do I need?</a:t>
            </a:r>
            <a:endParaRPr lang="en-US" sz="1100" dirty="0"/>
          </a:p>
        </p:txBody>
      </p:sp>
      <p:sp>
        <p:nvSpPr>
          <p:cNvPr id="41" name="Shape 37"/>
          <p:cNvSpPr/>
          <p:nvPr/>
        </p:nvSpPr>
        <p:spPr>
          <a:xfrm>
            <a:off x="6382512" y="3346704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F4B740"/>
          </a:solidFill>
          <a:ln/>
        </p:spPr>
      </p:sp>
      <p:sp>
        <p:nvSpPr>
          <p:cNvPr id="42" name="Text 38"/>
          <p:cNvSpPr/>
          <p:nvPr/>
        </p:nvSpPr>
        <p:spPr>
          <a:xfrm>
            <a:off x="6382512" y="3346704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000" dirty="0"/>
          </a:p>
        </p:txBody>
      </p:sp>
      <p:sp>
        <p:nvSpPr>
          <p:cNvPr id="43" name="Text 39"/>
          <p:cNvSpPr/>
          <p:nvPr/>
        </p:nvSpPr>
        <p:spPr>
          <a:xfrm>
            <a:off x="7909560" y="334670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I store it?</a:t>
            </a:r>
            <a:endParaRPr lang="en-US" sz="1100" dirty="0"/>
          </a:p>
        </p:txBody>
      </p:sp>
      <p:sp>
        <p:nvSpPr>
          <p:cNvPr id="44" name="Shape 40"/>
          <p:cNvSpPr/>
          <p:nvPr/>
        </p:nvSpPr>
        <p:spPr>
          <a:xfrm>
            <a:off x="6382512" y="3877056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F4B740"/>
          </a:solidFill>
          <a:ln/>
        </p:spPr>
      </p:sp>
      <p:sp>
        <p:nvSpPr>
          <p:cNvPr id="45" name="Text 41"/>
          <p:cNvSpPr/>
          <p:nvPr/>
        </p:nvSpPr>
        <p:spPr>
          <a:xfrm>
            <a:off x="6382512" y="3877056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000" dirty="0"/>
          </a:p>
        </p:txBody>
      </p:sp>
      <p:sp>
        <p:nvSpPr>
          <p:cNvPr id="46" name="Text 42"/>
          <p:cNvSpPr/>
          <p:nvPr/>
        </p:nvSpPr>
        <p:spPr>
          <a:xfrm>
            <a:off x="7909560" y="3877056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calculation runs?</a:t>
            </a:r>
            <a:endParaRPr lang="en-US" sz="1100" dirty="0"/>
          </a:p>
        </p:txBody>
      </p:sp>
      <p:sp>
        <p:nvSpPr>
          <p:cNvPr id="47" name="Shape 43"/>
          <p:cNvSpPr/>
          <p:nvPr/>
        </p:nvSpPr>
        <p:spPr>
          <a:xfrm>
            <a:off x="6382512" y="4407408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F4B740"/>
          </a:solidFill>
          <a:ln/>
        </p:spPr>
      </p:sp>
      <p:sp>
        <p:nvSpPr>
          <p:cNvPr id="48" name="Text 44"/>
          <p:cNvSpPr/>
          <p:nvPr/>
        </p:nvSpPr>
        <p:spPr>
          <a:xfrm>
            <a:off x="6382512" y="4407408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49" name="Text 45"/>
          <p:cNvSpPr/>
          <p:nvPr/>
        </p:nvSpPr>
        <p:spPr>
          <a:xfrm>
            <a:off x="7909560" y="440740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I show?</a:t>
            </a:r>
            <a:endParaRPr lang="en-US" sz="1100" dirty="0"/>
          </a:p>
        </p:txBody>
      </p:sp>
      <p:sp>
        <p:nvSpPr>
          <p:cNvPr id="50" name="Text 46"/>
          <p:cNvSpPr/>
          <p:nvPr/>
        </p:nvSpPr>
        <p:spPr>
          <a:xfrm>
            <a:off x="502920" y="525780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start typing immediately — think about the problem first.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ROUND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5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Practice Arena &amp; Debugging Arena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95560" y="32004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10195560" y="3200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6510528"/>
            <a:ext cx="11274552" cy="109728"/>
          </a:xfrm>
          <a:prstGeom prst="roundRect">
            <a:avLst>
              <a:gd name="adj" fmla="val 50000"/>
            </a:avLst>
          </a:prstGeom>
          <a:solidFill>
            <a:srgbClr val="EAE0FB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6510528"/>
            <a:ext cx="11274552" cy="109728"/>
          </a:xfrm>
          <a:prstGeom prst="roundRect">
            <a:avLst>
              <a:gd name="adj" fmla="val 50000"/>
            </a:avLst>
          </a:prstGeom>
          <a:solidFill>
            <a:srgbClr val="F4B740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554480"/>
            <a:ext cx="5394960" cy="3703320"/>
          </a:xfrm>
          <a:prstGeom prst="roundRect">
            <a:avLst>
              <a:gd name="adj" fmla="val 3457"/>
            </a:avLst>
          </a:prstGeom>
          <a:solidFill>
            <a:srgbClr val="F3EDFE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755648"/>
            <a:ext cx="502920" cy="50292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1B1533">
                <a:alpha val="25000"/>
              </a:srgbClr>
            </a:outerShdw>
          </a:effectLst>
        </p:spPr>
      </p:sp>
      <p:pic>
        <p:nvPicPr>
          <p:cNvPr id="10" name="Image 0" descr="/home/claude/pyadventure/icon_fla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162" y="1866290"/>
            <a:ext cx="281635" cy="28163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71600" y="17830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PRACTICE MISSIONS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31520" y="2331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Greet the user by name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89120" y="2386584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1F9D55"/>
          </a:solidFill>
          <a:ln/>
        </p:spPr>
      </p:sp>
      <p:sp>
        <p:nvSpPr>
          <p:cNvPr id="14" name="Text 11"/>
          <p:cNvSpPr/>
          <p:nvPr/>
        </p:nvSpPr>
        <p:spPr>
          <a:xfrm>
            <a:off x="4389120" y="2386584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731520" y="28803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Sum, difference, product, quotient of two numbers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389120" y="2935224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1F9D55"/>
          </a:solidFill>
          <a:ln/>
        </p:spPr>
      </p:sp>
      <p:sp>
        <p:nvSpPr>
          <p:cNvPr id="17" name="Text 14"/>
          <p:cNvSpPr/>
          <p:nvPr/>
        </p:nvSpPr>
        <p:spPr>
          <a:xfrm>
            <a:off x="4389120" y="2935224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731520" y="34290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Area of a rectangle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389120" y="3483864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C08A1E"/>
          </a:solidFill>
          <a:ln/>
        </p:spPr>
      </p:sp>
      <p:sp>
        <p:nvSpPr>
          <p:cNvPr id="20" name="Text 17"/>
          <p:cNvSpPr/>
          <p:nvPr/>
        </p:nvSpPr>
        <p:spPr>
          <a:xfrm>
            <a:off x="4389120" y="3483864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731520" y="39776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Average of three numbers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389120" y="4032504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C08A1E"/>
          </a:solidFill>
          <a:ln/>
        </p:spPr>
      </p:sp>
      <p:sp>
        <p:nvSpPr>
          <p:cNvPr id="23" name="Text 20"/>
          <p:cNvSpPr/>
          <p:nvPr/>
        </p:nvSpPr>
        <p:spPr>
          <a:xfrm>
            <a:off x="4389120" y="4032504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731520" y="45262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f-string intro: name, class, school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389120" y="4581144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26" name="Text 23"/>
          <p:cNvSpPr/>
          <p:nvPr/>
        </p:nvSpPr>
        <p:spPr>
          <a:xfrm>
            <a:off x="4389120" y="4581144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172200" y="1554480"/>
            <a:ext cx="5532120" cy="3703320"/>
          </a:xfrm>
          <a:prstGeom prst="roundRect">
            <a:avLst>
              <a:gd name="adj" fmla="val 3457"/>
            </a:avLst>
          </a:prstGeom>
          <a:solidFill>
            <a:srgbClr val="1B1533"/>
          </a:solidFill>
          <a:ln/>
        </p:spPr>
      </p:sp>
      <p:sp>
        <p:nvSpPr>
          <p:cNvPr id="28" name="Shape 25"/>
          <p:cNvSpPr/>
          <p:nvPr/>
        </p:nvSpPr>
        <p:spPr>
          <a:xfrm>
            <a:off x="6382512" y="1755648"/>
            <a:ext cx="502920" cy="502920"/>
          </a:xfrm>
          <a:prstGeom prst="ellipse">
            <a:avLst/>
          </a:prstGeom>
          <a:solidFill>
            <a:srgbClr val="F4B740"/>
          </a:solidFill>
          <a:ln/>
          <a:effectLst>
            <a:outerShdw sx="100000" sy="100000" kx="0" ky="0" algn="bl" rotWithShape="0" blurRad="76200" dist="25400" dir="5400000">
              <a:srgbClr val="1B1533">
                <a:alpha val="25000"/>
              </a:srgbClr>
            </a:outerShdw>
          </a:effectLst>
        </p:spPr>
      </p:sp>
      <p:pic>
        <p:nvPicPr>
          <p:cNvPr id="29" name="Image 1" descr="/home/claude/pyadventure/icon_bug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3154" y="1866290"/>
            <a:ext cx="281635" cy="281635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6995160" y="17830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 A CODE DETECTIVE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6382512" y="2286000"/>
            <a:ext cx="5120640" cy="841248"/>
          </a:xfrm>
          <a:prstGeom prst="roundRect">
            <a:avLst>
              <a:gd name="adj" fmla="val 10870"/>
            </a:avLst>
          </a:prstGeom>
          <a:solidFill>
            <a:srgbClr val="241B44"/>
          </a:solidFill>
          <a:ln/>
        </p:spPr>
      </p:sp>
      <p:sp>
        <p:nvSpPr>
          <p:cNvPr id="32" name="Text 28"/>
          <p:cNvSpPr/>
          <p:nvPr/>
        </p:nvSpPr>
        <p:spPr>
          <a:xfrm>
            <a:off x="6537960" y="2359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1</a:t>
            </a:r>
            <a:endParaRPr lang="en-US" sz="1050" dirty="0"/>
          </a:p>
        </p:txBody>
      </p:sp>
      <p:sp>
        <p:nvSpPr>
          <p:cNvPr id="33" name="Text 29"/>
          <p:cNvSpPr/>
          <p:nvPr/>
        </p:nvSpPr>
        <p:spPr>
          <a:xfrm>
            <a:off x="6537960" y="261518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Rahul   print(name)</a:t>
            </a:r>
            <a:endParaRPr lang="en-US" sz="1150" dirty="0"/>
          </a:p>
        </p:txBody>
      </p:sp>
      <p:sp>
        <p:nvSpPr>
          <p:cNvPr id="34" name="Shape 30"/>
          <p:cNvSpPr/>
          <p:nvPr/>
        </p:nvSpPr>
        <p:spPr>
          <a:xfrm>
            <a:off x="6382512" y="3291840"/>
            <a:ext cx="5120640" cy="841248"/>
          </a:xfrm>
          <a:prstGeom prst="roundRect">
            <a:avLst>
              <a:gd name="adj" fmla="val 10870"/>
            </a:avLst>
          </a:prstGeom>
          <a:solidFill>
            <a:srgbClr val="241B44"/>
          </a:solidFill>
          <a:ln/>
        </p:spPr>
      </p:sp>
      <p:sp>
        <p:nvSpPr>
          <p:cNvPr id="35" name="Text 31"/>
          <p:cNvSpPr/>
          <p:nvPr/>
        </p:nvSpPr>
        <p:spPr>
          <a:xfrm>
            <a:off x="6537960" y="336499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2</a:t>
            </a:r>
            <a:endParaRPr lang="en-US" sz="1050" dirty="0"/>
          </a:p>
        </p:txBody>
      </p:sp>
      <p:sp>
        <p:nvSpPr>
          <p:cNvPr id="36" name="Text 32"/>
          <p:cNvSpPr/>
          <p:nvPr/>
        </p:nvSpPr>
        <p:spPr>
          <a:xfrm>
            <a:off x="6537960" y="362102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10; b = 5   print(a +)</a:t>
            </a:r>
            <a:endParaRPr lang="en-US" sz="1150" dirty="0"/>
          </a:p>
        </p:txBody>
      </p:sp>
      <p:sp>
        <p:nvSpPr>
          <p:cNvPr id="37" name="Shape 33"/>
          <p:cNvSpPr/>
          <p:nvPr/>
        </p:nvSpPr>
        <p:spPr>
          <a:xfrm>
            <a:off x="6382512" y="4297680"/>
            <a:ext cx="5120640" cy="841248"/>
          </a:xfrm>
          <a:prstGeom prst="roundRect">
            <a:avLst>
              <a:gd name="adj" fmla="val 10870"/>
            </a:avLst>
          </a:prstGeom>
          <a:solidFill>
            <a:srgbClr val="241B44"/>
          </a:solidFill>
          <a:ln/>
        </p:spPr>
      </p:sp>
      <p:sp>
        <p:nvSpPr>
          <p:cNvPr id="38" name="Text 34"/>
          <p:cNvSpPr/>
          <p:nvPr/>
        </p:nvSpPr>
        <p:spPr>
          <a:xfrm>
            <a:off x="6537960" y="437083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3</a:t>
            </a:r>
            <a:endParaRPr lang="en-US" sz="1050" dirty="0"/>
          </a:p>
        </p:txBody>
      </p:sp>
      <p:sp>
        <p:nvSpPr>
          <p:cNvPr id="39" name="Text 35"/>
          <p:cNvSpPr/>
          <p:nvPr/>
        </p:nvSpPr>
        <p:spPr>
          <a:xfrm>
            <a:off x="6537960" y="462686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15; Age = 20   print(age)</a:t>
            </a:r>
            <a:endParaRPr lang="en-US" sz="1150" dirty="0"/>
          </a:p>
        </p:txBody>
      </p:sp>
      <p:sp>
        <p:nvSpPr>
          <p:cNvPr id="40" name="Text 36"/>
          <p:cNvSpPr/>
          <p:nvPr/>
        </p:nvSpPr>
        <p:spPr>
          <a:xfrm>
            <a:off x="502920" y="53949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System:  Correct answer +10 · Output prediction +15 · Debugging +20 · Challenge complete +30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5029200" cy="5029200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645920"/>
            <a:ext cx="4572000" cy="4572000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457200"/>
            <a:ext cx="594360" cy="594360"/>
          </a:xfrm>
          <a:prstGeom prst="ellipse">
            <a:avLst/>
          </a:prstGeom>
          <a:solidFill>
            <a:srgbClr val="F4B740"/>
          </a:solidFill>
          <a:ln/>
          <a:effectLst>
            <a:outerShdw sx="100000" sy="100000" kx="0" ky="0" algn="bl" rotWithShape="0" blurRad="76200" dist="25400" dir="5400000">
              <a:srgbClr val="1B1533">
                <a:alpha val="25000"/>
              </a:srgbClr>
            </a:outerShdw>
          </a:effectLst>
        </p:spPr>
      </p:sp>
      <p:pic>
        <p:nvPicPr>
          <p:cNvPr id="5" name="Image 0" descr="/home/claude/pyadventure/icon_trophy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679" y="587959"/>
            <a:ext cx="332842" cy="3328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4572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⚔ FINAL BOSS — STUDENT PROFILE GENERATOR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10195560" y="32004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F4B740"/>
          </a:solidFill>
          <a:ln/>
        </p:spPr>
      </p:sp>
      <p:sp>
        <p:nvSpPr>
          <p:cNvPr id="8" name="Text 5"/>
          <p:cNvSpPr/>
          <p:nvPr/>
        </p:nvSpPr>
        <p:spPr>
          <a:xfrm>
            <a:off x="10195560" y="3200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BOSS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195560" y="80467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200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" y="6510528"/>
            <a:ext cx="11274552" cy="109728"/>
          </a:xfrm>
          <a:prstGeom prst="roundRect">
            <a:avLst>
              <a:gd name="adj" fmla="val 50000"/>
            </a:avLst>
          </a:prstGeom>
          <a:solidFill>
            <a:srgbClr val="3A2E5C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" y="6510528"/>
            <a:ext cx="11274552" cy="109728"/>
          </a:xfrm>
          <a:prstGeom prst="roundRect">
            <a:avLst>
              <a:gd name="adj" fmla="val 50000"/>
            </a:avLst>
          </a:prstGeom>
          <a:solidFill>
            <a:srgbClr val="F4B740"/>
          </a:solidFill>
          <a:ln/>
        </p:spPr>
      </p:sp>
      <p:sp>
        <p:nvSpPr>
          <p:cNvPr id="12" name="Shape 9"/>
          <p:cNvSpPr/>
          <p:nvPr/>
        </p:nvSpPr>
        <p:spPr>
          <a:xfrm>
            <a:off x="502920" y="1234440"/>
            <a:ext cx="5623560" cy="3154680"/>
          </a:xfrm>
          <a:prstGeom prst="roundRect">
            <a:avLst>
              <a:gd name="adj" fmla="val 2609"/>
            </a:avLst>
          </a:prstGeom>
          <a:solidFill>
            <a:srgbClr val="1B1533"/>
          </a:solidFill>
          <a:ln/>
          <a:effectLst>
            <a:outerShdw sx="100000" sy="100000" kx="0" ky="0" algn="bl" rotWithShape="0" blurRad="101600" dist="38100" dir="5400000">
              <a:srgbClr val="1B1533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67512" y="1362456"/>
            <a:ext cx="100584" cy="100584"/>
          </a:xfrm>
          <a:prstGeom prst="ellipse">
            <a:avLst/>
          </a:prstGeom>
          <a:solidFill>
            <a:srgbClr val="F16057"/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1362456"/>
            <a:ext cx="100584" cy="100584"/>
          </a:xfrm>
          <a:prstGeom prst="ellipse">
            <a:avLst/>
          </a:prstGeom>
          <a:solidFill>
            <a:srgbClr val="F5BD4F"/>
          </a:solidFill>
          <a:ln/>
        </p:spPr>
      </p:sp>
      <p:sp>
        <p:nvSpPr>
          <p:cNvPr id="15" name="Shape 12"/>
          <p:cNvSpPr/>
          <p:nvPr/>
        </p:nvSpPr>
        <p:spPr>
          <a:xfrm>
            <a:off x="1069848" y="1362456"/>
            <a:ext cx="100584" cy="100584"/>
          </a:xfrm>
          <a:prstGeom prst="ellipse">
            <a:avLst/>
          </a:prstGeom>
          <a:solidFill>
            <a:srgbClr val="3EC94F"/>
          </a:solidFill>
          <a:ln/>
        </p:spPr>
      </p:sp>
      <p:sp>
        <p:nvSpPr>
          <p:cNvPr id="16" name="Text 13"/>
          <p:cNvSpPr/>
          <p:nvPr/>
        </p:nvSpPr>
        <p:spPr>
          <a:xfrm>
            <a:off x="704088" y="1618488"/>
            <a:ext cx="5221224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"Rahul"; age = 15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school = "ABC School"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 = "Computer"; marks = 90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print(f"Name: {name}")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print(f"Age: {age}")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print(f"School: {school}")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print(f"Marks: {marks}")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02920" y="4526280"/>
            <a:ext cx="5623560" cy="685800"/>
          </a:xfrm>
          <a:prstGeom prst="roundRect">
            <a:avLst>
              <a:gd name="adj" fmla="val 16000"/>
            </a:avLst>
          </a:prstGeom>
          <a:solidFill>
            <a:srgbClr val="F4B740"/>
          </a:solidFill>
          <a:ln/>
        </p:spPr>
      </p:sp>
      <p:sp>
        <p:nvSpPr>
          <p:cNvPr id="18" name="Text 15"/>
          <p:cNvSpPr/>
          <p:nvPr/>
        </p:nvSpPr>
        <p:spPr>
          <a:xfrm>
            <a:off x="502920" y="4526280"/>
            <a:ext cx="5623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BOSS DEFEATED  •  +50 XP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400800" y="1234440"/>
            <a:ext cx="5303520" cy="3977640"/>
          </a:xfrm>
          <a:prstGeom prst="roundRect">
            <a:avLst>
              <a:gd name="adj" fmla="val 3218"/>
            </a:avLst>
          </a:prstGeom>
          <a:solidFill>
            <a:srgbClr val="241B44"/>
          </a:solidFill>
          <a:ln/>
        </p:spPr>
      </p:sp>
      <p:sp>
        <p:nvSpPr>
          <p:cNvPr id="20" name="Text 17"/>
          <p:cNvSpPr/>
          <p:nvPr/>
        </p:nvSpPr>
        <p:spPr>
          <a:xfrm>
            <a:off x="6629400" y="13716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LEVEL 1 COMPLETE!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629400" y="182880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3A2E5C"/>
          </a:solidFill>
          <a:ln/>
        </p:spPr>
      </p:sp>
      <p:sp>
        <p:nvSpPr>
          <p:cNvPr id="22" name="Text 19"/>
          <p:cNvSpPr/>
          <p:nvPr/>
        </p:nvSpPr>
        <p:spPr>
          <a:xfrm>
            <a:off x="6629400" y="182880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8366760" y="182880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3A2E5C"/>
          </a:solidFill>
          <a:ln/>
        </p:spPr>
      </p:sp>
      <p:sp>
        <p:nvSpPr>
          <p:cNvPr id="24" name="Text 21"/>
          <p:cNvSpPr/>
          <p:nvPr/>
        </p:nvSpPr>
        <p:spPr>
          <a:xfrm>
            <a:off x="8366760" y="182880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print()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10104120" y="182880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3A2E5C"/>
          </a:solidFill>
          <a:ln/>
        </p:spPr>
      </p:sp>
      <p:sp>
        <p:nvSpPr>
          <p:cNvPr id="26" name="Text 23"/>
          <p:cNvSpPr/>
          <p:nvPr/>
        </p:nvSpPr>
        <p:spPr>
          <a:xfrm>
            <a:off x="10104120" y="182880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629400" y="233172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3A2E5C"/>
          </a:solidFill>
          <a:ln/>
        </p:spPr>
      </p:sp>
      <p:sp>
        <p:nvSpPr>
          <p:cNvPr id="28" name="Text 25"/>
          <p:cNvSpPr/>
          <p:nvPr/>
        </p:nvSpPr>
        <p:spPr>
          <a:xfrm>
            <a:off x="6629400" y="233172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8366760" y="233172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3A2E5C"/>
          </a:solidFill>
          <a:ln/>
        </p:spPr>
      </p:sp>
      <p:sp>
        <p:nvSpPr>
          <p:cNvPr id="30" name="Text 27"/>
          <p:cNvSpPr/>
          <p:nvPr/>
        </p:nvSpPr>
        <p:spPr>
          <a:xfrm>
            <a:off x="8366760" y="233172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Operators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10104120" y="233172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3A2E5C"/>
          </a:solidFill>
          <a:ln/>
        </p:spPr>
      </p:sp>
      <p:sp>
        <p:nvSpPr>
          <p:cNvPr id="32" name="Text 29"/>
          <p:cNvSpPr/>
          <p:nvPr/>
        </p:nvSpPr>
        <p:spPr>
          <a:xfrm>
            <a:off x="10104120" y="233172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6629400" y="283464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3A2E5C"/>
          </a:solidFill>
          <a:ln/>
        </p:spPr>
      </p:sp>
      <p:sp>
        <p:nvSpPr>
          <p:cNvPr id="34" name="Text 31"/>
          <p:cNvSpPr/>
          <p:nvPr/>
        </p:nvSpPr>
        <p:spPr>
          <a:xfrm>
            <a:off x="6629400" y="283464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Formatting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8366760" y="283464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3A2E5C"/>
          </a:solidFill>
          <a:ln/>
        </p:spPr>
      </p:sp>
      <p:sp>
        <p:nvSpPr>
          <p:cNvPr id="36" name="Text 33"/>
          <p:cNvSpPr/>
          <p:nvPr/>
        </p:nvSpPr>
        <p:spPr>
          <a:xfrm>
            <a:off x="8366760" y="283464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10104120" y="283464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3A2E5C"/>
          </a:solidFill>
          <a:ln/>
        </p:spPr>
      </p:sp>
      <p:sp>
        <p:nvSpPr>
          <p:cNvPr id="38" name="Text 35"/>
          <p:cNvSpPr/>
          <p:nvPr/>
        </p:nvSpPr>
        <p:spPr>
          <a:xfrm>
            <a:off x="10104120" y="283464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Solving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629400" y="34290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RANK: PYTHON EXPLORER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6629400" y="38404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9E4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"Think first. Code second. Debug fearlessly."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6629400" y="4434840"/>
            <a:ext cx="4846320" cy="685800"/>
          </a:xfrm>
          <a:prstGeom prst="roundRect">
            <a:avLst>
              <a:gd name="adj" fmla="val 16000"/>
            </a:avLst>
          </a:prstGeom>
          <a:solidFill>
            <a:srgbClr val="7C3AED"/>
          </a:solidFill>
          <a:ln/>
        </p:spPr>
      </p:sp>
      <p:sp>
        <p:nvSpPr>
          <p:cNvPr id="42" name="Shape 39"/>
          <p:cNvSpPr/>
          <p:nvPr/>
        </p:nvSpPr>
        <p:spPr>
          <a:xfrm>
            <a:off x="6766560" y="4553712"/>
            <a:ext cx="457200" cy="457200"/>
          </a:xfrm>
          <a:prstGeom prst="ellipse">
            <a:avLst/>
          </a:prstGeom>
          <a:solidFill>
            <a:srgbClr val="F4B740"/>
          </a:solidFill>
          <a:ln/>
          <a:effectLst>
            <a:outerShdw sx="100000" sy="100000" kx="0" ky="0" algn="bl" rotWithShape="0" blurRad="76200" dist="25400" dir="5400000">
              <a:srgbClr val="1B1533">
                <a:alpha val="25000"/>
              </a:srgbClr>
            </a:outerShdw>
          </a:effectLst>
        </p:spPr>
      </p:sp>
      <p:pic>
        <p:nvPicPr>
          <p:cNvPr id="43" name="Image 1" descr="/home/claude/pyadventure/icon_rocket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7144" y="4654296"/>
            <a:ext cx="256032" cy="256032"/>
          </a:xfrm>
          <a:prstGeom prst="rect">
            <a:avLst/>
          </a:prstGeom>
        </p:spPr>
      </p:pic>
      <p:sp>
        <p:nvSpPr>
          <p:cNvPr id="44" name="Text 40"/>
          <p:cNvSpPr/>
          <p:nvPr/>
        </p:nvSpPr>
        <p:spPr>
          <a:xfrm>
            <a:off x="7315200" y="443484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if / elif / else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2026-08-18T08:14:37Z</dcterms:created>
  <dcterms:modified xsi:type="dcterms:W3CDTF">2026-08-18T08:14:37Z</dcterms:modified>
</cp:coreProperties>
</file>