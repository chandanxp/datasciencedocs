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4C1D95"/>
          </a:solidFill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4C1D95"/>
          </a:solidFill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5" name="Image 0" descr="/home/claude/pyadventure/icon_snake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8668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71323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HYI.AI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722376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2 CONTENT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OF HYI.AI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7223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ADVENTURE — BECOME A PYTHON EXPLORER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7223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game-style journey through your first lines of Python — earn XP, complete missions, and defeat the Boss Battle.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343400"/>
            <a:ext cx="2468880" cy="594360"/>
          </a:xfrm>
          <a:prstGeom prst="roundRect">
            <a:avLst>
              <a:gd name="adj" fmla="val 49231"/>
            </a:avLst>
          </a:prstGeom>
          <a:solidFill>
            <a:srgbClr val="F4B740"/>
          </a:solidFill>
        </p:spPr>
      </p:sp>
      <p:pic>
        <p:nvPicPr>
          <p:cNvPr id="11" name="Image 1" descr="/home/claude/pyadventure/icon_play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480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34340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ADVENTURE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520440" y="4343400"/>
            <a:ext cx="1371600" cy="594360"/>
          </a:xfrm>
          <a:prstGeom prst="roundRect">
            <a:avLst>
              <a:gd name="adj" fmla="val 15385"/>
            </a:avLst>
          </a:prstGeom>
          <a:solidFill>
            <a:srgbClr val="2C23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20440" y="4343400"/>
            <a:ext cx="1371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519379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 0 / 500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548640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2C2350"/>
          </a:solidFill>
        </p:spPr>
      </p:sp>
      <p:sp>
        <p:nvSpPr>
          <p:cNvPr id="17" name="Shape 13"/>
          <p:cNvSpPr/>
          <p:nvPr/>
        </p:nvSpPr>
        <p:spPr>
          <a:xfrm>
            <a:off x="822960" y="5486400"/>
            <a:ext cx="109728" cy="164592"/>
          </a:xfrm>
          <a:prstGeom prst="roundRect">
            <a:avLst>
              <a:gd name="adj" fmla="val 75000"/>
            </a:avLst>
          </a:prstGeom>
          <a:solidFill>
            <a:srgbClr val="F4B740"/>
          </a:solidFill>
        </p:spPr>
      </p:sp>
      <p:sp>
        <p:nvSpPr>
          <p:cNvPr id="18" name="Shape 14"/>
          <p:cNvSpPr/>
          <p:nvPr/>
        </p:nvSpPr>
        <p:spPr>
          <a:xfrm>
            <a:off x="822960" y="5897880"/>
            <a:ext cx="6035040" cy="502920"/>
          </a:xfrm>
          <a:prstGeom prst="roundRect">
            <a:avLst>
              <a:gd name="adj" fmla="val 18182"/>
            </a:avLst>
          </a:prstGeom>
          <a:solidFill>
            <a:srgbClr val="2C2350"/>
          </a:solidFill>
        </p:spPr>
      </p:sp>
      <p:sp>
        <p:nvSpPr>
          <p:cNvPr id="19" name="Text 15"/>
          <p:cNvSpPr/>
          <p:nvPr/>
        </p:nvSpPr>
        <p:spPr>
          <a:xfrm>
            <a:off x="1005840" y="5897880"/>
            <a:ext cx="5669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4B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“Think first. Code second. Debug fearlessly.”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8366760" y="1463040"/>
            <a:ext cx="3017520" cy="4023360"/>
          </a:xfrm>
          <a:prstGeom prst="roundRect">
            <a:avLst>
              <a:gd name="adj" fmla="val 5455"/>
            </a:avLst>
          </a:prstGeom>
          <a:solidFill>
            <a:srgbClr val="241B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189720" y="2011680"/>
            <a:ext cx="1371600" cy="137160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22" name="Image 2" descr="/home/claude/pyadventure/icon_snake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2" y="2313432"/>
            <a:ext cx="768096" cy="7680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49640" y="361188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549640" y="42062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Rookie Coder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549640" y="470916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Missions: 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9509760" y="47091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549640" y="507492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Badges: 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509760" y="50749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Input() &amp; Typecasting &amp; Operators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20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1240201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Shape 7"/>
          <p:cNvSpPr/>
          <p:nvPr/>
        </p:nvSpPr>
        <p:spPr>
          <a:xfrm>
            <a:off x="502920" y="1554480"/>
            <a:ext cx="5394960" cy="365760"/>
          </a:xfrm>
          <a:prstGeom prst="roundRect">
            <a:avLst>
              <a:gd name="adj" fmla="val 25000"/>
            </a:avLst>
          </a:prstGeom>
          <a:solidFill>
            <a:srgbClr val="7C3AED"/>
          </a:solidFill>
        </p:spPr>
      </p:sp>
      <p:sp>
        <p:nvSpPr>
          <p:cNvPr id="10" name="Text 8"/>
          <p:cNvSpPr/>
          <p:nvPr/>
        </p:nvSpPr>
        <p:spPr>
          <a:xfrm>
            <a:off x="502920" y="155448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TYPECASTING — CONVERT BETWEEN TYPES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always returns text. Wrap it in int() or float() to do real math with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" y="2670048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4" name="Shape 12"/>
          <p:cNvSpPr/>
          <p:nvPr/>
        </p:nvSpPr>
        <p:spPr>
          <a:xfrm>
            <a:off x="868680" y="2670048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5" name="Shape 13"/>
          <p:cNvSpPr/>
          <p:nvPr/>
        </p:nvSpPr>
        <p:spPr>
          <a:xfrm>
            <a:off x="1069848" y="2670048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6" name="Text 14"/>
          <p:cNvSpPr/>
          <p:nvPr/>
        </p:nvSpPr>
        <p:spPr>
          <a:xfrm>
            <a:off x="704088" y="2926080"/>
            <a:ext cx="4992624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age = input("Enter age: 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age = int(age)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print(age + 1)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913632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3EDFE"/>
          </a:solidFill>
        </p:spPr>
      </p:sp>
      <p:sp>
        <p:nvSpPr>
          <p:cNvPr id="18" name="Shape 16"/>
          <p:cNvSpPr/>
          <p:nvPr/>
        </p:nvSpPr>
        <p:spPr>
          <a:xfrm>
            <a:off x="713232" y="4078224"/>
            <a:ext cx="457200" cy="45720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9" name="Image 0" descr="/home/claude/pyadventure/icon_exchang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4178808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98448" y="411480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FUNCTIONS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31520" y="4480560"/>
            <a:ext cx="4937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5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int("10")   →  10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5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float("5.5") →  5.5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5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str(25)     →  "25"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554480"/>
            <a:ext cx="5532120" cy="1691640"/>
          </a:xfrm>
          <a:prstGeom prst="roundRect">
            <a:avLst>
              <a:gd name="adj" fmla="val 7568"/>
            </a:avLst>
          </a:prstGeom>
          <a:solidFill>
            <a:srgbClr val="F3EDFE"/>
          </a:solidFill>
        </p:spPr>
      </p:sp>
      <p:sp>
        <p:nvSpPr>
          <p:cNvPr id="23" name="Shape 20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24" name="Image 1" descr="/home/claude/pyadventure/icon_bran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54" y="1848002"/>
            <a:ext cx="281635" cy="28163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382512" y="224028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==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931152" y="22402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8165592" y="224028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!=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8714232" y="22402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9948672" y="224028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10497312" y="22402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382512" y="274320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6931152" y="274320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8165592" y="274320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&gt;=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8714232" y="274320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/ equal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9948672" y="274320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&lt;=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10497312" y="274320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/ equal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6172200" y="3383280"/>
            <a:ext cx="5532120" cy="1737360"/>
          </a:xfrm>
          <a:prstGeom prst="roundRect">
            <a:avLst>
              <a:gd name="adj" fmla="val 7368"/>
            </a:avLst>
          </a:prstGeom>
          <a:solidFill>
            <a:srgbClr val="4C1D95"/>
          </a:solidFill>
        </p:spPr>
      </p:sp>
      <p:sp>
        <p:nvSpPr>
          <p:cNvPr id="39" name="Shape 35"/>
          <p:cNvSpPr/>
          <p:nvPr/>
        </p:nvSpPr>
        <p:spPr>
          <a:xfrm>
            <a:off x="6382512" y="3566160"/>
            <a:ext cx="502920" cy="50292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40" name="Image 2" descr="/home/claude/pyadventure/icon_togg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154" y="3676802"/>
            <a:ext cx="281635" cy="281635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995160" y="36118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6382512" y="4023360"/>
            <a:ext cx="5120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and  →  true only if both sides are true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   →  true if either side is true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not  →  flips true to false, and back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6172200" y="5230368"/>
            <a:ext cx="5532120" cy="566928"/>
          </a:xfrm>
          <a:prstGeom prst="roundRect">
            <a:avLst>
              <a:gd name="adj" fmla="val 16129"/>
            </a:avLst>
          </a:prstGeom>
          <a:solidFill>
            <a:srgbClr val="241B44"/>
          </a:solidFill>
        </p:spPr>
      </p:sp>
      <p:sp>
        <p:nvSpPr>
          <p:cNvPr id="44" name="Text 39"/>
          <p:cNvSpPr/>
          <p:nvPr/>
        </p:nvSpPr>
        <p:spPr>
          <a:xfrm>
            <a:off x="6355080" y="5230368"/>
            <a:ext cx="5212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B7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age &gt;= 18 and has_id:  print("Entry allowed")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Make Your Output Look Smart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40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2480401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Text 7"/>
          <p:cNvSpPr/>
          <p:nvPr/>
        </p:nvSpPr>
        <p:spPr>
          <a:xfrm>
            <a:off x="502920" y="1508760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are the easiest way for beginners to combine text and variables.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213969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2" name="Shape 10"/>
          <p:cNvSpPr/>
          <p:nvPr/>
        </p:nvSpPr>
        <p:spPr>
          <a:xfrm>
            <a:off x="868680" y="213969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3" name="Shape 11"/>
          <p:cNvSpPr/>
          <p:nvPr/>
        </p:nvSpPr>
        <p:spPr>
          <a:xfrm>
            <a:off x="1069848" y="213969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4" name="Text 12"/>
          <p:cNvSpPr/>
          <p:nvPr/>
        </p:nvSpPr>
        <p:spPr>
          <a:xfrm>
            <a:off x="704088" y="2395728"/>
            <a:ext cx="4946904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 = "Rahul"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age = 15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print(f"My name is {name}")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print(f"I am {age} years old")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E7F8EC"/>
          </a:solidFill>
        </p:spPr>
      </p:sp>
      <p:sp>
        <p:nvSpPr>
          <p:cNvPr id="16" name="Text 14"/>
          <p:cNvSpPr/>
          <p:nvPr/>
        </p:nvSpPr>
        <p:spPr>
          <a:xfrm>
            <a:off x="731520" y="3886200"/>
            <a:ext cx="4846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9D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Output:  My name is Rahul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F9D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I am 15 years old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554480"/>
            <a:ext cx="5532120" cy="1691640"/>
          </a:xfrm>
          <a:prstGeom prst="roundRect">
            <a:avLst>
              <a:gd name="adj" fmla="val 7568"/>
            </a:avLst>
          </a:prstGeom>
          <a:solidFill>
            <a:srgbClr val="F3EDFE"/>
          </a:solidFill>
        </p:spPr>
      </p:sp>
      <p:sp>
        <p:nvSpPr>
          <p:cNvPr id="18" name="Text 16"/>
          <p:cNvSpPr/>
          <p:nvPr/>
        </p:nvSpPr>
        <p:spPr>
          <a:xfrm>
            <a:off x="6355080" y="1691640"/>
            <a:ext cx="5166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1D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 + "text {variable}"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2103120"/>
            <a:ext cx="5166360" cy="1005840"/>
          </a:xfrm>
          <a:prstGeom prst="roundRect">
            <a:avLst>
              <a:gd name="adj" fmla="val 8182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223113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21" name="Shape 19"/>
          <p:cNvSpPr/>
          <p:nvPr/>
        </p:nvSpPr>
        <p:spPr>
          <a:xfrm>
            <a:off x="6720840" y="223113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22" name="Shape 20"/>
          <p:cNvSpPr/>
          <p:nvPr/>
        </p:nvSpPr>
        <p:spPr>
          <a:xfrm>
            <a:off x="6922008" y="223113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23" name="Text 21"/>
          <p:cNvSpPr/>
          <p:nvPr/>
        </p:nvSpPr>
        <p:spPr>
          <a:xfrm>
            <a:off x="6556248" y="2487168"/>
            <a:ext cx="476402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 = 10; b = 20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print(f"Total: {a + b}")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3429000"/>
            <a:ext cx="5532120" cy="1737360"/>
          </a:xfrm>
          <a:prstGeom prst="roundRect">
            <a:avLst>
              <a:gd name="adj" fmla="val 7368"/>
            </a:avLst>
          </a:prstGeom>
          <a:solidFill>
            <a:srgbClr val="4C1D95"/>
          </a:solidFill>
        </p:spPr>
      </p:sp>
      <p:sp>
        <p:nvSpPr>
          <p:cNvPr id="25" name="Shape 23"/>
          <p:cNvSpPr/>
          <p:nvPr/>
        </p:nvSpPr>
        <p:spPr>
          <a:xfrm>
            <a:off x="6382512" y="3611880"/>
            <a:ext cx="502920" cy="50292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26" name="Image 0" descr="/home/claude/pyadventure/icon_palette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154" y="3722522"/>
            <a:ext cx="281635" cy="28163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995160" y="365760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CHALLENGE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382512" y="4114800"/>
            <a:ext cx="5120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three-line student introduction using f-strings — name, class, and school.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Enter the Python Lab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60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3720602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Shape 7"/>
          <p:cNvSpPr/>
          <p:nvPr/>
        </p:nvSpPr>
        <p:spPr>
          <a:xfrm>
            <a:off x="502920" y="1554480"/>
            <a:ext cx="5394960" cy="3566160"/>
          </a:xfrm>
          <a:prstGeom prst="roundRect">
            <a:avLst>
              <a:gd name="adj" fmla="val 3590"/>
            </a:avLst>
          </a:prstGeom>
          <a:solidFill>
            <a:srgbClr val="F3EDFE"/>
          </a:solidFill>
        </p:spPr>
      </p:sp>
      <p:sp>
        <p:nvSpPr>
          <p:cNvPr id="10" name="Shape 8"/>
          <p:cNvSpPr/>
          <p:nvPr/>
        </p:nvSpPr>
        <p:spPr>
          <a:xfrm>
            <a:off x="731520" y="1755648"/>
            <a:ext cx="502920" cy="50292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1" name="Image 0" descr="/home/claude/pyadventure/icon_lapto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866290"/>
            <a:ext cx="281635" cy="2816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78308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SETUP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2331720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4" name="Text 11"/>
          <p:cNvSpPr/>
          <p:nvPr/>
        </p:nvSpPr>
        <p:spPr>
          <a:xfrm>
            <a:off x="731520" y="23317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15568" y="2304288"/>
            <a:ext cx="4480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Chrome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1520" y="2752344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7" name="Text 14"/>
          <p:cNvSpPr/>
          <p:nvPr/>
        </p:nvSpPr>
        <p:spPr>
          <a:xfrm>
            <a:off x="731520" y="2752344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15568" y="2724912"/>
            <a:ext cx="4480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colab.research.google.com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1520" y="3172968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0" name="Text 17"/>
          <p:cNvSpPr/>
          <p:nvPr/>
        </p:nvSpPr>
        <p:spPr>
          <a:xfrm>
            <a:off x="731520" y="317296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15568" y="3145536"/>
            <a:ext cx="4480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Google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1520" y="3593592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3" name="Text 20"/>
          <p:cNvSpPr/>
          <p:nvPr/>
        </p:nvSpPr>
        <p:spPr>
          <a:xfrm>
            <a:off x="731520" y="359359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15568" y="3566160"/>
            <a:ext cx="4480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"New Notebook"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31520" y="4014216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6" name="Text 23"/>
          <p:cNvSpPr/>
          <p:nvPr/>
        </p:nvSpPr>
        <p:spPr>
          <a:xfrm>
            <a:off x="731520" y="4014216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15568" y="3986784"/>
            <a:ext cx="4480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 code in a cell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9" name="Text 26"/>
          <p:cNvSpPr/>
          <p:nvPr/>
        </p:nvSpPr>
        <p:spPr>
          <a:xfrm>
            <a:off x="731520" y="44348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15568" y="4407408"/>
            <a:ext cx="44805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▶ or Shift + Enter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1554480"/>
            <a:ext cx="5532120" cy="3566160"/>
          </a:xfrm>
          <a:prstGeom prst="roundRect">
            <a:avLst>
              <a:gd name="adj" fmla="val 3590"/>
            </a:avLst>
          </a:prstGeom>
          <a:solidFill>
            <a:srgbClr val="4C1D95"/>
          </a:solidFill>
        </p:spPr>
      </p:sp>
      <p:sp>
        <p:nvSpPr>
          <p:cNvPr id="32" name="Shape 29"/>
          <p:cNvSpPr/>
          <p:nvPr/>
        </p:nvSpPr>
        <p:spPr>
          <a:xfrm>
            <a:off x="6382512" y="1755648"/>
            <a:ext cx="502920" cy="50292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33" name="Image 1" descr="/home/claude/pyadventure/icon_brai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54" y="1866290"/>
            <a:ext cx="281635" cy="281635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 PROGRAMMER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382512" y="22860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B740"/>
          </a:solidFill>
        </p:spPr>
      </p:sp>
      <p:sp>
        <p:nvSpPr>
          <p:cNvPr id="36" name="Text 32"/>
          <p:cNvSpPr/>
          <p:nvPr/>
        </p:nvSpPr>
        <p:spPr>
          <a:xfrm>
            <a:off x="6382512" y="2286000"/>
            <a:ext cx="1417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7909560" y="2286000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given?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382512" y="281635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B740"/>
          </a:solidFill>
        </p:spPr>
      </p:sp>
      <p:sp>
        <p:nvSpPr>
          <p:cNvPr id="39" name="Text 35"/>
          <p:cNvSpPr/>
          <p:nvPr/>
        </p:nvSpPr>
        <p:spPr>
          <a:xfrm>
            <a:off x="6382512" y="2816352"/>
            <a:ext cx="1417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7909560" y="2816352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 do I need?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6382512" y="3346704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B740"/>
          </a:solidFill>
        </p:spPr>
      </p:sp>
      <p:sp>
        <p:nvSpPr>
          <p:cNvPr id="42" name="Text 38"/>
          <p:cNvSpPr/>
          <p:nvPr/>
        </p:nvSpPr>
        <p:spPr>
          <a:xfrm>
            <a:off x="6382512" y="3346704"/>
            <a:ext cx="1417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7909560" y="3346704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I store it?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6382512" y="387705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B740"/>
          </a:solidFill>
        </p:spPr>
      </p:sp>
      <p:sp>
        <p:nvSpPr>
          <p:cNvPr id="45" name="Text 41"/>
          <p:cNvSpPr/>
          <p:nvPr/>
        </p:nvSpPr>
        <p:spPr>
          <a:xfrm>
            <a:off x="6382512" y="3877056"/>
            <a:ext cx="1417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7909560" y="3877056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calculation runs?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6382512" y="440740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B740"/>
          </a:solidFill>
        </p:spPr>
      </p:sp>
      <p:sp>
        <p:nvSpPr>
          <p:cNvPr id="48" name="Text 44"/>
          <p:cNvSpPr/>
          <p:nvPr/>
        </p:nvSpPr>
        <p:spPr>
          <a:xfrm>
            <a:off x="6382512" y="4407408"/>
            <a:ext cx="1417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7909560" y="4407408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show?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typing immediately — think about the problem first.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Decision Making — if, elif, else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80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4960803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Text 7"/>
          <p:cNvSpPr/>
          <p:nvPr/>
        </p:nvSpPr>
        <p:spPr>
          <a:xfrm>
            <a:off x="502920" y="1508760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makes decisions checks a condition, then chooses which block runs.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232257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2" name="Shape 10"/>
          <p:cNvSpPr/>
          <p:nvPr/>
        </p:nvSpPr>
        <p:spPr>
          <a:xfrm>
            <a:off x="868680" y="232257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3" name="Shape 11"/>
          <p:cNvSpPr/>
          <p:nvPr/>
        </p:nvSpPr>
        <p:spPr>
          <a:xfrm>
            <a:off x="1069848" y="232257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4" name="Text 12"/>
          <p:cNvSpPr/>
          <p:nvPr/>
        </p:nvSpPr>
        <p:spPr>
          <a:xfrm>
            <a:off x="704088" y="2578608"/>
            <a:ext cx="4946904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age = 18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age &gt;= 18: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print("You can vote")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elif age == 17: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print("Almost there!")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else: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print("Not yet eligible")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E7F8EC"/>
          </a:solidFill>
        </p:spPr>
      </p:sp>
      <p:sp>
        <p:nvSpPr>
          <p:cNvPr id="16" name="Text 14"/>
          <p:cNvSpPr/>
          <p:nvPr/>
        </p:nvSpPr>
        <p:spPr>
          <a:xfrm>
            <a:off x="731520" y="4663440"/>
            <a:ext cx="4937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9D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Output:  You can vote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1554480"/>
            <a:ext cx="5532120" cy="1965960"/>
          </a:xfrm>
          <a:prstGeom prst="roundRect">
            <a:avLst>
              <a:gd name="adj" fmla="val 6512"/>
            </a:avLst>
          </a:prstGeom>
          <a:solidFill>
            <a:srgbClr val="F3EDFE"/>
          </a:solidFill>
        </p:spPr>
      </p:sp>
      <p:sp>
        <p:nvSpPr>
          <p:cNvPr id="18" name="Shape 16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9" name="Image 0" descr="/home/claude/pyadventure/icon_branch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154" y="1848002"/>
            <a:ext cx="281635" cy="28163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82512" y="224028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==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31152" y="22402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165592" y="224028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!=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714232" y="22402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948672" y="224028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497312" y="22402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382512" y="2807208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931152" y="2807208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165592" y="2807208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&gt;=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714232" y="2807208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/ equal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948672" y="2807208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&lt;=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0497312" y="2807208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/ equal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172200" y="3703320"/>
            <a:ext cx="5532120" cy="1371600"/>
          </a:xfrm>
          <a:prstGeom prst="roundRect">
            <a:avLst>
              <a:gd name="adj" fmla="val 9333"/>
            </a:avLst>
          </a:prstGeom>
          <a:solidFill>
            <a:srgbClr val="4C1D95"/>
          </a:solidFill>
        </p:spPr>
      </p:sp>
      <p:sp>
        <p:nvSpPr>
          <p:cNvPr id="34" name="Text 31"/>
          <p:cNvSpPr/>
          <p:nvPr/>
        </p:nvSpPr>
        <p:spPr>
          <a:xfrm>
            <a:off x="6400800" y="384048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00800" y="4160520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condition →  run this block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another condition →  run this instead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→  run when nothing above matched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Checker Mission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100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6201004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Text 7"/>
          <p:cNvSpPr/>
          <p:nvPr/>
        </p:nvSpPr>
        <p:spPr>
          <a:xfrm>
            <a:off x="502920" y="1508760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chains check several conditions in order — Python stops at the first match.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232257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2" name="Shape 10"/>
          <p:cNvSpPr/>
          <p:nvPr/>
        </p:nvSpPr>
        <p:spPr>
          <a:xfrm>
            <a:off x="868680" y="232257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3" name="Shape 11"/>
          <p:cNvSpPr/>
          <p:nvPr/>
        </p:nvSpPr>
        <p:spPr>
          <a:xfrm>
            <a:off x="1069848" y="232257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4" name="Text 12"/>
          <p:cNvSpPr/>
          <p:nvPr/>
        </p:nvSpPr>
        <p:spPr>
          <a:xfrm>
            <a:off x="704088" y="2578608"/>
            <a:ext cx="4946904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marks = 78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marks &gt;= 90: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print("Grade A")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elif marks &gt;= 75: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print("Grade B")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elif marks &gt;= 60: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print("Grade C")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else: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print("Needs Improvement")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554480"/>
            <a:ext cx="5532120" cy="3337560"/>
          </a:xfrm>
          <a:prstGeom prst="roundRect">
            <a:avLst>
              <a:gd name="adj" fmla="val 3836"/>
            </a:avLst>
          </a:prstGeom>
          <a:solidFill>
            <a:srgbClr val="4C1D95"/>
          </a:solidFill>
        </p:spPr>
      </p:sp>
      <p:sp>
        <p:nvSpPr>
          <p:cNvPr id="16" name="Shape 14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7" name="Image 0" descr="/home/claude/pyadventure/icon_gamepad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154" y="1848002"/>
            <a:ext cx="281635" cy="28163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GRADE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82512" y="2212848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= +15 XP. What grade prints for each score?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82512" y="2651760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241B44"/>
          </a:solidFill>
        </p:spPr>
      </p:sp>
      <p:sp>
        <p:nvSpPr>
          <p:cNvPr id="21" name="Text 18"/>
          <p:cNvSpPr/>
          <p:nvPr/>
        </p:nvSpPr>
        <p:spPr>
          <a:xfrm>
            <a:off x="6537960" y="265176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marks = 95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104120" y="272491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A2E5C"/>
          </a:solidFill>
          <a:ln w="9525">
            <a:solidFill>
              <a:srgbClr val="F4B7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104120" y="2724912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82512" y="3227832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241B44"/>
          </a:solidFill>
        </p:spPr>
      </p:sp>
      <p:sp>
        <p:nvSpPr>
          <p:cNvPr id="25" name="Text 22"/>
          <p:cNvSpPr/>
          <p:nvPr/>
        </p:nvSpPr>
        <p:spPr>
          <a:xfrm>
            <a:off x="6537960" y="3227832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marks = 82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10104120" y="3300984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A2E5C"/>
          </a:solidFill>
          <a:ln w="9525">
            <a:solidFill>
              <a:srgbClr val="F4B7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04120" y="3300984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82512" y="3803904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241B44"/>
          </a:solidFill>
        </p:spPr>
      </p:sp>
      <p:sp>
        <p:nvSpPr>
          <p:cNvPr id="29" name="Text 26"/>
          <p:cNvSpPr/>
          <p:nvPr/>
        </p:nvSpPr>
        <p:spPr>
          <a:xfrm>
            <a:off x="6537960" y="3803904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marks = 60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10104120" y="387705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A2E5C"/>
          </a:solidFill>
          <a:ln w="9525">
            <a:solidFill>
              <a:srgbClr val="F4B74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104120" y="3877056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382512" y="4379976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241B44"/>
          </a:solidFill>
        </p:spPr>
      </p:sp>
      <p:sp>
        <p:nvSpPr>
          <p:cNvPr id="33" name="Text 30"/>
          <p:cNvSpPr/>
          <p:nvPr/>
        </p:nvSpPr>
        <p:spPr>
          <a:xfrm>
            <a:off x="6537960" y="4379976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marks = 40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10104120" y="445312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A2E5C"/>
          </a:solidFill>
          <a:ln w="9525">
            <a:solidFill>
              <a:srgbClr val="F4B74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104120" y="445312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02920" y="5230368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work top to bottom — the first true condition wins, the rest are skipped.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Loops — Repeat Without Repeating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120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7441204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Text 7"/>
          <p:cNvSpPr/>
          <p:nvPr/>
        </p:nvSpPr>
        <p:spPr>
          <a:xfrm>
            <a:off x="502920" y="1508760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repeats a block of code automatically — no copy-pasting the same line again and again.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5394960" cy="365760"/>
          </a:xfrm>
          <a:prstGeom prst="roundRect">
            <a:avLst>
              <a:gd name="adj" fmla="val 25000"/>
            </a:avLst>
          </a:prstGeom>
          <a:solidFill>
            <a:srgbClr val="7C3AED"/>
          </a:solidFill>
        </p:spPr>
      </p:sp>
      <p:sp>
        <p:nvSpPr>
          <p:cNvPr id="11" name="Text 9"/>
          <p:cNvSpPr/>
          <p:nvPr/>
        </p:nvSpPr>
        <p:spPr>
          <a:xfrm>
            <a:off x="502920" y="196596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— repeat a known number of times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" y="259689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4" name="Shape 12"/>
          <p:cNvSpPr/>
          <p:nvPr/>
        </p:nvSpPr>
        <p:spPr>
          <a:xfrm>
            <a:off x="868680" y="259689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5" name="Shape 13"/>
          <p:cNvSpPr/>
          <p:nvPr/>
        </p:nvSpPr>
        <p:spPr>
          <a:xfrm>
            <a:off x="1069848" y="259689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6" name="Text 14"/>
          <p:cNvSpPr/>
          <p:nvPr/>
        </p:nvSpPr>
        <p:spPr>
          <a:xfrm>
            <a:off x="704088" y="2852928"/>
            <a:ext cx="4992624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i in range(1, 6):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print(i)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8B85A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Output: 1 2 3 4 5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3EDFE"/>
          </a:solidFill>
        </p:spPr>
      </p:sp>
      <p:sp>
        <p:nvSpPr>
          <p:cNvPr id="18" name="Text 16"/>
          <p:cNvSpPr/>
          <p:nvPr/>
        </p:nvSpPr>
        <p:spPr>
          <a:xfrm>
            <a:off x="731520" y="434340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OVER A LIST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4937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5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fruits = ["apple", "mango", "kiwi"]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5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fruit in fruits: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5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print(fruit)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965960"/>
            <a:ext cx="5532120" cy="365760"/>
          </a:xfrm>
          <a:prstGeom prst="roundRect">
            <a:avLst>
              <a:gd name="adj" fmla="val 25000"/>
            </a:avLst>
          </a:prstGeom>
          <a:solidFill>
            <a:srgbClr val="4C1D95"/>
          </a:solidFill>
        </p:spPr>
      </p:sp>
      <p:sp>
        <p:nvSpPr>
          <p:cNvPr id="21" name="Text 19"/>
          <p:cNvSpPr/>
          <p:nvPr/>
        </p:nvSpPr>
        <p:spPr>
          <a:xfrm>
            <a:off x="6172200" y="1965960"/>
            <a:ext cx="5532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— repeat while a condition is true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246888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36792" y="259689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24" name="Shape 22"/>
          <p:cNvSpPr/>
          <p:nvPr/>
        </p:nvSpPr>
        <p:spPr>
          <a:xfrm>
            <a:off x="6537960" y="259689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25" name="Shape 23"/>
          <p:cNvSpPr/>
          <p:nvPr/>
        </p:nvSpPr>
        <p:spPr>
          <a:xfrm>
            <a:off x="6739128" y="259689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26" name="Text 24"/>
          <p:cNvSpPr/>
          <p:nvPr/>
        </p:nvSpPr>
        <p:spPr>
          <a:xfrm>
            <a:off x="6373368" y="2852928"/>
            <a:ext cx="5129784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count = 1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while count &lt;= 5: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print(count)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count = count + 1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8B85A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Output: 1 2 3 4 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4480560"/>
            <a:ext cx="5532120" cy="1143000"/>
          </a:xfrm>
          <a:prstGeom prst="roundRect">
            <a:avLst>
              <a:gd name="adj" fmla="val 9600"/>
            </a:avLst>
          </a:prstGeom>
          <a:solidFill>
            <a:srgbClr val="FFF3D6"/>
          </a:solidFill>
        </p:spPr>
      </p:sp>
      <p:sp>
        <p:nvSpPr>
          <p:cNvPr id="28" name="Text 26"/>
          <p:cNvSpPr/>
          <p:nvPr/>
        </p:nvSpPr>
        <p:spPr>
          <a:xfrm>
            <a:off x="6400800" y="4590288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DON'T FORGET TO UPDATE THE COUNTER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4892040"/>
            <a:ext cx="5120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count never changes, the condition stays true forever — an infinite loop.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Loop Boss Battle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140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8681405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Shape 7"/>
          <p:cNvSpPr/>
          <p:nvPr/>
        </p:nvSpPr>
        <p:spPr>
          <a:xfrm>
            <a:off x="502920" y="1554480"/>
            <a:ext cx="5394960" cy="2103120"/>
          </a:xfrm>
          <a:prstGeom prst="roundRect">
            <a:avLst>
              <a:gd name="adj" fmla="val 6087"/>
            </a:avLst>
          </a:prstGeom>
          <a:solidFill>
            <a:srgbClr val="F3EDFE"/>
          </a:solidFill>
        </p:spPr>
      </p:sp>
      <p:sp>
        <p:nvSpPr>
          <p:cNvPr id="10" name="Shape 8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1" name="Image 0" descr="/home/claude/pyadventure/icon_loo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848002"/>
            <a:ext cx="281635" cy="2816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78308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WITH A LOOP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2377440"/>
            <a:ext cx="4892040" cy="1143000"/>
          </a:xfrm>
          <a:prstGeom prst="roundRect">
            <a:avLst>
              <a:gd name="adj" fmla="val 7200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96112" y="250545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5" name="Shape 12"/>
          <p:cNvSpPr/>
          <p:nvPr/>
        </p:nvSpPr>
        <p:spPr>
          <a:xfrm>
            <a:off x="1097280" y="250545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6" name="Shape 13"/>
          <p:cNvSpPr/>
          <p:nvPr/>
        </p:nvSpPr>
        <p:spPr>
          <a:xfrm>
            <a:off x="1298448" y="250545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7" name="Text 14"/>
          <p:cNvSpPr/>
          <p:nvPr/>
        </p:nvSpPr>
        <p:spPr>
          <a:xfrm>
            <a:off x="932688" y="2761488"/>
            <a:ext cx="4489704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total = 0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n in range(1, 4):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total = total + 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3794760"/>
            <a:ext cx="5394960" cy="1417320"/>
          </a:xfrm>
          <a:prstGeom prst="roundRect">
            <a:avLst>
              <a:gd name="adj" fmla="val 9032"/>
            </a:avLst>
          </a:prstGeom>
          <a:solidFill>
            <a:srgbClr val="F3EDFE"/>
          </a:solidFill>
        </p:spPr>
      </p:sp>
      <p:sp>
        <p:nvSpPr>
          <p:cNvPr id="19" name="Shape 16"/>
          <p:cNvSpPr/>
          <p:nvPr/>
        </p:nvSpPr>
        <p:spPr>
          <a:xfrm>
            <a:off x="731520" y="3959352"/>
            <a:ext cx="457200" cy="45720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20" name="Image 1" descr="/home/claude/pyadventure/icon_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4059936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25880" y="3986784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&amp; CONTINUE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731520" y="4370832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5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break  →  exit the loop immediately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5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continue  →  skip to the next round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172200" y="1554480"/>
            <a:ext cx="5532120" cy="3657600"/>
          </a:xfrm>
          <a:prstGeom prst="roundRect">
            <a:avLst>
              <a:gd name="adj" fmla="val 3500"/>
            </a:avLst>
          </a:prstGeom>
          <a:solidFill>
            <a:srgbClr val="4C1D95"/>
          </a:solidFill>
        </p:spPr>
      </p:sp>
      <p:sp>
        <p:nvSpPr>
          <p:cNvPr id="24" name="Shape 20"/>
          <p:cNvSpPr/>
          <p:nvPr/>
        </p:nvSpPr>
        <p:spPr>
          <a:xfrm>
            <a:off x="6382512" y="1737360"/>
            <a:ext cx="548640" cy="54864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25" name="Image 2" descr="/home/claude/pyadventure/icon_bol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3" y="1858061"/>
            <a:ext cx="307238" cy="30723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4088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BOSS BATTLE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382512" y="2212848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= +10 XP. What will Python print?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382512" y="2606040"/>
            <a:ext cx="5120640" cy="2377440"/>
          </a:xfrm>
          <a:prstGeom prst="roundRect">
            <a:avLst>
              <a:gd name="adj" fmla="val 3462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547104" y="273405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30" name="Shape 25"/>
          <p:cNvSpPr/>
          <p:nvPr/>
        </p:nvSpPr>
        <p:spPr>
          <a:xfrm>
            <a:off x="6748272" y="273405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31" name="Shape 26"/>
          <p:cNvSpPr/>
          <p:nvPr/>
        </p:nvSpPr>
        <p:spPr>
          <a:xfrm>
            <a:off x="6949440" y="273405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32" name="Text 27"/>
          <p:cNvSpPr/>
          <p:nvPr/>
        </p:nvSpPr>
        <p:spPr>
          <a:xfrm>
            <a:off x="6583680" y="2990088"/>
            <a:ext cx="4718304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i in range(1, 6):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i == 3: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continue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i == 5: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break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print(i)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502920" y="5486400"/>
            <a:ext cx="5577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defeated → correctly trace the loop's full output for full clear.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Practice Arena &amp; Debugging Arena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7" name="Shape 5"/>
          <p:cNvSpPr/>
          <p:nvPr/>
        </p:nvSpPr>
        <p:spPr>
          <a:xfrm>
            <a:off x="457200" y="6510528"/>
            <a:ext cx="9921606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8" name="Shape 6"/>
          <p:cNvSpPr/>
          <p:nvPr/>
        </p:nvSpPr>
        <p:spPr>
          <a:xfrm>
            <a:off x="502920" y="1554480"/>
            <a:ext cx="5394960" cy="3703320"/>
          </a:xfrm>
          <a:prstGeom prst="roundRect">
            <a:avLst>
              <a:gd name="adj" fmla="val 3457"/>
            </a:avLst>
          </a:prstGeom>
          <a:solidFill>
            <a:srgbClr val="F3EDFE"/>
          </a:solidFill>
        </p:spPr>
      </p:sp>
      <p:sp>
        <p:nvSpPr>
          <p:cNvPr id="9" name="Shape 7"/>
          <p:cNvSpPr/>
          <p:nvPr/>
        </p:nvSpPr>
        <p:spPr>
          <a:xfrm>
            <a:off x="731520" y="1755648"/>
            <a:ext cx="502920" cy="50292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0" name="Image 0" descr="/home/claude/pyadventure/icon_fla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866290"/>
            <a:ext cx="281635" cy="2816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78308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PRACTICE MISSIONS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Greet the user by name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89120" y="238658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</p:spPr>
      </p:sp>
      <p:sp>
        <p:nvSpPr>
          <p:cNvPr id="14" name="Text 11"/>
          <p:cNvSpPr/>
          <p:nvPr/>
        </p:nvSpPr>
        <p:spPr>
          <a:xfrm>
            <a:off x="4389120" y="238658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31520" y="288036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Sum, difference, product, quotient of two numbers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89120" y="293522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</p:spPr>
      </p:sp>
      <p:sp>
        <p:nvSpPr>
          <p:cNvPr id="17" name="Text 14"/>
          <p:cNvSpPr/>
          <p:nvPr/>
        </p:nvSpPr>
        <p:spPr>
          <a:xfrm>
            <a:off x="4389120" y="293522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31520" y="342900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Area of a rectangle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89120" y="34838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8A1E"/>
          </a:solidFill>
        </p:spPr>
      </p:sp>
      <p:sp>
        <p:nvSpPr>
          <p:cNvPr id="20" name="Text 17"/>
          <p:cNvSpPr/>
          <p:nvPr/>
        </p:nvSpPr>
        <p:spPr>
          <a:xfrm>
            <a:off x="4389120" y="348386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" y="397764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Average of three numbers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89120" y="403250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8A1E"/>
          </a:solidFill>
        </p:spPr>
      </p:sp>
      <p:sp>
        <p:nvSpPr>
          <p:cNvPr id="23" name="Text 20"/>
          <p:cNvSpPr/>
          <p:nvPr/>
        </p:nvSpPr>
        <p:spPr>
          <a:xfrm>
            <a:off x="4389120" y="403250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31520" y="452628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f-string intro: name, class, school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89120" y="458114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</p:sp>
      <p:sp>
        <p:nvSpPr>
          <p:cNvPr id="26" name="Text 23"/>
          <p:cNvSpPr/>
          <p:nvPr/>
        </p:nvSpPr>
        <p:spPr>
          <a:xfrm>
            <a:off x="4389120" y="458114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554480"/>
            <a:ext cx="5532120" cy="3703320"/>
          </a:xfrm>
          <a:prstGeom prst="roundRect">
            <a:avLst>
              <a:gd name="adj" fmla="val 3457"/>
            </a:avLst>
          </a:prstGeom>
          <a:solidFill>
            <a:srgbClr val="1B1533"/>
          </a:solidFill>
        </p:spPr>
      </p:sp>
      <p:sp>
        <p:nvSpPr>
          <p:cNvPr id="28" name="Shape 25"/>
          <p:cNvSpPr/>
          <p:nvPr/>
        </p:nvSpPr>
        <p:spPr>
          <a:xfrm>
            <a:off x="6382512" y="1755648"/>
            <a:ext cx="502920" cy="50292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29" name="Image 1" descr="/home/claude/pyadventure/icon_bug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54" y="1866290"/>
            <a:ext cx="281635" cy="28163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CODE DETECTIVE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382512" y="228600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241B44"/>
          </a:solidFill>
        </p:spPr>
      </p:sp>
      <p:sp>
        <p:nvSpPr>
          <p:cNvPr id="32" name="Text 28"/>
          <p:cNvSpPr/>
          <p:nvPr/>
        </p:nvSpPr>
        <p:spPr>
          <a:xfrm>
            <a:off x="6537960" y="2359152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537960" y="2615184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 = Rahul   print(name)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382512" y="329184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241B44"/>
          </a:solidFill>
        </p:spPr>
      </p:sp>
      <p:sp>
        <p:nvSpPr>
          <p:cNvPr id="35" name="Text 31"/>
          <p:cNvSpPr/>
          <p:nvPr/>
        </p:nvSpPr>
        <p:spPr>
          <a:xfrm>
            <a:off x="6537960" y="3364992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6537960" y="3621024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 = 10; b = 5   print(a +)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6382512" y="429768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241B44"/>
          </a:solidFill>
        </p:spPr>
      </p:sp>
      <p:sp>
        <p:nvSpPr>
          <p:cNvPr id="38" name="Text 34"/>
          <p:cNvSpPr/>
          <p:nvPr/>
        </p:nvSpPr>
        <p:spPr>
          <a:xfrm>
            <a:off x="6537960" y="4370832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537960" y="4626864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age = 15; Age = 20   print(age)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502920" y="5394960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System:  Correct answer +10 · Output prediction +15 · Debugging +20 · Challenge complete +30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029200" cy="5029200"/>
          </a:xfrm>
          <a:prstGeom prst="ellipse">
            <a:avLst/>
          </a:prstGeom>
          <a:solidFill>
            <a:srgbClr val="4C1D95"/>
          </a:solidFill>
        </p:spPr>
      </p:sp>
      <p:sp>
        <p:nvSpPr>
          <p:cNvPr id="3" name="Shape 1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4C1D95"/>
          </a:solidFill>
        </p:spPr>
      </p:sp>
      <p:sp>
        <p:nvSpPr>
          <p:cNvPr id="4" name="Shape 2"/>
          <p:cNvSpPr/>
          <p:nvPr/>
        </p:nvSpPr>
        <p:spPr>
          <a:xfrm>
            <a:off x="502920" y="457200"/>
            <a:ext cx="594360" cy="59436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5" name="Image 0" descr="/home/claude/pyadventure/icon_trophy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587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5720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⚔ FINAL BOSS — STUDENT PROFILE GENERATOR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8" name="Text 5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BOSS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170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3A2E5C"/>
          </a:solidFill>
        </p:spPr>
      </p:sp>
      <p:sp>
        <p:nvSpPr>
          <p:cNvPr id="11" name="Shape 8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12" name="Shape 9"/>
          <p:cNvSpPr/>
          <p:nvPr/>
        </p:nvSpPr>
        <p:spPr>
          <a:xfrm>
            <a:off x="502920" y="1234440"/>
            <a:ext cx="5623560" cy="3154680"/>
          </a:xfrm>
          <a:prstGeom prst="roundRect">
            <a:avLst>
              <a:gd name="adj" fmla="val 2609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" y="136245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4" name="Shape 11"/>
          <p:cNvSpPr/>
          <p:nvPr/>
        </p:nvSpPr>
        <p:spPr>
          <a:xfrm>
            <a:off x="868680" y="136245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5" name="Shape 12"/>
          <p:cNvSpPr/>
          <p:nvPr/>
        </p:nvSpPr>
        <p:spPr>
          <a:xfrm>
            <a:off x="1069848" y="136245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6" name="Text 13"/>
          <p:cNvSpPr/>
          <p:nvPr/>
        </p:nvSpPr>
        <p:spPr>
          <a:xfrm>
            <a:off x="704088" y="1618488"/>
            <a:ext cx="5221224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 = "Rahul"; age = 15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school = "ABC School"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subject = "Computer"; marks = 90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print(f"Name: {name}")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print(f"Age: {age}")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print(f"School: {school}")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print(f"Marks: {marks}")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526280"/>
            <a:ext cx="5623560" cy="685800"/>
          </a:xfrm>
          <a:prstGeom prst="roundRect">
            <a:avLst>
              <a:gd name="adj" fmla="val 16000"/>
            </a:avLst>
          </a:prstGeom>
          <a:solidFill>
            <a:srgbClr val="F4B740"/>
          </a:solidFill>
        </p:spPr>
      </p:sp>
      <p:sp>
        <p:nvSpPr>
          <p:cNvPr id="18" name="Text 15"/>
          <p:cNvSpPr/>
          <p:nvPr/>
        </p:nvSpPr>
        <p:spPr>
          <a:xfrm>
            <a:off x="502920" y="4526280"/>
            <a:ext cx="5623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BOSS DEFEATED  •  +50 XP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0" y="1234440"/>
            <a:ext cx="5303520" cy="3977640"/>
          </a:xfrm>
          <a:prstGeom prst="roundRect">
            <a:avLst>
              <a:gd name="adj" fmla="val 3218"/>
            </a:avLst>
          </a:prstGeom>
          <a:solidFill>
            <a:srgbClr val="241B44"/>
          </a:solidFill>
        </p:spPr>
      </p:sp>
      <p:sp>
        <p:nvSpPr>
          <p:cNvPr id="20" name="Text 17"/>
          <p:cNvSpPr/>
          <p:nvPr/>
        </p:nvSpPr>
        <p:spPr>
          <a:xfrm>
            <a:off x="6629400" y="137160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LEVEL 1 COMPLETE!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629400" y="1810512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3A2E5C"/>
          </a:solidFill>
        </p:spPr>
      </p:sp>
      <p:sp>
        <p:nvSpPr>
          <p:cNvPr id="22" name="Text 19"/>
          <p:cNvSpPr/>
          <p:nvPr/>
        </p:nvSpPr>
        <p:spPr>
          <a:xfrm>
            <a:off x="6629400" y="1810512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Typecasting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366760" y="1810512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3A2E5C"/>
          </a:solidFill>
        </p:spPr>
      </p:sp>
      <p:sp>
        <p:nvSpPr>
          <p:cNvPr id="24" name="Text 21"/>
          <p:cNvSpPr/>
          <p:nvPr/>
        </p:nvSpPr>
        <p:spPr>
          <a:xfrm>
            <a:off x="8366760" y="1810512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0104120" y="1810512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3A2E5C"/>
          </a:solidFill>
        </p:spPr>
      </p:sp>
      <p:sp>
        <p:nvSpPr>
          <p:cNvPr id="26" name="Text 23"/>
          <p:cNvSpPr/>
          <p:nvPr/>
        </p:nvSpPr>
        <p:spPr>
          <a:xfrm>
            <a:off x="10104120" y="1810512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629400" y="2267712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3A2E5C"/>
          </a:solidFill>
        </p:spPr>
      </p:sp>
      <p:sp>
        <p:nvSpPr>
          <p:cNvPr id="28" name="Text 25"/>
          <p:cNvSpPr/>
          <p:nvPr/>
        </p:nvSpPr>
        <p:spPr>
          <a:xfrm>
            <a:off x="6629400" y="2267712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366760" y="2267712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3A2E5C"/>
          </a:solidFill>
        </p:spPr>
      </p:sp>
      <p:sp>
        <p:nvSpPr>
          <p:cNvPr id="30" name="Text 27"/>
          <p:cNvSpPr/>
          <p:nvPr/>
        </p:nvSpPr>
        <p:spPr>
          <a:xfrm>
            <a:off x="8366760" y="2267712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104120" y="2267712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3A2E5C"/>
          </a:solidFill>
        </p:spPr>
      </p:sp>
      <p:sp>
        <p:nvSpPr>
          <p:cNvPr id="32" name="Text 29"/>
          <p:cNvSpPr/>
          <p:nvPr/>
        </p:nvSpPr>
        <p:spPr>
          <a:xfrm>
            <a:off x="10104120" y="2267712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629400" y="361188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RANK: PYTHON EXPLORER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629400" y="4023360"/>
            <a:ext cx="4846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9E4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"Think first. Code second. Debug fearlessly."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629400" y="4526280"/>
            <a:ext cx="4846320" cy="6858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</p:spPr>
      </p:sp>
      <p:sp>
        <p:nvSpPr>
          <p:cNvPr id="36" name="Shape 33"/>
          <p:cNvSpPr/>
          <p:nvPr/>
        </p:nvSpPr>
        <p:spPr>
          <a:xfrm>
            <a:off x="6766560" y="4645152"/>
            <a:ext cx="457200" cy="45720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37" name="Image 1" descr="/home/claude/pyadventure/icon_rocket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4745736"/>
            <a:ext cx="256032" cy="25603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315200" y="4526280"/>
            <a:ext cx="4023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Functions &amp; Lists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4589</Words>
  <Application>WPS Spreadsheets</Application>
  <PresentationFormat>On-screen Show (16:9)</PresentationFormat>
  <Paragraphs>417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Century Schoolbook</vt:lpstr>
      <vt:lpstr>Century Schoolbook</vt:lpstr>
      <vt:lpstr>Century Schoolbook</vt:lpstr>
      <vt:lpstr>Courier New</vt:lpstr>
      <vt:lpstr>Courier New</vt:lpstr>
      <vt:lpstr>Courier New</vt:lpstr>
      <vt:lpstr>苹方-简</vt:lpstr>
      <vt:lpstr>Microsoft YaHei</vt:lpstr>
      <vt:lpstr>汉仪旗黑</vt:lpstr>
      <vt:lpstr>Arial Unicode MS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pawansharma</cp:lastModifiedBy>
  <cp:revision>3</cp:revision>
  <dcterms:created xsi:type="dcterms:W3CDTF">2026-08-19T07:59:30Z</dcterms:created>
  <dcterms:modified xsi:type="dcterms:W3CDTF">2026-08-19T07:59:30Z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1033-4.9.0.7859</vt:lpwstr>
  </property>
</Properties>
</file>