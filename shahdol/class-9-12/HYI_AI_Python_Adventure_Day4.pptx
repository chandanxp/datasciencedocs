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4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7.png"/><Relationship Id="rId9" Type="http://schemas.openxmlformats.org/officeDocument/2006/relationships/image" Target="../media/image-7-7.png"/><Relationship Id="rId10" Type="http://schemas.openxmlformats.org/officeDocument/2006/relationships/image" Target="../media/image-7-10.png"/><Relationship Id="rId11" Type="http://schemas.openxmlformats.org/officeDocument/2006/relationships/image" Target="../media/image-7-2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4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2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5486400" cy="548640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822960" cy="82296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5" name="Image 0" descr="/home/claude/pyadventure/icon_snak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011" y="86685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7132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HYI.AI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1600200"/>
            <a:ext cx="72237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DAY 4 CONTENT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OF HYI.AI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spc="100" kern="0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BASIC — BECOME A PYTHON EXPLORER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2960" y="370332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up your Python skills — earn XP, complete missions, and defeat the Boss Battle.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4343400"/>
            <a:ext cx="2468880" cy="594360"/>
          </a:xfrm>
          <a:prstGeom prst="roundRect">
            <a:avLst>
              <a:gd name="adj" fmla="val 49231"/>
            </a:avLst>
          </a:prstGeom>
          <a:solidFill>
            <a:srgbClr val="F4B740"/>
          </a:solidFill>
          <a:ln/>
        </p:spPr>
      </p:sp>
      <p:pic>
        <p:nvPicPr>
          <p:cNvPr id="11" name="Image 1" descr="/home/claude/pyadventure/icon_play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44805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43434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ADVENTURE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3520440" y="4343400"/>
            <a:ext cx="1371600" cy="594360"/>
          </a:xfrm>
          <a:prstGeom prst="roundRect">
            <a:avLst>
              <a:gd name="adj" fmla="val 15385"/>
            </a:avLst>
          </a:prstGeom>
          <a:solidFill>
            <a:srgbClr val="2C235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520440" y="43434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22960" y="51937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 0 / 500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22960" y="5486400"/>
            <a:ext cx="4069080" cy="164592"/>
          </a:xfrm>
          <a:prstGeom prst="roundRect">
            <a:avLst>
              <a:gd name="adj" fmla="val 50000"/>
            </a:avLst>
          </a:prstGeom>
          <a:solidFill>
            <a:srgbClr val="2C2350"/>
          </a:solidFill>
          <a:ln/>
        </p:spPr>
      </p:sp>
      <p:sp>
        <p:nvSpPr>
          <p:cNvPr id="17" name="Shape 13"/>
          <p:cNvSpPr/>
          <p:nvPr/>
        </p:nvSpPr>
        <p:spPr>
          <a:xfrm>
            <a:off x="822960" y="5486400"/>
            <a:ext cx="109728" cy="164592"/>
          </a:xfrm>
          <a:prstGeom prst="roundRect">
            <a:avLst>
              <a:gd name="adj" fmla="val 75000"/>
            </a:avLst>
          </a:prstGeom>
          <a:solidFill>
            <a:srgbClr val="F4B740"/>
          </a:solidFill>
          <a:ln/>
        </p:spPr>
      </p:sp>
      <p:sp>
        <p:nvSpPr>
          <p:cNvPr id="18" name="Shape 14"/>
          <p:cNvSpPr/>
          <p:nvPr/>
        </p:nvSpPr>
        <p:spPr>
          <a:xfrm>
            <a:off x="822960" y="5897880"/>
            <a:ext cx="6035040" cy="502920"/>
          </a:xfrm>
          <a:prstGeom prst="roundRect">
            <a:avLst>
              <a:gd name="adj" fmla="val 18182"/>
            </a:avLst>
          </a:prstGeom>
          <a:solidFill>
            <a:srgbClr val="2C2350"/>
          </a:solidFill>
          <a:ln/>
        </p:spPr>
      </p:sp>
      <p:sp>
        <p:nvSpPr>
          <p:cNvPr id="19" name="Text 15"/>
          <p:cNvSpPr/>
          <p:nvPr/>
        </p:nvSpPr>
        <p:spPr>
          <a:xfrm>
            <a:off x="1005840" y="589788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4B7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“Think first. Code second. Debug fearlessly.”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8366760" y="1463040"/>
            <a:ext cx="3017520" cy="4023360"/>
          </a:xfrm>
          <a:prstGeom prst="roundRect">
            <a:avLst>
              <a:gd name="adj" fmla="val 5455"/>
            </a:avLst>
          </a:prstGeom>
          <a:solidFill>
            <a:srgbClr val="241B44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9189720" y="2011680"/>
            <a:ext cx="1371600" cy="137160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22" name="Image 2" descr="/home/claude/pyadventure/icon_snak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1472" y="2313432"/>
            <a:ext cx="768096" cy="76809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549640" y="36118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8549640" y="4206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Rank: Rookie Coder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854964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Missions: 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950976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0/8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8549640" y="5074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Badges: 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9509760" y="5074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yadventure/day4_img_slid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yadventure/day4_img_slid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yadventure/day4_img_slid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yadventure/day4_img_slid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yadventure/day4_img_slid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3" name="Image 0" descr="/home/claude/pyadventure/icon_pytho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292608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6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Typecasting: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Typecasting means converting one data type into another — like turning text into a number!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1475720" y="320040"/>
            <a:ext cx="292608" cy="29260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7" name="Image 1" descr="/home/claude/pyadventure/icon_star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0094" y="384414"/>
            <a:ext cx="163860" cy="1638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1064240" y="685800"/>
            <a:ext cx="201168" cy="20116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9" name="Image 2" descr="/home/claude/pyadventure/icon_star_viol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497" y="730057"/>
            <a:ext cx="112654" cy="11265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57200" y="1417320"/>
            <a:ext cx="5532120" cy="1417320"/>
          </a:xfrm>
          <a:prstGeom prst="roundRect">
            <a:avLst>
              <a:gd name="adj" fmla="val 5806"/>
            </a:avLst>
          </a:prstGeom>
          <a:solidFill>
            <a:srgbClr val="1A1533"/>
          </a:solidFill>
          <a:ln/>
          <a:effectLst>
            <a:outerShdw sx="100000" sy="100000" kx="0" ky="0" algn="bl" rotWithShape="0" blurRad="88900" dist="38100" dir="5400000">
              <a:srgbClr val="1B1533">
                <a:alpha val="25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621792" y="1545336"/>
            <a:ext cx="100584" cy="100584"/>
          </a:xfrm>
          <a:prstGeom prst="ellipse">
            <a:avLst/>
          </a:prstGeom>
          <a:solidFill>
            <a:srgbClr val="F16057"/>
          </a:solidFill>
          <a:ln/>
        </p:spPr>
      </p:sp>
      <p:sp>
        <p:nvSpPr>
          <p:cNvPr id="12" name="Shape 7"/>
          <p:cNvSpPr/>
          <p:nvPr/>
        </p:nvSpPr>
        <p:spPr>
          <a:xfrm>
            <a:off x="822960" y="1545336"/>
            <a:ext cx="100584" cy="100584"/>
          </a:xfrm>
          <a:prstGeom prst="ellipse">
            <a:avLst/>
          </a:prstGeom>
          <a:solidFill>
            <a:srgbClr val="F5BD4F"/>
          </a:solidFill>
          <a:ln/>
        </p:spPr>
      </p:sp>
      <p:sp>
        <p:nvSpPr>
          <p:cNvPr id="13" name="Shape 8"/>
          <p:cNvSpPr/>
          <p:nvPr/>
        </p:nvSpPr>
        <p:spPr>
          <a:xfrm>
            <a:off x="1024128" y="1545336"/>
            <a:ext cx="100584" cy="100584"/>
          </a:xfrm>
          <a:prstGeom prst="ellipse">
            <a:avLst/>
          </a:prstGeom>
          <a:solidFill>
            <a:srgbClr val="3EC94F"/>
          </a:solidFill>
          <a:ln/>
        </p:spPr>
      </p:sp>
      <p:sp>
        <p:nvSpPr>
          <p:cNvPr id="14" name="Text 9"/>
          <p:cNvSpPr/>
          <p:nvPr/>
        </p:nvSpPr>
        <p:spPr>
          <a:xfrm>
            <a:off x="658368" y="1801368"/>
            <a:ext cx="51297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input("How old are you? ")</a:t>
            </a:r>
            <a:endParaRPr lang="en-US" sz="14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int(age)</a:t>
            </a:r>
            <a:endParaRPr lang="en-US" sz="14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print(age + 1)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263640" y="141732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F1E9FB"/>
          </a:solidFill>
          <a:ln/>
        </p:spPr>
      </p:sp>
      <p:sp>
        <p:nvSpPr>
          <p:cNvPr id="16" name="Shape 11"/>
          <p:cNvSpPr/>
          <p:nvPr/>
        </p:nvSpPr>
        <p:spPr>
          <a:xfrm>
            <a:off x="6492240" y="1828800"/>
            <a:ext cx="15087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7" name="Text 12"/>
          <p:cNvSpPr/>
          <p:nvPr/>
        </p:nvSpPr>
        <p:spPr>
          <a:xfrm>
            <a:off x="6492240" y="182880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200" dirty="0"/>
          </a:p>
        </p:txBody>
      </p:sp>
      <p:pic>
        <p:nvPicPr>
          <p:cNvPr id="18" name="Image 3" descr="/home/claude/pyadventure/icon_arrowRight_or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2" y="2029968"/>
            <a:ext cx="237744" cy="23774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8275320" y="1828800"/>
            <a:ext cx="15087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0" name="Text 14"/>
          <p:cNvSpPr/>
          <p:nvPr/>
        </p:nvSpPr>
        <p:spPr>
          <a:xfrm>
            <a:off x="8275320" y="182880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int()</a:t>
            </a:r>
            <a:endParaRPr lang="en-US" sz="1200" dirty="0"/>
          </a:p>
        </p:txBody>
      </p:sp>
      <p:pic>
        <p:nvPicPr>
          <p:cNvPr id="21" name="Image 4" descr="/home/claude/pyadventure/icon_arrowRight_or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1512" y="2029968"/>
            <a:ext cx="237744" cy="237744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10058400" y="1828800"/>
            <a:ext cx="15087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3" name="Text 16"/>
          <p:cNvSpPr/>
          <p:nvPr/>
        </p:nvSpPr>
        <p:spPr>
          <a:xfrm>
            <a:off x="10058400" y="182880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457200" y="2999232"/>
            <a:ext cx="5532120" cy="1371600"/>
          </a:xfrm>
          <a:prstGeom prst="roundRect">
            <a:avLst>
              <a:gd name="adj" fmla="val 8000"/>
            </a:avLst>
          </a:prstGeom>
          <a:solidFill>
            <a:srgbClr val="FFF6DC"/>
          </a:solidFill>
          <a:ln w="15875">
            <a:solidFill>
              <a:srgbClr val="F1C94E"/>
            </a:solidFill>
            <a:prstDash val="dash"/>
          </a:ln>
        </p:spPr>
      </p:sp>
      <p:sp>
        <p:nvSpPr>
          <p:cNvPr id="25" name="Shape 18"/>
          <p:cNvSpPr/>
          <p:nvPr/>
        </p:nvSpPr>
        <p:spPr>
          <a:xfrm>
            <a:off x="658368" y="3182112"/>
            <a:ext cx="502920" cy="5029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26" name="Image 5" descr="/home/claude/pyadventure/icon_bulb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010" y="3292754"/>
            <a:ext cx="281635" cy="28163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298448" y="320040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Typecasting?</a:t>
            </a:r>
            <a:endParaRPr lang="en-US" sz="1350" dirty="0"/>
          </a:p>
        </p:txBody>
      </p:sp>
      <p:sp>
        <p:nvSpPr>
          <p:cNvPr id="28" name="Text 20"/>
          <p:cNvSpPr/>
          <p:nvPr/>
        </p:nvSpPr>
        <p:spPr>
          <a:xfrm>
            <a:off x="1298448" y="356616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Typecasting (type conversion) changes a value from one data type to another. We use int(), float(), and str() to convert between whole numbers, decimals, and text.</a:t>
            </a:r>
            <a:endParaRPr lang="en-US" sz="1080" dirty="0"/>
          </a:p>
        </p:txBody>
      </p:sp>
      <p:sp>
        <p:nvSpPr>
          <p:cNvPr id="29" name="Shape 21"/>
          <p:cNvSpPr/>
          <p:nvPr/>
        </p:nvSpPr>
        <p:spPr>
          <a:xfrm>
            <a:off x="6263640" y="2999232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1A1533"/>
          </a:solidFill>
          <a:ln/>
        </p:spPr>
      </p:sp>
      <p:sp>
        <p:nvSpPr>
          <p:cNvPr id="30" name="Text 22"/>
          <p:cNvSpPr/>
          <p:nvPr/>
        </p:nvSpPr>
        <p:spPr>
          <a:xfrm>
            <a:off x="6492240" y="318211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int("25")</a:t>
            </a:r>
            <a:endParaRPr lang="en-US" sz="1200" dirty="0"/>
          </a:p>
        </p:txBody>
      </p:sp>
      <p:pic>
        <p:nvPicPr>
          <p:cNvPr id="31" name="Image 6" descr="/home/claude/pyadventure/icon_arrowRight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0" y="3236976"/>
            <a:ext cx="201168" cy="20116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9144000" y="318211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200" dirty="0"/>
          </a:p>
        </p:txBody>
      </p:sp>
      <p:sp>
        <p:nvSpPr>
          <p:cNvPr id="33" name="Text 24"/>
          <p:cNvSpPr/>
          <p:nvPr/>
        </p:nvSpPr>
        <p:spPr>
          <a:xfrm>
            <a:off x="6492240" y="35478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float("3.14")</a:t>
            </a:r>
            <a:endParaRPr lang="en-US" sz="1200" dirty="0"/>
          </a:p>
        </p:txBody>
      </p:sp>
      <p:pic>
        <p:nvPicPr>
          <p:cNvPr id="34" name="Image 7" descr="/home/claude/pyadventure/icon_arrowRight_gol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8240" y="3602736"/>
            <a:ext cx="201168" cy="20116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9144000" y="35478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3.14</a:t>
            </a:r>
            <a:endParaRPr lang="en-US" sz="1200" dirty="0"/>
          </a:p>
        </p:txBody>
      </p:sp>
      <p:sp>
        <p:nvSpPr>
          <p:cNvPr id="36" name="Text 26"/>
          <p:cNvSpPr/>
          <p:nvPr/>
        </p:nvSpPr>
        <p:spPr>
          <a:xfrm>
            <a:off x="6492240" y="39136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str(100)</a:t>
            </a:r>
            <a:endParaRPr lang="en-US" sz="1200" dirty="0"/>
          </a:p>
        </p:txBody>
      </p:sp>
      <p:pic>
        <p:nvPicPr>
          <p:cNvPr id="37" name="Image 8" descr="/home/claude/pyadventure/icon_arrowRight_gol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78240" y="3968496"/>
            <a:ext cx="201168" cy="201168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9144000" y="39136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"100"</a:t>
            </a:r>
            <a:endParaRPr lang="en-US" sz="1200" dirty="0"/>
          </a:p>
        </p:txBody>
      </p:sp>
      <p:sp>
        <p:nvSpPr>
          <p:cNvPr id="39" name="Shape 28"/>
          <p:cNvSpPr/>
          <p:nvPr/>
        </p:nvSpPr>
        <p:spPr>
          <a:xfrm>
            <a:off x="457200" y="4553712"/>
            <a:ext cx="11247120" cy="1417320"/>
          </a:xfrm>
          <a:prstGeom prst="roundRect">
            <a:avLst>
              <a:gd name="adj" fmla="val 9032"/>
            </a:avLst>
          </a:prstGeom>
          <a:solidFill>
            <a:srgbClr val="EDE7FB"/>
          </a:solidFill>
          <a:ln/>
        </p:spPr>
      </p:sp>
      <p:sp>
        <p:nvSpPr>
          <p:cNvPr id="40" name="Shape 29"/>
          <p:cNvSpPr/>
          <p:nvPr/>
        </p:nvSpPr>
        <p:spPr>
          <a:xfrm>
            <a:off x="658368" y="4718304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41" name="Image 9" descr="/home/claude/pyadventure/icon_clipboard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8952" y="4818888"/>
            <a:ext cx="256032" cy="256032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1234440" y="4709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Time!</a:t>
            </a:r>
            <a:endParaRPr lang="en-US" sz="1400" dirty="0"/>
          </a:p>
        </p:txBody>
      </p:sp>
      <p:sp>
        <p:nvSpPr>
          <p:cNvPr id="43" name="Text 31"/>
          <p:cNvSpPr/>
          <p:nvPr/>
        </p:nvSpPr>
        <p:spPr>
          <a:xfrm>
            <a:off x="1234440" y="50749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program that takes two numbers as text input, converts them to integers, and prints their sum.</a:t>
            </a:r>
            <a:endParaRPr lang="en-US" sz="1100" dirty="0"/>
          </a:p>
        </p:txBody>
      </p:sp>
      <p:sp>
        <p:nvSpPr>
          <p:cNvPr id="44" name="Shape 32"/>
          <p:cNvSpPr/>
          <p:nvPr/>
        </p:nvSpPr>
        <p:spPr>
          <a:xfrm>
            <a:off x="6035040" y="4709160"/>
            <a:ext cx="5394960" cy="1170432"/>
          </a:xfrm>
          <a:prstGeom prst="roundRect">
            <a:avLst>
              <a:gd name="adj" fmla="val 7031"/>
            </a:avLst>
          </a:prstGeom>
          <a:solidFill>
            <a:srgbClr val="1A1533"/>
          </a:solidFill>
          <a:ln/>
          <a:effectLst>
            <a:outerShdw sx="100000" sy="100000" kx="0" ky="0" algn="bl" rotWithShape="0" blurRad="88900" dist="38100" dir="5400000">
              <a:srgbClr val="1B1533">
                <a:alpha val="25000"/>
              </a:srgbClr>
            </a:outerShdw>
          </a:effectLst>
        </p:spPr>
      </p:sp>
      <p:sp>
        <p:nvSpPr>
          <p:cNvPr id="45" name="Shape 33"/>
          <p:cNvSpPr/>
          <p:nvPr/>
        </p:nvSpPr>
        <p:spPr>
          <a:xfrm>
            <a:off x="6199632" y="4837176"/>
            <a:ext cx="100584" cy="100584"/>
          </a:xfrm>
          <a:prstGeom prst="ellipse">
            <a:avLst/>
          </a:prstGeom>
          <a:solidFill>
            <a:srgbClr val="F16057"/>
          </a:solidFill>
          <a:ln/>
        </p:spPr>
      </p:sp>
      <p:sp>
        <p:nvSpPr>
          <p:cNvPr id="46" name="Shape 34"/>
          <p:cNvSpPr/>
          <p:nvPr/>
        </p:nvSpPr>
        <p:spPr>
          <a:xfrm>
            <a:off x="6400800" y="4837176"/>
            <a:ext cx="100584" cy="100584"/>
          </a:xfrm>
          <a:prstGeom prst="ellipse">
            <a:avLst/>
          </a:prstGeom>
          <a:solidFill>
            <a:srgbClr val="F5BD4F"/>
          </a:solidFill>
          <a:ln/>
        </p:spPr>
      </p:sp>
      <p:sp>
        <p:nvSpPr>
          <p:cNvPr id="47" name="Shape 35"/>
          <p:cNvSpPr/>
          <p:nvPr/>
        </p:nvSpPr>
        <p:spPr>
          <a:xfrm>
            <a:off x="6601968" y="4837176"/>
            <a:ext cx="100584" cy="100584"/>
          </a:xfrm>
          <a:prstGeom prst="ellipse">
            <a:avLst/>
          </a:prstGeom>
          <a:solidFill>
            <a:srgbClr val="3EC94F"/>
          </a:solidFill>
          <a:ln/>
        </p:spPr>
      </p:sp>
      <p:sp>
        <p:nvSpPr>
          <p:cNvPr id="48" name="Text 36"/>
          <p:cNvSpPr/>
          <p:nvPr/>
        </p:nvSpPr>
        <p:spPr>
          <a:xfrm>
            <a:off x="6236208" y="5093208"/>
            <a:ext cx="4992624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first number: 4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second number: 7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Sum is 11</a:t>
            </a:r>
            <a:endParaRPr lang="en-US" sz="1150" dirty="0"/>
          </a:p>
        </p:txBody>
      </p:sp>
      <p:sp>
        <p:nvSpPr>
          <p:cNvPr id="49" name="Shape 37"/>
          <p:cNvSpPr/>
          <p:nvPr/>
        </p:nvSpPr>
        <p:spPr>
          <a:xfrm>
            <a:off x="457200" y="6108192"/>
            <a:ext cx="11247120" cy="502920"/>
          </a:xfrm>
          <a:prstGeom prst="roundRect">
            <a:avLst>
              <a:gd name="adj" fmla="val 21818"/>
            </a:avLst>
          </a:prstGeom>
          <a:solidFill>
            <a:srgbClr val="FFF6DC"/>
          </a:solidFill>
          <a:ln/>
        </p:spPr>
      </p:sp>
      <p:sp>
        <p:nvSpPr>
          <p:cNvPr id="50" name="Shape 38"/>
          <p:cNvSpPr/>
          <p:nvPr/>
        </p:nvSpPr>
        <p:spPr>
          <a:xfrm>
            <a:off x="594360" y="6172200"/>
            <a:ext cx="347472" cy="347472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51" name="Image 10" descr="/home/claude/pyadventure/icon_star_gol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0804" y="6248644"/>
            <a:ext cx="194584" cy="194584"/>
          </a:xfrm>
          <a:prstGeom prst="rect">
            <a:avLst/>
          </a:prstGeom>
        </p:spPr>
      </p:pic>
      <p:sp>
        <p:nvSpPr>
          <p:cNvPr id="52" name="Text 39"/>
          <p:cNvSpPr/>
          <p:nvPr/>
        </p:nvSpPr>
        <p:spPr>
          <a:xfrm>
            <a:off x="1051560" y="610819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input() always gives text — use int() or float() to do math with it!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56692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3" name="Image 0" descr="/home/claude/pyadventure/icon_pytho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924" y="444764"/>
            <a:ext cx="317480" cy="317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566160" y="164592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2A6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Quiz Time!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4480560" y="841248"/>
            <a:ext cx="320040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6" name="Text 3"/>
          <p:cNvSpPr/>
          <p:nvPr/>
        </p:nvSpPr>
        <p:spPr>
          <a:xfrm>
            <a:off x="4480560" y="8412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test what you learned about Typecasting!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11292840" y="274320"/>
            <a:ext cx="384048" cy="38404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8" name="Image 1" descr="/home/claude/pyadventure/icon_question_viol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7331" y="358811"/>
            <a:ext cx="215067" cy="215067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0040" y="914400"/>
            <a:ext cx="201168" cy="20116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10" name="Image 2" descr="/home/claude/pyadventure/icon_star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297" y="958657"/>
            <a:ext cx="112654" cy="11265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691640" y="502920"/>
            <a:ext cx="164592" cy="164592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12" name="Image 3" descr="/home/claude/pyadventure/icon_star_viol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7850" y="539130"/>
            <a:ext cx="92172" cy="92172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457200" y="1417320"/>
            <a:ext cx="3611880" cy="2212848"/>
          </a:xfrm>
          <a:prstGeom prst="roundRect">
            <a:avLst>
              <a:gd name="adj" fmla="val 4959"/>
            </a:avLst>
          </a:prstGeom>
          <a:solidFill>
            <a:srgbClr val="EAF2FF"/>
          </a:solidFill>
          <a:ln/>
          <a:effectLst>
            <a:outerShdw sx="100000" sy="100000" kx="0" ky="0" algn="bl" rotWithShape="0" blurRad="63500" dist="25400" dir="5400000">
              <a:srgbClr val="1B1533">
                <a:alpha val="12000"/>
              </a:srgbClr>
            </a:outerShdw>
          </a:effectLst>
        </p:spPr>
      </p:sp>
      <p:sp>
        <p:nvSpPr>
          <p:cNvPr id="14" name="Shape 8"/>
          <p:cNvSpPr/>
          <p:nvPr/>
        </p:nvSpPr>
        <p:spPr>
          <a:xfrm>
            <a:off x="621792" y="1581912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9"/>
          <p:cNvSpPr/>
          <p:nvPr/>
        </p:nvSpPr>
        <p:spPr>
          <a:xfrm>
            <a:off x="621792" y="15819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1097280" y="1545336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int("25") return in Python?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621792" y="2194560"/>
            <a:ext cx="328269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694944" y="2240280"/>
            <a:ext cx="237744" cy="23774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3"/>
          <p:cNvSpPr/>
          <p:nvPr/>
        </p:nvSpPr>
        <p:spPr>
          <a:xfrm>
            <a:off x="694944" y="22402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1024128" y="2194560"/>
            <a:ext cx="2825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"25"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21792" y="2596896"/>
            <a:ext cx="328269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94944" y="2642616"/>
            <a:ext cx="237744" cy="23774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3" name="Text 17"/>
          <p:cNvSpPr/>
          <p:nvPr/>
        </p:nvSpPr>
        <p:spPr>
          <a:xfrm>
            <a:off x="694944" y="264261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1024128" y="2596896"/>
            <a:ext cx="2825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21792" y="2999232"/>
            <a:ext cx="328269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94944" y="3044952"/>
            <a:ext cx="237744" cy="23774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7" name="Text 21"/>
          <p:cNvSpPr/>
          <p:nvPr/>
        </p:nvSpPr>
        <p:spPr>
          <a:xfrm>
            <a:off x="694944" y="304495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1024128" y="2999232"/>
            <a:ext cx="2825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25.0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621792" y="3401568"/>
            <a:ext cx="328269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694944" y="3447288"/>
            <a:ext cx="237744" cy="23774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1" name="Text 25"/>
          <p:cNvSpPr/>
          <p:nvPr/>
        </p:nvSpPr>
        <p:spPr>
          <a:xfrm>
            <a:off x="694944" y="344728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1024128" y="3401568"/>
            <a:ext cx="2825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4251960" y="1417320"/>
            <a:ext cx="3611880" cy="2212848"/>
          </a:xfrm>
          <a:prstGeom prst="roundRect">
            <a:avLst>
              <a:gd name="adj" fmla="val 4959"/>
            </a:avLst>
          </a:prstGeom>
          <a:solidFill>
            <a:srgbClr val="E8F7EC"/>
          </a:solidFill>
          <a:ln/>
          <a:effectLst>
            <a:outerShdw sx="100000" sy="100000" kx="0" ky="0" algn="bl" rotWithShape="0" blurRad="63500" dist="25400" dir="5400000">
              <a:srgbClr val="1B1533">
                <a:alpha val="12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416552" y="1581912"/>
            <a:ext cx="365760" cy="36576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5" name="Text 29"/>
          <p:cNvSpPr/>
          <p:nvPr/>
        </p:nvSpPr>
        <p:spPr>
          <a:xfrm>
            <a:off x="4416552" y="15819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6" name="Text 30"/>
          <p:cNvSpPr/>
          <p:nvPr/>
        </p:nvSpPr>
        <p:spPr>
          <a:xfrm>
            <a:off x="4892040" y="1545336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function converts a value to a decimal number?</a:t>
            </a:r>
            <a:endParaRPr lang="en-US" sz="1150" dirty="0"/>
          </a:p>
        </p:txBody>
      </p:sp>
      <p:sp>
        <p:nvSpPr>
          <p:cNvPr id="37" name="Shape 31"/>
          <p:cNvSpPr/>
          <p:nvPr/>
        </p:nvSpPr>
        <p:spPr>
          <a:xfrm>
            <a:off x="4416552" y="2194560"/>
            <a:ext cx="328269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4489704" y="2240280"/>
            <a:ext cx="237744" cy="23774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9" name="Text 33"/>
          <p:cNvSpPr/>
          <p:nvPr/>
        </p:nvSpPr>
        <p:spPr>
          <a:xfrm>
            <a:off x="4489704" y="22402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50" dirty="0"/>
          </a:p>
        </p:txBody>
      </p:sp>
      <p:sp>
        <p:nvSpPr>
          <p:cNvPr id="40" name="Text 34"/>
          <p:cNvSpPr/>
          <p:nvPr/>
        </p:nvSpPr>
        <p:spPr>
          <a:xfrm>
            <a:off x="4818888" y="2194560"/>
            <a:ext cx="2825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int()</a:t>
            </a:r>
            <a:endParaRPr 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4416552" y="2596896"/>
            <a:ext cx="328269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4489704" y="2642616"/>
            <a:ext cx="237744" cy="23774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3" name="Text 37"/>
          <p:cNvSpPr/>
          <p:nvPr/>
        </p:nvSpPr>
        <p:spPr>
          <a:xfrm>
            <a:off x="4489704" y="264261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50" dirty="0"/>
          </a:p>
        </p:txBody>
      </p:sp>
      <p:sp>
        <p:nvSpPr>
          <p:cNvPr id="44" name="Text 38"/>
          <p:cNvSpPr/>
          <p:nvPr/>
        </p:nvSpPr>
        <p:spPr>
          <a:xfrm>
            <a:off x="4818888" y="2596896"/>
            <a:ext cx="2825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str()</a:t>
            </a:r>
            <a:endParaRPr lang="en-US" sz="1100" dirty="0"/>
          </a:p>
        </p:txBody>
      </p:sp>
      <p:sp>
        <p:nvSpPr>
          <p:cNvPr id="45" name="Shape 39"/>
          <p:cNvSpPr/>
          <p:nvPr/>
        </p:nvSpPr>
        <p:spPr>
          <a:xfrm>
            <a:off x="4416552" y="2999232"/>
            <a:ext cx="328269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4489704" y="3044952"/>
            <a:ext cx="237744" cy="23774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7" name="Text 41"/>
          <p:cNvSpPr/>
          <p:nvPr/>
        </p:nvSpPr>
        <p:spPr>
          <a:xfrm>
            <a:off x="4489704" y="304495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50" dirty="0"/>
          </a:p>
        </p:txBody>
      </p:sp>
      <p:sp>
        <p:nvSpPr>
          <p:cNvPr id="48" name="Text 42"/>
          <p:cNvSpPr/>
          <p:nvPr/>
        </p:nvSpPr>
        <p:spPr>
          <a:xfrm>
            <a:off x="4818888" y="2999232"/>
            <a:ext cx="2825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float()</a:t>
            </a:r>
            <a:endParaRPr lang="en-US" sz="1100" dirty="0"/>
          </a:p>
        </p:txBody>
      </p:sp>
      <p:sp>
        <p:nvSpPr>
          <p:cNvPr id="49" name="Shape 43"/>
          <p:cNvSpPr/>
          <p:nvPr/>
        </p:nvSpPr>
        <p:spPr>
          <a:xfrm>
            <a:off x="4416552" y="3401568"/>
            <a:ext cx="328269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4489704" y="3447288"/>
            <a:ext cx="237744" cy="23774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51" name="Text 45"/>
          <p:cNvSpPr/>
          <p:nvPr/>
        </p:nvSpPr>
        <p:spPr>
          <a:xfrm>
            <a:off x="4489704" y="344728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50" dirty="0"/>
          </a:p>
        </p:txBody>
      </p:sp>
      <p:sp>
        <p:nvSpPr>
          <p:cNvPr id="52" name="Text 46"/>
          <p:cNvSpPr/>
          <p:nvPr/>
        </p:nvSpPr>
        <p:spPr>
          <a:xfrm>
            <a:off x="4818888" y="3401568"/>
            <a:ext cx="2825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input()</a:t>
            </a:r>
            <a:endParaRPr lang="en-US" sz="1100" dirty="0"/>
          </a:p>
        </p:txBody>
      </p:sp>
      <p:sp>
        <p:nvSpPr>
          <p:cNvPr id="53" name="Shape 47"/>
          <p:cNvSpPr/>
          <p:nvPr/>
        </p:nvSpPr>
        <p:spPr>
          <a:xfrm>
            <a:off x="8046720" y="1417320"/>
            <a:ext cx="3611880" cy="2212848"/>
          </a:xfrm>
          <a:prstGeom prst="roundRect">
            <a:avLst>
              <a:gd name="adj" fmla="val 4959"/>
            </a:avLst>
          </a:prstGeom>
          <a:solidFill>
            <a:srgbClr val="F3EAFB"/>
          </a:solidFill>
          <a:ln/>
          <a:effectLst>
            <a:outerShdw sx="100000" sy="100000" kx="0" ky="0" algn="bl" rotWithShape="0" blurRad="63500" dist="25400" dir="5400000">
              <a:srgbClr val="1B1533">
                <a:alpha val="12000"/>
              </a:srgbClr>
            </a:outerShdw>
          </a:effectLst>
        </p:spPr>
      </p:sp>
      <p:sp>
        <p:nvSpPr>
          <p:cNvPr id="54" name="Shape 48"/>
          <p:cNvSpPr/>
          <p:nvPr/>
        </p:nvSpPr>
        <p:spPr>
          <a:xfrm>
            <a:off x="8211312" y="1581912"/>
            <a:ext cx="365760" cy="36576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55" name="Text 49"/>
          <p:cNvSpPr/>
          <p:nvPr/>
        </p:nvSpPr>
        <p:spPr>
          <a:xfrm>
            <a:off x="8211312" y="15819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6" name="Text 50"/>
          <p:cNvSpPr/>
          <p:nvPr/>
        </p:nvSpPr>
        <p:spPr>
          <a:xfrm>
            <a:off x="8686800" y="1545336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type does input() always return?</a:t>
            </a:r>
            <a:endParaRPr lang="en-US" sz="1150" dirty="0"/>
          </a:p>
        </p:txBody>
      </p:sp>
      <p:sp>
        <p:nvSpPr>
          <p:cNvPr id="57" name="Shape 51"/>
          <p:cNvSpPr/>
          <p:nvPr/>
        </p:nvSpPr>
        <p:spPr>
          <a:xfrm>
            <a:off x="8211312" y="2194560"/>
            <a:ext cx="328269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B59B6"/>
            </a:solidFill>
            <a:prstDash val="solid"/>
          </a:ln>
        </p:spPr>
      </p:sp>
      <p:sp>
        <p:nvSpPr>
          <p:cNvPr id="58" name="Shape 52"/>
          <p:cNvSpPr/>
          <p:nvPr/>
        </p:nvSpPr>
        <p:spPr>
          <a:xfrm>
            <a:off x="8284464" y="2240280"/>
            <a:ext cx="237744" cy="237744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59" name="Text 53"/>
          <p:cNvSpPr/>
          <p:nvPr/>
        </p:nvSpPr>
        <p:spPr>
          <a:xfrm>
            <a:off x="8284464" y="22402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50" dirty="0"/>
          </a:p>
        </p:txBody>
      </p:sp>
      <p:sp>
        <p:nvSpPr>
          <p:cNvPr id="60" name="Text 54"/>
          <p:cNvSpPr/>
          <p:nvPr/>
        </p:nvSpPr>
        <p:spPr>
          <a:xfrm>
            <a:off x="8613648" y="2194560"/>
            <a:ext cx="2825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100" dirty="0"/>
          </a:p>
        </p:txBody>
      </p:sp>
      <p:sp>
        <p:nvSpPr>
          <p:cNvPr id="61" name="Shape 55"/>
          <p:cNvSpPr/>
          <p:nvPr/>
        </p:nvSpPr>
        <p:spPr>
          <a:xfrm>
            <a:off x="8211312" y="2596896"/>
            <a:ext cx="328269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B59B6"/>
            </a:solidFill>
            <a:prstDash val="solid"/>
          </a:ln>
        </p:spPr>
      </p:sp>
      <p:sp>
        <p:nvSpPr>
          <p:cNvPr id="62" name="Shape 56"/>
          <p:cNvSpPr/>
          <p:nvPr/>
        </p:nvSpPr>
        <p:spPr>
          <a:xfrm>
            <a:off x="8284464" y="2642616"/>
            <a:ext cx="237744" cy="237744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63" name="Text 57"/>
          <p:cNvSpPr/>
          <p:nvPr/>
        </p:nvSpPr>
        <p:spPr>
          <a:xfrm>
            <a:off x="8284464" y="264261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50" dirty="0"/>
          </a:p>
        </p:txBody>
      </p:sp>
      <p:sp>
        <p:nvSpPr>
          <p:cNvPr id="64" name="Text 58"/>
          <p:cNvSpPr/>
          <p:nvPr/>
        </p:nvSpPr>
        <p:spPr>
          <a:xfrm>
            <a:off x="8613648" y="2596896"/>
            <a:ext cx="2825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endParaRPr lang="en-US" sz="1100" dirty="0"/>
          </a:p>
        </p:txBody>
      </p:sp>
      <p:sp>
        <p:nvSpPr>
          <p:cNvPr id="65" name="Shape 59"/>
          <p:cNvSpPr/>
          <p:nvPr/>
        </p:nvSpPr>
        <p:spPr>
          <a:xfrm>
            <a:off x="8211312" y="2999232"/>
            <a:ext cx="328269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B59B6"/>
            </a:solidFill>
            <a:prstDash val="solid"/>
          </a:ln>
        </p:spPr>
      </p:sp>
      <p:sp>
        <p:nvSpPr>
          <p:cNvPr id="66" name="Shape 60"/>
          <p:cNvSpPr/>
          <p:nvPr/>
        </p:nvSpPr>
        <p:spPr>
          <a:xfrm>
            <a:off x="8284464" y="3044952"/>
            <a:ext cx="237744" cy="237744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67" name="Text 61"/>
          <p:cNvSpPr/>
          <p:nvPr/>
        </p:nvSpPr>
        <p:spPr>
          <a:xfrm>
            <a:off x="8284464" y="304495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50" dirty="0"/>
          </a:p>
        </p:txBody>
      </p:sp>
      <p:sp>
        <p:nvSpPr>
          <p:cNvPr id="68" name="Text 62"/>
          <p:cNvSpPr/>
          <p:nvPr/>
        </p:nvSpPr>
        <p:spPr>
          <a:xfrm>
            <a:off x="8613648" y="2999232"/>
            <a:ext cx="2825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endParaRPr lang="en-US" sz="1100" dirty="0"/>
          </a:p>
        </p:txBody>
      </p:sp>
      <p:sp>
        <p:nvSpPr>
          <p:cNvPr id="69" name="Shape 63"/>
          <p:cNvSpPr/>
          <p:nvPr/>
        </p:nvSpPr>
        <p:spPr>
          <a:xfrm>
            <a:off x="8211312" y="3401568"/>
            <a:ext cx="328269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B59B6"/>
            </a:solidFill>
            <a:prstDash val="solid"/>
          </a:ln>
        </p:spPr>
      </p:sp>
      <p:sp>
        <p:nvSpPr>
          <p:cNvPr id="70" name="Shape 64"/>
          <p:cNvSpPr/>
          <p:nvPr/>
        </p:nvSpPr>
        <p:spPr>
          <a:xfrm>
            <a:off x="8284464" y="3447288"/>
            <a:ext cx="237744" cy="237744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71" name="Text 65"/>
          <p:cNvSpPr/>
          <p:nvPr/>
        </p:nvSpPr>
        <p:spPr>
          <a:xfrm>
            <a:off x="8284464" y="344728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50" dirty="0"/>
          </a:p>
        </p:txBody>
      </p:sp>
      <p:sp>
        <p:nvSpPr>
          <p:cNvPr id="72" name="Text 66"/>
          <p:cNvSpPr/>
          <p:nvPr/>
        </p:nvSpPr>
        <p:spPr>
          <a:xfrm>
            <a:off x="8613648" y="3401568"/>
            <a:ext cx="2825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endParaRPr lang="en-US" sz="1100" dirty="0"/>
          </a:p>
        </p:txBody>
      </p:sp>
      <p:sp>
        <p:nvSpPr>
          <p:cNvPr id="73" name="Shape 67"/>
          <p:cNvSpPr/>
          <p:nvPr/>
        </p:nvSpPr>
        <p:spPr>
          <a:xfrm>
            <a:off x="457200" y="3794760"/>
            <a:ext cx="5532120" cy="2212848"/>
          </a:xfrm>
          <a:prstGeom prst="roundRect">
            <a:avLst>
              <a:gd name="adj" fmla="val 4959"/>
            </a:avLst>
          </a:prstGeom>
          <a:solidFill>
            <a:srgbClr val="FFF3E0"/>
          </a:solidFill>
          <a:ln/>
          <a:effectLst>
            <a:outerShdw sx="100000" sy="100000" kx="0" ky="0" algn="bl" rotWithShape="0" blurRad="63500" dist="25400" dir="5400000">
              <a:srgbClr val="1B1533">
                <a:alpha val="12000"/>
              </a:srgbClr>
            </a:outerShdw>
          </a:effectLst>
        </p:spPr>
      </p:sp>
      <p:sp>
        <p:nvSpPr>
          <p:cNvPr id="74" name="Shape 68"/>
          <p:cNvSpPr/>
          <p:nvPr/>
        </p:nvSpPr>
        <p:spPr>
          <a:xfrm>
            <a:off x="621792" y="3959352"/>
            <a:ext cx="365760" cy="3657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75" name="Text 69"/>
          <p:cNvSpPr/>
          <p:nvPr/>
        </p:nvSpPr>
        <p:spPr>
          <a:xfrm>
            <a:off x="621792" y="39593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76" name="Text 70"/>
          <p:cNvSpPr/>
          <p:nvPr/>
        </p:nvSpPr>
        <p:spPr>
          <a:xfrm>
            <a:off x="1097280" y="3922776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print(str(5) + str(3)) output?</a:t>
            </a:r>
            <a:endParaRPr lang="en-US" sz="1150" dirty="0"/>
          </a:p>
        </p:txBody>
      </p:sp>
      <p:sp>
        <p:nvSpPr>
          <p:cNvPr id="77" name="Shape 71"/>
          <p:cNvSpPr/>
          <p:nvPr/>
        </p:nvSpPr>
        <p:spPr>
          <a:xfrm>
            <a:off x="621792" y="4572000"/>
            <a:ext cx="520293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78" name="Shape 72"/>
          <p:cNvSpPr/>
          <p:nvPr/>
        </p:nvSpPr>
        <p:spPr>
          <a:xfrm>
            <a:off x="694944" y="4617720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79" name="Text 73"/>
          <p:cNvSpPr/>
          <p:nvPr/>
        </p:nvSpPr>
        <p:spPr>
          <a:xfrm>
            <a:off x="694944" y="46177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50" dirty="0"/>
          </a:p>
        </p:txBody>
      </p:sp>
      <p:sp>
        <p:nvSpPr>
          <p:cNvPr id="80" name="Text 74"/>
          <p:cNvSpPr/>
          <p:nvPr/>
        </p:nvSpPr>
        <p:spPr>
          <a:xfrm>
            <a:off x="1024128" y="4572000"/>
            <a:ext cx="4745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00" dirty="0"/>
          </a:p>
        </p:txBody>
      </p:sp>
      <p:sp>
        <p:nvSpPr>
          <p:cNvPr id="81" name="Shape 75"/>
          <p:cNvSpPr/>
          <p:nvPr/>
        </p:nvSpPr>
        <p:spPr>
          <a:xfrm>
            <a:off x="621792" y="4974336"/>
            <a:ext cx="520293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82" name="Shape 76"/>
          <p:cNvSpPr/>
          <p:nvPr/>
        </p:nvSpPr>
        <p:spPr>
          <a:xfrm>
            <a:off x="694944" y="5020056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3" name="Text 77"/>
          <p:cNvSpPr/>
          <p:nvPr/>
        </p:nvSpPr>
        <p:spPr>
          <a:xfrm>
            <a:off x="694944" y="502005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50" dirty="0"/>
          </a:p>
        </p:txBody>
      </p:sp>
      <p:sp>
        <p:nvSpPr>
          <p:cNvPr id="84" name="Text 78"/>
          <p:cNvSpPr/>
          <p:nvPr/>
        </p:nvSpPr>
        <p:spPr>
          <a:xfrm>
            <a:off x="1024128" y="4974336"/>
            <a:ext cx="4745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"53"</a:t>
            </a:r>
            <a:endParaRPr lang="en-US" sz="1100" dirty="0"/>
          </a:p>
        </p:txBody>
      </p:sp>
      <p:sp>
        <p:nvSpPr>
          <p:cNvPr id="85" name="Shape 79"/>
          <p:cNvSpPr/>
          <p:nvPr/>
        </p:nvSpPr>
        <p:spPr>
          <a:xfrm>
            <a:off x="621792" y="5376672"/>
            <a:ext cx="520293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86" name="Shape 80"/>
          <p:cNvSpPr/>
          <p:nvPr/>
        </p:nvSpPr>
        <p:spPr>
          <a:xfrm>
            <a:off x="694944" y="5422392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7" name="Text 81"/>
          <p:cNvSpPr/>
          <p:nvPr/>
        </p:nvSpPr>
        <p:spPr>
          <a:xfrm>
            <a:off x="694944" y="542239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50" dirty="0"/>
          </a:p>
        </p:txBody>
      </p:sp>
      <p:sp>
        <p:nvSpPr>
          <p:cNvPr id="88" name="Text 82"/>
          <p:cNvSpPr/>
          <p:nvPr/>
        </p:nvSpPr>
        <p:spPr>
          <a:xfrm>
            <a:off x="1024128" y="5376672"/>
            <a:ext cx="4745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endParaRPr lang="en-US" sz="1100" dirty="0"/>
          </a:p>
        </p:txBody>
      </p:sp>
      <p:sp>
        <p:nvSpPr>
          <p:cNvPr id="89" name="Shape 83"/>
          <p:cNvSpPr/>
          <p:nvPr/>
        </p:nvSpPr>
        <p:spPr>
          <a:xfrm>
            <a:off x="621792" y="5779008"/>
            <a:ext cx="520293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90" name="Shape 84"/>
          <p:cNvSpPr/>
          <p:nvPr/>
        </p:nvSpPr>
        <p:spPr>
          <a:xfrm>
            <a:off x="694944" y="582472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1" name="Text 85"/>
          <p:cNvSpPr/>
          <p:nvPr/>
        </p:nvSpPr>
        <p:spPr>
          <a:xfrm>
            <a:off x="694944" y="582472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50" dirty="0"/>
          </a:p>
        </p:txBody>
      </p:sp>
      <p:sp>
        <p:nvSpPr>
          <p:cNvPr id="92" name="Text 86"/>
          <p:cNvSpPr/>
          <p:nvPr/>
        </p:nvSpPr>
        <p:spPr>
          <a:xfrm>
            <a:off x="1024128" y="5779008"/>
            <a:ext cx="4745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"15"</a:t>
            </a:r>
            <a:endParaRPr lang="en-US" sz="1100" dirty="0"/>
          </a:p>
        </p:txBody>
      </p:sp>
      <p:sp>
        <p:nvSpPr>
          <p:cNvPr id="93" name="Shape 87"/>
          <p:cNvSpPr/>
          <p:nvPr/>
        </p:nvSpPr>
        <p:spPr>
          <a:xfrm>
            <a:off x="6172200" y="3794760"/>
            <a:ext cx="5532120" cy="2212848"/>
          </a:xfrm>
          <a:prstGeom prst="roundRect">
            <a:avLst>
              <a:gd name="adj" fmla="val 4959"/>
            </a:avLst>
          </a:prstGeom>
          <a:solidFill>
            <a:srgbClr val="FFEAF2"/>
          </a:solidFill>
          <a:ln/>
          <a:effectLst>
            <a:outerShdw sx="100000" sy="100000" kx="0" ky="0" algn="bl" rotWithShape="0" blurRad="63500" dist="25400" dir="5400000">
              <a:srgbClr val="1B1533">
                <a:alpha val="12000"/>
              </a:srgbClr>
            </a:outerShdw>
          </a:effectLst>
        </p:spPr>
      </p:sp>
      <p:sp>
        <p:nvSpPr>
          <p:cNvPr id="94" name="Shape 88"/>
          <p:cNvSpPr/>
          <p:nvPr/>
        </p:nvSpPr>
        <p:spPr>
          <a:xfrm>
            <a:off x="6336792" y="3959352"/>
            <a:ext cx="365760" cy="36576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95" name="Text 89"/>
          <p:cNvSpPr/>
          <p:nvPr/>
        </p:nvSpPr>
        <p:spPr>
          <a:xfrm>
            <a:off x="6336792" y="39593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96" name="Text 90"/>
          <p:cNvSpPr/>
          <p:nvPr/>
        </p:nvSpPr>
        <p:spPr>
          <a:xfrm>
            <a:off x="6812280" y="3922776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typecasting with input()?</a:t>
            </a:r>
            <a:endParaRPr lang="en-US" sz="1150" dirty="0"/>
          </a:p>
        </p:txBody>
      </p:sp>
      <p:sp>
        <p:nvSpPr>
          <p:cNvPr id="97" name="Shape 91"/>
          <p:cNvSpPr/>
          <p:nvPr/>
        </p:nvSpPr>
        <p:spPr>
          <a:xfrm>
            <a:off x="6336792" y="4572000"/>
            <a:ext cx="520293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C4899"/>
            </a:solidFill>
            <a:prstDash val="solid"/>
          </a:ln>
        </p:spPr>
      </p:sp>
      <p:sp>
        <p:nvSpPr>
          <p:cNvPr id="98" name="Shape 92"/>
          <p:cNvSpPr/>
          <p:nvPr/>
        </p:nvSpPr>
        <p:spPr>
          <a:xfrm>
            <a:off x="6409944" y="4617720"/>
            <a:ext cx="237744" cy="237744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99" name="Text 93"/>
          <p:cNvSpPr/>
          <p:nvPr/>
        </p:nvSpPr>
        <p:spPr>
          <a:xfrm>
            <a:off x="6409944" y="46177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50" dirty="0"/>
          </a:p>
        </p:txBody>
      </p:sp>
      <p:sp>
        <p:nvSpPr>
          <p:cNvPr id="100" name="Text 94"/>
          <p:cNvSpPr/>
          <p:nvPr/>
        </p:nvSpPr>
        <p:spPr>
          <a:xfrm>
            <a:off x="6739128" y="4572000"/>
            <a:ext cx="4745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make code longer</a:t>
            </a:r>
            <a:endParaRPr lang="en-US" sz="1100" dirty="0"/>
          </a:p>
        </p:txBody>
      </p:sp>
      <p:sp>
        <p:nvSpPr>
          <p:cNvPr id="101" name="Shape 95"/>
          <p:cNvSpPr/>
          <p:nvPr/>
        </p:nvSpPr>
        <p:spPr>
          <a:xfrm>
            <a:off x="6336792" y="4974336"/>
            <a:ext cx="520293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C4899"/>
            </a:solidFill>
            <a:prstDash val="solid"/>
          </a:ln>
        </p:spPr>
      </p:sp>
      <p:sp>
        <p:nvSpPr>
          <p:cNvPr id="102" name="Shape 96"/>
          <p:cNvSpPr/>
          <p:nvPr/>
        </p:nvSpPr>
        <p:spPr>
          <a:xfrm>
            <a:off x="6409944" y="5020056"/>
            <a:ext cx="237744" cy="237744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03" name="Text 97"/>
          <p:cNvSpPr/>
          <p:nvPr/>
        </p:nvSpPr>
        <p:spPr>
          <a:xfrm>
            <a:off x="6409944" y="502005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50" dirty="0"/>
          </a:p>
        </p:txBody>
      </p:sp>
      <p:sp>
        <p:nvSpPr>
          <p:cNvPr id="104" name="Text 98"/>
          <p:cNvSpPr/>
          <p:nvPr/>
        </p:nvSpPr>
        <p:spPr>
          <a:xfrm>
            <a:off x="6739128" y="4974336"/>
            <a:ext cx="4745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turn text into numbers for math</a:t>
            </a:r>
            <a:endParaRPr lang="en-US" sz="1100" dirty="0"/>
          </a:p>
        </p:txBody>
      </p:sp>
      <p:sp>
        <p:nvSpPr>
          <p:cNvPr id="105" name="Shape 99"/>
          <p:cNvSpPr/>
          <p:nvPr/>
        </p:nvSpPr>
        <p:spPr>
          <a:xfrm>
            <a:off x="6336792" y="5376672"/>
            <a:ext cx="520293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C4899"/>
            </a:solidFill>
            <a:prstDash val="solid"/>
          </a:ln>
        </p:spPr>
      </p:sp>
      <p:sp>
        <p:nvSpPr>
          <p:cNvPr id="106" name="Shape 100"/>
          <p:cNvSpPr/>
          <p:nvPr/>
        </p:nvSpPr>
        <p:spPr>
          <a:xfrm>
            <a:off x="6409944" y="5422392"/>
            <a:ext cx="237744" cy="237744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07" name="Text 101"/>
          <p:cNvSpPr/>
          <p:nvPr/>
        </p:nvSpPr>
        <p:spPr>
          <a:xfrm>
            <a:off x="6409944" y="542239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50" dirty="0"/>
          </a:p>
        </p:txBody>
      </p:sp>
      <p:sp>
        <p:nvSpPr>
          <p:cNvPr id="108" name="Text 102"/>
          <p:cNvSpPr/>
          <p:nvPr/>
        </p:nvSpPr>
        <p:spPr>
          <a:xfrm>
            <a:off x="6739128" y="5376672"/>
            <a:ext cx="4745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print faster</a:t>
            </a:r>
            <a:endParaRPr lang="en-US" sz="1100" dirty="0"/>
          </a:p>
        </p:txBody>
      </p:sp>
      <p:sp>
        <p:nvSpPr>
          <p:cNvPr id="109" name="Shape 103"/>
          <p:cNvSpPr/>
          <p:nvPr/>
        </p:nvSpPr>
        <p:spPr>
          <a:xfrm>
            <a:off x="6336792" y="5779008"/>
            <a:ext cx="520293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C4899"/>
            </a:solidFill>
            <a:prstDash val="solid"/>
          </a:ln>
        </p:spPr>
      </p:sp>
      <p:sp>
        <p:nvSpPr>
          <p:cNvPr id="110" name="Shape 104"/>
          <p:cNvSpPr/>
          <p:nvPr/>
        </p:nvSpPr>
        <p:spPr>
          <a:xfrm>
            <a:off x="6409944" y="5824728"/>
            <a:ext cx="237744" cy="237744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11" name="Text 105"/>
          <p:cNvSpPr/>
          <p:nvPr/>
        </p:nvSpPr>
        <p:spPr>
          <a:xfrm>
            <a:off x="6409944" y="582472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50" dirty="0"/>
          </a:p>
        </p:txBody>
      </p:sp>
      <p:sp>
        <p:nvSpPr>
          <p:cNvPr id="112" name="Text 106"/>
          <p:cNvSpPr/>
          <p:nvPr/>
        </p:nvSpPr>
        <p:spPr>
          <a:xfrm>
            <a:off x="6739128" y="5779008"/>
            <a:ext cx="4745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It's not needed</a:t>
            </a:r>
            <a:endParaRPr lang="en-US" sz="1100" dirty="0"/>
          </a:p>
        </p:txBody>
      </p:sp>
      <p:sp>
        <p:nvSpPr>
          <p:cNvPr id="113" name="Shape 107"/>
          <p:cNvSpPr/>
          <p:nvPr/>
        </p:nvSpPr>
        <p:spPr>
          <a:xfrm>
            <a:off x="2651760" y="6355080"/>
            <a:ext cx="68580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CCF2"/>
            </a:solidFill>
            <a:prstDash val="dash"/>
          </a:ln>
        </p:spPr>
      </p:sp>
      <p:sp>
        <p:nvSpPr>
          <p:cNvPr id="114" name="Shape 108"/>
          <p:cNvSpPr/>
          <p:nvPr/>
        </p:nvSpPr>
        <p:spPr>
          <a:xfrm>
            <a:off x="2788920" y="6400800"/>
            <a:ext cx="292608" cy="29260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115" name="Image 4" descr="/home/claude/pyadventure/icon_star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3294" y="6465174"/>
            <a:ext cx="163860" cy="163860"/>
          </a:xfrm>
          <a:prstGeom prst="rect">
            <a:avLst/>
          </a:prstGeom>
        </p:spPr>
      </p:pic>
      <p:sp>
        <p:nvSpPr>
          <p:cNvPr id="116" name="Text 109"/>
          <p:cNvSpPr/>
          <p:nvPr/>
        </p:nvSpPr>
        <p:spPr>
          <a:xfrm>
            <a:off x="3200400" y="6355080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Always typecast input() before doing math with it!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3" name="Image 0" descr="/home/claude/pyadventure/icon_pytho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292608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6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Loops: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 lets Python repeat the same action again and again — without repeating your code!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1475720" y="320040"/>
            <a:ext cx="292608" cy="29260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7" name="Image 1" descr="/home/claude/pyadventure/icon_star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0094" y="384414"/>
            <a:ext cx="163860" cy="1638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1064240" y="685800"/>
            <a:ext cx="201168" cy="20116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9" name="Image 2" descr="/home/claude/pyadventure/icon_star_viol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497" y="730057"/>
            <a:ext cx="112654" cy="11265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57200" y="1417320"/>
            <a:ext cx="5532120" cy="1417320"/>
          </a:xfrm>
          <a:prstGeom prst="roundRect">
            <a:avLst>
              <a:gd name="adj" fmla="val 5806"/>
            </a:avLst>
          </a:prstGeom>
          <a:solidFill>
            <a:srgbClr val="1A1533"/>
          </a:solidFill>
          <a:ln/>
          <a:effectLst>
            <a:outerShdw sx="100000" sy="100000" kx="0" ky="0" algn="bl" rotWithShape="0" blurRad="88900" dist="38100" dir="5400000">
              <a:srgbClr val="1B1533">
                <a:alpha val="25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621792" y="1545336"/>
            <a:ext cx="100584" cy="100584"/>
          </a:xfrm>
          <a:prstGeom prst="ellipse">
            <a:avLst/>
          </a:prstGeom>
          <a:solidFill>
            <a:srgbClr val="F16057"/>
          </a:solidFill>
          <a:ln/>
        </p:spPr>
      </p:sp>
      <p:sp>
        <p:nvSpPr>
          <p:cNvPr id="12" name="Shape 7"/>
          <p:cNvSpPr/>
          <p:nvPr/>
        </p:nvSpPr>
        <p:spPr>
          <a:xfrm>
            <a:off x="822960" y="1545336"/>
            <a:ext cx="100584" cy="100584"/>
          </a:xfrm>
          <a:prstGeom prst="ellipse">
            <a:avLst/>
          </a:prstGeom>
          <a:solidFill>
            <a:srgbClr val="F5BD4F"/>
          </a:solidFill>
          <a:ln/>
        </p:spPr>
      </p:sp>
      <p:sp>
        <p:nvSpPr>
          <p:cNvPr id="13" name="Shape 8"/>
          <p:cNvSpPr/>
          <p:nvPr/>
        </p:nvSpPr>
        <p:spPr>
          <a:xfrm>
            <a:off x="1024128" y="1545336"/>
            <a:ext cx="100584" cy="100584"/>
          </a:xfrm>
          <a:prstGeom prst="ellipse">
            <a:avLst/>
          </a:prstGeom>
          <a:solidFill>
            <a:srgbClr val="3EC94F"/>
          </a:solidFill>
          <a:ln/>
        </p:spPr>
      </p:sp>
      <p:sp>
        <p:nvSpPr>
          <p:cNvPr id="14" name="Text 9"/>
          <p:cNvSpPr/>
          <p:nvPr/>
        </p:nvSpPr>
        <p:spPr>
          <a:xfrm>
            <a:off x="658368" y="1801368"/>
            <a:ext cx="51297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range(1, 6):</a:t>
            </a:r>
            <a:endParaRPr lang="en-US" sz="14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print(i)</a:t>
            </a:r>
            <a:endParaRPr lang="en-US" sz="14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8B8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 1 2 3 4 5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263640" y="141732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F1E9FB"/>
          </a:solidFill>
          <a:ln/>
        </p:spPr>
      </p:sp>
      <p:sp>
        <p:nvSpPr>
          <p:cNvPr id="16" name="Shape 11"/>
          <p:cNvSpPr/>
          <p:nvPr/>
        </p:nvSpPr>
        <p:spPr>
          <a:xfrm>
            <a:off x="6492240" y="1828800"/>
            <a:ext cx="15087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7" name="Text 12"/>
          <p:cNvSpPr/>
          <p:nvPr/>
        </p:nvSpPr>
        <p:spPr>
          <a:xfrm>
            <a:off x="6492240" y="182880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150" dirty="0"/>
          </a:p>
        </p:txBody>
      </p:sp>
      <p:pic>
        <p:nvPicPr>
          <p:cNvPr id="18" name="Image 3" descr="/home/claude/pyadventure/icon_arrowRight_or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2" y="2029968"/>
            <a:ext cx="237744" cy="23774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8275320" y="1828800"/>
            <a:ext cx="15087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0" name="Text 14"/>
          <p:cNvSpPr/>
          <p:nvPr/>
        </p:nvSpPr>
        <p:spPr>
          <a:xfrm>
            <a:off x="8275320" y="182880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CODE</a:t>
            </a:r>
            <a:endParaRPr lang="en-US" sz="1150" dirty="0"/>
          </a:p>
        </p:txBody>
      </p:sp>
      <p:pic>
        <p:nvPicPr>
          <p:cNvPr id="21" name="Image 4" descr="/home/claude/pyadventure/icon_arrowRight_or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1512" y="2029968"/>
            <a:ext cx="237744" cy="237744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10058400" y="1828800"/>
            <a:ext cx="15087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3" name="Text 16"/>
          <p:cNvSpPr/>
          <p:nvPr/>
        </p:nvSpPr>
        <p:spPr>
          <a:xfrm>
            <a:off x="10058400" y="182880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25" name="Image 5" descr="/home/claude/pyadventure/icon_redo_viol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0660" y="2468148"/>
            <a:ext cx="184343" cy="184343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492240" y="27614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back until the condition stops</a:t>
            </a:r>
            <a:endParaRPr lang="en-US" sz="950" dirty="0"/>
          </a:p>
        </p:txBody>
      </p:sp>
      <p:sp>
        <p:nvSpPr>
          <p:cNvPr id="27" name="Shape 19"/>
          <p:cNvSpPr/>
          <p:nvPr/>
        </p:nvSpPr>
        <p:spPr>
          <a:xfrm>
            <a:off x="457200" y="2999232"/>
            <a:ext cx="5532120" cy="1371600"/>
          </a:xfrm>
          <a:prstGeom prst="roundRect">
            <a:avLst>
              <a:gd name="adj" fmla="val 8000"/>
            </a:avLst>
          </a:prstGeom>
          <a:solidFill>
            <a:srgbClr val="FFF6DC"/>
          </a:solidFill>
          <a:ln w="15875">
            <a:solidFill>
              <a:srgbClr val="F1C94E"/>
            </a:solidFill>
            <a:prstDash val="dash"/>
          </a:ln>
        </p:spPr>
      </p:sp>
      <p:sp>
        <p:nvSpPr>
          <p:cNvPr id="28" name="Shape 20"/>
          <p:cNvSpPr/>
          <p:nvPr/>
        </p:nvSpPr>
        <p:spPr>
          <a:xfrm>
            <a:off x="658368" y="3182112"/>
            <a:ext cx="502920" cy="5029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29" name="Image 6" descr="/home/claude/pyadventure/icon_bulb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010" y="3292754"/>
            <a:ext cx="281635" cy="28163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298448" y="320040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Loop?</a:t>
            </a:r>
            <a:endParaRPr lang="en-US" sz="1350" dirty="0"/>
          </a:p>
        </p:txBody>
      </p:sp>
      <p:sp>
        <p:nvSpPr>
          <p:cNvPr id="31" name="Text 22"/>
          <p:cNvSpPr/>
          <p:nvPr/>
        </p:nvSpPr>
        <p:spPr>
          <a:xfrm>
            <a:off x="1298448" y="356616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 repeats a block of code automatically. Python has two kinds: for loops (repeat a known number of times) and while loops (repeat while a condition is true).</a:t>
            </a:r>
            <a:endParaRPr lang="en-US" sz="1080" dirty="0"/>
          </a:p>
        </p:txBody>
      </p:sp>
      <p:sp>
        <p:nvSpPr>
          <p:cNvPr id="32" name="Shape 23"/>
          <p:cNvSpPr/>
          <p:nvPr/>
        </p:nvSpPr>
        <p:spPr>
          <a:xfrm>
            <a:off x="6263640" y="2999232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1A1533"/>
          </a:solidFill>
          <a:ln/>
        </p:spPr>
      </p:sp>
      <p:sp>
        <p:nvSpPr>
          <p:cNvPr id="33" name="Text 24"/>
          <p:cNvSpPr/>
          <p:nvPr/>
        </p:nvSpPr>
        <p:spPr>
          <a:xfrm>
            <a:off x="6492240" y="31272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</a:t>
            </a:r>
            <a:endParaRPr lang="en-US" sz="1050" dirty="0"/>
          </a:p>
        </p:txBody>
      </p:sp>
      <p:sp>
        <p:nvSpPr>
          <p:cNvPr id="34" name="Text 25"/>
          <p:cNvSpPr/>
          <p:nvPr/>
        </p:nvSpPr>
        <p:spPr>
          <a:xfrm>
            <a:off x="6492240" y="33832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range(3):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print("Hi")</a:t>
            </a:r>
            <a:endParaRPr lang="en-US" sz="1050" dirty="0"/>
          </a:p>
        </p:txBody>
      </p:sp>
      <p:sp>
        <p:nvSpPr>
          <p:cNvPr id="35" name="Text 26"/>
          <p:cNvSpPr/>
          <p:nvPr/>
        </p:nvSpPr>
        <p:spPr>
          <a:xfrm>
            <a:off x="9098280" y="31272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</a:t>
            </a:r>
            <a:endParaRPr lang="en-US" sz="1050" dirty="0"/>
          </a:p>
        </p:txBody>
      </p:sp>
      <p:sp>
        <p:nvSpPr>
          <p:cNvPr id="36" name="Text 27"/>
          <p:cNvSpPr/>
          <p:nvPr/>
        </p:nvSpPr>
        <p:spPr>
          <a:xfrm>
            <a:off x="9098280" y="338328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= 1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count &lt;= 3: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print(count)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 += 1</a:t>
            </a:r>
            <a:endParaRPr lang="en-US" sz="900" dirty="0"/>
          </a:p>
        </p:txBody>
      </p:sp>
      <p:sp>
        <p:nvSpPr>
          <p:cNvPr id="37" name="Shape 28"/>
          <p:cNvSpPr/>
          <p:nvPr/>
        </p:nvSpPr>
        <p:spPr>
          <a:xfrm>
            <a:off x="457200" y="4553712"/>
            <a:ext cx="11247120" cy="1417320"/>
          </a:xfrm>
          <a:prstGeom prst="roundRect">
            <a:avLst>
              <a:gd name="adj" fmla="val 9032"/>
            </a:avLst>
          </a:prstGeom>
          <a:solidFill>
            <a:srgbClr val="EDE7FB"/>
          </a:solidFill>
          <a:ln/>
        </p:spPr>
      </p:sp>
      <p:sp>
        <p:nvSpPr>
          <p:cNvPr id="38" name="Shape 29"/>
          <p:cNvSpPr/>
          <p:nvPr/>
        </p:nvSpPr>
        <p:spPr>
          <a:xfrm>
            <a:off x="658368" y="4718304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39" name="Image 7" descr="/home/claude/pyadventure/icon_clipboard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952" y="4818888"/>
            <a:ext cx="256032" cy="256032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1234440" y="4709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Time!</a:t>
            </a:r>
            <a:endParaRPr lang="en-US" sz="1400" dirty="0"/>
          </a:p>
        </p:txBody>
      </p:sp>
      <p:sp>
        <p:nvSpPr>
          <p:cNvPr id="41" name="Text 31"/>
          <p:cNvSpPr/>
          <p:nvPr/>
        </p:nvSpPr>
        <p:spPr>
          <a:xfrm>
            <a:off x="1234440" y="50749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program that prints your name 5 times using a loop.</a:t>
            </a:r>
            <a:endParaRPr lang="en-US" sz="1100" dirty="0"/>
          </a:p>
        </p:txBody>
      </p:sp>
      <p:sp>
        <p:nvSpPr>
          <p:cNvPr id="42" name="Shape 32"/>
          <p:cNvSpPr/>
          <p:nvPr/>
        </p:nvSpPr>
        <p:spPr>
          <a:xfrm>
            <a:off x="6035040" y="4709160"/>
            <a:ext cx="5394960" cy="1170432"/>
          </a:xfrm>
          <a:prstGeom prst="roundRect">
            <a:avLst>
              <a:gd name="adj" fmla="val 7031"/>
            </a:avLst>
          </a:prstGeom>
          <a:solidFill>
            <a:srgbClr val="1A1533"/>
          </a:solidFill>
          <a:ln/>
          <a:effectLst>
            <a:outerShdw sx="100000" sy="100000" kx="0" ky="0" algn="bl" rotWithShape="0" blurRad="88900" dist="38100" dir="5400000">
              <a:srgbClr val="1B1533">
                <a:alpha val="25000"/>
              </a:srgbClr>
            </a:outerShdw>
          </a:effectLst>
        </p:spPr>
      </p:sp>
      <p:sp>
        <p:nvSpPr>
          <p:cNvPr id="43" name="Shape 33"/>
          <p:cNvSpPr/>
          <p:nvPr/>
        </p:nvSpPr>
        <p:spPr>
          <a:xfrm>
            <a:off x="6199632" y="4837176"/>
            <a:ext cx="100584" cy="100584"/>
          </a:xfrm>
          <a:prstGeom prst="ellipse">
            <a:avLst/>
          </a:prstGeom>
          <a:solidFill>
            <a:srgbClr val="F16057"/>
          </a:solidFill>
          <a:ln/>
        </p:spPr>
      </p:sp>
      <p:sp>
        <p:nvSpPr>
          <p:cNvPr id="44" name="Shape 34"/>
          <p:cNvSpPr/>
          <p:nvPr/>
        </p:nvSpPr>
        <p:spPr>
          <a:xfrm>
            <a:off x="6400800" y="4837176"/>
            <a:ext cx="100584" cy="100584"/>
          </a:xfrm>
          <a:prstGeom prst="ellipse">
            <a:avLst/>
          </a:prstGeom>
          <a:solidFill>
            <a:srgbClr val="F5BD4F"/>
          </a:solidFill>
          <a:ln/>
        </p:spPr>
      </p:sp>
      <p:sp>
        <p:nvSpPr>
          <p:cNvPr id="45" name="Shape 35"/>
          <p:cNvSpPr/>
          <p:nvPr/>
        </p:nvSpPr>
        <p:spPr>
          <a:xfrm>
            <a:off x="6601968" y="4837176"/>
            <a:ext cx="100584" cy="100584"/>
          </a:xfrm>
          <a:prstGeom prst="ellipse">
            <a:avLst/>
          </a:prstGeom>
          <a:solidFill>
            <a:srgbClr val="3EC94F"/>
          </a:solidFill>
          <a:ln/>
        </p:spPr>
      </p:sp>
      <p:sp>
        <p:nvSpPr>
          <p:cNvPr id="46" name="Text 36"/>
          <p:cNvSpPr/>
          <p:nvPr/>
        </p:nvSpPr>
        <p:spPr>
          <a:xfrm>
            <a:off x="6236208" y="5093208"/>
            <a:ext cx="4992624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Riya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Riya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Riya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(5 times)</a:t>
            </a:r>
            <a:endParaRPr lang="en-US" sz="1100" dirty="0"/>
          </a:p>
        </p:txBody>
      </p:sp>
      <p:sp>
        <p:nvSpPr>
          <p:cNvPr id="47" name="Shape 37"/>
          <p:cNvSpPr/>
          <p:nvPr/>
        </p:nvSpPr>
        <p:spPr>
          <a:xfrm>
            <a:off x="457200" y="6108192"/>
            <a:ext cx="11247120" cy="502920"/>
          </a:xfrm>
          <a:prstGeom prst="roundRect">
            <a:avLst>
              <a:gd name="adj" fmla="val 21818"/>
            </a:avLst>
          </a:prstGeom>
          <a:solidFill>
            <a:srgbClr val="FFF6DC"/>
          </a:solidFill>
          <a:ln/>
        </p:spPr>
      </p:sp>
      <p:sp>
        <p:nvSpPr>
          <p:cNvPr id="48" name="Shape 38"/>
          <p:cNvSpPr/>
          <p:nvPr/>
        </p:nvSpPr>
        <p:spPr>
          <a:xfrm>
            <a:off x="594360" y="6172200"/>
            <a:ext cx="347472" cy="347472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49" name="Image 8" descr="/home/claude/pyadventure/icon_star_gol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0804" y="6248644"/>
            <a:ext cx="194584" cy="194584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1051560" y="610819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for loops count for you — while loops keep going until you say stop!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56692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3" name="Image 0" descr="/home/claude/pyadventure/icon_pytho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924" y="444764"/>
            <a:ext cx="317480" cy="317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566160" y="164592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2A6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Quiz Time!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4480560" y="841248"/>
            <a:ext cx="320040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6" name="Text 3"/>
          <p:cNvSpPr/>
          <p:nvPr/>
        </p:nvSpPr>
        <p:spPr>
          <a:xfrm>
            <a:off x="4480560" y="8412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test what you learned about Loops!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11292840" y="274320"/>
            <a:ext cx="384048" cy="38404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8" name="Image 1" descr="/home/claude/pyadventure/icon_question_viol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7331" y="358811"/>
            <a:ext cx="215067" cy="215067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0040" y="914400"/>
            <a:ext cx="201168" cy="20116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10" name="Image 2" descr="/home/claude/pyadventure/icon_star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297" y="958657"/>
            <a:ext cx="112654" cy="11265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691640" y="502920"/>
            <a:ext cx="164592" cy="164592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12" name="Image 3" descr="/home/claude/pyadventure/icon_star_viol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7850" y="539130"/>
            <a:ext cx="92172" cy="92172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457200" y="1417320"/>
            <a:ext cx="3611880" cy="2212848"/>
          </a:xfrm>
          <a:prstGeom prst="roundRect">
            <a:avLst>
              <a:gd name="adj" fmla="val 4959"/>
            </a:avLst>
          </a:prstGeom>
          <a:solidFill>
            <a:srgbClr val="EAF2FF"/>
          </a:solidFill>
          <a:ln/>
          <a:effectLst>
            <a:outerShdw sx="100000" sy="100000" kx="0" ky="0" algn="bl" rotWithShape="0" blurRad="63500" dist="25400" dir="5400000">
              <a:srgbClr val="1B1533">
                <a:alpha val="12000"/>
              </a:srgbClr>
            </a:outerShdw>
          </a:effectLst>
        </p:spPr>
      </p:sp>
      <p:sp>
        <p:nvSpPr>
          <p:cNvPr id="14" name="Shape 8"/>
          <p:cNvSpPr/>
          <p:nvPr/>
        </p:nvSpPr>
        <p:spPr>
          <a:xfrm>
            <a:off x="621792" y="1581912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9"/>
          <p:cNvSpPr/>
          <p:nvPr/>
        </p:nvSpPr>
        <p:spPr>
          <a:xfrm>
            <a:off x="621792" y="15819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1097280" y="1545336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keyword repeats code using range()?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621792" y="2194560"/>
            <a:ext cx="328269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694944" y="2240280"/>
            <a:ext cx="237744" cy="23774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3"/>
          <p:cNvSpPr/>
          <p:nvPr/>
        </p:nvSpPr>
        <p:spPr>
          <a:xfrm>
            <a:off x="694944" y="22402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1024128" y="2194560"/>
            <a:ext cx="2825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21792" y="2596896"/>
            <a:ext cx="328269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94944" y="2642616"/>
            <a:ext cx="237744" cy="23774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3" name="Text 17"/>
          <p:cNvSpPr/>
          <p:nvPr/>
        </p:nvSpPr>
        <p:spPr>
          <a:xfrm>
            <a:off x="694944" y="264261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1024128" y="2596896"/>
            <a:ext cx="2825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21792" y="2999232"/>
            <a:ext cx="328269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94944" y="3044952"/>
            <a:ext cx="237744" cy="23774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7" name="Text 21"/>
          <p:cNvSpPr/>
          <p:nvPr/>
        </p:nvSpPr>
        <p:spPr>
          <a:xfrm>
            <a:off x="694944" y="304495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1024128" y="2999232"/>
            <a:ext cx="2825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621792" y="3401568"/>
            <a:ext cx="328269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694944" y="3447288"/>
            <a:ext cx="237744" cy="23774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1" name="Text 25"/>
          <p:cNvSpPr/>
          <p:nvPr/>
        </p:nvSpPr>
        <p:spPr>
          <a:xfrm>
            <a:off x="694944" y="344728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1024128" y="3401568"/>
            <a:ext cx="2825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4251960" y="1417320"/>
            <a:ext cx="3611880" cy="2212848"/>
          </a:xfrm>
          <a:prstGeom prst="roundRect">
            <a:avLst>
              <a:gd name="adj" fmla="val 4959"/>
            </a:avLst>
          </a:prstGeom>
          <a:solidFill>
            <a:srgbClr val="E8F7EC"/>
          </a:solidFill>
          <a:ln/>
          <a:effectLst>
            <a:outerShdw sx="100000" sy="100000" kx="0" ky="0" algn="bl" rotWithShape="0" blurRad="63500" dist="25400" dir="5400000">
              <a:srgbClr val="1B1533">
                <a:alpha val="12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416552" y="1581912"/>
            <a:ext cx="365760" cy="36576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5" name="Text 29"/>
          <p:cNvSpPr/>
          <p:nvPr/>
        </p:nvSpPr>
        <p:spPr>
          <a:xfrm>
            <a:off x="4416552" y="15819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6" name="Text 30"/>
          <p:cNvSpPr/>
          <p:nvPr/>
        </p:nvSpPr>
        <p:spPr>
          <a:xfrm>
            <a:off x="4892040" y="1545336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range(5) produce?</a:t>
            </a:r>
            <a:endParaRPr lang="en-US" sz="1150" dirty="0"/>
          </a:p>
        </p:txBody>
      </p:sp>
      <p:sp>
        <p:nvSpPr>
          <p:cNvPr id="37" name="Shape 31"/>
          <p:cNvSpPr/>
          <p:nvPr/>
        </p:nvSpPr>
        <p:spPr>
          <a:xfrm>
            <a:off x="4416552" y="2194560"/>
            <a:ext cx="328269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4489704" y="2240280"/>
            <a:ext cx="237744" cy="23774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9" name="Text 33"/>
          <p:cNvSpPr/>
          <p:nvPr/>
        </p:nvSpPr>
        <p:spPr>
          <a:xfrm>
            <a:off x="4489704" y="22402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50" dirty="0"/>
          </a:p>
        </p:txBody>
      </p:sp>
      <p:sp>
        <p:nvSpPr>
          <p:cNvPr id="40" name="Text 34"/>
          <p:cNvSpPr/>
          <p:nvPr/>
        </p:nvSpPr>
        <p:spPr>
          <a:xfrm>
            <a:off x="4818888" y="2194560"/>
            <a:ext cx="2825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1 to 5</a:t>
            </a:r>
            <a:endParaRPr 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4416552" y="2596896"/>
            <a:ext cx="328269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4489704" y="2642616"/>
            <a:ext cx="237744" cy="23774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3" name="Text 37"/>
          <p:cNvSpPr/>
          <p:nvPr/>
        </p:nvSpPr>
        <p:spPr>
          <a:xfrm>
            <a:off x="4489704" y="264261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50" dirty="0"/>
          </a:p>
        </p:txBody>
      </p:sp>
      <p:sp>
        <p:nvSpPr>
          <p:cNvPr id="44" name="Text 38"/>
          <p:cNvSpPr/>
          <p:nvPr/>
        </p:nvSpPr>
        <p:spPr>
          <a:xfrm>
            <a:off x="4818888" y="2596896"/>
            <a:ext cx="2825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0 to 4</a:t>
            </a:r>
            <a:endParaRPr lang="en-US" sz="1100" dirty="0"/>
          </a:p>
        </p:txBody>
      </p:sp>
      <p:sp>
        <p:nvSpPr>
          <p:cNvPr id="45" name="Shape 39"/>
          <p:cNvSpPr/>
          <p:nvPr/>
        </p:nvSpPr>
        <p:spPr>
          <a:xfrm>
            <a:off x="4416552" y="2999232"/>
            <a:ext cx="328269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4489704" y="3044952"/>
            <a:ext cx="237744" cy="23774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7" name="Text 41"/>
          <p:cNvSpPr/>
          <p:nvPr/>
        </p:nvSpPr>
        <p:spPr>
          <a:xfrm>
            <a:off x="4489704" y="304495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50" dirty="0"/>
          </a:p>
        </p:txBody>
      </p:sp>
      <p:sp>
        <p:nvSpPr>
          <p:cNvPr id="48" name="Text 42"/>
          <p:cNvSpPr/>
          <p:nvPr/>
        </p:nvSpPr>
        <p:spPr>
          <a:xfrm>
            <a:off x="4818888" y="2999232"/>
            <a:ext cx="2825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0 to 5</a:t>
            </a:r>
            <a:endParaRPr lang="en-US" sz="1100" dirty="0"/>
          </a:p>
        </p:txBody>
      </p:sp>
      <p:sp>
        <p:nvSpPr>
          <p:cNvPr id="49" name="Shape 43"/>
          <p:cNvSpPr/>
          <p:nvPr/>
        </p:nvSpPr>
        <p:spPr>
          <a:xfrm>
            <a:off x="4416552" y="3401568"/>
            <a:ext cx="328269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4489704" y="3447288"/>
            <a:ext cx="237744" cy="23774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51" name="Text 45"/>
          <p:cNvSpPr/>
          <p:nvPr/>
        </p:nvSpPr>
        <p:spPr>
          <a:xfrm>
            <a:off x="4489704" y="344728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50" dirty="0"/>
          </a:p>
        </p:txBody>
      </p:sp>
      <p:sp>
        <p:nvSpPr>
          <p:cNvPr id="52" name="Text 46"/>
          <p:cNvSpPr/>
          <p:nvPr/>
        </p:nvSpPr>
        <p:spPr>
          <a:xfrm>
            <a:off x="4818888" y="3401568"/>
            <a:ext cx="2825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5 to 0</a:t>
            </a:r>
            <a:endParaRPr lang="en-US" sz="1100" dirty="0"/>
          </a:p>
        </p:txBody>
      </p:sp>
      <p:sp>
        <p:nvSpPr>
          <p:cNvPr id="53" name="Shape 47"/>
          <p:cNvSpPr/>
          <p:nvPr/>
        </p:nvSpPr>
        <p:spPr>
          <a:xfrm>
            <a:off x="8046720" y="1417320"/>
            <a:ext cx="3611880" cy="2212848"/>
          </a:xfrm>
          <a:prstGeom prst="roundRect">
            <a:avLst>
              <a:gd name="adj" fmla="val 4959"/>
            </a:avLst>
          </a:prstGeom>
          <a:solidFill>
            <a:srgbClr val="F3EAFB"/>
          </a:solidFill>
          <a:ln/>
          <a:effectLst>
            <a:outerShdw sx="100000" sy="100000" kx="0" ky="0" algn="bl" rotWithShape="0" blurRad="63500" dist="25400" dir="5400000">
              <a:srgbClr val="1B1533">
                <a:alpha val="12000"/>
              </a:srgbClr>
            </a:outerShdw>
          </a:effectLst>
        </p:spPr>
      </p:sp>
      <p:sp>
        <p:nvSpPr>
          <p:cNvPr id="54" name="Shape 48"/>
          <p:cNvSpPr/>
          <p:nvPr/>
        </p:nvSpPr>
        <p:spPr>
          <a:xfrm>
            <a:off x="8211312" y="1581912"/>
            <a:ext cx="365760" cy="36576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55" name="Text 49"/>
          <p:cNvSpPr/>
          <p:nvPr/>
        </p:nvSpPr>
        <p:spPr>
          <a:xfrm>
            <a:off x="8211312" y="15819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6" name="Text 50"/>
          <p:cNvSpPr/>
          <p:nvPr/>
        </p:nvSpPr>
        <p:spPr>
          <a:xfrm>
            <a:off x="8686800" y="1545336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loop repeats while a condition stays true?</a:t>
            </a:r>
            <a:endParaRPr lang="en-US" sz="1150" dirty="0"/>
          </a:p>
        </p:txBody>
      </p:sp>
      <p:sp>
        <p:nvSpPr>
          <p:cNvPr id="57" name="Shape 51"/>
          <p:cNvSpPr/>
          <p:nvPr/>
        </p:nvSpPr>
        <p:spPr>
          <a:xfrm>
            <a:off x="8211312" y="2194560"/>
            <a:ext cx="328269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B59B6"/>
            </a:solidFill>
            <a:prstDash val="solid"/>
          </a:ln>
        </p:spPr>
      </p:sp>
      <p:sp>
        <p:nvSpPr>
          <p:cNvPr id="58" name="Shape 52"/>
          <p:cNvSpPr/>
          <p:nvPr/>
        </p:nvSpPr>
        <p:spPr>
          <a:xfrm>
            <a:off x="8284464" y="2240280"/>
            <a:ext cx="237744" cy="237744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59" name="Text 53"/>
          <p:cNvSpPr/>
          <p:nvPr/>
        </p:nvSpPr>
        <p:spPr>
          <a:xfrm>
            <a:off x="8284464" y="22402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50" dirty="0"/>
          </a:p>
        </p:txBody>
      </p:sp>
      <p:sp>
        <p:nvSpPr>
          <p:cNvPr id="60" name="Text 54"/>
          <p:cNvSpPr/>
          <p:nvPr/>
        </p:nvSpPr>
        <p:spPr>
          <a:xfrm>
            <a:off x="8613648" y="2194560"/>
            <a:ext cx="2825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loop</a:t>
            </a:r>
            <a:endParaRPr lang="en-US" sz="1100" dirty="0"/>
          </a:p>
        </p:txBody>
      </p:sp>
      <p:sp>
        <p:nvSpPr>
          <p:cNvPr id="61" name="Shape 55"/>
          <p:cNvSpPr/>
          <p:nvPr/>
        </p:nvSpPr>
        <p:spPr>
          <a:xfrm>
            <a:off x="8211312" y="2596896"/>
            <a:ext cx="328269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B59B6"/>
            </a:solidFill>
            <a:prstDash val="solid"/>
          </a:ln>
        </p:spPr>
      </p:sp>
      <p:sp>
        <p:nvSpPr>
          <p:cNvPr id="62" name="Shape 56"/>
          <p:cNvSpPr/>
          <p:nvPr/>
        </p:nvSpPr>
        <p:spPr>
          <a:xfrm>
            <a:off x="8284464" y="2642616"/>
            <a:ext cx="237744" cy="237744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63" name="Text 57"/>
          <p:cNvSpPr/>
          <p:nvPr/>
        </p:nvSpPr>
        <p:spPr>
          <a:xfrm>
            <a:off x="8284464" y="264261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50" dirty="0"/>
          </a:p>
        </p:txBody>
      </p:sp>
      <p:sp>
        <p:nvSpPr>
          <p:cNvPr id="64" name="Text 58"/>
          <p:cNvSpPr/>
          <p:nvPr/>
        </p:nvSpPr>
        <p:spPr>
          <a:xfrm>
            <a:off x="8613648" y="2596896"/>
            <a:ext cx="2825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loop</a:t>
            </a:r>
            <a:endParaRPr lang="en-US" sz="1100" dirty="0"/>
          </a:p>
        </p:txBody>
      </p:sp>
      <p:sp>
        <p:nvSpPr>
          <p:cNvPr id="65" name="Shape 59"/>
          <p:cNvSpPr/>
          <p:nvPr/>
        </p:nvSpPr>
        <p:spPr>
          <a:xfrm>
            <a:off x="8211312" y="2999232"/>
            <a:ext cx="328269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B59B6"/>
            </a:solidFill>
            <a:prstDash val="solid"/>
          </a:ln>
        </p:spPr>
      </p:sp>
      <p:sp>
        <p:nvSpPr>
          <p:cNvPr id="66" name="Shape 60"/>
          <p:cNvSpPr/>
          <p:nvPr/>
        </p:nvSpPr>
        <p:spPr>
          <a:xfrm>
            <a:off x="8284464" y="3044952"/>
            <a:ext cx="237744" cy="237744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67" name="Text 61"/>
          <p:cNvSpPr/>
          <p:nvPr/>
        </p:nvSpPr>
        <p:spPr>
          <a:xfrm>
            <a:off x="8284464" y="304495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50" dirty="0"/>
          </a:p>
        </p:txBody>
      </p:sp>
      <p:sp>
        <p:nvSpPr>
          <p:cNvPr id="68" name="Text 62"/>
          <p:cNvSpPr/>
          <p:nvPr/>
        </p:nvSpPr>
        <p:spPr>
          <a:xfrm>
            <a:off x="8613648" y="2999232"/>
            <a:ext cx="2825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loop</a:t>
            </a:r>
            <a:endParaRPr lang="en-US" sz="1100" dirty="0"/>
          </a:p>
        </p:txBody>
      </p:sp>
      <p:sp>
        <p:nvSpPr>
          <p:cNvPr id="69" name="Shape 63"/>
          <p:cNvSpPr/>
          <p:nvPr/>
        </p:nvSpPr>
        <p:spPr>
          <a:xfrm>
            <a:off x="8211312" y="3401568"/>
            <a:ext cx="328269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B59B6"/>
            </a:solidFill>
            <a:prstDash val="solid"/>
          </a:ln>
        </p:spPr>
      </p:sp>
      <p:sp>
        <p:nvSpPr>
          <p:cNvPr id="70" name="Shape 64"/>
          <p:cNvSpPr/>
          <p:nvPr/>
        </p:nvSpPr>
        <p:spPr>
          <a:xfrm>
            <a:off x="8284464" y="3447288"/>
            <a:ext cx="237744" cy="237744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71" name="Text 65"/>
          <p:cNvSpPr/>
          <p:nvPr/>
        </p:nvSpPr>
        <p:spPr>
          <a:xfrm>
            <a:off x="8284464" y="344728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50" dirty="0"/>
          </a:p>
        </p:txBody>
      </p:sp>
      <p:sp>
        <p:nvSpPr>
          <p:cNvPr id="72" name="Text 66"/>
          <p:cNvSpPr/>
          <p:nvPr/>
        </p:nvSpPr>
        <p:spPr>
          <a:xfrm>
            <a:off x="8613648" y="3401568"/>
            <a:ext cx="2825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loop</a:t>
            </a:r>
            <a:endParaRPr lang="en-US" sz="1100" dirty="0"/>
          </a:p>
        </p:txBody>
      </p:sp>
      <p:sp>
        <p:nvSpPr>
          <p:cNvPr id="73" name="Shape 67"/>
          <p:cNvSpPr/>
          <p:nvPr/>
        </p:nvSpPr>
        <p:spPr>
          <a:xfrm>
            <a:off x="457200" y="3794760"/>
            <a:ext cx="5532120" cy="2212848"/>
          </a:xfrm>
          <a:prstGeom prst="roundRect">
            <a:avLst>
              <a:gd name="adj" fmla="val 4959"/>
            </a:avLst>
          </a:prstGeom>
          <a:solidFill>
            <a:srgbClr val="FFF3E0"/>
          </a:solidFill>
          <a:ln/>
          <a:effectLst>
            <a:outerShdw sx="100000" sy="100000" kx="0" ky="0" algn="bl" rotWithShape="0" blurRad="63500" dist="25400" dir="5400000">
              <a:srgbClr val="1B1533">
                <a:alpha val="12000"/>
              </a:srgbClr>
            </a:outerShdw>
          </a:effectLst>
        </p:spPr>
      </p:sp>
      <p:sp>
        <p:nvSpPr>
          <p:cNvPr id="74" name="Shape 68"/>
          <p:cNvSpPr/>
          <p:nvPr/>
        </p:nvSpPr>
        <p:spPr>
          <a:xfrm>
            <a:off x="621792" y="3959352"/>
            <a:ext cx="365760" cy="3657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75" name="Text 69"/>
          <p:cNvSpPr/>
          <p:nvPr/>
        </p:nvSpPr>
        <p:spPr>
          <a:xfrm>
            <a:off x="621792" y="39593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76" name="Text 70"/>
          <p:cNvSpPr/>
          <p:nvPr/>
        </p:nvSpPr>
        <p:spPr>
          <a:xfrm>
            <a:off x="1097280" y="3922776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 in range(3): print(i) — how many times does it print?</a:t>
            </a:r>
            <a:endParaRPr lang="en-US" sz="1150" dirty="0"/>
          </a:p>
        </p:txBody>
      </p:sp>
      <p:sp>
        <p:nvSpPr>
          <p:cNvPr id="77" name="Shape 71"/>
          <p:cNvSpPr/>
          <p:nvPr/>
        </p:nvSpPr>
        <p:spPr>
          <a:xfrm>
            <a:off x="621792" y="4572000"/>
            <a:ext cx="520293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78" name="Shape 72"/>
          <p:cNvSpPr/>
          <p:nvPr/>
        </p:nvSpPr>
        <p:spPr>
          <a:xfrm>
            <a:off x="694944" y="4617720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79" name="Text 73"/>
          <p:cNvSpPr/>
          <p:nvPr/>
        </p:nvSpPr>
        <p:spPr>
          <a:xfrm>
            <a:off x="694944" y="46177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50" dirty="0"/>
          </a:p>
        </p:txBody>
      </p:sp>
      <p:sp>
        <p:nvSpPr>
          <p:cNvPr id="80" name="Text 74"/>
          <p:cNvSpPr/>
          <p:nvPr/>
        </p:nvSpPr>
        <p:spPr>
          <a:xfrm>
            <a:off x="1024128" y="4572000"/>
            <a:ext cx="4745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81" name="Shape 75"/>
          <p:cNvSpPr/>
          <p:nvPr/>
        </p:nvSpPr>
        <p:spPr>
          <a:xfrm>
            <a:off x="621792" y="4974336"/>
            <a:ext cx="520293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82" name="Shape 76"/>
          <p:cNvSpPr/>
          <p:nvPr/>
        </p:nvSpPr>
        <p:spPr>
          <a:xfrm>
            <a:off x="694944" y="5020056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3" name="Text 77"/>
          <p:cNvSpPr/>
          <p:nvPr/>
        </p:nvSpPr>
        <p:spPr>
          <a:xfrm>
            <a:off x="694944" y="502005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50" dirty="0"/>
          </a:p>
        </p:txBody>
      </p:sp>
      <p:sp>
        <p:nvSpPr>
          <p:cNvPr id="84" name="Text 78"/>
          <p:cNvSpPr/>
          <p:nvPr/>
        </p:nvSpPr>
        <p:spPr>
          <a:xfrm>
            <a:off x="1024128" y="4974336"/>
            <a:ext cx="4745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85" name="Shape 79"/>
          <p:cNvSpPr/>
          <p:nvPr/>
        </p:nvSpPr>
        <p:spPr>
          <a:xfrm>
            <a:off x="621792" y="5376672"/>
            <a:ext cx="520293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86" name="Shape 80"/>
          <p:cNvSpPr/>
          <p:nvPr/>
        </p:nvSpPr>
        <p:spPr>
          <a:xfrm>
            <a:off x="694944" y="5422392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7" name="Text 81"/>
          <p:cNvSpPr/>
          <p:nvPr/>
        </p:nvSpPr>
        <p:spPr>
          <a:xfrm>
            <a:off x="694944" y="542239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50" dirty="0"/>
          </a:p>
        </p:txBody>
      </p:sp>
      <p:sp>
        <p:nvSpPr>
          <p:cNvPr id="88" name="Text 82"/>
          <p:cNvSpPr/>
          <p:nvPr/>
        </p:nvSpPr>
        <p:spPr>
          <a:xfrm>
            <a:off x="1024128" y="5376672"/>
            <a:ext cx="4745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89" name="Shape 83"/>
          <p:cNvSpPr/>
          <p:nvPr/>
        </p:nvSpPr>
        <p:spPr>
          <a:xfrm>
            <a:off x="621792" y="5779008"/>
            <a:ext cx="520293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90" name="Shape 84"/>
          <p:cNvSpPr/>
          <p:nvPr/>
        </p:nvSpPr>
        <p:spPr>
          <a:xfrm>
            <a:off x="694944" y="582472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1" name="Text 85"/>
          <p:cNvSpPr/>
          <p:nvPr/>
        </p:nvSpPr>
        <p:spPr>
          <a:xfrm>
            <a:off x="694944" y="582472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50" dirty="0"/>
          </a:p>
        </p:txBody>
      </p:sp>
      <p:sp>
        <p:nvSpPr>
          <p:cNvPr id="92" name="Text 86"/>
          <p:cNvSpPr/>
          <p:nvPr/>
        </p:nvSpPr>
        <p:spPr>
          <a:xfrm>
            <a:off x="1024128" y="5779008"/>
            <a:ext cx="4745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Infinite</a:t>
            </a:r>
            <a:endParaRPr lang="en-US" sz="1100" dirty="0"/>
          </a:p>
        </p:txBody>
      </p:sp>
      <p:sp>
        <p:nvSpPr>
          <p:cNvPr id="93" name="Shape 87"/>
          <p:cNvSpPr/>
          <p:nvPr/>
        </p:nvSpPr>
        <p:spPr>
          <a:xfrm>
            <a:off x="6172200" y="3794760"/>
            <a:ext cx="5532120" cy="2212848"/>
          </a:xfrm>
          <a:prstGeom prst="roundRect">
            <a:avLst>
              <a:gd name="adj" fmla="val 4959"/>
            </a:avLst>
          </a:prstGeom>
          <a:solidFill>
            <a:srgbClr val="FFEAF2"/>
          </a:solidFill>
          <a:ln/>
          <a:effectLst>
            <a:outerShdw sx="100000" sy="100000" kx="0" ky="0" algn="bl" rotWithShape="0" blurRad="63500" dist="25400" dir="5400000">
              <a:srgbClr val="1B1533">
                <a:alpha val="12000"/>
              </a:srgbClr>
            </a:outerShdw>
          </a:effectLst>
        </p:spPr>
      </p:sp>
      <p:sp>
        <p:nvSpPr>
          <p:cNvPr id="94" name="Shape 88"/>
          <p:cNvSpPr/>
          <p:nvPr/>
        </p:nvSpPr>
        <p:spPr>
          <a:xfrm>
            <a:off x="6336792" y="3959352"/>
            <a:ext cx="365760" cy="36576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95" name="Text 89"/>
          <p:cNvSpPr/>
          <p:nvPr/>
        </p:nvSpPr>
        <p:spPr>
          <a:xfrm>
            <a:off x="6336792" y="39593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96" name="Text 90"/>
          <p:cNvSpPr/>
          <p:nvPr/>
        </p:nvSpPr>
        <p:spPr>
          <a:xfrm>
            <a:off x="6812280" y="3922776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make a while loop run forever?</a:t>
            </a:r>
            <a:endParaRPr lang="en-US" sz="1150" dirty="0"/>
          </a:p>
        </p:txBody>
      </p:sp>
      <p:sp>
        <p:nvSpPr>
          <p:cNvPr id="97" name="Shape 91"/>
          <p:cNvSpPr/>
          <p:nvPr/>
        </p:nvSpPr>
        <p:spPr>
          <a:xfrm>
            <a:off x="6336792" y="4572000"/>
            <a:ext cx="520293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C4899"/>
            </a:solidFill>
            <a:prstDash val="solid"/>
          </a:ln>
        </p:spPr>
      </p:sp>
      <p:sp>
        <p:nvSpPr>
          <p:cNvPr id="98" name="Shape 92"/>
          <p:cNvSpPr/>
          <p:nvPr/>
        </p:nvSpPr>
        <p:spPr>
          <a:xfrm>
            <a:off x="6409944" y="4617720"/>
            <a:ext cx="237744" cy="237744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99" name="Text 93"/>
          <p:cNvSpPr/>
          <p:nvPr/>
        </p:nvSpPr>
        <p:spPr>
          <a:xfrm>
            <a:off x="6409944" y="46177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50" dirty="0"/>
          </a:p>
        </p:txBody>
      </p:sp>
      <p:sp>
        <p:nvSpPr>
          <p:cNvPr id="100" name="Text 94"/>
          <p:cNvSpPr/>
          <p:nvPr/>
        </p:nvSpPr>
        <p:spPr>
          <a:xfrm>
            <a:off x="6739128" y="4572000"/>
            <a:ext cx="4745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range()</a:t>
            </a:r>
            <a:endParaRPr lang="en-US" sz="1100" dirty="0"/>
          </a:p>
        </p:txBody>
      </p:sp>
      <p:sp>
        <p:nvSpPr>
          <p:cNvPr id="101" name="Shape 95"/>
          <p:cNvSpPr/>
          <p:nvPr/>
        </p:nvSpPr>
        <p:spPr>
          <a:xfrm>
            <a:off x="6336792" y="4974336"/>
            <a:ext cx="520293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C4899"/>
            </a:solidFill>
            <a:prstDash val="solid"/>
          </a:ln>
        </p:spPr>
      </p:sp>
      <p:sp>
        <p:nvSpPr>
          <p:cNvPr id="102" name="Shape 96"/>
          <p:cNvSpPr/>
          <p:nvPr/>
        </p:nvSpPr>
        <p:spPr>
          <a:xfrm>
            <a:off x="6409944" y="5020056"/>
            <a:ext cx="237744" cy="237744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03" name="Text 97"/>
          <p:cNvSpPr/>
          <p:nvPr/>
        </p:nvSpPr>
        <p:spPr>
          <a:xfrm>
            <a:off x="6409944" y="502005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50" dirty="0"/>
          </a:p>
        </p:txBody>
      </p:sp>
      <p:sp>
        <p:nvSpPr>
          <p:cNvPr id="104" name="Text 98"/>
          <p:cNvSpPr/>
          <p:nvPr/>
        </p:nvSpPr>
        <p:spPr>
          <a:xfrm>
            <a:off x="6739128" y="4974336"/>
            <a:ext cx="4745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Forgetting to update the condition</a:t>
            </a:r>
            <a:endParaRPr lang="en-US" sz="1100" dirty="0"/>
          </a:p>
        </p:txBody>
      </p:sp>
      <p:sp>
        <p:nvSpPr>
          <p:cNvPr id="105" name="Shape 99"/>
          <p:cNvSpPr/>
          <p:nvPr/>
        </p:nvSpPr>
        <p:spPr>
          <a:xfrm>
            <a:off x="6336792" y="5376672"/>
            <a:ext cx="520293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C4899"/>
            </a:solidFill>
            <a:prstDash val="solid"/>
          </a:ln>
        </p:spPr>
      </p:sp>
      <p:sp>
        <p:nvSpPr>
          <p:cNvPr id="106" name="Shape 100"/>
          <p:cNvSpPr/>
          <p:nvPr/>
        </p:nvSpPr>
        <p:spPr>
          <a:xfrm>
            <a:off x="6409944" y="5422392"/>
            <a:ext cx="237744" cy="237744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07" name="Text 101"/>
          <p:cNvSpPr/>
          <p:nvPr/>
        </p:nvSpPr>
        <p:spPr>
          <a:xfrm>
            <a:off x="6409944" y="542239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50" dirty="0"/>
          </a:p>
        </p:txBody>
      </p:sp>
      <p:sp>
        <p:nvSpPr>
          <p:cNvPr id="108" name="Text 102"/>
          <p:cNvSpPr/>
          <p:nvPr/>
        </p:nvSpPr>
        <p:spPr>
          <a:xfrm>
            <a:off x="6739128" y="5376672"/>
            <a:ext cx="4745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print()</a:t>
            </a:r>
            <a:endParaRPr lang="en-US" sz="1100" dirty="0"/>
          </a:p>
        </p:txBody>
      </p:sp>
      <p:sp>
        <p:nvSpPr>
          <p:cNvPr id="109" name="Shape 103"/>
          <p:cNvSpPr/>
          <p:nvPr/>
        </p:nvSpPr>
        <p:spPr>
          <a:xfrm>
            <a:off x="6336792" y="5779008"/>
            <a:ext cx="520293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C4899"/>
            </a:solidFill>
            <a:prstDash val="solid"/>
          </a:ln>
        </p:spPr>
      </p:sp>
      <p:sp>
        <p:nvSpPr>
          <p:cNvPr id="110" name="Shape 104"/>
          <p:cNvSpPr/>
          <p:nvPr/>
        </p:nvSpPr>
        <p:spPr>
          <a:xfrm>
            <a:off x="6409944" y="5824728"/>
            <a:ext cx="237744" cy="237744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11" name="Text 105"/>
          <p:cNvSpPr/>
          <p:nvPr/>
        </p:nvSpPr>
        <p:spPr>
          <a:xfrm>
            <a:off x="6409944" y="582472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50" dirty="0"/>
          </a:p>
        </p:txBody>
      </p:sp>
      <p:sp>
        <p:nvSpPr>
          <p:cNvPr id="112" name="Text 106"/>
          <p:cNvSpPr/>
          <p:nvPr/>
        </p:nvSpPr>
        <p:spPr>
          <a:xfrm>
            <a:off x="6739128" y="5779008"/>
            <a:ext cx="4745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for</a:t>
            </a:r>
            <a:endParaRPr lang="en-US" sz="1100" dirty="0"/>
          </a:p>
        </p:txBody>
      </p:sp>
      <p:sp>
        <p:nvSpPr>
          <p:cNvPr id="113" name="Shape 107"/>
          <p:cNvSpPr/>
          <p:nvPr/>
        </p:nvSpPr>
        <p:spPr>
          <a:xfrm>
            <a:off x="2651760" y="6355080"/>
            <a:ext cx="68580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CCF2"/>
            </a:solidFill>
            <a:prstDash val="dash"/>
          </a:ln>
        </p:spPr>
      </p:sp>
      <p:sp>
        <p:nvSpPr>
          <p:cNvPr id="114" name="Shape 108"/>
          <p:cNvSpPr/>
          <p:nvPr/>
        </p:nvSpPr>
        <p:spPr>
          <a:xfrm>
            <a:off x="2788920" y="6400800"/>
            <a:ext cx="292608" cy="29260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115" name="Image 4" descr="/home/claude/pyadventure/icon_star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3294" y="6465174"/>
            <a:ext cx="163860" cy="163860"/>
          </a:xfrm>
          <a:prstGeom prst="rect">
            <a:avLst/>
          </a:prstGeom>
        </p:spPr>
      </p:pic>
      <p:sp>
        <p:nvSpPr>
          <p:cNvPr id="116" name="Text 109"/>
          <p:cNvSpPr/>
          <p:nvPr/>
        </p:nvSpPr>
        <p:spPr>
          <a:xfrm>
            <a:off x="3200400" y="6355080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Always double check your loop will eventually stop!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2026-08-21T07:37:44Z</dcterms:created>
  <dcterms:modified xsi:type="dcterms:W3CDTF">2026-08-21T07:37:44Z</dcterms:modified>
</cp:coreProperties>
</file>