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424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424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9587" y="0"/>
            <a:ext cx="11278572" cy="210130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58208" y="0"/>
            <a:ext cx="11167745" cy="2019300"/>
          </a:xfrm>
          <a:custGeom>
            <a:avLst/>
            <a:gdLst/>
            <a:ahLst/>
            <a:cxnLst/>
            <a:rect l="l" t="t" r="r" b="b"/>
            <a:pathLst>
              <a:path w="11167745" h="2019300">
                <a:moveTo>
                  <a:pt x="11167447" y="2018805"/>
                </a:moveTo>
                <a:lnTo>
                  <a:pt x="0" y="2018805"/>
                </a:lnTo>
                <a:lnTo>
                  <a:pt x="0" y="0"/>
                </a:lnTo>
                <a:lnTo>
                  <a:pt x="11167447" y="0"/>
                </a:lnTo>
                <a:lnTo>
                  <a:pt x="11167447" y="20188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58208" y="0"/>
            <a:ext cx="11167745" cy="2019300"/>
          </a:xfrm>
          <a:custGeom>
            <a:avLst/>
            <a:gdLst/>
            <a:ahLst/>
            <a:cxnLst/>
            <a:rect l="l" t="t" r="r" b="b"/>
            <a:pathLst>
              <a:path w="11167745" h="2019300">
                <a:moveTo>
                  <a:pt x="0" y="0"/>
                </a:moveTo>
                <a:lnTo>
                  <a:pt x="11167447" y="0"/>
                </a:lnTo>
                <a:lnTo>
                  <a:pt x="11167447" y="2018805"/>
                </a:lnTo>
                <a:lnTo>
                  <a:pt x="0" y="201880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E7E7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98833" y="787351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5">
                <a:moveTo>
                  <a:pt x="128015" y="704087"/>
                </a:moveTo>
                <a:lnTo>
                  <a:pt x="0" y="704087"/>
                </a:lnTo>
                <a:lnTo>
                  <a:pt x="0" y="0"/>
                </a:lnTo>
                <a:lnTo>
                  <a:pt x="128015" y="0"/>
                </a:lnTo>
                <a:lnTo>
                  <a:pt x="128015" y="704087"/>
                </a:lnTo>
                <a:close/>
              </a:path>
            </a:pathLst>
          </a:custGeom>
          <a:solidFill>
            <a:srgbClr val="F4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8593" y="782320"/>
            <a:ext cx="12395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8551" y="2511211"/>
            <a:ext cx="5600065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424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15802" y="6465861"/>
            <a:ext cx="23332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ahoma"/>
                <a:cs typeface="Tahoma"/>
              </a:defRPr>
            </a:lvl1pPr>
          </a:lstStyle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Ramchandani.toni@gmail.com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8552" y="1443033"/>
            <a:ext cx="9258300" cy="3122295"/>
            <a:chOff x="1498552" y="1443033"/>
            <a:chExt cx="9258300" cy="31222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552" y="1443033"/>
              <a:ext cx="9258300" cy="31217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8762" y="1473243"/>
              <a:ext cx="9144000" cy="3007995"/>
            </a:xfrm>
            <a:custGeom>
              <a:avLst/>
              <a:gdLst/>
              <a:ahLst/>
              <a:cxnLst/>
              <a:rect l="l" t="t" r="r" b="b"/>
              <a:pathLst>
                <a:path w="9144000" h="3007995">
                  <a:moveTo>
                    <a:pt x="9143999" y="3007446"/>
                  </a:moveTo>
                  <a:lnTo>
                    <a:pt x="0" y="300744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007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28762" y="1473243"/>
            <a:ext cx="9144000" cy="3007995"/>
          </a:xfrm>
          <a:prstGeom prst="rect">
            <a:avLst/>
          </a:prstGeom>
          <a:ln w="12699">
            <a:solidFill>
              <a:srgbClr val="E7E7E7"/>
            </a:solidFill>
          </a:ln>
        </p:spPr>
        <p:txBody>
          <a:bodyPr vert="horz" wrap="square" lIns="0" tIns="712470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5610"/>
              </a:spcBef>
            </a:pPr>
            <a:r>
              <a:rPr sz="6600" spc="180" dirty="0"/>
              <a:t>Agentic</a:t>
            </a:r>
            <a:r>
              <a:rPr sz="6600" spc="-200" dirty="0"/>
              <a:t> </a:t>
            </a:r>
            <a:r>
              <a:rPr sz="6600" spc="-25" dirty="0"/>
              <a:t>AI</a:t>
            </a:r>
            <a:endParaRPr sz="6600"/>
          </a:p>
        </p:txBody>
      </p:sp>
      <p:sp>
        <p:nvSpPr>
          <p:cNvPr id="6" name="object 6"/>
          <p:cNvSpPr txBox="1"/>
          <p:nvPr/>
        </p:nvSpPr>
        <p:spPr>
          <a:xfrm>
            <a:off x="2487167" y="4142232"/>
            <a:ext cx="7223759" cy="546945"/>
          </a:xfrm>
          <a:prstGeom prst="rect">
            <a:avLst/>
          </a:prstGeom>
          <a:solidFill>
            <a:srgbClr val="F4A700"/>
          </a:solidFill>
        </p:spPr>
        <p:txBody>
          <a:bodyPr vert="horz" wrap="square" lIns="0" tIns="1149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05"/>
              </a:spcBef>
            </a:pPr>
            <a:r>
              <a:rPr lang="en-US" sz="2800" spc="-30" dirty="0">
                <a:solidFill>
                  <a:srgbClr val="FFFFFF"/>
                </a:solidFill>
                <a:latin typeface="Tahoma"/>
                <a:cs typeface="Tahoma"/>
              </a:rPr>
              <a:t>Chandan Saroj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9861" y="299205"/>
            <a:ext cx="11292840" cy="5941060"/>
            <a:chOff x="449861" y="299205"/>
            <a:chExt cx="11292840" cy="5941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643" y="1503315"/>
              <a:ext cx="11031363" cy="39052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5852" y="1533525"/>
              <a:ext cx="10917555" cy="3790950"/>
            </a:xfrm>
            <a:custGeom>
              <a:avLst/>
              <a:gdLst/>
              <a:ahLst/>
              <a:cxnLst/>
              <a:rect l="l" t="t" r="r" b="b"/>
              <a:pathLst>
                <a:path w="10917555" h="3790950">
                  <a:moveTo>
                    <a:pt x="10917062" y="3790949"/>
                  </a:moveTo>
                  <a:lnTo>
                    <a:pt x="0" y="3790949"/>
                  </a:lnTo>
                  <a:lnTo>
                    <a:pt x="0" y="0"/>
                  </a:lnTo>
                  <a:lnTo>
                    <a:pt x="10917062" y="0"/>
                  </a:lnTo>
                  <a:lnTo>
                    <a:pt x="10917062" y="3790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5852" y="1533525"/>
              <a:ext cx="10917555" cy="3790950"/>
            </a:xfrm>
            <a:custGeom>
              <a:avLst/>
              <a:gdLst/>
              <a:ahLst/>
              <a:cxnLst/>
              <a:rect l="l" t="t" r="r" b="b"/>
              <a:pathLst>
                <a:path w="10917555" h="3790950">
                  <a:moveTo>
                    <a:pt x="0" y="0"/>
                  </a:moveTo>
                  <a:lnTo>
                    <a:pt x="10917062" y="0"/>
                  </a:lnTo>
                  <a:lnTo>
                    <a:pt x="10917062" y="3790949"/>
                  </a:lnTo>
                  <a:lnTo>
                    <a:pt x="0" y="37909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083" y="2965074"/>
              <a:ext cx="128270" cy="914400"/>
            </a:xfrm>
            <a:custGeom>
              <a:avLst/>
              <a:gdLst/>
              <a:ahLst/>
              <a:cxnLst/>
              <a:rect l="l" t="t" r="r" b="b"/>
              <a:pathLst>
                <a:path w="128270" h="914400">
                  <a:moveTo>
                    <a:pt x="128015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128015" y="0"/>
                  </a:lnTo>
                  <a:lnTo>
                    <a:pt x="128015" y="914399"/>
                  </a:lnTo>
                  <a:close/>
                </a:path>
              </a:pathLst>
            </a:custGeom>
            <a:solidFill>
              <a:srgbClr val="F4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07527" y="2377439"/>
              <a:ext cx="9525" cy="2103120"/>
            </a:xfrm>
            <a:custGeom>
              <a:avLst/>
              <a:gdLst/>
              <a:ahLst/>
              <a:cxnLst/>
              <a:rect l="l" t="t" r="r" b="b"/>
              <a:pathLst>
                <a:path w="9525" h="2103120">
                  <a:moveTo>
                    <a:pt x="9143" y="2103119"/>
                  </a:moveTo>
                  <a:lnTo>
                    <a:pt x="0" y="2103119"/>
                  </a:lnTo>
                  <a:lnTo>
                    <a:pt x="0" y="0"/>
                  </a:lnTo>
                  <a:lnTo>
                    <a:pt x="9143" y="0"/>
                  </a:lnTo>
                  <a:lnTo>
                    <a:pt x="9143" y="2103119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862" y="299206"/>
              <a:ext cx="6830383" cy="38453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6772" y="299205"/>
              <a:ext cx="4655365" cy="38453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861" y="4163562"/>
              <a:ext cx="11292277" cy="20764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676" y="514905"/>
            <a:ext cx="11621135" cy="5779770"/>
            <a:chOff x="168676" y="514905"/>
            <a:chExt cx="11621135" cy="5779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643" y="1503315"/>
              <a:ext cx="11031363" cy="39052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5852" y="1533525"/>
              <a:ext cx="10917555" cy="3790950"/>
            </a:xfrm>
            <a:custGeom>
              <a:avLst/>
              <a:gdLst/>
              <a:ahLst/>
              <a:cxnLst/>
              <a:rect l="l" t="t" r="r" b="b"/>
              <a:pathLst>
                <a:path w="10917555" h="3790950">
                  <a:moveTo>
                    <a:pt x="10917062" y="3790949"/>
                  </a:moveTo>
                  <a:lnTo>
                    <a:pt x="0" y="3790949"/>
                  </a:lnTo>
                  <a:lnTo>
                    <a:pt x="0" y="0"/>
                  </a:lnTo>
                  <a:lnTo>
                    <a:pt x="10917062" y="0"/>
                  </a:lnTo>
                  <a:lnTo>
                    <a:pt x="10917062" y="3790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5852" y="1533525"/>
              <a:ext cx="10917555" cy="3790950"/>
            </a:xfrm>
            <a:custGeom>
              <a:avLst/>
              <a:gdLst/>
              <a:ahLst/>
              <a:cxnLst/>
              <a:rect l="l" t="t" r="r" b="b"/>
              <a:pathLst>
                <a:path w="10917555" h="3790950">
                  <a:moveTo>
                    <a:pt x="0" y="0"/>
                  </a:moveTo>
                  <a:lnTo>
                    <a:pt x="10917062" y="0"/>
                  </a:lnTo>
                  <a:lnTo>
                    <a:pt x="10917062" y="3790949"/>
                  </a:lnTo>
                  <a:lnTo>
                    <a:pt x="0" y="37909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084" y="2965074"/>
              <a:ext cx="128270" cy="914400"/>
            </a:xfrm>
            <a:custGeom>
              <a:avLst/>
              <a:gdLst/>
              <a:ahLst/>
              <a:cxnLst/>
              <a:rect l="l" t="t" r="r" b="b"/>
              <a:pathLst>
                <a:path w="128270" h="914400">
                  <a:moveTo>
                    <a:pt x="128015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128015" y="0"/>
                  </a:lnTo>
                  <a:lnTo>
                    <a:pt x="128015" y="914399"/>
                  </a:lnTo>
                  <a:close/>
                </a:path>
              </a:pathLst>
            </a:custGeom>
            <a:solidFill>
              <a:srgbClr val="F4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07527" y="2377439"/>
              <a:ext cx="9525" cy="2103120"/>
            </a:xfrm>
            <a:custGeom>
              <a:avLst/>
              <a:gdLst/>
              <a:ahLst/>
              <a:cxnLst/>
              <a:rect l="l" t="t" r="r" b="b"/>
              <a:pathLst>
                <a:path w="9525" h="2103120">
                  <a:moveTo>
                    <a:pt x="9143" y="2103119"/>
                  </a:moveTo>
                  <a:lnTo>
                    <a:pt x="0" y="2103119"/>
                  </a:lnTo>
                  <a:lnTo>
                    <a:pt x="0" y="0"/>
                  </a:lnTo>
                  <a:lnTo>
                    <a:pt x="9143" y="0"/>
                  </a:lnTo>
                  <a:lnTo>
                    <a:pt x="9143" y="2103119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676" y="514905"/>
              <a:ext cx="11620869" cy="57793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8833" y="4951212"/>
            <a:ext cx="11278870" cy="937260"/>
            <a:chOff x="498833" y="4951212"/>
            <a:chExt cx="11278870" cy="937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000" y="4951212"/>
              <a:ext cx="11249256" cy="9372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209" y="4981420"/>
              <a:ext cx="11135360" cy="822960"/>
            </a:xfrm>
            <a:custGeom>
              <a:avLst/>
              <a:gdLst/>
              <a:ahLst/>
              <a:cxnLst/>
              <a:rect l="l" t="t" r="r" b="b"/>
              <a:pathLst>
                <a:path w="11135360" h="822960">
                  <a:moveTo>
                    <a:pt x="11134955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11134955" y="0"/>
                  </a:lnTo>
                  <a:lnTo>
                    <a:pt x="11134955" y="822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8833" y="5118580"/>
              <a:ext cx="146685" cy="548640"/>
            </a:xfrm>
            <a:custGeom>
              <a:avLst/>
              <a:gdLst/>
              <a:ahLst/>
              <a:cxnLst/>
              <a:rect l="l" t="t" r="r" b="b"/>
              <a:pathLst>
                <a:path w="146684" h="548639">
                  <a:moveTo>
                    <a:pt x="146303" y="548640"/>
                  </a:moveTo>
                  <a:lnTo>
                    <a:pt x="0" y="548640"/>
                  </a:lnTo>
                  <a:lnTo>
                    <a:pt x="0" y="0"/>
                  </a:lnTo>
                  <a:lnTo>
                    <a:pt x="146303" y="0"/>
                  </a:lnTo>
                  <a:lnTo>
                    <a:pt x="146303" y="548640"/>
                  </a:lnTo>
                  <a:close/>
                </a:path>
              </a:pathLst>
            </a:custGeom>
            <a:solidFill>
              <a:srgbClr val="F4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1674" y="272523"/>
            <a:ext cx="4114799" cy="460986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38551" y="1413931"/>
            <a:ext cx="58788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In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essence,</a:t>
            </a:r>
            <a:r>
              <a:rPr sz="1800" spc="-10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Agentic</a:t>
            </a:r>
            <a:r>
              <a:rPr sz="1800" spc="-10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AI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provides</a:t>
            </a:r>
            <a:r>
              <a:rPr sz="18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brain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plan,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while</a:t>
            </a:r>
            <a:r>
              <a:rPr sz="1800" spc="-1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AI</a:t>
            </a:r>
            <a:r>
              <a:rPr sz="1800" spc="-114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Agents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provide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hands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feet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interact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with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world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carry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out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that</a:t>
            </a:r>
            <a:r>
              <a:rPr sz="18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plan.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5769" y="6465861"/>
            <a:ext cx="7410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dirty="0">
                <a:solidFill>
                  <a:srgbClr val="888888"/>
                </a:solidFill>
                <a:latin typeface="Tahoma"/>
                <a:cs typeface="Tahoma"/>
              </a:rPr>
              <a:t>Agentic</a:t>
            </a:r>
            <a:r>
              <a:rPr sz="1200" spc="180" dirty="0">
                <a:solidFill>
                  <a:srgbClr val="888888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ahoma"/>
                <a:cs typeface="Tahoma"/>
              </a:rPr>
              <a:t>AI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30" dirty="0"/>
              <a:t> </a:t>
            </a:r>
            <a:r>
              <a:rPr dirty="0"/>
              <a:t>sophisticated</a:t>
            </a:r>
            <a:r>
              <a:rPr spc="-20" dirty="0"/>
              <a:t> </a:t>
            </a:r>
            <a:r>
              <a:rPr dirty="0"/>
              <a:t>system</a:t>
            </a:r>
            <a:r>
              <a:rPr spc="-20" dirty="0"/>
              <a:t> </a:t>
            </a:r>
            <a:r>
              <a:rPr dirty="0"/>
              <a:t>often</a:t>
            </a:r>
            <a:r>
              <a:rPr spc="-20" dirty="0"/>
              <a:t> </a:t>
            </a:r>
            <a:r>
              <a:rPr dirty="0"/>
              <a:t>combines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spc="-10" dirty="0"/>
              <a:t>three: Generative</a:t>
            </a:r>
            <a:r>
              <a:rPr spc="-110" dirty="0"/>
              <a:t> </a:t>
            </a:r>
            <a:r>
              <a:rPr dirty="0"/>
              <a:t>AI</a:t>
            </a:r>
            <a:r>
              <a:rPr spc="-10" dirty="0"/>
              <a:t> </a:t>
            </a:r>
            <a:r>
              <a:rPr dirty="0"/>
              <a:t>might</a:t>
            </a:r>
            <a:r>
              <a:rPr spc="-10" dirty="0"/>
              <a:t> </a:t>
            </a:r>
            <a:r>
              <a:rPr dirty="0"/>
              <a:t>produce</a:t>
            </a:r>
            <a:r>
              <a:rPr spc="-10" dirty="0"/>
              <a:t> </a:t>
            </a:r>
            <a:r>
              <a:rPr dirty="0"/>
              <a:t>text</a:t>
            </a:r>
            <a:r>
              <a:rPr spc="-10" dirty="0"/>
              <a:t> </a:t>
            </a:r>
            <a:r>
              <a:rPr dirty="0"/>
              <a:t>or</a:t>
            </a:r>
            <a:r>
              <a:rPr spc="-10" dirty="0"/>
              <a:t> </a:t>
            </a:r>
            <a:r>
              <a:rPr dirty="0"/>
              <a:t>code,</a:t>
            </a:r>
            <a:r>
              <a:rPr spc="-110" dirty="0"/>
              <a:t> </a:t>
            </a:r>
            <a:r>
              <a:rPr dirty="0"/>
              <a:t>Agentic</a:t>
            </a:r>
            <a:r>
              <a:rPr spc="-105" dirty="0"/>
              <a:t> </a:t>
            </a:r>
            <a:r>
              <a:rPr spc="-25" dirty="0"/>
              <a:t>AI </a:t>
            </a:r>
            <a:r>
              <a:rPr dirty="0"/>
              <a:t>orchestrates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complex</a:t>
            </a:r>
            <a:r>
              <a:rPr spc="-20" dirty="0"/>
              <a:t> </a:t>
            </a:r>
            <a:r>
              <a:rPr dirty="0"/>
              <a:t>workflow</a:t>
            </a:r>
            <a:r>
              <a:rPr spc="-20" dirty="0"/>
              <a:t> </a:t>
            </a:r>
            <a:r>
              <a:rPr dirty="0"/>
              <a:t>using</a:t>
            </a:r>
            <a:r>
              <a:rPr spc="-20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output,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various</a:t>
            </a:r>
            <a:r>
              <a:rPr spc="-110" dirty="0"/>
              <a:t> </a:t>
            </a:r>
            <a:r>
              <a:rPr dirty="0"/>
              <a:t>AI</a:t>
            </a:r>
            <a:r>
              <a:rPr spc="-105" dirty="0"/>
              <a:t> </a:t>
            </a:r>
            <a:r>
              <a:rPr dirty="0"/>
              <a:t>Agents</a:t>
            </a:r>
            <a:r>
              <a:rPr spc="-10" dirty="0"/>
              <a:t> </a:t>
            </a:r>
            <a:r>
              <a:rPr dirty="0"/>
              <a:t>perform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necessary</a:t>
            </a:r>
            <a:r>
              <a:rPr spc="-5" dirty="0"/>
              <a:t> </a:t>
            </a:r>
            <a:r>
              <a:rPr dirty="0"/>
              <a:t>steps</a:t>
            </a:r>
            <a:r>
              <a:rPr spc="-5" dirty="0"/>
              <a:t> </a:t>
            </a:r>
            <a:r>
              <a:rPr spc="-25" dirty="0"/>
              <a:t>by </a:t>
            </a:r>
            <a:r>
              <a:rPr dirty="0"/>
              <a:t>interacting</a:t>
            </a:r>
            <a:r>
              <a:rPr spc="-3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tools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environments.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8210" y="4981421"/>
            <a:ext cx="11135360" cy="822960"/>
          </a:xfrm>
          <a:prstGeom prst="rect">
            <a:avLst/>
          </a:prstGeom>
          <a:ln w="12699">
            <a:solidFill>
              <a:srgbClr val="E7E7E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R="744220" algn="ctr">
              <a:lnSpc>
                <a:spcPct val="100000"/>
              </a:lnSpc>
              <a:spcBef>
                <a:spcPts val="250"/>
              </a:spcBef>
            </a:pPr>
            <a:r>
              <a:rPr sz="4300" spc="-10" dirty="0">
                <a:latin typeface="Tahoma"/>
                <a:cs typeface="Tahoma"/>
              </a:rPr>
              <a:t>Relationship</a:t>
            </a:r>
            <a:endParaRPr sz="4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68" y="75500"/>
            <a:ext cx="11769752" cy="66459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91301" y="6465861"/>
            <a:ext cx="12103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dirty="0">
                <a:solidFill>
                  <a:srgbClr val="888888"/>
                </a:solidFill>
                <a:latin typeface="Tahoma"/>
                <a:cs typeface="Tahoma"/>
              </a:rPr>
              <a:t>Presentation</a:t>
            </a:r>
            <a:r>
              <a:rPr sz="1200" spc="-30" dirty="0">
                <a:solidFill>
                  <a:srgbClr val="88888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Tahoma"/>
                <a:cs typeface="Tahoma"/>
              </a:rPr>
              <a:t>Title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24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2542" y="-4762"/>
            <a:ext cx="11667490" cy="5325110"/>
            <a:chOff x="262542" y="-4762"/>
            <a:chExt cx="11667490" cy="5325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542" y="280726"/>
              <a:ext cx="7105150" cy="49393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7457" y="280726"/>
              <a:ext cx="4571999" cy="503915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43" y="71020"/>
            <a:ext cx="7023538" cy="64451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226" y="385895"/>
            <a:ext cx="11652307" cy="59704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72928" y="72947"/>
            <a:ext cx="7002145" cy="6626859"/>
            <a:chOff x="2372928" y="72947"/>
            <a:chExt cx="7002145" cy="66268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7180" y="4257047"/>
              <a:ext cx="6136645" cy="24424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2928" y="72947"/>
              <a:ext cx="7001891" cy="433925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36525"/>
            <a:ext cx="8359065" cy="60278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60335" y="602314"/>
            <a:ext cx="4664075" cy="5607050"/>
            <a:chOff x="7260335" y="602314"/>
            <a:chExt cx="4664075" cy="5607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5722" y="602314"/>
              <a:ext cx="4628261" cy="56070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24343" y="630935"/>
              <a:ext cx="4517390" cy="5495925"/>
            </a:xfrm>
            <a:custGeom>
              <a:avLst/>
              <a:gdLst/>
              <a:ahLst/>
              <a:cxnLst/>
              <a:rect l="l" t="t" r="r" b="b"/>
              <a:pathLst>
                <a:path w="4517390" h="5495925">
                  <a:moveTo>
                    <a:pt x="4517136" y="5495924"/>
                  </a:moveTo>
                  <a:lnTo>
                    <a:pt x="0" y="5495924"/>
                  </a:lnTo>
                  <a:lnTo>
                    <a:pt x="0" y="0"/>
                  </a:lnTo>
                  <a:lnTo>
                    <a:pt x="4517136" y="0"/>
                  </a:lnTo>
                  <a:lnTo>
                    <a:pt x="4517136" y="5495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60335" y="1179575"/>
              <a:ext cx="128270" cy="704215"/>
            </a:xfrm>
            <a:custGeom>
              <a:avLst/>
              <a:gdLst/>
              <a:ahLst/>
              <a:cxnLst/>
              <a:rect l="l" t="t" r="r" b="b"/>
              <a:pathLst>
                <a:path w="128270" h="704214">
                  <a:moveTo>
                    <a:pt x="128016" y="704087"/>
                  </a:moveTo>
                  <a:lnTo>
                    <a:pt x="0" y="704087"/>
                  </a:lnTo>
                  <a:lnTo>
                    <a:pt x="0" y="0"/>
                  </a:lnTo>
                  <a:lnTo>
                    <a:pt x="128016" y="0"/>
                  </a:lnTo>
                  <a:lnTo>
                    <a:pt x="128016" y="704087"/>
                  </a:lnTo>
                  <a:close/>
                </a:path>
              </a:pathLst>
            </a:custGeom>
            <a:solidFill>
              <a:srgbClr val="F4A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92215" y="2185415"/>
              <a:ext cx="3683635" cy="9525"/>
            </a:xfrm>
            <a:custGeom>
              <a:avLst/>
              <a:gdLst/>
              <a:ahLst/>
              <a:cxnLst/>
              <a:rect l="l" t="t" r="r" b="b"/>
              <a:pathLst>
                <a:path w="3683634" h="9525">
                  <a:moveTo>
                    <a:pt x="3683187" y="9143"/>
                  </a:moveTo>
                  <a:lnTo>
                    <a:pt x="0" y="9143"/>
                  </a:lnTo>
                  <a:lnTo>
                    <a:pt x="0" y="0"/>
                  </a:lnTo>
                  <a:lnTo>
                    <a:pt x="3683187" y="0"/>
                  </a:lnTo>
                  <a:lnTo>
                    <a:pt x="3683187" y="9143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2400" y="2532888"/>
              <a:ext cx="457199" cy="457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400" y="3630168"/>
              <a:ext cx="457199" cy="457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2400" y="4754880"/>
              <a:ext cx="457199" cy="4571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88605" y="630936"/>
            <a:ext cx="4453128" cy="5526128"/>
          </a:xfrm>
          <a:prstGeom prst="rect">
            <a:avLst/>
          </a:prstGeom>
          <a:ln w="9524">
            <a:solidFill>
              <a:srgbClr val="E7E7E7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7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5334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Tahoma"/>
                <a:cs typeface="Tahoma"/>
              </a:rPr>
              <a:t>Thank</a:t>
            </a:r>
            <a:r>
              <a:rPr sz="2800" spc="-204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you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2800" dirty="0">
              <a:latin typeface="Tahoma"/>
              <a:cs typeface="Tahoma"/>
            </a:endParaRPr>
          </a:p>
          <a:p>
            <a:pPr marL="533400">
              <a:lnSpc>
                <a:spcPct val="100000"/>
              </a:lnSpc>
            </a:pPr>
            <a:r>
              <a:rPr lang="en-US" sz="1600" spc="-25" dirty="0">
                <a:latin typeface="Tahoma"/>
                <a:cs typeface="Tahoma"/>
              </a:rPr>
              <a:t>Chandan Saroj</a:t>
            </a:r>
            <a:endParaRPr sz="16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600" dirty="0">
              <a:latin typeface="Tahoma"/>
              <a:cs typeface="Tahoma"/>
            </a:endParaRPr>
          </a:p>
          <a:p>
            <a:pPr marL="533400">
              <a:lnSpc>
                <a:spcPct val="100000"/>
              </a:lnSpc>
            </a:pPr>
            <a:r>
              <a:rPr sz="1450" u="heavy" spc="-10" dirty="0">
                <a:solidFill>
                  <a:srgbClr val="2998E3"/>
                </a:solidFill>
                <a:uFill>
                  <a:solidFill>
                    <a:srgbClr val="2998E3"/>
                  </a:solidFill>
                </a:uFill>
                <a:latin typeface="Tahoma"/>
                <a:cs typeface="Tahoma"/>
                <a:hlinkClick r:id="rId6"/>
              </a:rPr>
              <a:t>Ramchandani.toni@gmail.com</a:t>
            </a:r>
            <a:endParaRPr sz="14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450" dirty="0">
              <a:latin typeface="Tahoma"/>
              <a:cs typeface="Tahoma"/>
            </a:endParaRPr>
          </a:p>
          <a:p>
            <a:pPr marL="533400" marR="1491615">
              <a:lnSpc>
                <a:spcPct val="185800"/>
              </a:lnSpc>
            </a:pPr>
            <a:r>
              <a:rPr sz="1100" u="sng" spc="-10" dirty="0">
                <a:solidFill>
                  <a:srgbClr val="2998E3"/>
                </a:solidFill>
                <a:uFill>
                  <a:solidFill>
                    <a:srgbClr val="2998E3"/>
                  </a:solidFill>
                </a:uFill>
                <a:latin typeface="Tahoma"/>
                <a:cs typeface="Tahoma"/>
              </a:rPr>
              <a:t>https://www.</a:t>
            </a:r>
            <a:r>
              <a:rPr lang="en-US" sz="1100" u="sng" spc="-10" dirty="0">
                <a:solidFill>
                  <a:srgbClr val="2998E3"/>
                </a:solidFill>
                <a:uFill>
                  <a:solidFill>
                    <a:srgbClr val="2998E3"/>
                  </a:solidFill>
                </a:uFill>
                <a:latin typeface="Tahoma"/>
                <a:cs typeface="Tahoma"/>
              </a:rPr>
              <a:t>chandansaroj.in</a:t>
            </a:r>
            <a:r>
              <a:rPr sz="1100" spc="-10" dirty="0">
                <a:solidFill>
                  <a:srgbClr val="2998E3"/>
                </a:solidFill>
                <a:latin typeface="Tahoma"/>
                <a:cs typeface="Tahoma"/>
              </a:rPr>
              <a:t> </a:t>
            </a:r>
            <a:r>
              <a:rPr lang="en-IN" sz="1100" u="sng" spc="-10" dirty="0">
                <a:solidFill>
                  <a:srgbClr val="2998E3"/>
                </a:solidFill>
                <a:uFill>
                  <a:solidFill>
                    <a:srgbClr val="2998E3"/>
                  </a:solidFill>
                </a:uFill>
                <a:latin typeface="Tahoma"/>
                <a:cs typeface="Tahoma"/>
              </a:rPr>
              <a:t>https://www.linkedin.com/in/chandan-saroj/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8E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120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Tahoma</vt:lpstr>
      <vt:lpstr>Times New Roman</vt:lpstr>
      <vt:lpstr>Office Theme</vt:lpstr>
      <vt:lpstr>Agentic AI</vt:lpstr>
      <vt:lpstr>PowerPoint Presentation</vt:lpstr>
      <vt:lpstr>PowerPoint Presentation</vt:lpstr>
      <vt:lpstr>In essence, Agentic AI provides the brain and the plan, while AI Agents provide the hands and feet to interact with the world and carry out that plan.</vt:lpstr>
      <vt:lpstr>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AI.pptx</dc:title>
  <dc:creator>imjun</dc:creator>
  <cp:lastModifiedBy>imjunior471@gmail.com</cp:lastModifiedBy>
  <cp:revision>1</cp:revision>
  <dcterms:created xsi:type="dcterms:W3CDTF">2026-08-06T20:04:49Z</dcterms:created>
  <dcterms:modified xsi:type="dcterms:W3CDTF">2026-08-06T21:04:57Z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2026-08-06T00:00:00Z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2026-08-06T00:00:00Z</vt:filetime>
  </property>
</Properties>
</file>