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97" r:id="rId11"/>
    <p:sldId id="300" r:id="rId12"/>
    <p:sldId id="301" r:id="rId13"/>
    <p:sldId id="302" r:id="rId14"/>
    <p:sldId id="298" r:id="rId15"/>
    <p:sldId id="299" r:id="rId16"/>
    <p:sldId id="265" r:id="rId17"/>
    <p:sldId id="266" r:id="rId18"/>
    <p:sldId id="267" r:id="rId19"/>
    <p:sldId id="286" r:id="rId20"/>
    <p:sldId id="287" r:id="rId21"/>
    <p:sldId id="285" r:id="rId22"/>
    <p:sldId id="294" r:id="rId23"/>
    <p:sldId id="295" r:id="rId24"/>
    <p:sldId id="296" r:id="rId25"/>
    <p:sldId id="288" r:id="rId26"/>
    <p:sldId id="289" r:id="rId27"/>
    <p:sldId id="290" r:id="rId28"/>
    <p:sldId id="291" r:id="rId29"/>
    <p:sldId id="292" r:id="rId30"/>
    <p:sldId id="293"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75" d="100"/>
          <a:sy n="75" d="100"/>
        </p:scale>
        <p:origin x="902"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76324" y="250316"/>
            <a:ext cx="2784475" cy="756919"/>
          </a:xfrm>
          <a:prstGeom prst="rect">
            <a:avLst/>
          </a:prstGeom>
        </p:spPr>
        <p:txBody>
          <a:bodyPr wrap="square" lIns="0" tIns="0" rIns="0" bIns="0">
            <a:spAutoFit/>
          </a:bodyPr>
          <a:lstStyle>
            <a:lvl1pPr>
              <a:defRPr sz="4800" b="1" i="0">
                <a:solidFill>
                  <a:srgbClr val="404040"/>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rgbClr val="404040"/>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Calibri"/>
                <a:cs typeface="Calibri"/>
              </a:defRPr>
            </a:lvl1pPr>
          </a:lstStyle>
          <a:p>
            <a:pPr marL="12700">
              <a:lnSpc>
                <a:spcPts val="955"/>
              </a:lnSpc>
            </a:pPr>
            <a:r>
              <a:rPr dirty="0"/>
              <a:t>NIELIT</a:t>
            </a:r>
            <a:r>
              <a:rPr spc="-30" dirty="0"/>
              <a:t> </a:t>
            </a:r>
            <a:r>
              <a:rPr spc="-10" dirty="0"/>
              <a:t>CHANDIGARH</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404040"/>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800" b="0" i="0">
                <a:solidFill>
                  <a:srgbClr val="404040"/>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Calibri"/>
                <a:cs typeface="Calibri"/>
              </a:defRPr>
            </a:lvl1pPr>
          </a:lstStyle>
          <a:p>
            <a:pPr marL="12700">
              <a:lnSpc>
                <a:spcPts val="955"/>
              </a:lnSpc>
            </a:pPr>
            <a:r>
              <a:rPr dirty="0"/>
              <a:t>NIELIT</a:t>
            </a:r>
            <a:r>
              <a:rPr spc="-30" dirty="0"/>
              <a:t> </a:t>
            </a:r>
            <a:r>
              <a:rPr spc="-10" dirty="0"/>
              <a:t>CHANDIGARH</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404040"/>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chemeClr val="bg1"/>
                </a:solidFill>
                <a:latin typeface="Calibri"/>
                <a:cs typeface="Calibri"/>
              </a:defRPr>
            </a:lvl1pPr>
          </a:lstStyle>
          <a:p>
            <a:pPr marL="12700">
              <a:lnSpc>
                <a:spcPts val="955"/>
              </a:lnSpc>
            </a:pPr>
            <a:r>
              <a:rPr dirty="0"/>
              <a:t>NIELIT</a:t>
            </a:r>
            <a:r>
              <a:rPr spc="-30" dirty="0"/>
              <a:t> </a:t>
            </a:r>
            <a:r>
              <a:rPr spc="-10" dirty="0"/>
              <a:t>CHANDIGARH</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7" name="Holder 7"/>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404040"/>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900" b="0" i="0">
                <a:solidFill>
                  <a:schemeClr val="bg1"/>
                </a:solidFill>
                <a:latin typeface="Calibri"/>
                <a:cs typeface="Calibri"/>
              </a:defRPr>
            </a:lvl1pPr>
          </a:lstStyle>
          <a:p>
            <a:pPr marL="12700">
              <a:lnSpc>
                <a:spcPts val="955"/>
              </a:lnSpc>
            </a:pPr>
            <a:r>
              <a:rPr dirty="0"/>
              <a:t>NIELIT</a:t>
            </a:r>
            <a:r>
              <a:rPr spc="-30" dirty="0"/>
              <a:t> </a:t>
            </a:r>
            <a:r>
              <a:rPr spc="-10" dirty="0"/>
              <a:t>CHANDIGARH</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5" name="Holder 5"/>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048" y="-2"/>
            <a:ext cx="12185903" cy="6824472"/>
          </a:xfrm>
          <a:prstGeom prst="rect">
            <a:avLst/>
          </a:prstGeom>
        </p:spPr>
      </p:pic>
      <p:sp>
        <p:nvSpPr>
          <p:cNvPr id="17" name="bg object 17"/>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2583C5"/>
          </a:solidFill>
        </p:spPr>
        <p:txBody>
          <a:bodyPr wrap="square" lIns="0" tIns="0" rIns="0" bIns="0" rtlCol="0"/>
          <a:lstStyle/>
          <a:p>
            <a:endParaRPr/>
          </a:p>
        </p:txBody>
      </p:sp>
      <p:sp>
        <p:nvSpPr>
          <p:cNvPr id="18" name="bg object 18"/>
          <p:cNvSpPr/>
          <p:nvPr/>
        </p:nvSpPr>
        <p:spPr>
          <a:xfrm>
            <a:off x="1162811" y="1141475"/>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pic>
        <p:nvPicPr>
          <p:cNvPr id="19" name="bg object 19"/>
          <p:cNvPicPr/>
          <p:nvPr/>
        </p:nvPicPr>
        <p:blipFill>
          <a:blip r:embed="rId3" cstate="print"/>
          <a:stretch>
            <a:fillRect/>
          </a:stretch>
        </p:blipFill>
        <p:spPr>
          <a:xfrm>
            <a:off x="134112" y="0"/>
            <a:ext cx="832104" cy="853439"/>
          </a:xfrm>
          <a:prstGeom prst="rect">
            <a:avLst/>
          </a:prstGeom>
        </p:spPr>
      </p:pic>
      <p:pic>
        <p:nvPicPr>
          <p:cNvPr id="20" name="bg object 20"/>
          <p:cNvPicPr/>
          <p:nvPr/>
        </p:nvPicPr>
        <p:blipFill>
          <a:blip r:embed="rId4" cstate="print"/>
          <a:stretch>
            <a:fillRect/>
          </a:stretch>
        </p:blipFill>
        <p:spPr>
          <a:xfrm>
            <a:off x="91440" y="1141475"/>
            <a:ext cx="935735" cy="417575"/>
          </a:xfrm>
          <a:prstGeom prst="rect">
            <a:avLst/>
          </a:prstGeom>
        </p:spPr>
      </p:pic>
      <p:pic>
        <p:nvPicPr>
          <p:cNvPr id="22" name="bg object 22"/>
          <p:cNvPicPr/>
          <p:nvPr/>
        </p:nvPicPr>
        <p:blipFill>
          <a:blip r:embed="rId5" cstate="print"/>
          <a:stretch>
            <a:fillRect/>
          </a:stretch>
        </p:blipFill>
        <p:spPr>
          <a:xfrm>
            <a:off x="10376916" y="7620"/>
            <a:ext cx="1815083" cy="1103376"/>
          </a:xfrm>
          <a:prstGeom prst="rect">
            <a:avLst/>
          </a:prstGeom>
        </p:spPr>
      </p:pic>
      <p:sp>
        <p:nvSpPr>
          <p:cNvPr id="23" name="bg object 23"/>
          <p:cNvSpPr/>
          <p:nvPr/>
        </p:nvSpPr>
        <p:spPr>
          <a:xfrm>
            <a:off x="0" y="6333744"/>
            <a:ext cx="12192000" cy="67310"/>
          </a:xfrm>
          <a:custGeom>
            <a:avLst/>
            <a:gdLst/>
            <a:ahLst/>
            <a:cxnLst/>
            <a:rect l="l" t="t" r="r" b="b"/>
            <a:pathLst>
              <a:path w="12192000" h="67310">
                <a:moveTo>
                  <a:pt x="12192000" y="0"/>
                </a:moveTo>
                <a:lnTo>
                  <a:pt x="0" y="0"/>
                </a:lnTo>
                <a:lnTo>
                  <a:pt x="0" y="67055"/>
                </a:lnTo>
                <a:lnTo>
                  <a:pt x="12192000" y="67055"/>
                </a:lnTo>
                <a:lnTo>
                  <a:pt x="12192000" y="0"/>
                </a:lnTo>
                <a:close/>
              </a:path>
            </a:pathLst>
          </a:custGeom>
          <a:solidFill>
            <a:srgbClr val="1CACE3"/>
          </a:solidFill>
        </p:spPr>
        <p:txBody>
          <a:bodyPr wrap="square" lIns="0" tIns="0" rIns="0" bIns="0" rtlCol="0"/>
          <a:lstStyle/>
          <a:p>
            <a:endParaRPr/>
          </a:p>
        </p:txBody>
      </p:sp>
      <p:sp>
        <p:nvSpPr>
          <p:cNvPr id="24" name="bg object 24"/>
          <p:cNvSpPr/>
          <p:nvPr/>
        </p:nvSpPr>
        <p:spPr>
          <a:xfrm>
            <a:off x="1207008" y="4343400"/>
            <a:ext cx="9875520" cy="0"/>
          </a:xfrm>
          <a:custGeom>
            <a:avLst/>
            <a:gdLst/>
            <a:ahLst/>
            <a:cxnLst/>
            <a:rect l="l" t="t" r="r" b="b"/>
            <a:pathLst>
              <a:path w="9875520">
                <a:moveTo>
                  <a:pt x="0" y="0"/>
                </a:moveTo>
                <a:lnTo>
                  <a:pt x="9875520" y="0"/>
                </a:lnTo>
              </a:path>
            </a:pathLst>
          </a:custGeom>
          <a:ln w="6350">
            <a:solidFill>
              <a:srgbClr val="7E7E7E"/>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900" b="0" i="0">
                <a:solidFill>
                  <a:schemeClr val="bg1"/>
                </a:solidFill>
                <a:latin typeface="Calibri"/>
                <a:cs typeface="Calibri"/>
              </a:defRPr>
            </a:lvl1pPr>
          </a:lstStyle>
          <a:p>
            <a:pPr marL="12700">
              <a:lnSpc>
                <a:spcPts val="955"/>
              </a:lnSpc>
            </a:pPr>
            <a:r>
              <a:rPr dirty="0"/>
              <a:t>NIELIT</a:t>
            </a:r>
            <a:r>
              <a:rPr spc="-30" dirty="0"/>
              <a:t> </a:t>
            </a:r>
            <a:r>
              <a:rPr spc="-10" dirty="0"/>
              <a:t>CHANDIGARH</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4" name="Holder 4"/>
          <p:cNvSpPr>
            <a:spLocks noGrp="1"/>
          </p:cNvSpPr>
          <p:nvPr>
            <p:ph type="sldNum" sz="quarter" idx="7"/>
          </p:nvPr>
        </p:nvSpPr>
        <p:spPr/>
        <p:txBody>
          <a:bodyPr lIns="0" tIns="0" rIns="0" bIns="0"/>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048" y="-2"/>
            <a:ext cx="12185903" cy="6824472"/>
          </a:xfrm>
          <a:prstGeom prst="rect">
            <a:avLst/>
          </a:prstGeom>
        </p:spPr>
      </p:pic>
      <p:sp>
        <p:nvSpPr>
          <p:cNvPr id="17" name="bg object 17"/>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2583C5"/>
          </a:solidFill>
        </p:spPr>
        <p:txBody>
          <a:bodyPr wrap="square" lIns="0" tIns="0" rIns="0" bIns="0" rtlCol="0"/>
          <a:lstStyle/>
          <a:p>
            <a:endParaRPr/>
          </a:p>
        </p:txBody>
      </p:sp>
      <p:sp>
        <p:nvSpPr>
          <p:cNvPr id="18" name="bg object 18"/>
          <p:cNvSpPr/>
          <p:nvPr/>
        </p:nvSpPr>
        <p:spPr>
          <a:xfrm>
            <a:off x="0" y="6333744"/>
            <a:ext cx="12189460" cy="64135"/>
          </a:xfrm>
          <a:custGeom>
            <a:avLst/>
            <a:gdLst/>
            <a:ahLst/>
            <a:cxnLst/>
            <a:rect l="l" t="t" r="r" b="b"/>
            <a:pathLst>
              <a:path w="12189460" h="64135">
                <a:moveTo>
                  <a:pt x="12188952" y="0"/>
                </a:moveTo>
                <a:lnTo>
                  <a:pt x="0" y="0"/>
                </a:lnTo>
                <a:lnTo>
                  <a:pt x="0" y="64007"/>
                </a:lnTo>
                <a:lnTo>
                  <a:pt x="12188952" y="64007"/>
                </a:lnTo>
                <a:lnTo>
                  <a:pt x="12188952" y="0"/>
                </a:lnTo>
                <a:close/>
              </a:path>
            </a:pathLst>
          </a:custGeom>
          <a:solidFill>
            <a:srgbClr val="1CACE3"/>
          </a:solidFill>
        </p:spPr>
        <p:txBody>
          <a:bodyPr wrap="square" lIns="0" tIns="0" rIns="0" bIns="0" rtlCol="0"/>
          <a:lstStyle/>
          <a:p>
            <a:endParaRPr/>
          </a:p>
        </p:txBody>
      </p:sp>
      <p:sp>
        <p:nvSpPr>
          <p:cNvPr id="19" name="bg object 19"/>
          <p:cNvSpPr/>
          <p:nvPr/>
        </p:nvSpPr>
        <p:spPr>
          <a:xfrm>
            <a:off x="1162811" y="1141475"/>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pic>
        <p:nvPicPr>
          <p:cNvPr id="20" name="bg object 20"/>
          <p:cNvPicPr/>
          <p:nvPr/>
        </p:nvPicPr>
        <p:blipFill>
          <a:blip r:embed="rId8" cstate="print"/>
          <a:stretch>
            <a:fillRect/>
          </a:stretch>
        </p:blipFill>
        <p:spPr>
          <a:xfrm>
            <a:off x="134112" y="0"/>
            <a:ext cx="832104" cy="853439"/>
          </a:xfrm>
          <a:prstGeom prst="rect">
            <a:avLst/>
          </a:prstGeom>
        </p:spPr>
      </p:pic>
      <p:pic>
        <p:nvPicPr>
          <p:cNvPr id="21" name="bg object 21"/>
          <p:cNvPicPr/>
          <p:nvPr/>
        </p:nvPicPr>
        <p:blipFill>
          <a:blip r:embed="rId9" cstate="print"/>
          <a:stretch>
            <a:fillRect/>
          </a:stretch>
        </p:blipFill>
        <p:spPr>
          <a:xfrm>
            <a:off x="91440" y="1141475"/>
            <a:ext cx="935735" cy="417575"/>
          </a:xfrm>
          <a:prstGeom prst="rect">
            <a:avLst/>
          </a:prstGeom>
        </p:spPr>
      </p:pic>
      <p:pic>
        <p:nvPicPr>
          <p:cNvPr id="23" name="bg object 23"/>
          <p:cNvPicPr/>
          <p:nvPr/>
        </p:nvPicPr>
        <p:blipFill>
          <a:blip r:embed="rId10" cstate="print"/>
          <a:stretch>
            <a:fillRect/>
          </a:stretch>
        </p:blipFill>
        <p:spPr>
          <a:xfrm>
            <a:off x="10376916" y="7620"/>
            <a:ext cx="1815083" cy="1103376"/>
          </a:xfrm>
          <a:prstGeom prst="rect">
            <a:avLst/>
          </a:prstGeom>
        </p:spPr>
      </p:pic>
      <p:sp>
        <p:nvSpPr>
          <p:cNvPr id="2" name="Holder 2"/>
          <p:cNvSpPr>
            <a:spLocks noGrp="1"/>
          </p:cNvSpPr>
          <p:nvPr>
            <p:ph type="title"/>
          </p:nvPr>
        </p:nvSpPr>
        <p:spPr>
          <a:xfrm>
            <a:off x="1176324" y="250316"/>
            <a:ext cx="9896475" cy="761492"/>
          </a:xfrm>
          <a:prstGeom prst="rect">
            <a:avLst/>
          </a:prstGeom>
        </p:spPr>
        <p:txBody>
          <a:bodyPr wrap="square" lIns="0" tIns="0" rIns="0" bIns="0">
            <a:spAutoFit/>
          </a:bodyPr>
          <a:lstStyle>
            <a:lvl1pPr>
              <a:defRPr sz="4800" b="1" i="0">
                <a:solidFill>
                  <a:srgbClr val="404040"/>
                </a:solidFill>
                <a:latin typeface="Cambria"/>
                <a:cs typeface="Cambria"/>
              </a:defRPr>
            </a:lvl1pPr>
          </a:lstStyle>
          <a:p>
            <a:endParaRPr/>
          </a:p>
        </p:txBody>
      </p:sp>
      <p:sp>
        <p:nvSpPr>
          <p:cNvPr id="3" name="Holder 3"/>
          <p:cNvSpPr>
            <a:spLocks noGrp="1"/>
          </p:cNvSpPr>
          <p:nvPr>
            <p:ph type="body" idx="1"/>
          </p:nvPr>
        </p:nvSpPr>
        <p:spPr>
          <a:xfrm>
            <a:off x="1072514" y="1070508"/>
            <a:ext cx="10046970" cy="3397250"/>
          </a:xfrm>
          <a:prstGeom prst="rect">
            <a:avLst/>
          </a:prstGeom>
        </p:spPr>
        <p:txBody>
          <a:bodyPr wrap="square" lIns="0" tIns="0" rIns="0" bIns="0">
            <a:spAutoFit/>
          </a:bodyPr>
          <a:lstStyle>
            <a:lvl1pPr>
              <a:defRPr sz="2800" b="0" i="0">
                <a:solidFill>
                  <a:srgbClr val="404040"/>
                </a:solidFill>
                <a:latin typeface="Cambria"/>
                <a:cs typeface="Cambria"/>
              </a:defRPr>
            </a:lvl1pPr>
          </a:lstStyle>
          <a:p>
            <a:endParaRPr/>
          </a:p>
        </p:txBody>
      </p:sp>
      <p:sp>
        <p:nvSpPr>
          <p:cNvPr id="4" name="Holder 4"/>
          <p:cNvSpPr>
            <a:spLocks noGrp="1"/>
          </p:cNvSpPr>
          <p:nvPr>
            <p:ph type="ftr" sz="quarter" idx="5"/>
          </p:nvPr>
        </p:nvSpPr>
        <p:spPr>
          <a:xfrm>
            <a:off x="5607177" y="6583400"/>
            <a:ext cx="980440" cy="139700"/>
          </a:xfrm>
          <a:prstGeom prst="rect">
            <a:avLst/>
          </a:prstGeom>
        </p:spPr>
        <p:txBody>
          <a:bodyPr wrap="square" lIns="0" tIns="0" rIns="0" bIns="0">
            <a:spAutoFit/>
          </a:bodyPr>
          <a:lstStyle>
            <a:lvl1pPr>
              <a:defRPr sz="900" b="0" i="0">
                <a:solidFill>
                  <a:schemeClr val="bg1"/>
                </a:solidFill>
                <a:latin typeface="Calibri"/>
                <a:cs typeface="Calibri"/>
              </a:defRPr>
            </a:lvl1pPr>
          </a:lstStyle>
          <a:p>
            <a:pPr marL="12700">
              <a:lnSpc>
                <a:spcPts val="955"/>
              </a:lnSpc>
            </a:pPr>
            <a:r>
              <a:rPr dirty="0"/>
              <a:t>NIELIT</a:t>
            </a:r>
            <a:r>
              <a:rPr spc="-30" dirty="0"/>
              <a:t> </a:t>
            </a:r>
            <a:r>
              <a:rPr spc="-10" dirty="0"/>
              <a:t>CHANDIGARH</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7/8/2026</a:t>
            </a:fld>
            <a:endParaRPr lang="en-US"/>
          </a:p>
        </p:txBody>
      </p:sp>
      <p:sp>
        <p:nvSpPr>
          <p:cNvPr id="6" name="Holder 6"/>
          <p:cNvSpPr>
            <a:spLocks noGrp="1"/>
          </p:cNvSpPr>
          <p:nvPr>
            <p:ph type="sldNum" sz="quarter" idx="7"/>
          </p:nvPr>
        </p:nvSpPr>
        <p:spPr>
          <a:xfrm>
            <a:off x="10972545" y="6575247"/>
            <a:ext cx="200659" cy="160020"/>
          </a:xfrm>
          <a:prstGeom prst="rect">
            <a:avLst/>
          </a:prstGeom>
        </p:spPr>
        <p:txBody>
          <a:bodyPr wrap="square" lIns="0" tIns="0" rIns="0" bIns="0">
            <a:spAutoFit/>
          </a:bodyPr>
          <a:lstStyle>
            <a:lvl1pPr>
              <a:defRPr sz="1050" b="0" i="0">
                <a:solidFill>
                  <a:schemeClr val="bg1"/>
                </a:solidFill>
                <a:latin typeface="Calibri"/>
                <a:cs typeface="Calibri"/>
              </a:defRPr>
            </a:lvl1pPr>
          </a:lstStyle>
          <a:p>
            <a:pPr marL="12700">
              <a:lnSpc>
                <a:spcPts val="110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matplotlib.org/stable/index.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seaborn.pydata.org/"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50416" y="3198114"/>
            <a:ext cx="6327140" cy="1698625"/>
          </a:xfrm>
          <a:prstGeom prst="rect">
            <a:avLst/>
          </a:prstGeom>
        </p:spPr>
        <p:txBody>
          <a:bodyPr vert="horz" wrap="square" lIns="0" tIns="96520" rIns="0" bIns="0" rtlCol="0">
            <a:spAutoFit/>
          </a:bodyPr>
          <a:lstStyle/>
          <a:p>
            <a:pPr marL="14604" marR="5080">
              <a:lnSpc>
                <a:spcPts val="3670"/>
              </a:lnSpc>
              <a:spcBef>
                <a:spcPts val="760"/>
              </a:spcBef>
            </a:pPr>
            <a:r>
              <a:rPr sz="3600" b="1" spc="-35" dirty="0">
                <a:solidFill>
                  <a:srgbClr val="00AFEF"/>
                </a:solidFill>
                <a:latin typeface="Cambria"/>
                <a:cs typeface="Cambria"/>
              </a:rPr>
              <a:t>Data</a:t>
            </a:r>
            <a:r>
              <a:rPr sz="3600" b="1" spc="-145" dirty="0">
                <a:solidFill>
                  <a:srgbClr val="00AFEF"/>
                </a:solidFill>
                <a:latin typeface="Cambria"/>
                <a:cs typeface="Cambria"/>
              </a:rPr>
              <a:t> </a:t>
            </a:r>
            <a:r>
              <a:rPr sz="3600" b="1" spc="-60" dirty="0">
                <a:solidFill>
                  <a:srgbClr val="00AFEF"/>
                </a:solidFill>
                <a:latin typeface="Cambria"/>
                <a:cs typeface="Cambria"/>
              </a:rPr>
              <a:t>Visualization</a:t>
            </a:r>
            <a:r>
              <a:rPr sz="3600" b="1" spc="-125" dirty="0">
                <a:solidFill>
                  <a:srgbClr val="00AFEF"/>
                </a:solidFill>
                <a:latin typeface="Cambria"/>
                <a:cs typeface="Cambria"/>
              </a:rPr>
              <a:t> </a:t>
            </a:r>
            <a:r>
              <a:rPr sz="3600" b="1" spc="-50" dirty="0">
                <a:solidFill>
                  <a:srgbClr val="00AFEF"/>
                </a:solidFill>
                <a:latin typeface="Cambria"/>
                <a:cs typeface="Cambria"/>
              </a:rPr>
              <a:t>with</a:t>
            </a:r>
            <a:r>
              <a:rPr sz="3600" b="1" spc="-125" dirty="0">
                <a:solidFill>
                  <a:srgbClr val="00AFEF"/>
                </a:solidFill>
                <a:latin typeface="Cambria"/>
                <a:cs typeface="Cambria"/>
              </a:rPr>
              <a:t> </a:t>
            </a:r>
            <a:r>
              <a:rPr sz="3600" b="1" spc="-10" dirty="0">
                <a:solidFill>
                  <a:srgbClr val="00AFEF"/>
                </a:solidFill>
                <a:latin typeface="Cambria"/>
                <a:cs typeface="Cambria"/>
              </a:rPr>
              <a:t>Python </a:t>
            </a:r>
            <a:r>
              <a:rPr sz="3600" b="1" spc="-55" dirty="0">
                <a:solidFill>
                  <a:srgbClr val="00AFEF"/>
                </a:solidFill>
                <a:latin typeface="Cambria"/>
                <a:cs typeface="Cambria"/>
              </a:rPr>
              <a:t>Matplotlib</a:t>
            </a:r>
            <a:r>
              <a:rPr sz="3600" b="1" spc="-140" dirty="0">
                <a:solidFill>
                  <a:srgbClr val="00AFEF"/>
                </a:solidFill>
                <a:latin typeface="Cambria"/>
                <a:cs typeface="Cambria"/>
              </a:rPr>
              <a:t> </a:t>
            </a:r>
            <a:r>
              <a:rPr sz="3600" b="1" spc="-40" dirty="0">
                <a:solidFill>
                  <a:srgbClr val="00AFEF"/>
                </a:solidFill>
                <a:latin typeface="Cambria"/>
                <a:cs typeface="Cambria"/>
              </a:rPr>
              <a:t>and</a:t>
            </a:r>
            <a:r>
              <a:rPr sz="3600" b="1" spc="-135" dirty="0">
                <a:solidFill>
                  <a:srgbClr val="00AFEF"/>
                </a:solidFill>
                <a:latin typeface="Cambria"/>
                <a:cs typeface="Cambria"/>
              </a:rPr>
              <a:t> </a:t>
            </a:r>
            <a:r>
              <a:rPr sz="3600" b="1" spc="-10" dirty="0">
                <a:solidFill>
                  <a:srgbClr val="00AFEF"/>
                </a:solidFill>
                <a:latin typeface="Cambria"/>
                <a:cs typeface="Cambria"/>
              </a:rPr>
              <a:t>Seaborn</a:t>
            </a:r>
            <a:endParaRPr sz="3600" dirty="0">
              <a:latin typeface="Cambria"/>
              <a:cs typeface="Cambria"/>
            </a:endParaRPr>
          </a:p>
          <a:p>
            <a:pPr marL="12700">
              <a:lnSpc>
                <a:spcPct val="100000"/>
              </a:lnSpc>
              <a:spcBef>
                <a:spcPts val="1810"/>
              </a:spcBef>
            </a:pPr>
            <a:r>
              <a:rPr lang="en-US" sz="2800" b="1" spc="-45" dirty="0">
                <a:solidFill>
                  <a:srgbClr val="92D050"/>
                </a:solidFill>
                <a:latin typeface="Cambria"/>
                <a:cs typeface="Cambria"/>
              </a:rPr>
              <a:t>Chandan Saroj</a:t>
            </a:r>
            <a:endParaRPr sz="2800" dirty="0">
              <a:latin typeface="Cambria"/>
              <a:cs typeface="Cambria"/>
            </a:endParaRPr>
          </a:p>
        </p:txBody>
      </p:sp>
      <p:sp>
        <p:nvSpPr>
          <p:cNvPr id="3" name="object 3"/>
          <p:cNvSpPr txBox="1"/>
          <p:nvPr/>
        </p:nvSpPr>
        <p:spPr>
          <a:xfrm>
            <a:off x="2509773" y="6421932"/>
            <a:ext cx="7179309" cy="330835"/>
          </a:xfrm>
          <a:prstGeom prst="rect">
            <a:avLst/>
          </a:prstGeom>
        </p:spPr>
        <p:txBody>
          <a:bodyPr vert="horz" wrap="square" lIns="0" tIns="12700" rIns="0" bIns="0" rtlCol="0">
            <a:spAutoFit/>
          </a:bodyPr>
          <a:lstStyle/>
          <a:p>
            <a:pPr marL="12700">
              <a:lnSpc>
                <a:spcPct val="100000"/>
              </a:lnSpc>
              <a:spcBef>
                <a:spcPts val="100"/>
              </a:spcBef>
            </a:pPr>
            <a:r>
              <a:rPr sz="2000" b="1" i="1" spc="-45" dirty="0">
                <a:solidFill>
                  <a:srgbClr val="FFFFFF"/>
                </a:solidFill>
                <a:latin typeface="Cambria"/>
                <a:cs typeface="Cambria"/>
              </a:rPr>
              <a:t>"In</a:t>
            </a:r>
            <a:r>
              <a:rPr sz="2000" b="1" i="1" spc="-85" dirty="0">
                <a:solidFill>
                  <a:srgbClr val="FFFFFF"/>
                </a:solidFill>
                <a:latin typeface="Cambria"/>
                <a:cs typeface="Cambria"/>
              </a:rPr>
              <a:t> </a:t>
            </a:r>
            <a:r>
              <a:rPr sz="2000" b="1" i="1" spc="-45" dirty="0">
                <a:solidFill>
                  <a:srgbClr val="FFFFFF"/>
                </a:solidFill>
                <a:latin typeface="Cambria"/>
                <a:cs typeface="Cambria"/>
              </a:rPr>
              <a:t>God</a:t>
            </a:r>
            <a:r>
              <a:rPr sz="2000" b="1" i="1" spc="-95" dirty="0">
                <a:solidFill>
                  <a:srgbClr val="FFFFFF"/>
                </a:solidFill>
                <a:latin typeface="Cambria"/>
                <a:cs typeface="Cambria"/>
              </a:rPr>
              <a:t> </a:t>
            </a:r>
            <a:r>
              <a:rPr sz="2000" b="1" i="1" spc="-45" dirty="0">
                <a:solidFill>
                  <a:srgbClr val="FFFFFF"/>
                </a:solidFill>
                <a:latin typeface="Cambria"/>
                <a:cs typeface="Cambria"/>
              </a:rPr>
              <a:t>we</a:t>
            </a:r>
            <a:r>
              <a:rPr sz="2000" b="1" i="1" spc="-70" dirty="0">
                <a:solidFill>
                  <a:srgbClr val="FFFFFF"/>
                </a:solidFill>
                <a:latin typeface="Cambria"/>
                <a:cs typeface="Cambria"/>
              </a:rPr>
              <a:t> </a:t>
            </a:r>
            <a:r>
              <a:rPr sz="2000" b="1" i="1" spc="-45" dirty="0">
                <a:solidFill>
                  <a:srgbClr val="FFFFFF"/>
                </a:solidFill>
                <a:latin typeface="Cambria"/>
                <a:cs typeface="Cambria"/>
              </a:rPr>
              <a:t>trust,</a:t>
            </a:r>
            <a:r>
              <a:rPr sz="2000" b="1" i="1" spc="-110" dirty="0">
                <a:solidFill>
                  <a:srgbClr val="FFFFFF"/>
                </a:solidFill>
                <a:latin typeface="Cambria"/>
                <a:cs typeface="Cambria"/>
              </a:rPr>
              <a:t> </a:t>
            </a:r>
            <a:r>
              <a:rPr sz="2000" b="1" i="1" spc="-40" dirty="0">
                <a:solidFill>
                  <a:srgbClr val="FFFFFF"/>
                </a:solidFill>
                <a:latin typeface="Cambria"/>
                <a:cs typeface="Cambria"/>
              </a:rPr>
              <a:t>all</a:t>
            </a:r>
            <a:r>
              <a:rPr sz="2000" b="1" i="1" spc="-80" dirty="0">
                <a:solidFill>
                  <a:srgbClr val="FFFFFF"/>
                </a:solidFill>
                <a:latin typeface="Cambria"/>
                <a:cs typeface="Cambria"/>
              </a:rPr>
              <a:t> </a:t>
            </a:r>
            <a:r>
              <a:rPr sz="2000" b="1" i="1" spc="-55" dirty="0">
                <a:solidFill>
                  <a:srgbClr val="FFFFFF"/>
                </a:solidFill>
                <a:latin typeface="Cambria"/>
                <a:cs typeface="Cambria"/>
              </a:rPr>
              <a:t>others</a:t>
            </a:r>
            <a:r>
              <a:rPr sz="2000" b="1" i="1" spc="-105" dirty="0">
                <a:solidFill>
                  <a:srgbClr val="FFFFFF"/>
                </a:solidFill>
                <a:latin typeface="Cambria"/>
                <a:cs typeface="Cambria"/>
              </a:rPr>
              <a:t> </a:t>
            </a:r>
            <a:r>
              <a:rPr sz="2000" b="1" i="1" spc="-50" dirty="0">
                <a:solidFill>
                  <a:srgbClr val="FFFFFF"/>
                </a:solidFill>
                <a:latin typeface="Cambria"/>
                <a:cs typeface="Cambria"/>
              </a:rPr>
              <a:t>must</a:t>
            </a:r>
            <a:r>
              <a:rPr sz="2000" b="1" i="1" spc="-90" dirty="0">
                <a:solidFill>
                  <a:srgbClr val="FFFFFF"/>
                </a:solidFill>
                <a:latin typeface="Cambria"/>
                <a:cs typeface="Cambria"/>
              </a:rPr>
              <a:t> </a:t>
            </a:r>
            <a:r>
              <a:rPr sz="2000" b="1" i="1" spc="-50" dirty="0">
                <a:solidFill>
                  <a:srgbClr val="FFFFFF"/>
                </a:solidFill>
                <a:latin typeface="Cambria"/>
                <a:cs typeface="Cambria"/>
              </a:rPr>
              <a:t>bring</a:t>
            </a:r>
            <a:r>
              <a:rPr sz="2000" b="1" i="1" spc="-100" dirty="0">
                <a:solidFill>
                  <a:srgbClr val="FFFFFF"/>
                </a:solidFill>
                <a:latin typeface="Cambria"/>
                <a:cs typeface="Cambria"/>
              </a:rPr>
              <a:t> </a:t>
            </a:r>
            <a:r>
              <a:rPr sz="2000" b="1" i="1" spc="-70" dirty="0">
                <a:solidFill>
                  <a:srgbClr val="FFFFFF"/>
                </a:solidFill>
                <a:latin typeface="Cambria"/>
                <a:cs typeface="Cambria"/>
              </a:rPr>
              <a:t>data."</a:t>
            </a:r>
            <a:r>
              <a:rPr sz="2000" b="1" i="1" spc="-114" dirty="0">
                <a:solidFill>
                  <a:srgbClr val="FFFFFF"/>
                </a:solidFill>
                <a:latin typeface="Cambria"/>
                <a:cs typeface="Cambria"/>
              </a:rPr>
              <a:t> </a:t>
            </a:r>
            <a:r>
              <a:rPr sz="2000" b="1" i="1" dirty="0">
                <a:solidFill>
                  <a:srgbClr val="FFFFFF"/>
                </a:solidFill>
                <a:latin typeface="Cambria"/>
                <a:cs typeface="Cambria"/>
              </a:rPr>
              <a:t>–</a:t>
            </a:r>
            <a:r>
              <a:rPr sz="2000" b="1" i="1" spc="-95" dirty="0">
                <a:solidFill>
                  <a:srgbClr val="FFFFFF"/>
                </a:solidFill>
                <a:latin typeface="Cambria"/>
                <a:cs typeface="Cambria"/>
              </a:rPr>
              <a:t> </a:t>
            </a:r>
            <a:r>
              <a:rPr sz="2000" b="1" i="1" spc="-125" dirty="0">
                <a:solidFill>
                  <a:srgbClr val="FFFFFF"/>
                </a:solidFill>
                <a:latin typeface="Cambria"/>
                <a:cs typeface="Cambria"/>
              </a:rPr>
              <a:t>W.</a:t>
            </a:r>
            <a:r>
              <a:rPr sz="2000" b="1" i="1" spc="-75" dirty="0">
                <a:solidFill>
                  <a:srgbClr val="FFFFFF"/>
                </a:solidFill>
                <a:latin typeface="Cambria"/>
                <a:cs typeface="Cambria"/>
              </a:rPr>
              <a:t> </a:t>
            </a:r>
            <a:r>
              <a:rPr sz="2000" b="1" i="1" spc="-65" dirty="0">
                <a:solidFill>
                  <a:srgbClr val="FFFFFF"/>
                </a:solidFill>
                <a:latin typeface="Cambria"/>
                <a:cs typeface="Cambria"/>
              </a:rPr>
              <a:t>Edwards</a:t>
            </a:r>
            <a:r>
              <a:rPr sz="2000" b="1" i="1" spc="-105" dirty="0">
                <a:solidFill>
                  <a:srgbClr val="FFFFFF"/>
                </a:solidFill>
                <a:latin typeface="Cambria"/>
                <a:cs typeface="Cambria"/>
              </a:rPr>
              <a:t> </a:t>
            </a:r>
            <a:r>
              <a:rPr sz="2000" b="1" i="1" spc="-10" dirty="0">
                <a:solidFill>
                  <a:srgbClr val="FFFFFF"/>
                </a:solidFill>
                <a:latin typeface="Cambria"/>
                <a:cs typeface="Cambria"/>
              </a:rPr>
              <a:t>Deming</a:t>
            </a:r>
            <a:endParaRPr sz="2000">
              <a:latin typeface="Cambria"/>
              <a:cs typeface="Cambria"/>
            </a:endParaRPr>
          </a:p>
        </p:txBody>
      </p:sp>
      <p:pic>
        <p:nvPicPr>
          <p:cNvPr id="5" name="object 5"/>
          <p:cNvPicPr/>
          <p:nvPr/>
        </p:nvPicPr>
        <p:blipFill>
          <a:blip r:embed="rId2" cstate="print"/>
          <a:stretch>
            <a:fillRect/>
          </a:stretch>
        </p:blipFill>
        <p:spPr>
          <a:xfrm>
            <a:off x="772668" y="1789176"/>
            <a:ext cx="2857500" cy="1600200"/>
          </a:xfrm>
          <a:prstGeom prst="rect">
            <a:avLst/>
          </a:prstGeom>
        </p:spPr>
      </p:pic>
      <p:pic>
        <p:nvPicPr>
          <p:cNvPr id="6" name="object 6" descr="Introduction to matplotlib : Types of Plots, Key features - 360DigiTMG"/>
          <p:cNvPicPr/>
          <p:nvPr/>
        </p:nvPicPr>
        <p:blipFill>
          <a:blip r:embed="rId3" cstate="print"/>
          <a:stretch>
            <a:fillRect/>
          </a:stretch>
        </p:blipFill>
        <p:spPr>
          <a:xfrm>
            <a:off x="7484364" y="1789176"/>
            <a:ext cx="3992879" cy="2089404"/>
          </a:xfrm>
          <a:prstGeom prst="rect">
            <a:avLst/>
          </a:prstGeom>
        </p:spPr>
      </p:pic>
      <p:pic>
        <p:nvPicPr>
          <p:cNvPr id="7" name="object 7" descr="seaborn · GitHub"/>
          <p:cNvPicPr/>
          <p:nvPr/>
        </p:nvPicPr>
        <p:blipFill>
          <a:blip r:embed="rId4" cstate="print"/>
          <a:stretch>
            <a:fillRect/>
          </a:stretch>
        </p:blipFill>
        <p:spPr>
          <a:xfrm>
            <a:off x="4924044" y="1662683"/>
            <a:ext cx="1266444" cy="12679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5" dirty="0"/>
              <a:t>Introduction</a:t>
            </a:r>
            <a:r>
              <a:rPr spc="-215" dirty="0"/>
              <a:t> </a:t>
            </a:r>
            <a:r>
              <a:rPr dirty="0"/>
              <a:t>to</a:t>
            </a:r>
            <a:r>
              <a:rPr spc="-229" dirty="0"/>
              <a:t> </a:t>
            </a:r>
            <a:r>
              <a:rPr spc="-30" dirty="0"/>
              <a:t>Matplotlib</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2</a:t>
            </a:fld>
            <a:endParaRPr spc="-25" dirty="0"/>
          </a:p>
        </p:txBody>
      </p:sp>
      <p:sp>
        <p:nvSpPr>
          <p:cNvPr id="3" name="object 3"/>
          <p:cNvSpPr txBox="1"/>
          <p:nvPr/>
        </p:nvSpPr>
        <p:spPr>
          <a:xfrm>
            <a:off x="1084580" y="1066311"/>
            <a:ext cx="9976485" cy="4578350"/>
          </a:xfrm>
          <a:prstGeom prst="rect">
            <a:avLst/>
          </a:prstGeom>
        </p:spPr>
        <p:txBody>
          <a:bodyPr vert="horz" wrap="square" lIns="0" tIns="129539" rIns="0" bIns="0" rtlCol="0">
            <a:spAutoFit/>
          </a:bodyPr>
          <a:lstStyle/>
          <a:p>
            <a:pPr marL="300355" indent="-287655">
              <a:lnSpc>
                <a:spcPct val="100000"/>
              </a:lnSpc>
              <a:spcBef>
                <a:spcPts val="1019"/>
              </a:spcBef>
              <a:buClr>
                <a:srgbClr val="1CACE3"/>
              </a:buClr>
              <a:buFont typeface="Arial MT"/>
              <a:buChar char="•"/>
              <a:tabLst>
                <a:tab pos="300355" algn="l"/>
              </a:tabLst>
            </a:pPr>
            <a:r>
              <a:rPr sz="4000" b="1" dirty="0">
                <a:solidFill>
                  <a:srgbClr val="404040"/>
                </a:solidFill>
                <a:latin typeface="Cambria"/>
                <a:cs typeface="Cambria"/>
              </a:rPr>
              <a:t>What</a:t>
            </a:r>
            <a:r>
              <a:rPr sz="4000" b="1" spc="-70" dirty="0">
                <a:solidFill>
                  <a:srgbClr val="404040"/>
                </a:solidFill>
                <a:latin typeface="Cambria"/>
                <a:cs typeface="Cambria"/>
              </a:rPr>
              <a:t> </a:t>
            </a:r>
            <a:r>
              <a:rPr sz="4000" b="1" dirty="0">
                <a:solidFill>
                  <a:srgbClr val="404040"/>
                </a:solidFill>
                <a:latin typeface="Cambria"/>
                <a:cs typeface="Cambria"/>
              </a:rPr>
              <a:t>is</a:t>
            </a:r>
            <a:r>
              <a:rPr sz="4000" b="1" spc="-75" dirty="0">
                <a:solidFill>
                  <a:srgbClr val="404040"/>
                </a:solidFill>
                <a:latin typeface="Cambria"/>
                <a:cs typeface="Cambria"/>
              </a:rPr>
              <a:t> </a:t>
            </a:r>
            <a:r>
              <a:rPr sz="4000" b="1" spc="-10" dirty="0">
                <a:solidFill>
                  <a:srgbClr val="404040"/>
                </a:solidFill>
                <a:latin typeface="Cambria"/>
                <a:cs typeface="Cambria"/>
              </a:rPr>
              <a:t>Matplotlib?</a:t>
            </a:r>
            <a:endParaRPr sz="4000" dirty="0">
              <a:latin typeface="Cambria"/>
              <a:cs typeface="Cambria"/>
            </a:endParaRPr>
          </a:p>
          <a:p>
            <a:pPr marL="300355" marR="399415" indent="-288290">
              <a:lnSpc>
                <a:spcPts val="4320"/>
              </a:lnSpc>
              <a:spcBef>
                <a:spcPts val="1470"/>
              </a:spcBef>
              <a:buClr>
                <a:srgbClr val="1CACE3"/>
              </a:buClr>
              <a:buFont typeface="Arial MT"/>
              <a:buChar char="•"/>
              <a:tabLst>
                <a:tab pos="300355" algn="l"/>
              </a:tabLst>
            </a:pPr>
            <a:r>
              <a:rPr sz="4000" dirty="0">
                <a:solidFill>
                  <a:srgbClr val="404040"/>
                </a:solidFill>
                <a:latin typeface="Cambria"/>
                <a:cs typeface="Cambria"/>
              </a:rPr>
              <a:t>Matplotlib</a:t>
            </a:r>
            <a:r>
              <a:rPr sz="4000" spc="-85" dirty="0">
                <a:solidFill>
                  <a:srgbClr val="404040"/>
                </a:solidFill>
                <a:latin typeface="Cambria"/>
                <a:cs typeface="Cambria"/>
              </a:rPr>
              <a:t> </a:t>
            </a:r>
            <a:r>
              <a:rPr sz="4000" dirty="0">
                <a:solidFill>
                  <a:srgbClr val="404040"/>
                </a:solidFill>
                <a:latin typeface="Cambria"/>
                <a:cs typeface="Cambria"/>
              </a:rPr>
              <a:t>is</a:t>
            </a:r>
            <a:r>
              <a:rPr sz="4000" spc="-75" dirty="0">
                <a:solidFill>
                  <a:srgbClr val="404040"/>
                </a:solidFill>
                <a:latin typeface="Cambria"/>
                <a:cs typeface="Cambria"/>
              </a:rPr>
              <a:t> </a:t>
            </a:r>
            <a:r>
              <a:rPr sz="4000" dirty="0">
                <a:solidFill>
                  <a:srgbClr val="404040"/>
                </a:solidFill>
                <a:latin typeface="Cambria"/>
                <a:cs typeface="Cambria"/>
              </a:rPr>
              <a:t>a</a:t>
            </a:r>
            <a:r>
              <a:rPr sz="4000" spc="-80" dirty="0">
                <a:solidFill>
                  <a:srgbClr val="404040"/>
                </a:solidFill>
                <a:latin typeface="Cambria"/>
                <a:cs typeface="Cambria"/>
              </a:rPr>
              <a:t> </a:t>
            </a:r>
            <a:r>
              <a:rPr sz="4000" dirty="0">
                <a:solidFill>
                  <a:srgbClr val="404040"/>
                </a:solidFill>
                <a:latin typeface="Cambria"/>
                <a:cs typeface="Cambria"/>
              </a:rPr>
              <a:t>Python</a:t>
            </a:r>
            <a:r>
              <a:rPr sz="4000" spc="-85" dirty="0">
                <a:solidFill>
                  <a:srgbClr val="404040"/>
                </a:solidFill>
                <a:latin typeface="Cambria"/>
                <a:cs typeface="Cambria"/>
              </a:rPr>
              <a:t> </a:t>
            </a:r>
            <a:r>
              <a:rPr sz="4000" dirty="0">
                <a:solidFill>
                  <a:srgbClr val="404040"/>
                </a:solidFill>
                <a:latin typeface="Cambria"/>
                <a:cs typeface="Cambria"/>
              </a:rPr>
              <a:t>library</a:t>
            </a:r>
            <a:r>
              <a:rPr sz="4000" spc="-80" dirty="0">
                <a:solidFill>
                  <a:srgbClr val="404040"/>
                </a:solidFill>
                <a:latin typeface="Cambria"/>
                <a:cs typeface="Cambria"/>
              </a:rPr>
              <a:t> </a:t>
            </a:r>
            <a:r>
              <a:rPr sz="4000" dirty="0">
                <a:solidFill>
                  <a:srgbClr val="404040"/>
                </a:solidFill>
                <a:latin typeface="Cambria"/>
                <a:cs typeface="Cambria"/>
              </a:rPr>
              <a:t>used</a:t>
            </a:r>
            <a:r>
              <a:rPr sz="4000" spc="-75" dirty="0">
                <a:solidFill>
                  <a:srgbClr val="404040"/>
                </a:solidFill>
                <a:latin typeface="Cambria"/>
                <a:cs typeface="Cambria"/>
              </a:rPr>
              <a:t> </a:t>
            </a:r>
            <a:r>
              <a:rPr sz="4000" dirty="0">
                <a:solidFill>
                  <a:srgbClr val="404040"/>
                </a:solidFill>
                <a:latin typeface="Cambria"/>
                <a:cs typeface="Cambria"/>
              </a:rPr>
              <a:t>for</a:t>
            </a:r>
            <a:r>
              <a:rPr sz="4000" spc="-80" dirty="0">
                <a:solidFill>
                  <a:srgbClr val="404040"/>
                </a:solidFill>
                <a:latin typeface="Cambria"/>
                <a:cs typeface="Cambria"/>
              </a:rPr>
              <a:t> </a:t>
            </a:r>
            <a:r>
              <a:rPr sz="4000" spc="-20" dirty="0">
                <a:solidFill>
                  <a:srgbClr val="404040"/>
                </a:solidFill>
                <a:latin typeface="Cambria"/>
                <a:cs typeface="Cambria"/>
              </a:rPr>
              <a:t>data </a:t>
            </a:r>
            <a:r>
              <a:rPr sz="4000" spc="-10" dirty="0">
                <a:solidFill>
                  <a:srgbClr val="404040"/>
                </a:solidFill>
                <a:latin typeface="Cambria"/>
                <a:cs typeface="Cambria"/>
              </a:rPr>
              <a:t>visualization.</a:t>
            </a:r>
            <a:endParaRPr sz="4000" dirty="0">
              <a:latin typeface="Cambria"/>
              <a:cs typeface="Cambria"/>
            </a:endParaRPr>
          </a:p>
          <a:p>
            <a:pPr marL="300355" marR="5080" indent="-288290">
              <a:lnSpc>
                <a:spcPts val="4320"/>
              </a:lnSpc>
              <a:spcBef>
                <a:spcPts val="1405"/>
              </a:spcBef>
              <a:buClr>
                <a:srgbClr val="1CACE3"/>
              </a:buClr>
              <a:buFont typeface="Arial MT"/>
              <a:buChar char="•"/>
              <a:tabLst>
                <a:tab pos="300355" algn="l"/>
              </a:tabLst>
            </a:pPr>
            <a:r>
              <a:rPr sz="4000" dirty="0">
                <a:solidFill>
                  <a:srgbClr val="404040"/>
                </a:solidFill>
                <a:latin typeface="Cambria"/>
                <a:cs typeface="Cambria"/>
              </a:rPr>
              <a:t>It</a:t>
            </a:r>
            <a:r>
              <a:rPr sz="4000" spc="-110" dirty="0">
                <a:solidFill>
                  <a:srgbClr val="404040"/>
                </a:solidFill>
                <a:latin typeface="Cambria"/>
                <a:cs typeface="Cambria"/>
              </a:rPr>
              <a:t> </a:t>
            </a:r>
            <a:r>
              <a:rPr sz="4000" dirty="0">
                <a:solidFill>
                  <a:srgbClr val="404040"/>
                </a:solidFill>
                <a:latin typeface="Cambria"/>
                <a:cs typeface="Cambria"/>
              </a:rPr>
              <a:t>allows</a:t>
            </a:r>
            <a:r>
              <a:rPr sz="4000" spc="-90" dirty="0">
                <a:solidFill>
                  <a:srgbClr val="404040"/>
                </a:solidFill>
                <a:latin typeface="Cambria"/>
                <a:cs typeface="Cambria"/>
              </a:rPr>
              <a:t> </a:t>
            </a:r>
            <a:r>
              <a:rPr sz="4000" dirty="0">
                <a:solidFill>
                  <a:srgbClr val="404040"/>
                </a:solidFill>
                <a:latin typeface="Cambria"/>
                <a:cs typeface="Cambria"/>
              </a:rPr>
              <a:t>the</a:t>
            </a:r>
            <a:r>
              <a:rPr sz="4000" spc="-110" dirty="0">
                <a:solidFill>
                  <a:srgbClr val="404040"/>
                </a:solidFill>
                <a:latin typeface="Cambria"/>
                <a:cs typeface="Cambria"/>
              </a:rPr>
              <a:t> </a:t>
            </a:r>
            <a:r>
              <a:rPr sz="4000" dirty="0">
                <a:solidFill>
                  <a:srgbClr val="404040"/>
                </a:solidFill>
                <a:latin typeface="Cambria"/>
                <a:cs typeface="Cambria"/>
              </a:rPr>
              <a:t>creation</a:t>
            </a:r>
            <a:r>
              <a:rPr sz="4000" spc="-114" dirty="0">
                <a:solidFill>
                  <a:srgbClr val="404040"/>
                </a:solidFill>
                <a:latin typeface="Cambria"/>
                <a:cs typeface="Cambria"/>
              </a:rPr>
              <a:t> </a:t>
            </a:r>
            <a:r>
              <a:rPr sz="4000" dirty="0">
                <a:solidFill>
                  <a:srgbClr val="404040"/>
                </a:solidFill>
                <a:latin typeface="Cambria"/>
                <a:cs typeface="Cambria"/>
              </a:rPr>
              <a:t>of</a:t>
            </a:r>
            <a:r>
              <a:rPr sz="4000" spc="-110" dirty="0">
                <a:solidFill>
                  <a:srgbClr val="404040"/>
                </a:solidFill>
                <a:latin typeface="Cambria"/>
                <a:cs typeface="Cambria"/>
              </a:rPr>
              <a:t> </a:t>
            </a:r>
            <a:r>
              <a:rPr sz="4000" dirty="0">
                <a:solidFill>
                  <a:srgbClr val="404040"/>
                </a:solidFill>
                <a:latin typeface="Cambria"/>
                <a:cs typeface="Cambria"/>
              </a:rPr>
              <a:t>static,</a:t>
            </a:r>
            <a:r>
              <a:rPr sz="4000" spc="-105" dirty="0">
                <a:solidFill>
                  <a:srgbClr val="404040"/>
                </a:solidFill>
                <a:latin typeface="Cambria"/>
                <a:cs typeface="Cambria"/>
              </a:rPr>
              <a:t> </a:t>
            </a:r>
            <a:r>
              <a:rPr sz="4000" spc="-10" dirty="0">
                <a:solidFill>
                  <a:srgbClr val="404040"/>
                </a:solidFill>
                <a:latin typeface="Cambria"/>
                <a:cs typeface="Cambria"/>
              </a:rPr>
              <a:t>animated,</a:t>
            </a:r>
            <a:r>
              <a:rPr sz="4000" spc="-110" dirty="0">
                <a:solidFill>
                  <a:srgbClr val="404040"/>
                </a:solidFill>
                <a:latin typeface="Cambria"/>
                <a:cs typeface="Cambria"/>
              </a:rPr>
              <a:t> </a:t>
            </a:r>
            <a:r>
              <a:rPr sz="4000" spc="-25" dirty="0">
                <a:solidFill>
                  <a:srgbClr val="404040"/>
                </a:solidFill>
                <a:latin typeface="Cambria"/>
                <a:cs typeface="Cambria"/>
              </a:rPr>
              <a:t>and </a:t>
            </a:r>
            <a:r>
              <a:rPr sz="4000" spc="-20" dirty="0">
                <a:solidFill>
                  <a:srgbClr val="404040"/>
                </a:solidFill>
                <a:latin typeface="Cambria"/>
                <a:cs typeface="Cambria"/>
              </a:rPr>
              <a:t>interactive</a:t>
            </a:r>
            <a:r>
              <a:rPr sz="4000" spc="-120" dirty="0">
                <a:solidFill>
                  <a:srgbClr val="404040"/>
                </a:solidFill>
                <a:latin typeface="Cambria"/>
                <a:cs typeface="Cambria"/>
              </a:rPr>
              <a:t> </a:t>
            </a:r>
            <a:r>
              <a:rPr sz="4000" spc="-10" dirty="0">
                <a:solidFill>
                  <a:srgbClr val="404040"/>
                </a:solidFill>
                <a:latin typeface="Cambria"/>
                <a:cs typeface="Cambria"/>
              </a:rPr>
              <a:t>plots.</a:t>
            </a:r>
            <a:endParaRPr sz="4000" dirty="0">
              <a:latin typeface="Cambria"/>
              <a:cs typeface="Cambria"/>
            </a:endParaRPr>
          </a:p>
          <a:p>
            <a:pPr marL="300355" marR="69215" indent="-288290">
              <a:lnSpc>
                <a:spcPts val="4320"/>
              </a:lnSpc>
              <a:spcBef>
                <a:spcPts val="1395"/>
              </a:spcBef>
              <a:buClr>
                <a:srgbClr val="1CACE3"/>
              </a:buClr>
              <a:buFont typeface="Arial MT"/>
              <a:buChar char="•"/>
              <a:tabLst>
                <a:tab pos="300355" algn="l"/>
              </a:tabLst>
            </a:pPr>
            <a:r>
              <a:rPr sz="4000" dirty="0">
                <a:solidFill>
                  <a:srgbClr val="404040"/>
                </a:solidFill>
                <a:latin typeface="Cambria"/>
                <a:cs typeface="Cambria"/>
              </a:rPr>
              <a:t>Highly</a:t>
            </a:r>
            <a:r>
              <a:rPr sz="4000" spc="-130" dirty="0">
                <a:solidFill>
                  <a:srgbClr val="404040"/>
                </a:solidFill>
                <a:latin typeface="Cambria"/>
                <a:cs typeface="Cambria"/>
              </a:rPr>
              <a:t> </a:t>
            </a:r>
            <a:r>
              <a:rPr sz="4000" spc="-10" dirty="0">
                <a:solidFill>
                  <a:srgbClr val="404040"/>
                </a:solidFill>
                <a:latin typeface="Cambria"/>
                <a:cs typeface="Cambria"/>
              </a:rPr>
              <a:t>customizable</a:t>
            </a:r>
            <a:r>
              <a:rPr sz="4000" spc="-125" dirty="0">
                <a:solidFill>
                  <a:srgbClr val="404040"/>
                </a:solidFill>
                <a:latin typeface="Cambria"/>
                <a:cs typeface="Cambria"/>
              </a:rPr>
              <a:t> </a:t>
            </a:r>
            <a:r>
              <a:rPr sz="4000" dirty="0">
                <a:solidFill>
                  <a:srgbClr val="404040"/>
                </a:solidFill>
                <a:latin typeface="Cambria"/>
                <a:cs typeface="Cambria"/>
              </a:rPr>
              <a:t>and</a:t>
            </a:r>
            <a:r>
              <a:rPr sz="4000" spc="-130" dirty="0">
                <a:solidFill>
                  <a:srgbClr val="404040"/>
                </a:solidFill>
                <a:latin typeface="Cambria"/>
                <a:cs typeface="Cambria"/>
              </a:rPr>
              <a:t> </a:t>
            </a:r>
            <a:r>
              <a:rPr sz="4000" dirty="0">
                <a:solidFill>
                  <a:srgbClr val="404040"/>
                </a:solidFill>
                <a:latin typeface="Cambria"/>
                <a:cs typeface="Cambria"/>
              </a:rPr>
              <a:t>widely</a:t>
            </a:r>
            <a:r>
              <a:rPr sz="4000" spc="-125" dirty="0">
                <a:solidFill>
                  <a:srgbClr val="404040"/>
                </a:solidFill>
                <a:latin typeface="Cambria"/>
                <a:cs typeface="Cambria"/>
              </a:rPr>
              <a:t> </a:t>
            </a:r>
            <a:r>
              <a:rPr sz="4000" dirty="0">
                <a:solidFill>
                  <a:srgbClr val="404040"/>
                </a:solidFill>
                <a:latin typeface="Cambria"/>
                <a:cs typeface="Cambria"/>
              </a:rPr>
              <a:t>used</a:t>
            </a:r>
            <a:r>
              <a:rPr sz="4000" spc="-114" dirty="0">
                <a:solidFill>
                  <a:srgbClr val="404040"/>
                </a:solidFill>
                <a:latin typeface="Cambria"/>
                <a:cs typeface="Cambria"/>
              </a:rPr>
              <a:t> </a:t>
            </a:r>
            <a:r>
              <a:rPr sz="4000" dirty="0">
                <a:solidFill>
                  <a:srgbClr val="404040"/>
                </a:solidFill>
                <a:latin typeface="Cambria"/>
                <a:cs typeface="Cambria"/>
              </a:rPr>
              <a:t>in</a:t>
            </a:r>
            <a:r>
              <a:rPr sz="4000" spc="-130" dirty="0">
                <a:solidFill>
                  <a:srgbClr val="404040"/>
                </a:solidFill>
                <a:latin typeface="Cambria"/>
                <a:cs typeface="Cambria"/>
              </a:rPr>
              <a:t> </a:t>
            </a:r>
            <a:r>
              <a:rPr sz="4000" spc="-20" dirty="0">
                <a:solidFill>
                  <a:srgbClr val="404040"/>
                </a:solidFill>
                <a:latin typeface="Cambria"/>
                <a:cs typeface="Cambria"/>
              </a:rPr>
              <a:t>data </a:t>
            </a:r>
            <a:r>
              <a:rPr sz="4000" dirty="0">
                <a:solidFill>
                  <a:srgbClr val="404040"/>
                </a:solidFill>
                <a:latin typeface="Cambria"/>
                <a:cs typeface="Cambria"/>
              </a:rPr>
              <a:t>science</a:t>
            </a:r>
            <a:r>
              <a:rPr sz="4000" spc="-110" dirty="0">
                <a:solidFill>
                  <a:srgbClr val="404040"/>
                </a:solidFill>
                <a:latin typeface="Cambria"/>
                <a:cs typeface="Cambria"/>
              </a:rPr>
              <a:t> </a:t>
            </a:r>
            <a:r>
              <a:rPr sz="4000" dirty="0">
                <a:solidFill>
                  <a:srgbClr val="404040"/>
                </a:solidFill>
                <a:latin typeface="Cambria"/>
                <a:cs typeface="Cambria"/>
              </a:rPr>
              <a:t>and</a:t>
            </a:r>
            <a:r>
              <a:rPr sz="4000" spc="-100" dirty="0">
                <a:solidFill>
                  <a:srgbClr val="404040"/>
                </a:solidFill>
                <a:latin typeface="Cambria"/>
                <a:cs typeface="Cambria"/>
              </a:rPr>
              <a:t> </a:t>
            </a:r>
            <a:r>
              <a:rPr sz="4000" dirty="0">
                <a:solidFill>
                  <a:srgbClr val="404040"/>
                </a:solidFill>
                <a:latin typeface="Cambria"/>
                <a:cs typeface="Cambria"/>
              </a:rPr>
              <a:t>machine</a:t>
            </a:r>
            <a:r>
              <a:rPr sz="4000" spc="-110" dirty="0">
                <a:solidFill>
                  <a:srgbClr val="404040"/>
                </a:solidFill>
                <a:latin typeface="Cambria"/>
                <a:cs typeface="Cambria"/>
              </a:rPr>
              <a:t> </a:t>
            </a:r>
            <a:r>
              <a:rPr sz="4000" spc="-10" dirty="0">
                <a:solidFill>
                  <a:srgbClr val="404040"/>
                </a:solidFill>
                <a:latin typeface="Cambria"/>
                <a:cs typeface="Cambria"/>
              </a:rPr>
              <a:t>learning.</a:t>
            </a:r>
            <a:endParaRPr sz="4000" dirty="0">
              <a:latin typeface="Cambria"/>
              <a:cs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0" dirty="0"/>
              <a:t>Key</a:t>
            </a:r>
            <a:r>
              <a:rPr spc="-150" dirty="0"/>
              <a:t> </a:t>
            </a:r>
            <a:r>
              <a:rPr spc="-70" dirty="0"/>
              <a:t>Features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a:t>
            </a:fld>
            <a:endParaRPr spc="-25" dirty="0"/>
          </a:p>
        </p:txBody>
      </p:sp>
      <p:sp>
        <p:nvSpPr>
          <p:cNvPr id="3" name="object 3"/>
          <p:cNvSpPr txBox="1"/>
          <p:nvPr/>
        </p:nvSpPr>
        <p:spPr>
          <a:xfrm>
            <a:off x="1084580" y="1122934"/>
            <a:ext cx="10516235" cy="4582795"/>
          </a:xfrm>
          <a:prstGeom prst="rect">
            <a:avLst/>
          </a:prstGeom>
        </p:spPr>
        <p:txBody>
          <a:bodyPr vert="horz" wrap="square" lIns="0" tIns="133985" rIns="0" bIns="0" rtlCol="0">
            <a:spAutoFit/>
          </a:bodyPr>
          <a:lstStyle/>
          <a:p>
            <a:pPr marL="300355" marR="531495" indent="-288290">
              <a:lnSpc>
                <a:spcPct val="80000"/>
              </a:lnSpc>
              <a:spcBef>
                <a:spcPts val="1055"/>
              </a:spcBef>
              <a:buClr>
                <a:srgbClr val="1CACE3"/>
              </a:buClr>
              <a:buFont typeface="Arial MT"/>
              <a:buChar char="•"/>
              <a:tabLst>
                <a:tab pos="300355" algn="l"/>
              </a:tabLst>
            </a:pPr>
            <a:r>
              <a:rPr sz="4000" spc="-10" dirty="0">
                <a:solidFill>
                  <a:srgbClr val="404040"/>
                </a:solidFill>
                <a:latin typeface="Cambria"/>
                <a:cs typeface="Cambria"/>
              </a:rPr>
              <a:t>Variety</a:t>
            </a:r>
            <a:r>
              <a:rPr sz="4000" spc="-125" dirty="0">
                <a:solidFill>
                  <a:srgbClr val="404040"/>
                </a:solidFill>
                <a:latin typeface="Cambria"/>
                <a:cs typeface="Cambria"/>
              </a:rPr>
              <a:t> </a:t>
            </a:r>
            <a:r>
              <a:rPr sz="4000" dirty="0">
                <a:solidFill>
                  <a:srgbClr val="404040"/>
                </a:solidFill>
                <a:latin typeface="Cambria"/>
                <a:cs typeface="Cambria"/>
              </a:rPr>
              <a:t>of</a:t>
            </a:r>
            <a:r>
              <a:rPr sz="4000" spc="-114" dirty="0">
                <a:solidFill>
                  <a:srgbClr val="404040"/>
                </a:solidFill>
                <a:latin typeface="Cambria"/>
                <a:cs typeface="Cambria"/>
              </a:rPr>
              <a:t> </a:t>
            </a:r>
            <a:r>
              <a:rPr sz="4000" dirty="0">
                <a:solidFill>
                  <a:srgbClr val="404040"/>
                </a:solidFill>
                <a:latin typeface="Cambria"/>
                <a:cs typeface="Cambria"/>
              </a:rPr>
              <a:t>plots:</a:t>
            </a:r>
            <a:r>
              <a:rPr sz="4000" spc="-120" dirty="0">
                <a:solidFill>
                  <a:srgbClr val="404040"/>
                </a:solidFill>
                <a:latin typeface="Cambria"/>
                <a:cs typeface="Cambria"/>
              </a:rPr>
              <a:t> </a:t>
            </a:r>
            <a:r>
              <a:rPr sz="4000" dirty="0">
                <a:solidFill>
                  <a:srgbClr val="404040"/>
                </a:solidFill>
                <a:latin typeface="Cambria"/>
                <a:cs typeface="Cambria"/>
              </a:rPr>
              <a:t>Line,</a:t>
            </a:r>
            <a:r>
              <a:rPr sz="4000" spc="-114" dirty="0">
                <a:solidFill>
                  <a:srgbClr val="404040"/>
                </a:solidFill>
                <a:latin typeface="Cambria"/>
                <a:cs typeface="Cambria"/>
              </a:rPr>
              <a:t> </a:t>
            </a:r>
            <a:r>
              <a:rPr sz="4000" spc="-70" dirty="0">
                <a:solidFill>
                  <a:srgbClr val="404040"/>
                </a:solidFill>
                <a:latin typeface="Cambria"/>
                <a:cs typeface="Cambria"/>
              </a:rPr>
              <a:t>Bar,</a:t>
            </a:r>
            <a:r>
              <a:rPr sz="4000" spc="-114" dirty="0">
                <a:solidFill>
                  <a:srgbClr val="404040"/>
                </a:solidFill>
                <a:latin typeface="Cambria"/>
                <a:cs typeface="Cambria"/>
              </a:rPr>
              <a:t> </a:t>
            </a:r>
            <a:r>
              <a:rPr sz="4000" spc="-20" dirty="0">
                <a:solidFill>
                  <a:srgbClr val="404040"/>
                </a:solidFill>
                <a:latin typeface="Cambria"/>
                <a:cs typeface="Cambria"/>
              </a:rPr>
              <a:t>Histogram,</a:t>
            </a:r>
            <a:r>
              <a:rPr sz="4000" spc="-114" dirty="0">
                <a:solidFill>
                  <a:srgbClr val="404040"/>
                </a:solidFill>
                <a:latin typeface="Cambria"/>
                <a:cs typeface="Cambria"/>
              </a:rPr>
              <a:t> </a:t>
            </a:r>
            <a:r>
              <a:rPr sz="4000" spc="-10" dirty="0">
                <a:solidFill>
                  <a:srgbClr val="404040"/>
                </a:solidFill>
                <a:latin typeface="Cambria"/>
                <a:cs typeface="Cambria"/>
              </a:rPr>
              <a:t>Scatter, </a:t>
            </a:r>
            <a:r>
              <a:rPr sz="4000" spc="-20" dirty="0">
                <a:solidFill>
                  <a:srgbClr val="404040"/>
                </a:solidFill>
                <a:latin typeface="Cambria"/>
                <a:cs typeface="Cambria"/>
              </a:rPr>
              <a:t>etc.</a:t>
            </a:r>
            <a:endParaRPr sz="4000" dirty="0">
              <a:latin typeface="Cambria"/>
              <a:cs typeface="Cambria"/>
            </a:endParaRPr>
          </a:p>
          <a:p>
            <a:pPr marL="300355" marR="1371600" indent="-288290">
              <a:lnSpc>
                <a:spcPct val="80000"/>
              </a:lnSpc>
              <a:spcBef>
                <a:spcPts val="1405"/>
              </a:spcBef>
              <a:buClr>
                <a:srgbClr val="1CACE3"/>
              </a:buClr>
              <a:buFont typeface="Arial MT"/>
              <a:buChar char="•"/>
              <a:tabLst>
                <a:tab pos="300355" algn="l"/>
              </a:tabLst>
            </a:pPr>
            <a:r>
              <a:rPr sz="4000" dirty="0">
                <a:solidFill>
                  <a:srgbClr val="404040"/>
                </a:solidFill>
                <a:latin typeface="Cambria"/>
                <a:cs typeface="Cambria"/>
              </a:rPr>
              <a:t>High</a:t>
            </a:r>
            <a:r>
              <a:rPr sz="4000" spc="-130" dirty="0">
                <a:solidFill>
                  <a:srgbClr val="404040"/>
                </a:solidFill>
                <a:latin typeface="Cambria"/>
                <a:cs typeface="Cambria"/>
              </a:rPr>
              <a:t> </a:t>
            </a:r>
            <a:r>
              <a:rPr sz="4000" dirty="0">
                <a:solidFill>
                  <a:srgbClr val="404040"/>
                </a:solidFill>
                <a:latin typeface="Cambria"/>
                <a:cs typeface="Cambria"/>
              </a:rPr>
              <a:t>level</a:t>
            </a:r>
            <a:r>
              <a:rPr sz="4000" spc="-114" dirty="0">
                <a:solidFill>
                  <a:srgbClr val="404040"/>
                </a:solidFill>
                <a:latin typeface="Cambria"/>
                <a:cs typeface="Cambria"/>
              </a:rPr>
              <a:t> </a:t>
            </a:r>
            <a:r>
              <a:rPr sz="4000" dirty="0">
                <a:solidFill>
                  <a:srgbClr val="404040"/>
                </a:solidFill>
                <a:latin typeface="Cambria"/>
                <a:cs typeface="Cambria"/>
              </a:rPr>
              <a:t>of</a:t>
            </a:r>
            <a:r>
              <a:rPr sz="4000" spc="-110" dirty="0">
                <a:solidFill>
                  <a:srgbClr val="404040"/>
                </a:solidFill>
                <a:latin typeface="Cambria"/>
                <a:cs typeface="Cambria"/>
              </a:rPr>
              <a:t> </a:t>
            </a:r>
            <a:r>
              <a:rPr sz="4000" spc="-10" dirty="0">
                <a:solidFill>
                  <a:srgbClr val="404040"/>
                </a:solidFill>
                <a:latin typeface="Cambria"/>
                <a:cs typeface="Cambria"/>
              </a:rPr>
              <a:t>customization</a:t>
            </a:r>
            <a:r>
              <a:rPr sz="4000" spc="-114" dirty="0">
                <a:solidFill>
                  <a:srgbClr val="404040"/>
                </a:solidFill>
                <a:latin typeface="Cambria"/>
                <a:cs typeface="Cambria"/>
              </a:rPr>
              <a:t> </a:t>
            </a:r>
            <a:r>
              <a:rPr sz="4000" dirty="0">
                <a:solidFill>
                  <a:srgbClr val="404040"/>
                </a:solidFill>
                <a:latin typeface="Cambria"/>
                <a:cs typeface="Cambria"/>
              </a:rPr>
              <a:t>(titles,</a:t>
            </a:r>
            <a:r>
              <a:rPr sz="4000" spc="-110" dirty="0">
                <a:solidFill>
                  <a:srgbClr val="404040"/>
                </a:solidFill>
                <a:latin typeface="Cambria"/>
                <a:cs typeface="Cambria"/>
              </a:rPr>
              <a:t> </a:t>
            </a:r>
            <a:r>
              <a:rPr sz="4000" spc="-10" dirty="0">
                <a:solidFill>
                  <a:srgbClr val="404040"/>
                </a:solidFill>
                <a:latin typeface="Cambria"/>
                <a:cs typeface="Cambria"/>
              </a:rPr>
              <a:t>labels, </a:t>
            </a:r>
            <a:r>
              <a:rPr sz="4000" dirty="0">
                <a:solidFill>
                  <a:srgbClr val="404040"/>
                </a:solidFill>
                <a:latin typeface="Cambria"/>
                <a:cs typeface="Cambria"/>
              </a:rPr>
              <a:t>legends,</a:t>
            </a:r>
            <a:r>
              <a:rPr sz="4000" spc="-150" dirty="0">
                <a:solidFill>
                  <a:srgbClr val="404040"/>
                </a:solidFill>
                <a:latin typeface="Cambria"/>
                <a:cs typeface="Cambria"/>
              </a:rPr>
              <a:t> </a:t>
            </a:r>
            <a:r>
              <a:rPr sz="4000" spc="-10" dirty="0">
                <a:solidFill>
                  <a:srgbClr val="404040"/>
                </a:solidFill>
                <a:latin typeface="Cambria"/>
                <a:cs typeface="Cambria"/>
              </a:rPr>
              <a:t>etc.).</a:t>
            </a:r>
            <a:endParaRPr sz="4000" dirty="0">
              <a:latin typeface="Cambria"/>
              <a:cs typeface="Cambria"/>
            </a:endParaRPr>
          </a:p>
          <a:p>
            <a:pPr marL="300355" marR="5080" indent="-288290">
              <a:lnSpc>
                <a:spcPts val="3840"/>
              </a:lnSpc>
              <a:spcBef>
                <a:spcPts val="1375"/>
              </a:spcBef>
              <a:buClr>
                <a:srgbClr val="1CACE3"/>
              </a:buClr>
              <a:buFont typeface="Arial MT"/>
              <a:buChar char="•"/>
              <a:tabLst>
                <a:tab pos="300355" algn="l"/>
              </a:tabLst>
            </a:pPr>
            <a:r>
              <a:rPr sz="4000" dirty="0">
                <a:solidFill>
                  <a:srgbClr val="404040"/>
                </a:solidFill>
                <a:latin typeface="Cambria"/>
                <a:cs typeface="Cambria"/>
              </a:rPr>
              <a:t>Support</a:t>
            </a:r>
            <a:r>
              <a:rPr sz="4000" spc="-120" dirty="0">
                <a:solidFill>
                  <a:srgbClr val="404040"/>
                </a:solidFill>
                <a:latin typeface="Cambria"/>
                <a:cs typeface="Cambria"/>
              </a:rPr>
              <a:t> </a:t>
            </a:r>
            <a:r>
              <a:rPr sz="4000" dirty="0">
                <a:solidFill>
                  <a:srgbClr val="404040"/>
                </a:solidFill>
                <a:latin typeface="Cambria"/>
                <a:cs typeface="Cambria"/>
              </a:rPr>
              <a:t>for</a:t>
            </a:r>
            <a:r>
              <a:rPr sz="4000" spc="-130" dirty="0">
                <a:solidFill>
                  <a:srgbClr val="404040"/>
                </a:solidFill>
                <a:latin typeface="Cambria"/>
                <a:cs typeface="Cambria"/>
              </a:rPr>
              <a:t> </a:t>
            </a:r>
            <a:r>
              <a:rPr sz="4000" dirty="0">
                <a:solidFill>
                  <a:srgbClr val="404040"/>
                </a:solidFill>
                <a:latin typeface="Cambria"/>
                <a:cs typeface="Cambria"/>
              </a:rPr>
              <a:t>multiple</a:t>
            </a:r>
            <a:r>
              <a:rPr sz="4000" spc="-114" dirty="0">
                <a:solidFill>
                  <a:srgbClr val="404040"/>
                </a:solidFill>
                <a:latin typeface="Cambria"/>
                <a:cs typeface="Cambria"/>
              </a:rPr>
              <a:t> </a:t>
            </a:r>
            <a:r>
              <a:rPr sz="4000" dirty="0">
                <a:solidFill>
                  <a:srgbClr val="404040"/>
                </a:solidFill>
                <a:latin typeface="Cambria"/>
                <a:cs typeface="Cambria"/>
              </a:rPr>
              <a:t>output</a:t>
            </a:r>
            <a:r>
              <a:rPr sz="4000" spc="-120" dirty="0">
                <a:solidFill>
                  <a:srgbClr val="404040"/>
                </a:solidFill>
                <a:latin typeface="Cambria"/>
                <a:cs typeface="Cambria"/>
              </a:rPr>
              <a:t> </a:t>
            </a:r>
            <a:r>
              <a:rPr sz="4000" dirty="0">
                <a:solidFill>
                  <a:srgbClr val="404040"/>
                </a:solidFill>
                <a:latin typeface="Cambria"/>
                <a:cs typeface="Cambria"/>
              </a:rPr>
              <a:t>formats</a:t>
            </a:r>
            <a:r>
              <a:rPr sz="4000" spc="-110" dirty="0">
                <a:solidFill>
                  <a:srgbClr val="404040"/>
                </a:solidFill>
                <a:latin typeface="Cambria"/>
                <a:cs typeface="Cambria"/>
              </a:rPr>
              <a:t> </a:t>
            </a:r>
            <a:r>
              <a:rPr sz="4000" dirty="0">
                <a:solidFill>
                  <a:srgbClr val="404040"/>
                </a:solidFill>
                <a:latin typeface="Cambria"/>
                <a:cs typeface="Cambria"/>
              </a:rPr>
              <a:t>(PNG,</a:t>
            </a:r>
            <a:r>
              <a:rPr sz="4000" spc="-130" dirty="0">
                <a:solidFill>
                  <a:srgbClr val="404040"/>
                </a:solidFill>
                <a:latin typeface="Cambria"/>
                <a:cs typeface="Cambria"/>
              </a:rPr>
              <a:t> </a:t>
            </a:r>
            <a:r>
              <a:rPr sz="4000" spc="-20" dirty="0">
                <a:solidFill>
                  <a:srgbClr val="404040"/>
                </a:solidFill>
                <a:latin typeface="Cambria"/>
                <a:cs typeface="Cambria"/>
              </a:rPr>
              <a:t>PDF, </a:t>
            </a:r>
            <a:r>
              <a:rPr sz="4000" spc="-10" dirty="0">
                <a:solidFill>
                  <a:srgbClr val="404040"/>
                </a:solidFill>
                <a:latin typeface="Cambria"/>
                <a:cs typeface="Cambria"/>
              </a:rPr>
              <a:t>etc.).</a:t>
            </a:r>
            <a:endParaRPr sz="4000" dirty="0">
              <a:latin typeface="Cambria"/>
              <a:cs typeface="Cambria"/>
            </a:endParaRPr>
          </a:p>
          <a:p>
            <a:pPr marL="300355" marR="1452880" indent="-288290">
              <a:lnSpc>
                <a:spcPts val="3840"/>
              </a:lnSpc>
              <a:spcBef>
                <a:spcPts val="1395"/>
              </a:spcBef>
              <a:buClr>
                <a:srgbClr val="1CACE3"/>
              </a:buClr>
              <a:buFont typeface="Arial MT"/>
              <a:buChar char="•"/>
              <a:tabLst>
                <a:tab pos="300355" algn="l"/>
              </a:tabLst>
            </a:pPr>
            <a:r>
              <a:rPr sz="4000" spc="-10" dirty="0">
                <a:solidFill>
                  <a:srgbClr val="404040"/>
                </a:solidFill>
                <a:latin typeface="Cambria"/>
                <a:cs typeface="Cambria"/>
              </a:rPr>
              <a:t>Integrates</a:t>
            </a:r>
            <a:r>
              <a:rPr sz="4000" spc="-135" dirty="0">
                <a:solidFill>
                  <a:srgbClr val="404040"/>
                </a:solidFill>
                <a:latin typeface="Cambria"/>
                <a:cs typeface="Cambria"/>
              </a:rPr>
              <a:t> </a:t>
            </a:r>
            <a:r>
              <a:rPr sz="4000" dirty="0">
                <a:solidFill>
                  <a:srgbClr val="404040"/>
                </a:solidFill>
                <a:latin typeface="Cambria"/>
                <a:cs typeface="Cambria"/>
              </a:rPr>
              <a:t>with</a:t>
            </a:r>
            <a:r>
              <a:rPr sz="4000" spc="-145" dirty="0">
                <a:solidFill>
                  <a:srgbClr val="404040"/>
                </a:solidFill>
                <a:latin typeface="Cambria"/>
                <a:cs typeface="Cambria"/>
              </a:rPr>
              <a:t> </a:t>
            </a:r>
            <a:r>
              <a:rPr sz="4000" dirty="0">
                <a:solidFill>
                  <a:srgbClr val="404040"/>
                </a:solidFill>
                <a:latin typeface="Cambria"/>
                <a:cs typeface="Cambria"/>
              </a:rPr>
              <a:t>libraries</a:t>
            </a:r>
            <a:r>
              <a:rPr sz="4000" spc="-135" dirty="0">
                <a:solidFill>
                  <a:srgbClr val="404040"/>
                </a:solidFill>
                <a:latin typeface="Cambria"/>
                <a:cs typeface="Cambria"/>
              </a:rPr>
              <a:t> </a:t>
            </a:r>
            <a:r>
              <a:rPr sz="4000" dirty="0">
                <a:solidFill>
                  <a:srgbClr val="404040"/>
                </a:solidFill>
                <a:latin typeface="Cambria"/>
                <a:cs typeface="Cambria"/>
              </a:rPr>
              <a:t>like</a:t>
            </a:r>
            <a:r>
              <a:rPr sz="4000" spc="-135" dirty="0">
                <a:solidFill>
                  <a:srgbClr val="404040"/>
                </a:solidFill>
                <a:latin typeface="Cambria"/>
                <a:cs typeface="Cambria"/>
              </a:rPr>
              <a:t> </a:t>
            </a:r>
            <a:r>
              <a:rPr sz="4000" dirty="0">
                <a:solidFill>
                  <a:srgbClr val="404040"/>
                </a:solidFill>
                <a:latin typeface="Cambria"/>
                <a:cs typeface="Cambria"/>
              </a:rPr>
              <a:t>NumPy</a:t>
            </a:r>
            <a:r>
              <a:rPr sz="4000" spc="-135" dirty="0">
                <a:solidFill>
                  <a:srgbClr val="404040"/>
                </a:solidFill>
                <a:latin typeface="Cambria"/>
                <a:cs typeface="Cambria"/>
              </a:rPr>
              <a:t> </a:t>
            </a:r>
            <a:r>
              <a:rPr sz="4000" spc="-25" dirty="0">
                <a:solidFill>
                  <a:srgbClr val="404040"/>
                </a:solidFill>
                <a:latin typeface="Cambria"/>
                <a:cs typeface="Cambria"/>
              </a:rPr>
              <a:t>and </a:t>
            </a:r>
            <a:r>
              <a:rPr sz="4000" spc="-10" dirty="0">
                <a:solidFill>
                  <a:srgbClr val="404040"/>
                </a:solidFill>
                <a:latin typeface="Cambria"/>
                <a:cs typeface="Cambria"/>
              </a:rPr>
              <a:t>Pandas.</a:t>
            </a:r>
            <a:endParaRPr sz="4000" dirty="0">
              <a:latin typeface="Cambria"/>
              <a:cs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Installing</a:t>
            </a:r>
            <a:r>
              <a:rPr spc="-180" dirty="0"/>
              <a:t> </a:t>
            </a:r>
            <a:r>
              <a:rPr spc="-30" dirty="0"/>
              <a:t>Matplotlib</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a:t>
            </a:fld>
            <a:endParaRPr spc="-25" dirty="0"/>
          </a:p>
        </p:txBody>
      </p:sp>
      <p:sp>
        <p:nvSpPr>
          <p:cNvPr id="3" name="object 3"/>
          <p:cNvSpPr txBox="1"/>
          <p:nvPr/>
        </p:nvSpPr>
        <p:spPr>
          <a:xfrm>
            <a:off x="3570732" y="1392936"/>
            <a:ext cx="5457825" cy="1061085"/>
          </a:xfrm>
          <a:prstGeom prst="rect">
            <a:avLst/>
          </a:prstGeom>
          <a:ln w="15875">
            <a:solidFill>
              <a:srgbClr val="61A29F"/>
            </a:solidFill>
          </a:ln>
        </p:spPr>
        <p:txBody>
          <a:bodyPr vert="horz" wrap="square" lIns="0" tIns="298450" rIns="0" bIns="0" rtlCol="0">
            <a:spAutoFit/>
          </a:bodyPr>
          <a:lstStyle/>
          <a:p>
            <a:pPr marL="625475">
              <a:lnSpc>
                <a:spcPct val="100000"/>
              </a:lnSpc>
              <a:spcBef>
                <a:spcPts val="2350"/>
              </a:spcBef>
            </a:pPr>
            <a:r>
              <a:rPr sz="2800" i="1" dirty="0">
                <a:solidFill>
                  <a:srgbClr val="383942"/>
                </a:solidFill>
                <a:latin typeface="Consolas"/>
                <a:cs typeface="Consolas"/>
              </a:rPr>
              <a:t>pip</a:t>
            </a:r>
            <a:r>
              <a:rPr sz="2800" i="1" spc="-85" dirty="0">
                <a:solidFill>
                  <a:srgbClr val="383942"/>
                </a:solidFill>
                <a:latin typeface="Consolas"/>
                <a:cs typeface="Consolas"/>
              </a:rPr>
              <a:t> </a:t>
            </a:r>
            <a:r>
              <a:rPr sz="2800" i="1" dirty="0">
                <a:solidFill>
                  <a:srgbClr val="383942"/>
                </a:solidFill>
                <a:latin typeface="Consolas"/>
                <a:cs typeface="Consolas"/>
              </a:rPr>
              <a:t>install</a:t>
            </a:r>
            <a:r>
              <a:rPr sz="2800" i="1" spc="-90" dirty="0">
                <a:solidFill>
                  <a:srgbClr val="383942"/>
                </a:solidFill>
                <a:latin typeface="Consolas"/>
                <a:cs typeface="Consolas"/>
              </a:rPr>
              <a:t> </a:t>
            </a:r>
            <a:r>
              <a:rPr sz="2800" i="1" spc="-10" dirty="0">
                <a:solidFill>
                  <a:srgbClr val="383942"/>
                </a:solidFill>
                <a:latin typeface="Consolas"/>
                <a:cs typeface="Consolas"/>
              </a:rPr>
              <a:t>matplotlib</a:t>
            </a:r>
            <a:endParaRPr sz="2800">
              <a:latin typeface="Consolas"/>
              <a:cs typeface="Consolas"/>
            </a:endParaRPr>
          </a:p>
        </p:txBody>
      </p:sp>
      <p:sp>
        <p:nvSpPr>
          <p:cNvPr id="4" name="object 4"/>
          <p:cNvSpPr txBox="1"/>
          <p:nvPr/>
        </p:nvSpPr>
        <p:spPr>
          <a:xfrm>
            <a:off x="1084580" y="2628417"/>
            <a:ext cx="9025890" cy="3141345"/>
          </a:xfrm>
          <a:prstGeom prst="rect">
            <a:avLst/>
          </a:prstGeom>
        </p:spPr>
        <p:txBody>
          <a:bodyPr vert="horz" wrap="square" lIns="0" tIns="105410" rIns="0" bIns="0" rtlCol="0">
            <a:spAutoFit/>
          </a:bodyPr>
          <a:lstStyle/>
          <a:p>
            <a:pPr marL="12700">
              <a:lnSpc>
                <a:spcPct val="100000"/>
              </a:lnSpc>
              <a:spcBef>
                <a:spcPts val="830"/>
              </a:spcBef>
            </a:pPr>
            <a:r>
              <a:rPr sz="2800" b="1" dirty="0">
                <a:solidFill>
                  <a:srgbClr val="404040"/>
                </a:solidFill>
                <a:latin typeface="Cambria"/>
                <a:cs typeface="Cambria"/>
              </a:rPr>
              <a:t>Basic</a:t>
            </a:r>
            <a:r>
              <a:rPr sz="2800" b="1" spc="-55" dirty="0">
                <a:solidFill>
                  <a:srgbClr val="404040"/>
                </a:solidFill>
                <a:latin typeface="Cambria"/>
                <a:cs typeface="Cambria"/>
              </a:rPr>
              <a:t> </a:t>
            </a:r>
            <a:r>
              <a:rPr sz="2800" b="1" spc="-10" dirty="0">
                <a:solidFill>
                  <a:srgbClr val="404040"/>
                </a:solidFill>
                <a:latin typeface="Cambria"/>
                <a:cs typeface="Cambria"/>
              </a:rPr>
              <a:t>Workflow</a:t>
            </a:r>
            <a:endParaRPr sz="2800">
              <a:latin typeface="Cambria"/>
              <a:cs typeface="Cambria"/>
            </a:endParaRPr>
          </a:p>
          <a:p>
            <a:pPr marL="300355" indent="-287655">
              <a:lnSpc>
                <a:spcPct val="100000"/>
              </a:lnSpc>
              <a:spcBef>
                <a:spcPts val="735"/>
              </a:spcBef>
              <a:buClr>
                <a:srgbClr val="1CACE3"/>
              </a:buClr>
              <a:buAutoNum type="arabicPeriod"/>
              <a:tabLst>
                <a:tab pos="300355" algn="l"/>
              </a:tabLst>
            </a:pPr>
            <a:r>
              <a:rPr sz="2800" dirty="0">
                <a:solidFill>
                  <a:srgbClr val="404040"/>
                </a:solidFill>
                <a:latin typeface="Cambria"/>
                <a:cs typeface="Cambria"/>
              </a:rPr>
              <a:t>Import</a:t>
            </a:r>
            <a:r>
              <a:rPr sz="2800" spc="-75" dirty="0">
                <a:solidFill>
                  <a:srgbClr val="404040"/>
                </a:solidFill>
                <a:latin typeface="Cambria"/>
                <a:cs typeface="Cambria"/>
              </a:rPr>
              <a:t> </a:t>
            </a:r>
            <a:r>
              <a:rPr sz="2800" dirty="0">
                <a:solidFill>
                  <a:srgbClr val="404040"/>
                </a:solidFill>
                <a:latin typeface="Cambria"/>
                <a:cs typeface="Cambria"/>
              </a:rPr>
              <a:t>the</a:t>
            </a:r>
            <a:r>
              <a:rPr sz="2800" spc="-65" dirty="0">
                <a:solidFill>
                  <a:srgbClr val="404040"/>
                </a:solidFill>
                <a:latin typeface="Cambria"/>
                <a:cs typeface="Cambria"/>
              </a:rPr>
              <a:t> </a:t>
            </a:r>
            <a:r>
              <a:rPr sz="2800" dirty="0">
                <a:solidFill>
                  <a:srgbClr val="404040"/>
                </a:solidFill>
                <a:latin typeface="Cambria"/>
                <a:cs typeface="Cambria"/>
              </a:rPr>
              <a:t>library:</a:t>
            </a:r>
            <a:r>
              <a:rPr sz="2800" spc="-50" dirty="0">
                <a:solidFill>
                  <a:srgbClr val="404040"/>
                </a:solidFill>
                <a:latin typeface="Cambria"/>
                <a:cs typeface="Cambria"/>
              </a:rPr>
              <a:t> </a:t>
            </a:r>
            <a:r>
              <a:rPr sz="2800" b="1" dirty="0">
                <a:solidFill>
                  <a:srgbClr val="404040"/>
                </a:solidFill>
                <a:latin typeface="Cambria"/>
                <a:cs typeface="Cambria"/>
              </a:rPr>
              <a:t>import</a:t>
            </a:r>
            <a:r>
              <a:rPr sz="2800" b="1" spc="-70" dirty="0">
                <a:solidFill>
                  <a:srgbClr val="404040"/>
                </a:solidFill>
                <a:latin typeface="Cambria"/>
                <a:cs typeface="Cambria"/>
              </a:rPr>
              <a:t> </a:t>
            </a:r>
            <a:r>
              <a:rPr sz="2800" b="1" spc="-20" dirty="0">
                <a:solidFill>
                  <a:srgbClr val="404040"/>
                </a:solidFill>
                <a:latin typeface="Cambria"/>
                <a:cs typeface="Cambria"/>
              </a:rPr>
              <a:t>matplotlib.pyplot</a:t>
            </a:r>
            <a:r>
              <a:rPr sz="2800" b="1" spc="-45" dirty="0">
                <a:solidFill>
                  <a:srgbClr val="404040"/>
                </a:solidFill>
                <a:latin typeface="Cambria"/>
                <a:cs typeface="Cambria"/>
              </a:rPr>
              <a:t> </a:t>
            </a:r>
            <a:r>
              <a:rPr sz="2800" b="1" dirty="0">
                <a:solidFill>
                  <a:srgbClr val="404040"/>
                </a:solidFill>
                <a:latin typeface="Cambria"/>
                <a:cs typeface="Cambria"/>
              </a:rPr>
              <a:t>as</a:t>
            </a:r>
            <a:r>
              <a:rPr sz="2800" b="1" spc="-60" dirty="0">
                <a:solidFill>
                  <a:srgbClr val="404040"/>
                </a:solidFill>
                <a:latin typeface="Cambria"/>
                <a:cs typeface="Cambria"/>
              </a:rPr>
              <a:t> </a:t>
            </a:r>
            <a:r>
              <a:rPr sz="2800" b="1" spc="-25" dirty="0">
                <a:solidFill>
                  <a:srgbClr val="404040"/>
                </a:solidFill>
                <a:latin typeface="Cambria"/>
                <a:cs typeface="Cambria"/>
              </a:rPr>
              <a:t>plt</a:t>
            </a:r>
            <a:endParaRPr sz="2800">
              <a:latin typeface="Cambria"/>
              <a:cs typeface="Cambria"/>
            </a:endParaRPr>
          </a:p>
          <a:p>
            <a:pPr marL="299720" indent="-287020">
              <a:lnSpc>
                <a:spcPct val="100000"/>
              </a:lnSpc>
              <a:spcBef>
                <a:spcPts val="720"/>
              </a:spcBef>
              <a:buClr>
                <a:srgbClr val="1CACE3"/>
              </a:buClr>
              <a:buAutoNum type="arabicPeriod"/>
              <a:tabLst>
                <a:tab pos="299720" algn="l"/>
              </a:tabLst>
            </a:pPr>
            <a:r>
              <a:rPr sz="2800" dirty="0">
                <a:solidFill>
                  <a:srgbClr val="404040"/>
                </a:solidFill>
                <a:latin typeface="Cambria"/>
                <a:cs typeface="Cambria"/>
              </a:rPr>
              <a:t>Prepare</a:t>
            </a:r>
            <a:r>
              <a:rPr sz="2800" spc="-60" dirty="0">
                <a:solidFill>
                  <a:srgbClr val="404040"/>
                </a:solidFill>
                <a:latin typeface="Cambria"/>
                <a:cs typeface="Cambria"/>
              </a:rPr>
              <a:t> </a:t>
            </a:r>
            <a:r>
              <a:rPr sz="2800" dirty="0">
                <a:solidFill>
                  <a:srgbClr val="404040"/>
                </a:solidFill>
                <a:latin typeface="Cambria"/>
                <a:cs typeface="Cambria"/>
              </a:rPr>
              <a:t>the</a:t>
            </a:r>
            <a:r>
              <a:rPr sz="2800" spc="-55" dirty="0">
                <a:solidFill>
                  <a:srgbClr val="404040"/>
                </a:solidFill>
                <a:latin typeface="Cambria"/>
                <a:cs typeface="Cambria"/>
              </a:rPr>
              <a:t> </a:t>
            </a:r>
            <a:r>
              <a:rPr sz="2800" dirty="0">
                <a:solidFill>
                  <a:srgbClr val="404040"/>
                </a:solidFill>
                <a:latin typeface="Cambria"/>
                <a:cs typeface="Cambria"/>
              </a:rPr>
              <a:t>data:</a:t>
            </a:r>
            <a:r>
              <a:rPr sz="2800" spc="-55" dirty="0">
                <a:solidFill>
                  <a:srgbClr val="404040"/>
                </a:solidFill>
                <a:latin typeface="Cambria"/>
                <a:cs typeface="Cambria"/>
              </a:rPr>
              <a:t> </a:t>
            </a:r>
            <a:r>
              <a:rPr sz="2800" spc="-10" dirty="0">
                <a:solidFill>
                  <a:srgbClr val="404040"/>
                </a:solidFill>
                <a:latin typeface="Cambria"/>
                <a:cs typeface="Cambria"/>
              </a:rPr>
              <a:t>Arrays</a:t>
            </a:r>
            <a:r>
              <a:rPr sz="2800" spc="-30" dirty="0">
                <a:solidFill>
                  <a:srgbClr val="404040"/>
                </a:solidFill>
                <a:latin typeface="Cambria"/>
                <a:cs typeface="Cambria"/>
              </a:rPr>
              <a:t> </a:t>
            </a:r>
            <a:r>
              <a:rPr sz="2800" dirty="0">
                <a:solidFill>
                  <a:srgbClr val="404040"/>
                </a:solidFill>
                <a:latin typeface="Cambria"/>
                <a:cs typeface="Cambria"/>
              </a:rPr>
              <a:t>or</a:t>
            </a:r>
            <a:r>
              <a:rPr sz="2800" spc="-50" dirty="0">
                <a:solidFill>
                  <a:srgbClr val="404040"/>
                </a:solidFill>
                <a:latin typeface="Cambria"/>
                <a:cs typeface="Cambria"/>
              </a:rPr>
              <a:t> </a:t>
            </a:r>
            <a:r>
              <a:rPr sz="2800" dirty="0">
                <a:solidFill>
                  <a:srgbClr val="404040"/>
                </a:solidFill>
                <a:latin typeface="Cambria"/>
                <a:cs typeface="Cambria"/>
              </a:rPr>
              <a:t>lists</a:t>
            </a:r>
            <a:r>
              <a:rPr sz="2800" spc="-55" dirty="0">
                <a:solidFill>
                  <a:srgbClr val="404040"/>
                </a:solidFill>
                <a:latin typeface="Cambria"/>
                <a:cs typeface="Cambria"/>
              </a:rPr>
              <a:t> </a:t>
            </a:r>
            <a:r>
              <a:rPr sz="2800" dirty="0">
                <a:solidFill>
                  <a:srgbClr val="404040"/>
                </a:solidFill>
                <a:latin typeface="Cambria"/>
                <a:cs typeface="Cambria"/>
              </a:rPr>
              <a:t>or</a:t>
            </a:r>
            <a:r>
              <a:rPr sz="2800" spc="-65" dirty="0">
                <a:solidFill>
                  <a:srgbClr val="404040"/>
                </a:solidFill>
                <a:latin typeface="Cambria"/>
                <a:cs typeface="Cambria"/>
              </a:rPr>
              <a:t> </a:t>
            </a:r>
            <a:r>
              <a:rPr sz="2800" dirty="0">
                <a:solidFill>
                  <a:srgbClr val="404040"/>
                </a:solidFill>
                <a:latin typeface="Cambria"/>
                <a:cs typeface="Cambria"/>
              </a:rPr>
              <a:t>load</a:t>
            </a:r>
            <a:r>
              <a:rPr sz="2800" spc="-60" dirty="0">
                <a:solidFill>
                  <a:srgbClr val="404040"/>
                </a:solidFill>
                <a:latin typeface="Cambria"/>
                <a:cs typeface="Cambria"/>
              </a:rPr>
              <a:t> </a:t>
            </a:r>
            <a:r>
              <a:rPr sz="2800" dirty="0">
                <a:solidFill>
                  <a:srgbClr val="404040"/>
                </a:solidFill>
                <a:latin typeface="Cambria"/>
                <a:cs typeface="Cambria"/>
              </a:rPr>
              <a:t>data</a:t>
            </a:r>
            <a:r>
              <a:rPr sz="2800" spc="-55" dirty="0">
                <a:solidFill>
                  <a:srgbClr val="404040"/>
                </a:solidFill>
                <a:latin typeface="Cambria"/>
                <a:cs typeface="Cambria"/>
              </a:rPr>
              <a:t> </a:t>
            </a:r>
            <a:r>
              <a:rPr sz="2800" dirty="0">
                <a:solidFill>
                  <a:srgbClr val="404040"/>
                </a:solidFill>
                <a:latin typeface="Cambria"/>
                <a:cs typeface="Cambria"/>
              </a:rPr>
              <a:t>from</a:t>
            </a:r>
            <a:r>
              <a:rPr sz="2800" spc="-60" dirty="0">
                <a:solidFill>
                  <a:srgbClr val="404040"/>
                </a:solidFill>
                <a:latin typeface="Cambria"/>
                <a:cs typeface="Cambria"/>
              </a:rPr>
              <a:t> </a:t>
            </a:r>
            <a:r>
              <a:rPr sz="2800" spc="-25" dirty="0">
                <a:solidFill>
                  <a:srgbClr val="404040"/>
                </a:solidFill>
                <a:latin typeface="Cambria"/>
                <a:cs typeface="Cambria"/>
              </a:rPr>
              <a:t>CSV</a:t>
            </a:r>
            <a:endParaRPr sz="2800">
              <a:latin typeface="Cambria"/>
              <a:cs typeface="Cambria"/>
            </a:endParaRPr>
          </a:p>
          <a:p>
            <a:pPr marL="300355" indent="-287655">
              <a:lnSpc>
                <a:spcPct val="100000"/>
              </a:lnSpc>
              <a:spcBef>
                <a:spcPts val="730"/>
              </a:spcBef>
              <a:buClr>
                <a:srgbClr val="1CACE3"/>
              </a:buClr>
              <a:buAutoNum type="arabicPeriod"/>
              <a:tabLst>
                <a:tab pos="300355" algn="l"/>
              </a:tabLst>
            </a:pPr>
            <a:r>
              <a:rPr sz="2800" dirty="0">
                <a:solidFill>
                  <a:srgbClr val="404040"/>
                </a:solidFill>
                <a:latin typeface="Cambria"/>
                <a:cs typeface="Cambria"/>
              </a:rPr>
              <a:t>Create</a:t>
            </a:r>
            <a:r>
              <a:rPr sz="2800" spc="-85" dirty="0">
                <a:solidFill>
                  <a:srgbClr val="404040"/>
                </a:solidFill>
                <a:latin typeface="Cambria"/>
                <a:cs typeface="Cambria"/>
              </a:rPr>
              <a:t> </a:t>
            </a:r>
            <a:r>
              <a:rPr sz="2800" dirty="0">
                <a:solidFill>
                  <a:srgbClr val="404040"/>
                </a:solidFill>
                <a:latin typeface="Cambria"/>
                <a:cs typeface="Cambria"/>
              </a:rPr>
              <a:t>a</a:t>
            </a:r>
            <a:r>
              <a:rPr sz="2800" spc="-75" dirty="0">
                <a:solidFill>
                  <a:srgbClr val="404040"/>
                </a:solidFill>
                <a:latin typeface="Cambria"/>
                <a:cs typeface="Cambria"/>
              </a:rPr>
              <a:t> </a:t>
            </a:r>
            <a:r>
              <a:rPr sz="2800" dirty="0">
                <a:solidFill>
                  <a:srgbClr val="404040"/>
                </a:solidFill>
                <a:latin typeface="Cambria"/>
                <a:cs typeface="Cambria"/>
              </a:rPr>
              <a:t>plot</a:t>
            </a:r>
            <a:r>
              <a:rPr sz="2800" spc="-60" dirty="0">
                <a:solidFill>
                  <a:srgbClr val="404040"/>
                </a:solidFill>
                <a:latin typeface="Cambria"/>
                <a:cs typeface="Cambria"/>
              </a:rPr>
              <a:t> </a:t>
            </a:r>
            <a:r>
              <a:rPr sz="2800" dirty="0">
                <a:solidFill>
                  <a:srgbClr val="404040"/>
                </a:solidFill>
                <a:latin typeface="Cambria"/>
                <a:cs typeface="Cambria"/>
              </a:rPr>
              <a:t>using</a:t>
            </a:r>
            <a:r>
              <a:rPr sz="2800" spc="-65" dirty="0">
                <a:solidFill>
                  <a:srgbClr val="404040"/>
                </a:solidFill>
                <a:latin typeface="Cambria"/>
                <a:cs typeface="Cambria"/>
              </a:rPr>
              <a:t> </a:t>
            </a:r>
            <a:r>
              <a:rPr sz="2800" dirty="0">
                <a:solidFill>
                  <a:srgbClr val="404040"/>
                </a:solidFill>
                <a:latin typeface="Cambria"/>
                <a:cs typeface="Cambria"/>
              </a:rPr>
              <a:t>functions</a:t>
            </a:r>
            <a:r>
              <a:rPr sz="2800" spc="-75" dirty="0">
                <a:solidFill>
                  <a:srgbClr val="404040"/>
                </a:solidFill>
                <a:latin typeface="Cambria"/>
                <a:cs typeface="Cambria"/>
              </a:rPr>
              <a:t> </a:t>
            </a:r>
            <a:r>
              <a:rPr sz="2800" dirty="0">
                <a:solidFill>
                  <a:srgbClr val="404040"/>
                </a:solidFill>
                <a:latin typeface="Cambria"/>
                <a:cs typeface="Cambria"/>
              </a:rPr>
              <a:t>like</a:t>
            </a:r>
            <a:r>
              <a:rPr sz="2800" spc="-50" dirty="0">
                <a:solidFill>
                  <a:srgbClr val="404040"/>
                </a:solidFill>
                <a:latin typeface="Cambria"/>
                <a:cs typeface="Cambria"/>
              </a:rPr>
              <a:t> </a:t>
            </a:r>
            <a:r>
              <a:rPr sz="2800" b="1" spc="-10" dirty="0">
                <a:solidFill>
                  <a:srgbClr val="404040"/>
                </a:solidFill>
                <a:latin typeface="Cambria"/>
                <a:cs typeface="Cambria"/>
              </a:rPr>
              <a:t>plt.plot()</a:t>
            </a:r>
            <a:r>
              <a:rPr sz="2800" spc="-10" dirty="0">
                <a:solidFill>
                  <a:srgbClr val="404040"/>
                </a:solidFill>
                <a:latin typeface="Cambria"/>
                <a:cs typeface="Cambria"/>
              </a:rPr>
              <a:t>.</a:t>
            </a:r>
            <a:endParaRPr sz="2800">
              <a:latin typeface="Cambria"/>
              <a:cs typeface="Cambria"/>
            </a:endParaRPr>
          </a:p>
          <a:p>
            <a:pPr marL="300355" indent="-287655">
              <a:lnSpc>
                <a:spcPct val="100000"/>
              </a:lnSpc>
              <a:spcBef>
                <a:spcPts val="735"/>
              </a:spcBef>
              <a:buClr>
                <a:srgbClr val="1CACE3"/>
              </a:buClr>
              <a:buAutoNum type="arabicPeriod"/>
              <a:tabLst>
                <a:tab pos="300355" algn="l"/>
              </a:tabLst>
            </a:pPr>
            <a:r>
              <a:rPr sz="2800" spc="-10" dirty="0">
                <a:solidFill>
                  <a:srgbClr val="404040"/>
                </a:solidFill>
                <a:latin typeface="Cambria"/>
                <a:cs typeface="Cambria"/>
              </a:rPr>
              <a:t>Customize</a:t>
            </a:r>
            <a:r>
              <a:rPr sz="2800" spc="-75" dirty="0">
                <a:solidFill>
                  <a:srgbClr val="404040"/>
                </a:solidFill>
                <a:latin typeface="Cambria"/>
                <a:cs typeface="Cambria"/>
              </a:rPr>
              <a:t> </a:t>
            </a:r>
            <a:r>
              <a:rPr sz="2800" dirty="0">
                <a:solidFill>
                  <a:srgbClr val="404040"/>
                </a:solidFill>
                <a:latin typeface="Cambria"/>
                <a:cs typeface="Cambria"/>
              </a:rPr>
              <a:t>the</a:t>
            </a:r>
            <a:r>
              <a:rPr sz="2800" spc="-80" dirty="0">
                <a:solidFill>
                  <a:srgbClr val="404040"/>
                </a:solidFill>
                <a:latin typeface="Cambria"/>
                <a:cs typeface="Cambria"/>
              </a:rPr>
              <a:t> </a:t>
            </a:r>
            <a:r>
              <a:rPr sz="2800" dirty="0">
                <a:solidFill>
                  <a:srgbClr val="404040"/>
                </a:solidFill>
                <a:latin typeface="Cambria"/>
                <a:cs typeface="Cambria"/>
              </a:rPr>
              <a:t>plot:</a:t>
            </a:r>
            <a:r>
              <a:rPr sz="2800" spc="-80" dirty="0">
                <a:solidFill>
                  <a:srgbClr val="404040"/>
                </a:solidFill>
                <a:latin typeface="Cambria"/>
                <a:cs typeface="Cambria"/>
              </a:rPr>
              <a:t> </a:t>
            </a:r>
            <a:r>
              <a:rPr sz="2800" dirty="0">
                <a:solidFill>
                  <a:srgbClr val="404040"/>
                </a:solidFill>
                <a:latin typeface="Cambria"/>
                <a:cs typeface="Cambria"/>
              </a:rPr>
              <a:t>Titles,</a:t>
            </a:r>
            <a:r>
              <a:rPr sz="2800" spc="-70" dirty="0">
                <a:solidFill>
                  <a:srgbClr val="404040"/>
                </a:solidFill>
                <a:latin typeface="Cambria"/>
                <a:cs typeface="Cambria"/>
              </a:rPr>
              <a:t> </a:t>
            </a:r>
            <a:r>
              <a:rPr sz="2800" dirty="0">
                <a:solidFill>
                  <a:srgbClr val="404040"/>
                </a:solidFill>
                <a:latin typeface="Cambria"/>
                <a:cs typeface="Cambria"/>
              </a:rPr>
              <a:t>labels,</a:t>
            </a:r>
            <a:r>
              <a:rPr sz="2800" spc="-80" dirty="0">
                <a:solidFill>
                  <a:srgbClr val="404040"/>
                </a:solidFill>
                <a:latin typeface="Cambria"/>
                <a:cs typeface="Cambria"/>
              </a:rPr>
              <a:t> </a:t>
            </a:r>
            <a:r>
              <a:rPr sz="2800" spc="-10" dirty="0">
                <a:solidFill>
                  <a:srgbClr val="404040"/>
                </a:solidFill>
                <a:latin typeface="Cambria"/>
                <a:cs typeface="Cambria"/>
              </a:rPr>
              <a:t>legends.</a:t>
            </a:r>
            <a:endParaRPr sz="2800">
              <a:latin typeface="Cambria"/>
              <a:cs typeface="Cambria"/>
            </a:endParaRPr>
          </a:p>
          <a:p>
            <a:pPr marL="299720" indent="-287020">
              <a:lnSpc>
                <a:spcPct val="100000"/>
              </a:lnSpc>
              <a:spcBef>
                <a:spcPts val="720"/>
              </a:spcBef>
              <a:buClr>
                <a:srgbClr val="1CACE3"/>
              </a:buClr>
              <a:buAutoNum type="arabicPeriod"/>
              <a:tabLst>
                <a:tab pos="299720" algn="l"/>
              </a:tabLst>
            </a:pPr>
            <a:r>
              <a:rPr sz="2800" dirty="0">
                <a:solidFill>
                  <a:srgbClr val="404040"/>
                </a:solidFill>
                <a:latin typeface="Cambria"/>
                <a:cs typeface="Cambria"/>
              </a:rPr>
              <a:t>Display</a:t>
            </a:r>
            <a:r>
              <a:rPr sz="2800" spc="-90" dirty="0">
                <a:solidFill>
                  <a:srgbClr val="404040"/>
                </a:solidFill>
                <a:latin typeface="Cambria"/>
                <a:cs typeface="Cambria"/>
              </a:rPr>
              <a:t> </a:t>
            </a:r>
            <a:r>
              <a:rPr sz="2800" dirty="0">
                <a:solidFill>
                  <a:srgbClr val="404040"/>
                </a:solidFill>
                <a:latin typeface="Cambria"/>
                <a:cs typeface="Cambria"/>
              </a:rPr>
              <a:t>or</a:t>
            </a:r>
            <a:r>
              <a:rPr sz="2800" spc="-80" dirty="0">
                <a:solidFill>
                  <a:srgbClr val="404040"/>
                </a:solidFill>
                <a:latin typeface="Cambria"/>
                <a:cs typeface="Cambria"/>
              </a:rPr>
              <a:t> </a:t>
            </a:r>
            <a:r>
              <a:rPr sz="2800" dirty="0">
                <a:solidFill>
                  <a:srgbClr val="404040"/>
                </a:solidFill>
                <a:latin typeface="Cambria"/>
                <a:cs typeface="Cambria"/>
              </a:rPr>
              <a:t>save</a:t>
            </a:r>
            <a:r>
              <a:rPr sz="2800" spc="-75" dirty="0">
                <a:solidFill>
                  <a:srgbClr val="404040"/>
                </a:solidFill>
                <a:latin typeface="Cambria"/>
                <a:cs typeface="Cambria"/>
              </a:rPr>
              <a:t> </a:t>
            </a:r>
            <a:r>
              <a:rPr sz="2800" dirty="0">
                <a:solidFill>
                  <a:srgbClr val="404040"/>
                </a:solidFill>
                <a:latin typeface="Cambria"/>
                <a:cs typeface="Cambria"/>
              </a:rPr>
              <a:t>the</a:t>
            </a:r>
            <a:r>
              <a:rPr sz="2800" spc="-85" dirty="0">
                <a:solidFill>
                  <a:srgbClr val="404040"/>
                </a:solidFill>
                <a:latin typeface="Cambria"/>
                <a:cs typeface="Cambria"/>
              </a:rPr>
              <a:t> </a:t>
            </a:r>
            <a:r>
              <a:rPr sz="2800" dirty="0">
                <a:solidFill>
                  <a:srgbClr val="404040"/>
                </a:solidFill>
                <a:latin typeface="Cambria"/>
                <a:cs typeface="Cambria"/>
              </a:rPr>
              <a:t>plot</a:t>
            </a:r>
            <a:r>
              <a:rPr sz="2800" spc="-75" dirty="0">
                <a:solidFill>
                  <a:srgbClr val="404040"/>
                </a:solidFill>
                <a:latin typeface="Cambria"/>
                <a:cs typeface="Cambria"/>
              </a:rPr>
              <a:t> </a:t>
            </a:r>
            <a:r>
              <a:rPr sz="2800" dirty="0">
                <a:solidFill>
                  <a:srgbClr val="404040"/>
                </a:solidFill>
                <a:latin typeface="Cambria"/>
                <a:cs typeface="Cambria"/>
              </a:rPr>
              <a:t>using</a:t>
            </a:r>
            <a:r>
              <a:rPr sz="2800" spc="-75" dirty="0">
                <a:solidFill>
                  <a:srgbClr val="404040"/>
                </a:solidFill>
                <a:latin typeface="Cambria"/>
                <a:cs typeface="Cambria"/>
              </a:rPr>
              <a:t> </a:t>
            </a:r>
            <a:r>
              <a:rPr sz="2800" b="1" dirty="0">
                <a:solidFill>
                  <a:srgbClr val="404040"/>
                </a:solidFill>
                <a:latin typeface="Cambria"/>
                <a:cs typeface="Cambria"/>
              </a:rPr>
              <a:t>plt.show()</a:t>
            </a:r>
            <a:r>
              <a:rPr sz="2800" b="1" spc="-60" dirty="0">
                <a:solidFill>
                  <a:srgbClr val="404040"/>
                </a:solidFill>
                <a:latin typeface="Cambria"/>
                <a:cs typeface="Cambria"/>
              </a:rPr>
              <a:t> </a:t>
            </a:r>
            <a:r>
              <a:rPr sz="2800" dirty="0">
                <a:solidFill>
                  <a:srgbClr val="404040"/>
                </a:solidFill>
                <a:latin typeface="Cambria"/>
                <a:cs typeface="Cambria"/>
              </a:rPr>
              <a:t>or</a:t>
            </a:r>
            <a:r>
              <a:rPr sz="2800" spc="-80" dirty="0">
                <a:solidFill>
                  <a:srgbClr val="404040"/>
                </a:solidFill>
                <a:latin typeface="Cambria"/>
                <a:cs typeface="Cambria"/>
              </a:rPr>
              <a:t> </a:t>
            </a:r>
            <a:r>
              <a:rPr sz="2800" b="1" spc="-10" dirty="0">
                <a:solidFill>
                  <a:srgbClr val="404040"/>
                </a:solidFill>
                <a:latin typeface="Cambria"/>
                <a:cs typeface="Cambria"/>
              </a:rPr>
              <a:t>plt.savefig()</a:t>
            </a:r>
            <a:r>
              <a:rPr sz="2800" spc="-10" dirty="0">
                <a:solidFill>
                  <a:srgbClr val="404040"/>
                </a:solidFill>
                <a:latin typeface="Cambria"/>
                <a:cs typeface="Cambria"/>
              </a:rPr>
              <a:t>.</a:t>
            </a:r>
            <a:endParaRPr sz="2800">
              <a:latin typeface="Cambria"/>
              <a:cs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76324" y="250316"/>
            <a:ext cx="5487670" cy="756920"/>
          </a:xfrm>
          <a:prstGeom prst="rect">
            <a:avLst/>
          </a:prstGeom>
        </p:spPr>
        <p:txBody>
          <a:bodyPr vert="horz" wrap="square" lIns="0" tIns="12700" rIns="0" bIns="0" rtlCol="0">
            <a:spAutoFit/>
          </a:bodyPr>
          <a:lstStyle/>
          <a:p>
            <a:pPr marL="12700">
              <a:lnSpc>
                <a:spcPct val="100000"/>
              </a:lnSpc>
              <a:spcBef>
                <a:spcPts val="100"/>
              </a:spcBef>
            </a:pPr>
            <a:r>
              <a:rPr spc="-55" dirty="0"/>
              <a:t>Common</a:t>
            </a:r>
            <a:r>
              <a:rPr spc="-210" dirty="0"/>
              <a:t> </a:t>
            </a:r>
            <a:r>
              <a:rPr spc="-20" dirty="0"/>
              <a:t>Plot</a:t>
            </a:r>
            <a:r>
              <a:rPr spc="-220" dirty="0"/>
              <a:t> </a:t>
            </a:r>
            <a:r>
              <a:rPr spc="-10" dirty="0"/>
              <a:t>Types</a:t>
            </a:r>
          </a:p>
        </p:txBody>
      </p:sp>
      <p:sp>
        <p:nvSpPr>
          <p:cNvPr id="3" name="object 3"/>
          <p:cNvSpPr txBox="1"/>
          <p:nvPr/>
        </p:nvSpPr>
        <p:spPr>
          <a:xfrm>
            <a:off x="1084580" y="889762"/>
            <a:ext cx="6136005" cy="5243195"/>
          </a:xfrm>
          <a:prstGeom prst="rect">
            <a:avLst/>
          </a:prstGeom>
        </p:spPr>
        <p:txBody>
          <a:bodyPr vert="horz" wrap="square" lIns="0" tIns="155575" rIns="0" bIns="0" rtlCol="0">
            <a:spAutoFit/>
          </a:bodyPr>
          <a:lstStyle/>
          <a:p>
            <a:pPr marL="300990" indent="-288290">
              <a:lnSpc>
                <a:spcPct val="100000"/>
              </a:lnSpc>
              <a:spcBef>
                <a:spcPts val="1225"/>
              </a:spcBef>
              <a:buClr>
                <a:srgbClr val="1CACE3"/>
              </a:buClr>
              <a:buFont typeface="Arial MT"/>
              <a:buChar char="•"/>
              <a:tabLst>
                <a:tab pos="300990" algn="l"/>
              </a:tabLst>
            </a:pPr>
            <a:r>
              <a:rPr sz="4800" b="1" dirty="0">
                <a:solidFill>
                  <a:srgbClr val="404040"/>
                </a:solidFill>
                <a:latin typeface="Cambria"/>
                <a:cs typeface="Cambria"/>
              </a:rPr>
              <a:t>Line</a:t>
            </a:r>
            <a:r>
              <a:rPr sz="4800" b="1" spc="-85" dirty="0">
                <a:solidFill>
                  <a:srgbClr val="404040"/>
                </a:solidFill>
                <a:latin typeface="Cambria"/>
                <a:cs typeface="Cambria"/>
              </a:rPr>
              <a:t> </a:t>
            </a:r>
            <a:r>
              <a:rPr sz="4800" b="1" spc="-20" dirty="0">
                <a:solidFill>
                  <a:srgbClr val="404040"/>
                </a:solidFill>
                <a:latin typeface="Cambria"/>
                <a:cs typeface="Cambria"/>
              </a:rPr>
              <a:t>Plot</a:t>
            </a:r>
            <a:endParaRPr sz="4800" dirty="0">
              <a:latin typeface="Cambria"/>
              <a:cs typeface="Cambria"/>
            </a:endParaRPr>
          </a:p>
          <a:p>
            <a:pPr marL="299720" indent="-287020">
              <a:lnSpc>
                <a:spcPct val="100000"/>
              </a:lnSpc>
              <a:spcBef>
                <a:spcPts val="565"/>
              </a:spcBef>
              <a:buClr>
                <a:srgbClr val="1CACE3"/>
              </a:buClr>
              <a:buFont typeface="Arial MT"/>
              <a:buChar char="•"/>
              <a:tabLst>
                <a:tab pos="299720" algn="l"/>
              </a:tabLst>
            </a:pPr>
            <a:r>
              <a:rPr sz="2400" dirty="0">
                <a:solidFill>
                  <a:srgbClr val="404040"/>
                </a:solidFill>
                <a:latin typeface="Cambria"/>
                <a:cs typeface="Cambria"/>
              </a:rPr>
              <a:t>Visualizes</a:t>
            </a:r>
            <a:r>
              <a:rPr sz="2400" spc="-75" dirty="0">
                <a:solidFill>
                  <a:srgbClr val="404040"/>
                </a:solidFill>
                <a:latin typeface="Cambria"/>
                <a:cs typeface="Cambria"/>
              </a:rPr>
              <a:t> </a:t>
            </a:r>
            <a:r>
              <a:rPr sz="2400" dirty="0">
                <a:solidFill>
                  <a:srgbClr val="404040"/>
                </a:solidFill>
                <a:latin typeface="Cambria"/>
                <a:cs typeface="Cambria"/>
              </a:rPr>
              <a:t>trends</a:t>
            </a:r>
            <a:r>
              <a:rPr sz="2400" spc="-75" dirty="0">
                <a:solidFill>
                  <a:srgbClr val="404040"/>
                </a:solidFill>
                <a:latin typeface="Cambria"/>
                <a:cs typeface="Cambria"/>
              </a:rPr>
              <a:t> </a:t>
            </a:r>
            <a:r>
              <a:rPr sz="2400" dirty="0">
                <a:solidFill>
                  <a:srgbClr val="404040"/>
                </a:solidFill>
                <a:latin typeface="Cambria"/>
                <a:cs typeface="Cambria"/>
              </a:rPr>
              <a:t>over</a:t>
            </a:r>
            <a:r>
              <a:rPr sz="2400" spc="-55" dirty="0">
                <a:solidFill>
                  <a:srgbClr val="404040"/>
                </a:solidFill>
                <a:latin typeface="Cambria"/>
                <a:cs typeface="Cambria"/>
              </a:rPr>
              <a:t> </a:t>
            </a:r>
            <a:r>
              <a:rPr sz="2400" dirty="0">
                <a:solidFill>
                  <a:srgbClr val="404040"/>
                </a:solidFill>
                <a:latin typeface="Cambria"/>
                <a:cs typeface="Cambria"/>
              </a:rPr>
              <a:t>time</a:t>
            </a:r>
            <a:r>
              <a:rPr sz="2400" spc="-70" dirty="0">
                <a:solidFill>
                  <a:srgbClr val="404040"/>
                </a:solidFill>
                <a:latin typeface="Cambria"/>
                <a:cs typeface="Cambria"/>
              </a:rPr>
              <a:t> </a:t>
            </a:r>
            <a:r>
              <a:rPr sz="2400" dirty="0">
                <a:solidFill>
                  <a:srgbClr val="404040"/>
                </a:solidFill>
                <a:latin typeface="Cambria"/>
                <a:cs typeface="Cambria"/>
              </a:rPr>
              <a:t>or</a:t>
            </a:r>
            <a:r>
              <a:rPr sz="2400" spc="-75" dirty="0">
                <a:solidFill>
                  <a:srgbClr val="404040"/>
                </a:solidFill>
                <a:latin typeface="Cambria"/>
                <a:cs typeface="Cambria"/>
              </a:rPr>
              <a:t> </a:t>
            </a:r>
            <a:r>
              <a:rPr sz="2400" spc="-10" dirty="0">
                <a:solidFill>
                  <a:srgbClr val="404040"/>
                </a:solidFill>
                <a:latin typeface="Cambria"/>
                <a:cs typeface="Cambria"/>
              </a:rPr>
              <a:t>sequences</a:t>
            </a:r>
            <a:endParaRPr sz="2400" dirty="0">
              <a:latin typeface="Cambria"/>
              <a:cs typeface="Cambria"/>
            </a:endParaRPr>
          </a:p>
          <a:p>
            <a:pPr marL="12700">
              <a:lnSpc>
                <a:spcPct val="100000"/>
              </a:lnSpc>
              <a:spcBef>
                <a:spcPts val="530"/>
              </a:spcBef>
            </a:pPr>
            <a:r>
              <a:rPr sz="2400" dirty="0">
                <a:solidFill>
                  <a:srgbClr val="AE00DB"/>
                </a:solidFill>
                <a:latin typeface="Calibri"/>
                <a:cs typeface="Calibri"/>
              </a:rPr>
              <a:t>import</a:t>
            </a:r>
            <a:r>
              <a:rPr sz="2400" spc="-10" dirty="0">
                <a:solidFill>
                  <a:srgbClr val="AE00DB"/>
                </a:solidFill>
                <a:latin typeface="Calibri"/>
                <a:cs typeface="Calibri"/>
              </a:rPr>
              <a:t> </a:t>
            </a:r>
            <a:r>
              <a:rPr sz="2400" spc="-10" dirty="0">
                <a:solidFill>
                  <a:srgbClr val="006FC1"/>
                </a:solidFill>
                <a:latin typeface="Calibri"/>
                <a:cs typeface="Calibri"/>
              </a:rPr>
              <a:t>matplotlib</a:t>
            </a:r>
            <a:r>
              <a:rPr sz="2400" spc="-10" dirty="0">
                <a:solidFill>
                  <a:srgbClr val="383942"/>
                </a:solidFill>
                <a:latin typeface="Calibri"/>
                <a:cs typeface="Calibri"/>
              </a:rPr>
              <a:t>.</a:t>
            </a:r>
            <a:r>
              <a:rPr sz="2400" spc="-10" dirty="0">
                <a:solidFill>
                  <a:srgbClr val="006FC1"/>
                </a:solidFill>
                <a:latin typeface="Calibri"/>
                <a:cs typeface="Calibri"/>
              </a:rPr>
              <a:t>pyplot</a:t>
            </a:r>
            <a:r>
              <a:rPr sz="2400" spc="-20" dirty="0">
                <a:solidFill>
                  <a:srgbClr val="006FC1"/>
                </a:solidFill>
                <a:latin typeface="Calibri"/>
                <a:cs typeface="Calibri"/>
              </a:rPr>
              <a:t> </a:t>
            </a:r>
            <a:r>
              <a:rPr sz="2400" dirty="0">
                <a:solidFill>
                  <a:srgbClr val="0000FF"/>
                </a:solidFill>
                <a:latin typeface="Calibri"/>
                <a:cs typeface="Calibri"/>
              </a:rPr>
              <a:t>as </a:t>
            </a:r>
            <a:r>
              <a:rPr sz="2400" spc="-25" dirty="0">
                <a:solidFill>
                  <a:srgbClr val="006FC1"/>
                </a:solidFill>
                <a:latin typeface="Calibri"/>
                <a:cs typeface="Calibri"/>
              </a:rPr>
              <a:t>plt</a:t>
            </a:r>
            <a:endParaRPr sz="2400" dirty="0">
              <a:latin typeface="Calibri"/>
              <a:cs typeface="Calibri"/>
            </a:endParaRPr>
          </a:p>
          <a:p>
            <a:pPr marL="12700">
              <a:lnSpc>
                <a:spcPct val="100000"/>
              </a:lnSpc>
              <a:spcBef>
                <a:spcPts val="540"/>
              </a:spcBef>
            </a:pPr>
            <a:r>
              <a:rPr sz="2400" dirty="0">
                <a:solidFill>
                  <a:srgbClr val="006FC1"/>
                </a:solidFill>
                <a:latin typeface="Calibri"/>
                <a:cs typeface="Calibri"/>
              </a:rPr>
              <a:t>x</a:t>
            </a:r>
            <a:r>
              <a:rPr sz="2400" spc="-25" dirty="0">
                <a:solidFill>
                  <a:srgbClr val="006FC1"/>
                </a:solidFill>
                <a:latin typeface="Calibri"/>
                <a:cs typeface="Calibri"/>
              </a:rPr>
              <a:t> </a:t>
            </a:r>
            <a:r>
              <a:rPr sz="2400" dirty="0">
                <a:solidFill>
                  <a:srgbClr val="383942"/>
                </a:solidFill>
                <a:latin typeface="Calibri"/>
                <a:cs typeface="Calibri"/>
              </a:rPr>
              <a:t>=</a:t>
            </a:r>
            <a:r>
              <a:rPr sz="2400" spc="-15" dirty="0">
                <a:solidFill>
                  <a:srgbClr val="383942"/>
                </a:solidFill>
                <a:latin typeface="Calibri"/>
                <a:cs typeface="Calibri"/>
              </a:rPr>
              <a:t> </a:t>
            </a:r>
            <a:r>
              <a:rPr sz="2400" dirty="0">
                <a:solidFill>
                  <a:srgbClr val="383942"/>
                </a:solidFill>
                <a:latin typeface="Calibri"/>
                <a:cs typeface="Calibri"/>
              </a:rPr>
              <a:t>[</a:t>
            </a:r>
            <a:r>
              <a:rPr sz="2400" dirty="0">
                <a:solidFill>
                  <a:srgbClr val="098557"/>
                </a:solidFill>
                <a:latin typeface="Calibri"/>
                <a:cs typeface="Calibri"/>
              </a:rPr>
              <a:t>1</a:t>
            </a:r>
            <a:r>
              <a:rPr sz="2400" dirty="0">
                <a:solidFill>
                  <a:srgbClr val="383942"/>
                </a:solidFill>
                <a:latin typeface="Calibri"/>
                <a:cs typeface="Calibri"/>
              </a:rPr>
              <a:t>,</a:t>
            </a:r>
            <a:r>
              <a:rPr sz="2400" spc="-15" dirty="0">
                <a:solidFill>
                  <a:srgbClr val="383942"/>
                </a:solidFill>
                <a:latin typeface="Calibri"/>
                <a:cs typeface="Calibri"/>
              </a:rPr>
              <a:t> </a:t>
            </a:r>
            <a:r>
              <a:rPr sz="2400" dirty="0">
                <a:solidFill>
                  <a:srgbClr val="098557"/>
                </a:solidFill>
                <a:latin typeface="Calibri"/>
                <a:cs typeface="Calibri"/>
              </a:rPr>
              <a:t>2</a:t>
            </a:r>
            <a:r>
              <a:rPr sz="2400" dirty="0">
                <a:solidFill>
                  <a:srgbClr val="383942"/>
                </a:solidFill>
                <a:latin typeface="Calibri"/>
                <a:cs typeface="Calibri"/>
              </a:rPr>
              <a:t>,</a:t>
            </a:r>
            <a:r>
              <a:rPr sz="2400" spc="-20" dirty="0">
                <a:solidFill>
                  <a:srgbClr val="383942"/>
                </a:solidFill>
                <a:latin typeface="Calibri"/>
                <a:cs typeface="Calibri"/>
              </a:rPr>
              <a:t> </a:t>
            </a:r>
            <a:r>
              <a:rPr sz="2400" dirty="0">
                <a:solidFill>
                  <a:srgbClr val="098557"/>
                </a:solidFill>
                <a:latin typeface="Calibri"/>
                <a:cs typeface="Calibri"/>
              </a:rPr>
              <a:t>3</a:t>
            </a:r>
            <a:r>
              <a:rPr sz="2400" dirty="0">
                <a:solidFill>
                  <a:srgbClr val="383942"/>
                </a:solidFill>
                <a:latin typeface="Calibri"/>
                <a:cs typeface="Calibri"/>
              </a:rPr>
              <a:t>,</a:t>
            </a:r>
            <a:r>
              <a:rPr sz="2400" spc="-15" dirty="0">
                <a:solidFill>
                  <a:srgbClr val="383942"/>
                </a:solidFill>
                <a:latin typeface="Calibri"/>
                <a:cs typeface="Calibri"/>
              </a:rPr>
              <a:t> </a:t>
            </a:r>
            <a:r>
              <a:rPr sz="2400" dirty="0">
                <a:solidFill>
                  <a:srgbClr val="098557"/>
                </a:solidFill>
                <a:latin typeface="Calibri"/>
                <a:cs typeface="Calibri"/>
              </a:rPr>
              <a:t>4</a:t>
            </a:r>
            <a:r>
              <a:rPr sz="2400" dirty="0">
                <a:solidFill>
                  <a:srgbClr val="383942"/>
                </a:solidFill>
                <a:latin typeface="Calibri"/>
                <a:cs typeface="Calibri"/>
              </a:rPr>
              <a:t>,</a:t>
            </a:r>
            <a:r>
              <a:rPr sz="2400" spc="-15" dirty="0">
                <a:solidFill>
                  <a:srgbClr val="383942"/>
                </a:solidFill>
                <a:latin typeface="Calibri"/>
                <a:cs typeface="Calibri"/>
              </a:rPr>
              <a:t> </a:t>
            </a:r>
            <a:r>
              <a:rPr sz="2400" spc="-25" dirty="0">
                <a:solidFill>
                  <a:srgbClr val="098557"/>
                </a:solidFill>
                <a:latin typeface="Calibri"/>
                <a:cs typeface="Calibri"/>
              </a:rPr>
              <a:t>5</a:t>
            </a:r>
            <a:r>
              <a:rPr sz="2400" spc="-25" dirty="0">
                <a:solidFill>
                  <a:srgbClr val="383942"/>
                </a:solidFill>
                <a:latin typeface="Calibri"/>
                <a:cs typeface="Calibri"/>
              </a:rPr>
              <a:t>]</a:t>
            </a:r>
            <a:endParaRPr sz="2400" dirty="0">
              <a:latin typeface="Calibri"/>
              <a:cs typeface="Calibri"/>
            </a:endParaRPr>
          </a:p>
          <a:p>
            <a:pPr marL="12700">
              <a:lnSpc>
                <a:spcPct val="100000"/>
              </a:lnSpc>
              <a:spcBef>
                <a:spcPts val="540"/>
              </a:spcBef>
            </a:pPr>
            <a:r>
              <a:rPr sz="2400" dirty="0">
                <a:solidFill>
                  <a:srgbClr val="006FC1"/>
                </a:solidFill>
                <a:latin typeface="Calibri"/>
                <a:cs typeface="Calibri"/>
              </a:rPr>
              <a:t>y</a:t>
            </a:r>
            <a:r>
              <a:rPr sz="2400" spc="-30" dirty="0">
                <a:solidFill>
                  <a:srgbClr val="006FC1"/>
                </a:solidFill>
                <a:latin typeface="Calibri"/>
                <a:cs typeface="Calibri"/>
              </a:rPr>
              <a:t> </a:t>
            </a:r>
            <a:r>
              <a:rPr sz="2400" dirty="0">
                <a:solidFill>
                  <a:srgbClr val="383942"/>
                </a:solidFill>
                <a:latin typeface="Calibri"/>
                <a:cs typeface="Calibri"/>
              </a:rPr>
              <a:t>=</a:t>
            </a:r>
            <a:r>
              <a:rPr sz="2400" spc="-20" dirty="0">
                <a:solidFill>
                  <a:srgbClr val="383942"/>
                </a:solidFill>
                <a:latin typeface="Calibri"/>
                <a:cs typeface="Calibri"/>
              </a:rPr>
              <a:t> </a:t>
            </a:r>
            <a:r>
              <a:rPr sz="2400" dirty="0">
                <a:solidFill>
                  <a:srgbClr val="383942"/>
                </a:solidFill>
                <a:latin typeface="Calibri"/>
                <a:cs typeface="Calibri"/>
              </a:rPr>
              <a:t>[</a:t>
            </a:r>
            <a:r>
              <a:rPr sz="2400" dirty="0">
                <a:solidFill>
                  <a:srgbClr val="098557"/>
                </a:solidFill>
                <a:latin typeface="Calibri"/>
                <a:cs typeface="Calibri"/>
              </a:rPr>
              <a:t>10</a:t>
            </a:r>
            <a:r>
              <a:rPr sz="2400" dirty="0">
                <a:solidFill>
                  <a:srgbClr val="383942"/>
                </a:solidFill>
                <a:latin typeface="Calibri"/>
                <a:cs typeface="Calibri"/>
              </a:rPr>
              <a:t>,</a:t>
            </a:r>
            <a:r>
              <a:rPr sz="2400" spc="-5" dirty="0">
                <a:solidFill>
                  <a:srgbClr val="383942"/>
                </a:solidFill>
                <a:latin typeface="Calibri"/>
                <a:cs typeface="Calibri"/>
              </a:rPr>
              <a:t> </a:t>
            </a:r>
            <a:r>
              <a:rPr sz="2400" dirty="0">
                <a:solidFill>
                  <a:srgbClr val="098557"/>
                </a:solidFill>
                <a:latin typeface="Calibri"/>
                <a:cs typeface="Calibri"/>
              </a:rPr>
              <a:t>20</a:t>
            </a:r>
            <a:r>
              <a:rPr sz="2400" dirty="0">
                <a:solidFill>
                  <a:srgbClr val="383942"/>
                </a:solidFill>
                <a:latin typeface="Calibri"/>
                <a:cs typeface="Calibri"/>
              </a:rPr>
              <a:t>,</a:t>
            </a:r>
            <a:r>
              <a:rPr sz="2400" spc="-35" dirty="0">
                <a:solidFill>
                  <a:srgbClr val="383942"/>
                </a:solidFill>
                <a:latin typeface="Calibri"/>
                <a:cs typeface="Calibri"/>
              </a:rPr>
              <a:t> </a:t>
            </a:r>
            <a:r>
              <a:rPr sz="2400" dirty="0">
                <a:solidFill>
                  <a:srgbClr val="098557"/>
                </a:solidFill>
                <a:latin typeface="Calibri"/>
                <a:cs typeface="Calibri"/>
              </a:rPr>
              <a:t>15</a:t>
            </a:r>
            <a:r>
              <a:rPr sz="2400" dirty="0">
                <a:solidFill>
                  <a:srgbClr val="383942"/>
                </a:solidFill>
                <a:latin typeface="Calibri"/>
                <a:cs typeface="Calibri"/>
              </a:rPr>
              <a:t>,</a:t>
            </a:r>
            <a:r>
              <a:rPr sz="2400" spc="-20" dirty="0">
                <a:solidFill>
                  <a:srgbClr val="383942"/>
                </a:solidFill>
                <a:latin typeface="Calibri"/>
                <a:cs typeface="Calibri"/>
              </a:rPr>
              <a:t> </a:t>
            </a:r>
            <a:r>
              <a:rPr sz="2400" dirty="0">
                <a:solidFill>
                  <a:srgbClr val="098557"/>
                </a:solidFill>
                <a:latin typeface="Calibri"/>
                <a:cs typeface="Calibri"/>
              </a:rPr>
              <a:t>25</a:t>
            </a:r>
            <a:r>
              <a:rPr sz="2400" dirty="0">
                <a:solidFill>
                  <a:srgbClr val="383942"/>
                </a:solidFill>
                <a:latin typeface="Calibri"/>
                <a:cs typeface="Calibri"/>
              </a:rPr>
              <a:t>,</a:t>
            </a:r>
            <a:r>
              <a:rPr sz="2400" spc="-20" dirty="0">
                <a:solidFill>
                  <a:srgbClr val="383942"/>
                </a:solidFill>
                <a:latin typeface="Calibri"/>
                <a:cs typeface="Calibri"/>
              </a:rPr>
              <a:t> </a:t>
            </a:r>
            <a:r>
              <a:rPr sz="2400" spc="-25" dirty="0">
                <a:solidFill>
                  <a:srgbClr val="098557"/>
                </a:solidFill>
                <a:latin typeface="Calibri"/>
                <a:cs typeface="Calibri"/>
              </a:rPr>
              <a:t>30</a:t>
            </a:r>
            <a:r>
              <a:rPr sz="2400" spc="-25" dirty="0">
                <a:solidFill>
                  <a:srgbClr val="383942"/>
                </a:solidFill>
                <a:latin typeface="Calibri"/>
                <a:cs typeface="Calibri"/>
              </a:rPr>
              <a:t>]</a:t>
            </a:r>
            <a:endParaRPr sz="2400" dirty="0">
              <a:latin typeface="Calibri"/>
              <a:cs typeface="Calibri"/>
            </a:endParaRPr>
          </a:p>
          <a:p>
            <a:pPr marL="12700" marR="5080">
              <a:lnSpc>
                <a:spcPts val="3420"/>
              </a:lnSpc>
              <a:spcBef>
                <a:spcPts val="195"/>
              </a:spcBef>
            </a:pPr>
            <a:r>
              <a:rPr sz="2400" dirty="0">
                <a:solidFill>
                  <a:srgbClr val="006FC1"/>
                </a:solidFill>
                <a:latin typeface="Calibri"/>
                <a:cs typeface="Calibri"/>
              </a:rPr>
              <a:t>plt</a:t>
            </a:r>
            <a:r>
              <a:rPr sz="2400" dirty="0">
                <a:solidFill>
                  <a:srgbClr val="383942"/>
                </a:solidFill>
                <a:latin typeface="Calibri"/>
                <a:cs typeface="Calibri"/>
              </a:rPr>
              <a:t>.</a:t>
            </a:r>
            <a:r>
              <a:rPr sz="2400" dirty="0">
                <a:solidFill>
                  <a:srgbClr val="795E25"/>
                </a:solidFill>
                <a:latin typeface="Calibri"/>
                <a:cs typeface="Calibri"/>
              </a:rPr>
              <a:t>plot</a:t>
            </a:r>
            <a:r>
              <a:rPr sz="2400" dirty="0">
                <a:solidFill>
                  <a:srgbClr val="383942"/>
                </a:solidFill>
                <a:latin typeface="Calibri"/>
                <a:cs typeface="Calibri"/>
              </a:rPr>
              <a:t>(</a:t>
            </a:r>
            <a:r>
              <a:rPr sz="2400" dirty="0">
                <a:solidFill>
                  <a:srgbClr val="006FC1"/>
                </a:solidFill>
                <a:latin typeface="Calibri"/>
                <a:cs typeface="Calibri"/>
              </a:rPr>
              <a:t>x</a:t>
            </a:r>
            <a:r>
              <a:rPr sz="2400" dirty="0">
                <a:solidFill>
                  <a:srgbClr val="383942"/>
                </a:solidFill>
                <a:latin typeface="Calibri"/>
                <a:cs typeface="Calibri"/>
              </a:rPr>
              <a:t>,</a:t>
            </a:r>
            <a:r>
              <a:rPr sz="2400" spc="-65" dirty="0">
                <a:solidFill>
                  <a:srgbClr val="383942"/>
                </a:solidFill>
                <a:latin typeface="Calibri"/>
                <a:cs typeface="Calibri"/>
              </a:rPr>
              <a:t> </a:t>
            </a:r>
            <a:r>
              <a:rPr sz="2400" spc="-65" dirty="0">
                <a:solidFill>
                  <a:srgbClr val="006FC1"/>
                </a:solidFill>
                <a:latin typeface="Calibri"/>
                <a:cs typeface="Calibri"/>
              </a:rPr>
              <a:t>y</a:t>
            </a:r>
            <a:r>
              <a:rPr sz="2400" spc="-65" dirty="0">
                <a:solidFill>
                  <a:srgbClr val="383942"/>
                </a:solidFill>
                <a:latin typeface="Calibri"/>
                <a:cs typeface="Calibri"/>
              </a:rPr>
              <a:t>,</a:t>
            </a:r>
            <a:r>
              <a:rPr sz="2400" spc="-35" dirty="0">
                <a:solidFill>
                  <a:srgbClr val="383942"/>
                </a:solidFill>
                <a:latin typeface="Calibri"/>
                <a:cs typeface="Calibri"/>
              </a:rPr>
              <a:t> </a:t>
            </a:r>
            <a:r>
              <a:rPr sz="2400" spc="-10" dirty="0">
                <a:solidFill>
                  <a:srgbClr val="006FC1"/>
                </a:solidFill>
                <a:latin typeface="Calibri"/>
                <a:cs typeface="Calibri"/>
              </a:rPr>
              <a:t>marker</a:t>
            </a:r>
            <a:r>
              <a:rPr sz="2400" spc="-10" dirty="0">
                <a:solidFill>
                  <a:srgbClr val="383942"/>
                </a:solidFill>
                <a:latin typeface="Calibri"/>
                <a:cs typeface="Calibri"/>
              </a:rPr>
              <a:t>=</a:t>
            </a:r>
            <a:r>
              <a:rPr sz="2400" spc="-10" dirty="0">
                <a:solidFill>
                  <a:srgbClr val="A21515"/>
                </a:solidFill>
                <a:latin typeface="Calibri"/>
                <a:cs typeface="Calibri"/>
              </a:rPr>
              <a:t>‘o'</a:t>
            </a:r>
            <a:r>
              <a:rPr sz="2400" spc="-10" dirty="0">
                <a:solidFill>
                  <a:srgbClr val="383942"/>
                </a:solidFill>
                <a:latin typeface="Calibri"/>
                <a:cs typeface="Calibri"/>
              </a:rPr>
              <a:t>,</a:t>
            </a:r>
            <a:r>
              <a:rPr sz="2400" spc="-50" dirty="0">
                <a:solidFill>
                  <a:srgbClr val="383942"/>
                </a:solidFill>
                <a:latin typeface="Calibri"/>
                <a:cs typeface="Calibri"/>
              </a:rPr>
              <a:t> </a:t>
            </a:r>
            <a:r>
              <a:rPr sz="2400" spc="-20" dirty="0">
                <a:solidFill>
                  <a:srgbClr val="006FC1"/>
                </a:solidFill>
                <a:latin typeface="Calibri"/>
                <a:cs typeface="Calibri"/>
              </a:rPr>
              <a:t>linestyle</a:t>
            </a:r>
            <a:r>
              <a:rPr sz="2400" spc="-20" dirty="0">
                <a:solidFill>
                  <a:srgbClr val="383942"/>
                </a:solidFill>
                <a:latin typeface="Calibri"/>
                <a:cs typeface="Calibri"/>
              </a:rPr>
              <a:t>=</a:t>
            </a:r>
            <a:r>
              <a:rPr sz="2400" spc="-20" dirty="0">
                <a:solidFill>
                  <a:srgbClr val="A21515"/>
                </a:solidFill>
                <a:latin typeface="Calibri"/>
                <a:cs typeface="Calibri"/>
              </a:rPr>
              <a:t>‘-</a:t>
            </a:r>
            <a:r>
              <a:rPr sz="2400" dirty="0">
                <a:solidFill>
                  <a:srgbClr val="A21515"/>
                </a:solidFill>
                <a:latin typeface="Calibri"/>
                <a:cs typeface="Calibri"/>
              </a:rPr>
              <a:t>'</a:t>
            </a:r>
            <a:r>
              <a:rPr sz="2400" dirty="0">
                <a:solidFill>
                  <a:srgbClr val="383942"/>
                </a:solidFill>
                <a:latin typeface="Calibri"/>
                <a:cs typeface="Calibri"/>
              </a:rPr>
              <a:t>,</a:t>
            </a:r>
            <a:r>
              <a:rPr sz="2400" spc="-35" dirty="0">
                <a:solidFill>
                  <a:srgbClr val="383942"/>
                </a:solidFill>
                <a:latin typeface="Calibri"/>
                <a:cs typeface="Calibri"/>
              </a:rPr>
              <a:t> </a:t>
            </a:r>
            <a:r>
              <a:rPr sz="2400" spc="-10" dirty="0">
                <a:solidFill>
                  <a:srgbClr val="006FC1"/>
                </a:solidFill>
                <a:latin typeface="Calibri"/>
                <a:cs typeface="Calibri"/>
              </a:rPr>
              <a:t>color</a:t>
            </a:r>
            <a:r>
              <a:rPr sz="2400" spc="-10" dirty="0">
                <a:solidFill>
                  <a:srgbClr val="383942"/>
                </a:solidFill>
                <a:latin typeface="Calibri"/>
                <a:cs typeface="Calibri"/>
              </a:rPr>
              <a:t>=</a:t>
            </a:r>
            <a:r>
              <a:rPr sz="2400" spc="-10" dirty="0">
                <a:solidFill>
                  <a:srgbClr val="A21515"/>
                </a:solidFill>
                <a:latin typeface="Calibri"/>
                <a:cs typeface="Calibri"/>
              </a:rPr>
              <a:t>'blue'</a:t>
            </a:r>
            <a:r>
              <a:rPr sz="2400" spc="-10" dirty="0">
                <a:solidFill>
                  <a:srgbClr val="383942"/>
                </a:solidFill>
                <a:latin typeface="Calibri"/>
                <a:cs typeface="Calibri"/>
              </a:rPr>
              <a:t>) </a:t>
            </a:r>
            <a:r>
              <a:rPr sz="2400" dirty="0">
                <a:solidFill>
                  <a:srgbClr val="006FC1"/>
                </a:solidFill>
                <a:latin typeface="Calibri"/>
                <a:cs typeface="Calibri"/>
              </a:rPr>
              <a:t>plt</a:t>
            </a:r>
            <a:r>
              <a:rPr sz="2400" dirty="0">
                <a:solidFill>
                  <a:srgbClr val="383942"/>
                </a:solidFill>
                <a:latin typeface="Calibri"/>
                <a:cs typeface="Calibri"/>
              </a:rPr>
              <a:t>.</a:t>
            </a:r>
            <a:r>
              <a:rPr sz="2400" dirty="0">
                <a:solidFill>
                  <a:srgbClr val="795E25"/>
                </a:solidFill>
                <a:latin typeface="Calibri"/>
                <a:cs typeface="Calibri"/>
              </a:rPr>
              <a:t>title</a:t>
            </a:r>
            <a:r>
              <a:rPr sz="2400" dirty="0">
                <a:solidFill>
                  <a:srgbClr val="383942"/>
                </a:solidFill>
                <a:latin typeface="Calibri"/>
                <a:cs typeface="Calibri"/>
              </a:rPr>
              <a:t>(</a:t>
            </a:r>
            <a:r>
              <a:rPr sz="2400" dirty="0">
                <a:solidFill>
                  <a:srgbClr val="A21515"/>
                </a:solidFill>
                <a:latin typeface="Calibri"/>
                <a:cs typeface="Calibri"/>
              </a:rPr>
              <a:t>"Line</a:t>
            </a:r>
            <a:r>
              <a:rPr sz="2400" spc="-130" dirty="0">
                <a:solidFill>
                  <a:srgbClr val="A21515"/>
                </a:solidFill>
                <a:latin typeface="Calibri"/>
                <a:cs typeface="Calibri"/>
              </a:rPr>
              <a:t> </a:t>
            </a:r>
            <a:r>
              <a:rPr sz="2400" spc="-10" dirty="0">
                <a:solidFill>
                  <a:srgbClr val="A21515"/>
                </a:solidFill>
                <a:latin typeface="Calibri"/>
                <a:cs typeface="Calibri"/>
              </a:rPr>
              <a:t>Plot"</a:t>
            </a:r>
            <a:r>
              <a:rPr sz="2400" spc="-10" dirty="0">
                <a:solidFill>
                  <a:srgbClr val="383942"/>
                </a:solidFill>
                <a:latin typeface="Calibri"/>
                <a:cs typeface="Calibri"/>
              </a:rPr>
              <a:t>)</a:t>
            </a:r>
            <a:endParaRPr sz="2400" dirty="0">
              <a:latin typeface="Calibri"/>
              <a:cs typeface="Calibri"/>
            </a:endParaRPr>
          </a:p>
          <a:p>
            <a:pPr marL="12700" marR="3829050">
              <a:lnSpc>
                <a:spcPts val="3410"/>
              </a:lnSpc>
              <a:spcBef>
                <a:spcPts val="10"/>
              </a:spcBef>
            </a:pPr>
            <a:r>
              <a:rPr sz="2400" spc="-10" dirty="0">
                <a:solidFill>
                  <a:srgbClr val="006FC1"/>
                </a:solidFill>
                <a:latin typeface="Calibri"/>
                <a:cs typeface="Calibri"/>
              </a:rPr>
              <a:t>plt</a:t>
            </a:r>
            <a:r>
              <a:rPr sz="2400" spc="-10" dirty="0">
                <a:solidFill>
                  <a:srgbClr val="383942"/>
                </a:solidFill>
                <a:latin typeface="Calibri"/>
                <a:cs typeface="Calibri"/>
              </a:rPr>
              <a:t>.</a:t>
            </a:r>
            <a:r>
              <a:rPr sz="2400" spc="-10" dirty="0">
                <a:solidFill>
                  <a:srgbClr val="795E25"/>
                </a:solidFill>
                <a:latin typeface="Calibri"/>
                <a:cs typeface="Calibri"/>
              </a:rPr>
              <a:t>xlabel</a:t>
            </a:r>
            <a:r>
              <a:rPr sz="2400" spc="-10" dirty="0">
                <a:solidFill>
                  <a:srgbClr val="383942"/>
                </a:solidFill>
                <a:latin typeface="Calibri"/>
                <a:cs typeface="Calibri"/>
              </a:rPr>
              <a:t>(</a:t>
            </a:r>
            <a:r>
              <a:rPr sz="2400" spc="-10" dirty="0">
                <a:solidFill>
                  <a:srgbClr val="A21515"/>
                </a:solidFill>
                <a:latin typeface="Calibri"/>
                <a:cs typeface="Calibri"/>
              </a:rPr>
              <a:t>"X-axis"</a:t>
            </a:r>
            <a:r>
              <a:rPr sz="2400" spc="-10" dirty="0">
                <a:solidFill>
                  <a:srgbClr val="383942"/>
                </a:solidFill>
                <a:latin typeface="Calibri"/>
                <a:cs typeface="Calibri"/>
              </a:rPr>
              <a:t>) </a:t>
            </a:r>
            <a:r>
              <a:rPr sz="2400" spc="-20" dirty="0">
                <a:solidFill>
                  <a:srgbClr val="006FC1"/>
                </a:solidFill>
                <a:latin typeface="Calibri"/>
                <a:cs typeface="Calibri"/>
              </a:rPr>
              <a:t>plt</a:t>
            </a:r>
            <a:r>
              <a:rPr sz="2400" spc="-20" dirty="0">
                <a:solidFill>
                  <a:srgbClr val="383942"/>
                </a:solidFill>
                <a:latin typeface="Calibri"/>
                <a:cs typeface="Calibri"/>
              </a:rPr>
              <a:t>.</a:t>
            </a:r>
            <a:r>
              <a:rPr sz="2400" spc="-20" dirty="0">
                <a:solidFill>
                  <a:srgbClr val="795E25"/>
                </a:solidFill>
                <a:latin typeface="Calibri"/>
                <a:cs typeface="Calibri"/>
              </a:rPr>
              <a:t>ylabel</a:t>
            </a:r>
            <a:r>
              <a:rPr sz="2400" spc="-20" dirty="0">
                <a:solidFill>
                  <a:srgbClr val="383942"/>
                </a:solidFill>
                <a:latin typeface="Calibri"/>
                <a:cs typeface="Calibri"/>
              </a:rPr>
              <a:t>(</a:t>
            </a:r>
            <a:r>
              <a:rPr sz="2400" spc="-20" dirty="0">
                <a:solidFill>
                  <a:srgbClr val="A21515"/>
                </a:solidFill>
                <a:latin typeface="Calibri"/>
                <a:cs typeface="Calibri"/>
              </a:rPr>
              <a:t>"Y-</a:t>
            </a:r>
            <a:r>
              <a:rPr sz="2400" spc="-10" dirty="0">
                <a:solidFill>
                  <a:srgbClr val="A21515"/>
                </a:solidFill>
                <a:latin typeface="Calibri"/>
                <a:cs typeface="Calibri"/>
              </a:rPr>
              <a:t>axis"</a:t>
            </a:r>
            <a:r>
              <a:rPr sz="2400" spc="-10" dirty="0">
                <a:solidFill>
                  <a:srgbClr val="383942"/>
                </a:solidFill>
                <a:latin typeface="Calibri"/>
                <a:cs typeface="Calibri"/>
              </a:rPr>
              <a:t>)</a:t>
            </a:r>
            <a:endParaRPr sz="2400" dirty="0">
              <a:latin typeface="Calibri"/>
              <a:cs typeface="Calibri"/>
            </a:endParaRPr>
          </a:p>
          <a:p>
            <a:pPr marL="12700">
              <a:lnSpc>
                <a:spcPct val="100000"/>
              </a:lnSpc>
              <a:spcBef>
                <a:spcPts val="335"/>
              </a:spcBef>
            </a:pPr>
            <a:r>
              <a:rPr sz="2400" spc="-10" dirty="0">
                <a:solidFill>
                  <a:srgbClr val="006FC1"/>
                </a:solidFill>
                <a:latin typeface="Calibri"/>
                <a:cs typeface="Calibri"/>
              </a:rPr>
              <a:t>plt</a:t>
            </a:r>
            <a:r>
              <a:rPr sz="2400" spc="-10" dirty="0">
                <a:solidFill>
                  <a:srgbClr val="383942"/>
                </a:solidFill>
                <a:latin typeface="Calibri"/>
                <a:cs typeface="Calibri"/>
              </a:rPr>
              <a:t>.</a:t>
            </a:r>
            <a:r>
              <a:rPr sz="2400" spc="-10" dirty="0">
                <a:solidFill>
                  <a:srgbClr val="795E25"/>
                </a:solidFill>
                <a:latin typeface="Calibri"/>
                <a:cs typeface="Calibri"/>
              </a:rPr>
              <a:t>grid</a:t>
            </a:r>
            <a:r>
              <a:rPr sz="2400" spc="-10" dirty="0">
                <a:solidFill>
                  <a:srgbClr val="383942"/>
                </a:solidFill>
                <a:latin typeface="Calibri"/>
                <a:cs typeface="Calibri"/>
              </a:rPr>
              <a:t>()</a:t>
            </a:r>
            <a:endParaRPr sz="2400" dirty="0">
              <a:latin typeface="Calibri"/>
              <a:cs typeface="Calibri"/>
            </a:endParaRPr>
          </a:p>
          <a:p>
            <a:pPr marL="12700">
              <a:lnSpc>
                <a:spcPct val="100000"/>
              </a:lnSpc>
              <a:spcBef>
                <a:spcPts val="540"/>
              </a:spcBef>
            </a:pPr>
            <a:r>
              <a:rPr sz="2400" spc="-10" dirty="0">
                <a:solidFill>
                  <a:srgbClr val="006FC1"/>
                </a:solidFill>
                <a:latin typeface="Calibri"/>
                <a:cs typeface="Calibri"/>
              </a:rPr>
              <a:t>plt</a:t>
            </a:r>
            <a:r>
              <a:rPr sz="2400" spc="-10" dirty="0">
                <a:solidFill>
                  <a:srgbClr val="383942"/>
                </a:solidFill>
                <a:latin typeface="Calibri"/>
                <a:cs typeface="Calibri"/>
              </a:rPr>
              <a:t>.</a:t>
            </a:r>
            <a:r>
              <a:rPr sz="2400" spc="-10" dirty="0">
                <a:solidFill>
                  <a:srgbClr val="795E25"/>
                </a:solidFill>
                <a:latin typeface="Calibri"/>
                <a:cs typeface="Calibri"/>
              </a:rPr>
              <a:t>show</a:t>
            </a:r>
            <a:r>
              <a:rPr sz="2400" spc="-10" dirty="0">
                <a:solidFill>
                  <a:srgbClr val="383942"/>
                </a:solidFill>
                <a:latin typeface="Calibri"/>
                <a:cs typeface="Calibri"/>
              </a:rPr>
              <a:t>()</a:t>
            </a:r>
            <a:endParaRPr sz="2400" dirty="0">
              <a:latin typeface="Calibri"/>
              <a:cs typeface="Calibri"/>
            </a:endParaRPr>
          </a:p>
        </p:txBody>
      </p:sp>
      <p:pic>
        <p:nvPicPr>
          <p:cNvPr id="4" name="object 4"/>
          <p:cNvPicPr/>
          <p:nvPr/>
        </p:nvPicPr>
        <p:blipFill>
          <a:blip r:embed="rId2" cstate="print"/>
          <a:stretch>
            <a:fillRect/>
          </a:stretch>
        </p:blipFill>
        <p:spPr>
          <a:xfrm>
            <a:off x="7299959" y="2029967"/>
            <a:ext cx="4561332" cy="3602736"/>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00152" rIns="0" bIns="0" rtlCol="0">
            <a:spAutoFit/>
          </a:bodyPr>
          <a:lstStyle/>
          <a:p>
            <a:pPr marL="12700">
              <a:lnSpc>
                <a:spcPct val="100000"/>
              </a:lnSpc>
              <a:spcBef>
                <a:spcPts val="100"/>
              </a:spcBef>
            </a:pPr>
            <a:r>
              <a:rPr sz="3600" b="0" spc="-45" dirty="0">
                <a:latin typeface="Cambria"/>
                <a:cs typeface="Cambria"/>
              </a:rPr>
              <a:t>Line</a:t>
            </a:r>
            <a:r>
              <a:rPr sz="3600" b="0" spc="-130" dirty="0">
                <a:latin typeface="Cambria"/>
                <a:cs typeface="Cambria"/>
              </a:rPr>
              <a:t> </a:t>
            </a:r>
            <a:r>
              <a:rPr sz="3600" b="0" spc="-45" dirty="0">
                <a:latin typeface="Cambria"/>
                <a:cs typeface="Cambria"/>
              </a:rPr>
              <a:t>Plot</a:t>
            </a:r>
            <a:r>
              <a:rPr sz="3600" b="0" spc="-114" dirty="0">
                <a:latin typeface="Cambria"/>
                <a:cs typeface="Cambria"/>
              </a:rPr>
              <a:t> </a:t>
            </a:r>
            <a:r>
              <a:rPr sz="3600" b="0" spc="-55" dirty="0">
                <a:latin typeface="Cambria"/>
                <a:cs typeface="Cambria"/>
              </a:rPr>
              <a:t>(Visualizes</a:t>
            </a:r>
            <a:r>
              <a:rPr sz="3600" b="0" spc="-110" dirty="0">
                <a:latin typeface="Cambria"/>
                <a:cs typeface="Cambria"/>
              </a:rPr>
              <a:t> </a:t>
            </a:r>
            <a:r>
              <a:rPr sz="3600" b="0" spc="-65" dirty="0">
                <a:latin typeface="Cambria"/>
                <a:cs typeface="Cambria"/>
              </a:rPr>
              <a:t>trends</a:t>
            </a:r>
            <a:r>
              <a:rPr sz="3600" b="0" spc="-135" dirty="0">
                <a:latin typeface="Cambria"/>
                <a:cs typeface="Cambria"/>
              </a:rPr>
              <a:t> </a:t>
            </a:r>
            <a:r>
              <a:rPr sz="3600" b="0" spc="-75" dirty="0">
                <a:latin typeface="Cambria"/>
                <a:cs typeface="Cambria"/>
              </a:rPr>
              <a:t>over</a:t>
            </a:r>
            <a:r>
              <a:rPr sz="3600" b="0" spc="-120" dirty="0">
                <a:latin typeface="Cambria"/>
                <a:cs typeface="Cambria"/>
              </a:rPr>
              <a:t> </a:t>
            </a:r>
            <a:r>
              <a:rPr sz="3600" b="0" spc="-45" dirty="0">
                <a:latin typeface="Cambria"/>
                <a:cs typeface="Cambria"/>
              </a:rPr>
              <a:t>time</a:t>
            </a:r>
            <a:r>
              <a:rPr sz="3600" b="0" spc="-140" dirty="0">
                <a:latin typeface="Cambria"/>
                <a:cs typeface="Cambria"/>
              </a:rPr>
              <a:t> </a:t>
            </a:r>
            <a:r>
              <a:rPr sz="3600" b="0" dirty="0">
                <a:latin typeface="Cambria"/>
                <a:cs typeface="Cambria"/>
              </a:rPr>
              <a:t>or</a:t>
            </a:r>
            <a:r>
              <a:rPr sz="3600" b="0" spc="-114" dirty="0">
                <a:latin typeface="Cambria"/>
                <a:cs typeface="Cambria"/>
              </a:rPr>
              <a:t> </a:t>
            </a:r>
            <a:r>
              <a:rPr sz="3600" b="0" spc="-10" dirty="0">
                <a:latin typeface="Cambria"/>
                <a:cs typeface="Cambria"/>
              </a:rPr>
              <a:t>sequences.)</a:t>
            </a:r>
            <a:endParaRPr sz="3600">
              <a:latin typeface="Cambria"/>
              <a:cs typeface="Cambria"/>
            </a:endParaRPr>
          </a:p>
        </p:txBody>
      </p:sp>
      <p:sp>
        <p:nvSpPr>
          <p:cNvPr id="3" name="object 3"/>
          <p:cNvSpPr txBox="1"/>
          <p:nvPr/>
        </p:nvSpPr>
        <p:spPr>
          <a:xfrm>
            <a:off x="1084580" y="1247902"/>
            <a:ext cx="5918835" cy="4787265"/>
          </a:xfrm>
          <a:prstGeom prst="rect">
            <a:avLst/>
          </a:prstGeom>
        </p:spPr>
        <p:txBody>
          <a:bodyPr vert="horz" wrap="square" lIns="0" tIns="12065" rIns="0" bIns="0" rtlCol="0">
            <a:spAutoFit/>
          </a:bodyPr>
          <a:lstStyle/>
          <a:p>
            <a:pPr marL="12700" marR="2451100">
              <a:lnSpc>
                <a:spcPct val="100000"/>
              </a:lnSpc>
              <a:spcBef>
                <a:spcPts val="95"/>
              </a:spcBef>
            </a:pPr>
            <a:r>
              <a:rPr sz="1600" dirty="0">
                <a:solidFill>
                  <a:srgbClr val="AE00DB"/>
                </a:solidFill>
                <a:latin typeface="Consolas"/>
                <a:cs typeface="Consolas"/>
              </a:rPr>
              <a:t>import</a:t>
            </a:r>
            <a:r>
              <a:rPr sz="1600" spc="-45" dirty="0">
                <a:solidFill>
                  <a:srgbClr val="AE00DB"/>
                </a:solidFill>
                <a:latin typeface="Consolas"/>
                <a:cs typeface="Consolas"/>
              </a:rPr>
              <a:t> </a:t>
            </a:r>
            <a:r>
              <a:rPr sz="1600" dirty="0">
                <a:latin typeface="Consolas"/>
                <a:cs typeface="Consolas"/>
              </a:rPr>
              <a:t>matplotlib.pyplot</a:t>
            </a:r>
            <a:r>
              <a:rPr sz="1600" spc="-25" dirty="0">
                <a:latin typeface="Consolas"/>
                <a:cs typeface="Consolas"/>
              </a:rPr>
              <a:t> </a:t>
            </a:r>
            <a:r>
              <a:rPr sz="1600" dirty="0">
                <a:solidFill>
                  <a:srgbClr val="AE00DB"/>
                </a:solidFill>
                <a:latin typeface="Consolas"/>
                <a:cs typeface="Consolas"/>
              </a:rPr>
              <a:t>as</a:t>
            </a:r>
            <a:r>
              <a:rPr sz="1600" spc="-30" dirty="0">
                <a:solidFill>
                  <a:srgbClr val="AE00DB"/>
                </a:solidFill>
                <a:latin typeface="Consolas"/>
                <a:cs typeface="Consolas"/>
              </a:rPr>
              <a:t> </a:t>
            </a:r>
            <a:r>
              <a:rPr sz="1600" spc="-25" dirty="0">
                <a:latin typeface="Consolas"/>
                <a:cs typeface="Consolas"/>
              </a:rPr>
              <a:t>plt </a:t>
            </a:r>
            <a:r>
              <a:rPr sz="1600" dirty="0">
                <a:solidFill>
                  <a:srgbClr val="008000"/>
                </a:solidFill>
                <a:latin typeface="Consolas"/>
                <a:cs typeface="Consolas"/>
              </a:rPr>
              <a:t>#</a:t>
            </a:r>
            <a:r>
              <a:rPr sz="1600" spc="-5" dirty="0">
                <a:solidFill>
                  <a:srgbClr val="008000"/>
                </a:solidFill>
                <a:latin typeface="Consolas"/>
                <a:cs typeface="Consolas"/>
              </a:rPr>
              <a:t> </a:t>
            </a:r>
            <a:r>
              <a:rPr sz="1600" dirty="0">
                <a:solidFill>
                  <a:srgbClr val="008000"/>
                </a:solidFill>
                <a:latin typeface="Consolas"/>
                <a:cs typeface="Consolas"/>
              </a:rPr>
              <a:t>Sample</a:t>
            </a:r>
            <a:r>
              <a:rPr sz="1600" spc="-5" dirty="0">
                <a:solidFill>
                  <a:srgbClr val="008000"/>
                </a:solidFill>
                <a:latin typeface="Consolas"/>
                <a:cs typeface="Consolas"/>
              </a:rPr>
              <a:t> </a:t>
            </a:r>
            <a:r>
              <a:rPr sz="1600" spc="-20" dirty="0">
                <a:solidFill>
                  <a:srgbClr val="008000"/>
                </a:solidFill>
                <a:latin typeface="Consolas"/>
                <a:cs typeface="Consolas"/>
              </a:rPr>
              <a:t>Data</a:t>
            </a:r>
            <a:endParaRPr sz="1600" dirty="0">
              <a:latin typeface="Consolas"/>
              <a:cs typeface="Consolas"/>
            </a:endParaRPr>
          </a:p>
          <a:p>
            <a:pPr marL="12700">
              <a:lnSpc>
                <a:spcPct val="100000"/>
              </a:lnSpc>
              <a:spcBef>
                <a:spcPts val="1390"/>
              </a:spcBef>
            </a:pPr>
            <a:r>
              <a:rPr sz="1600" dirty="0">
                <a:latin typeface="Consolas"/>
                <a:cs typeface="Consolas"/>
              </a:rPr>
              <a:t>x</a:t>
            </a:r>
            <a:r>
              <a:rPr sz="1600" spc="-10" dirty="0">
                <a:latin typeface="Consolas"/>
                <a:cs typeface="Consolas"/>
              </a:rPr>
              <a:t> </a:t>
            </a:r>
            <a:r>
              <a:rPr sz="1600" dirty="0">
                <a:latin typeface="Consolas"/>
                <a:cs typeface="Consolas"/>
              </a:rPr>
              <a:t>=</a:t>
            </a:r>
            <a:r>
              <a:rPr sz="1600" spc="-15" dirty="0">
                <a:latin typeface="Consolas"/>
                <a:cs typeface="Consolas"/>
              </a:rPr>
              <a:t> </a:t>
            </a:r>
            <a:r>
              <a:rPr sz="1600" dirty="0">
                <a:latin typeface="Consolas"/>
                <a:cs typeface="Consolas"/>
              </a:rPr>
              <a:t>[</a:t>
            </a:r>
            <a:r>
              <a:rPr sz="1600" dirty="0">
                <a:solidFill>
                  <a:srgbClr val="116644"/>
                </a:solidFill>
                <a:latin typeface="Consolas"/>
                <a:cs typeface="Consolas"/>
              </a:rPr>
              <a:t>1</a:t>
            </a:r>
            <a:r>
              <a:rPr sz="1600" dirty="0">
                <a:latin typeface="Consolas"/>
                <a:cs typeface="Consolas"/>
              </a:rPr>
              <a:t>,</a:t>
            </a:r>
            <a:r>
              <a:rPr sz="1600" spc="-15" dirty="0">
                <a:latin typeface="Consolas"/>
                <a:cs typeface="Consolas"/>
              </a:rPr>
              <a:t> </a:t>
            </a:r>
            <a:r>
              <a:rPr sz="1600" dirty="0">
                <a:solidFill>
                  <a:srgbClr val="116644"/>
                </a:solidFill>
                <a:latin typeface="Consolas"/>
                <a:cs typeface="Consolas"/>
              </a:rPr>
              <a:t>2</a:t>
            </a:r>
            <a:r>
              <a:rPr sz="1600" dirty="0">
                <a:latin typeface="Consolas"/>
                <a:cs typeface="Consolas"/>
              </a:rPr>
              <a:t>,</a:t>
            </a:r>
            <a:r>
              <a:rPr sz="1600" spc="-15" dirty="0">
                <a:latin typeface="Consolas"/>
                <a:cs typeface="Consolas"/>
              </a:rPr>
              <a:t> </a:t>
            </a:r>
            <a:r>
              <a:rPr sz="1600" dirty="0">
                <a:solidFill>
                  <a:srgbClr val="116644"/>
                </a:solidFill>
                <a:latin typeface="Consolas"/>
                <a:cs typeface="Consolas"/>
              </a:rPr>
              <a:t>3</a:t>
            </a:r>
            <a:r>
              <a:rPr sz="1600" dirty="0">
                <a:latin typeface="Consolas"/>
                <a:cs typeface="Consolas"/>
              </a:rPr>
              <a:t>,</a:t>
            </a:r>
            <a:r>
              <a:rPr sz="1600" spc="-20" dirty="0">
                <a:latin typeface="Consolas"/>
                <a:cs typeface="Consolas"/>
              </a:rPr>
              <a:t> </a:t>
            </a:r>
            <a:r>
              <a:rPr sz="1600" dirty="0">
                <a:solidFill>
                  <a:srgbClr val="116644"/>
                </a:solidFill>
                <a:latin typeface="Consolas"/>
                <a:cs typeface="Consolas"/>
              </a:rPr>
              <a:t>4</a:t>
            </a:r>
            <a:r>
              <a:rPr sz="1600" dirty="0">
                <a:latin typeface="Consolas"/>
                <a:cs typeface="Consolas"/>
              </a:rPr>
              <a:t>,</a:t>
            </a:r>
            <a:r>
              <a:rPr sz="1600" spc="-15" dirty="0">
                <a:latin typeface="Consolas"/>
                <a:cs typeface="Consolas"/>
              </a:rPr>
              <a:t> </a:t>
            </a:r>
            <a:r>
              <a:rPr sz="1600" spc="-25" dirty="0">
                <a:solidFill>
                  <a:srgbClr val="116644"/>
                </a:solidFill>
                <a:latin typeface="Consolas"/>
                <a:cs typeface="Consolas"/>
              </a:rPr>
              <a:t>5</a:t>
            </a:r>
            <a:r>
              <a:rPr sz="1600" spc="-25" dirty="0">
                <a:latin typeface="Consolas"/>
                <a:cs typeface="Consolas"/>
              </a:rPr>
              <a:t>]</a:t>
            </a:r>
            <a:endParaRPr sz="1600" dirty="0">
              <a:latin typeface="Consolas"/>
              <a:cs typeface="Consolas"/>
            </a:endParaRPr>
          </a:p>
          <a:p>
            <a:pPr marL="12700">
              <a:lnSpc>
                <a:spcPct val="100000"/>
              </a:lnSpc>
              <a:spcBef>
                <a:spcPts val="1405"/>
              </a:spcBef>
            </a:pPr>
            <a:r>
              <a:rPr sz="1600" dirty="0">
                <a:latin typeface="Consolas"/>
                <a:cs typeface="Consolas"/>
              </a:rPr>
              <a:t>y</a:t>
            </a:r>
            <a:r>
              <a:rPr sz="1600" spc="-25" dirty="0">
                <a:latin typeface="Consolas"/>
                <a:cs typeface="Consolas"/>
              </a:rPr>
              <a:t> </a:t>
            </a:r>
            <a:r>
              <a:rPr sz="1600" dirty="0">
                <a:latin typeface="Consolas"/>
                <a:cs typeface="Consolas"/>
              </a:rPr>
              <a:t>=</a:t>
            </a:r>
            <a:r>
              <a:rPr sz="1600" spc="-20" dirty="0">
                <a:latin typeface="Consolas"/>
                <a:cs typeface="Consolas"/>
              </a:rPr>
              <a:t> </a:t>
            </a:r>
            <a:r>
              <a:rPr sz="1600" dirty="0">
                <a:latin typeface="Consolas"/>
                <a:cs typeface="Consolas"/>
              </a:rPr>
              <a:t>[</a:t>
            </a:r>
            <a:r>
              <a:rPr sz="1600" dirty="0">
                <a:solidFill>
                  <a:srgbClr val="116644"/>
                </a:solidFill>
                <a:latin typeface="Consolas"/>
                <a:cs typeface="Consolas"/>
              </a:rPr>
              <a:t>10</a:t>
            </a:r>
            <a:r>
              <a:rPr sz="1600" dirty="0">
                <a:latin typeface="Consolas"/>
                <a:cs typeface="Consolas"/>
              </a:rPr>
              <a:t>,</a:t>
            </a:r>
            <a:r>
              <a:rPr sz="1600" spc="-20" dirty="0">
                <a:latin typeface="Consolas"/>
                <a:cs typeface="Consolas"/>
              </a:rPr>
              <a:t> </a:t>
            </a:r>
            <a:r>
              <a:rPr sz="1600" dirty="0">
                <a:solidFill>
                  <a:srgbClr val="116644"/>
                </a:solidFill>
                <a:latin typeface="Consolas"/>
                <a:cs typeface="Consolas"/>
              </a:rPr>
              <a:t>20</a:t>
            </a:r>
            <a:r>
              <a:rPr sz="1600" dirty="0">
                <a:latin typeface="Consolas"/>
                <a:cs typeface="Consolas"/>
              </a:rPr>
              <a:t>,</a:t>
            </a:r>
            <a:r>
              <a:rPr sz="1600" spc="-15" dirty="0">
                <a:latin typeface="Consolas"/>
                <a:cs typeface="Consolas"/>
              </a:rPr>
              <a:t> </a:t>
            </a:r>
            <a:r>
              <a:rPr sz="1600" dirty="0">
                <a:solidFill>
                  <a:srgbClr val="116644"/>
                </a:solidFill>
                <a:latin typeface="Consolas"/>
                <a:cs typeface="Consolas"/>
              </a:rPr>
              <a:t>15</a:t>
            </a:r>
            <a:r>
              <a:rPr sz="1600" dirty="0">
                <a:latin typeface="Consolas"/>
                <a:cs typeface="Consolas"/>
              </a:rPr>
              <a:t>,</a:t>
            </a:r>
            <a:r>
              <a:rPr sz="1600" spc="-20" dirty="0">
                <a:latin typeface="Consolas"/>
                <a:cs typeface="Consolas"/>
              </a:rPr>
              <a:t> </a:t>
            </a:r>
            <a:r>
              <a:rPr sz="1600" dirty="0">
                <a:solidFill>
                  <a:srgbClr val="116644"/>
                </a:solidFill>
                <a:latin typeface="Consolas"/>
                <a:cs typeface="Consolas"/>
              </a:rPr>
              <a:t>25</a:t>
            </a:r>
            <a:r>
              <a:rPr sz="1600" dirty="0">
                <a:latin typeface="Consolas"/>
                <a:cs typeface="Consolas"/>
              </a:rPr>
              <a:t>,</a:t>
            </a:r>
            <a:r>
              <a:rPr sz="1600" spc="-20" dirty="0">
                <a:latin typeface="Consolas"/>
                <a:cs typeface="Consolas"/>
              </a:rPr>
              <a:t> </a:t>
            </a:r>
            <a:r>
              <a:rPr sz="1600" spc="-25" dirty="0">
                <a:solidFill>
                  <a:srgbClr val="116644"/>
                </a:solidFill>
                <a:latin typeface="Consolas"/>
                <a:cs typeface="Consolas"/>
              </a:rPr>
              <a:t>30</a:t>
            </a:r>
            <a:r>
              <a:rPr sz="1600" spc="-25" dirty="0">
                <a:latin typeface="Consolas"/>
                <a:cs typeface="Consolas"/>
              </a:rPr>
              <a:t>]</a:t>
            </a:r>
            <a:endParaRPr sz="1600" dirty="0">
              <a:latin typeface="Consolas"/>
              <a:cs typeface="Consolas"/>
            </a:endParaRPr>
          </a:p>
          <a:p>
            <a:pPr marL="12700">
              <a:lnSpc>
                <a:spcPct val="100000"/>
              </a:lnSpc>
              <a:spcBef>
                <a:spcPts val="5"/>
              </a:spcBef>
            </a:pPr>
            <a:r>
              <a:rPr sz="1600" dirty="0">
                <a:solidFill>
                  <a:srgbClr val="008000"/>
                </a:solidFill>
                <a:latin typeface="Consolas"/>
                <a:cs typeface="Consolas"/>
              </a:rPr>
              <a:t>#</a:t>
            </a:r>
            <a:r>
              <a:rPr sz="1600" spc="-5" dirty="0">
                <a:solidFill>
                  <a:srgbClr val="008000"/>
                </a:solidFill>
                <a:latin typeface="Consolas"/>
                <a:cs typeface="Consolas"/>
              </a:rPr>
              <a:t> </a:t>
            </a:r>
            <a:r>
              <a:rPr sz="1600" dirty="0">
                <a:solidFill>
                  <a:srgbClr val="008000"/>
                </a:solidFill>
                <a:latin typeface="Consolas"/>
                <a:cs typeface="Consolas"/>
              </a:rPr>
              <a:t>Create</a:t>
            </a:r>
            <a:r>
              <a:rPr sz="1600" spc="-5" dirty="0">
                <a:solidFill>
                  <a:srgbClr val="008000"/>
                </a:solidFill>
                <a:latin typeface="Consolas"/>
                <a:cs typeface="Consolas"/>
              </a:rPr>
              <a:t> </a:t>
            </a:r>
            <a:r>
              <a:rPr sz="1600" dirty="0">
                <a:solidFill>
                  <a:srgbClr val="008000"/>
                </a:solidFill>
                <a:latin typeface="Consolas"/>
                <a:cs typeface="Consolas"/>
              </a:rPr>
              <a:t>Line</a:t>
            </a:r>
            <a:r>
              <a:rPr sz="1600" spc="-15" dirty="0">
                <a:solidFill>
                  <a:srgbClr val="008000"/>
                </a:solidFill>
                <a:latin typeface="Consolas"/>
                <a:cs typeface="Consolas"/>
              </a:rPr>
              <a:t> </a:t>
            </a:r>
            <a:r>
              <a:rPr sz="1600" spc="-20" dirty="0">
                <a:solidFill>
                  <a:srgbClr val="008000"/>
                </a:solidFill>
                <a:latin typeface="Consolas"/>
                <a:cs typeface="Consolas"/>
              </a:rPr>
              <a:t>Plot</a:t>
            </a:r>
            <a:endParaRPr sz="1600" dirty="0">
              <a:latin typeface="Consolas"/>
              <a:cs typeface="Consolas"/>
            </a:endParaRPr>
          </a:p>
          <a:p>
            <a:pPr marL="12700" marR="5080">
              <a:lnSpc>
                <a:spcPct val="100000"/>
              </a:lnSpc>
              <a:spcBef>
                <a:spcPts val="1400"/>
              </a:spcBef>
            </a:pPr>
            <a:r>
              <a:rPr sz="1600" dirty="0">
                <a:latin typeface="Consolas"/>
                <a:cs typeface="Consolas"/>
              </a:rPr>
              <a:t>plt.plot(x,</a:t>
            </a:r>
            <a:r>
              <a:rPr sz="1600" spc="-15" dirty="0">
                <a:latin typeface="Consolas"/>
                <a:cs typeface="Consolas"/>
              </a:rPr>
              <a:t> </a:t>
            </a:r>
            <a:r>
              <a:rPr sz="1600" dirty="0">
                <a:latin typeface="Consolas"/>
                <a:cs typeface="Consolas"/>
              </a:rPr>
              <a:t>y,</a:t>
            </a:r>
            <a:r>
              <a:rPr sz="1600" spc="-15" dirty="0">
                <a:latin typeface="Consolas"/>
                <a:cs typeface="Consolas"/>
              </a:rPr>
              <a:t> </a:t>
            </a:r>
            <a:r>
              <a:rPr sz="1600" dirty="0">
                <a:latin typeface="Consolas"/>
                <a:cs typeface="Consolas"/>
              </a:rPr>
              <a:t>marker=</a:t>
            </a:r>
            <a:r>
              <a:rPr sz="1600" dirty="0">
                <a:solidFill>
                  <a:srgbClr val="A21515"/>
                </a:solidFill>
                <a:latin typeface="Consolas"/>
                <a:cs typeface="Consolas"/>
              </a:rPr>
              <a:t>'o'</a:t>
            </a:r>
            <a:r>
              <a:rPr sz="1600" dirty="0">
                <a:latin typeface="Consolas"/>
                <a:cs typeface="Consolas"/>
              </a:rPr>
              <a:t>,</a:t>
            </a:r>
            <a:r>
              <a:rPr sz="1600" spc="-5" dirty="0">
                <a:latin typeface="Consolas"/>
                <a:cs typeface="Consolas"/>
              </a:rPr>
              <a:t> </a:t>
            </a:r>
            <a:r>
              <a:rPr sz="1600" spc="-10" dirty="0">
                <a:latin typeface="Consolas"/>
                <a:cs typeface="Consolas"/>
              </a:rPr>
              <a:t>linestyle=</a:t>
            </a:r>
            <a:r>
              <a:rPr sz="1600" spc="-10" dirty="0">
                <a:solidFill>
                  <a:srgbClr val="A21515"/>
                </a:solidFill>
                <a:latin typeface="Consolas"/>
                <a:cs typeface="Consolas"/>
              </a:rPr>
              <a:t>‘--</a:t>
            </a:r>
            <a:r>
              <a:rPr sz="1600" dirty="0">
                <a:solidFill>
                  <a:srgbClr val="A21515"/>
                </a:solidFill>
                <a:latin typeface="Consolas"/>
                <a:cs typeface="Consolas"/>
              </a:rPr>
              <a:t>'</a:t>
            </a:r>
            <a:r>
              <a:rPr sz="1600" dirty="0">
                <a:latin typeface="Consolas"/>
                <a:cs typeface="Consolas"/>
              </a:rPr>
              <a:t>,</a:t>
            </a:r>
            <a:r>
              <a:rPr sz="1600" spc="-10" dirty="0">
                <a:latin typeface="Consolas"/>
                <a:cs typeface="Consolas"/>
              </a:rPr>
              <a:t> color=</a:t>
            </a:r>
            <a:r>
              <a:rPr sz="1600" spc="-10" dirty="0">
                <a:solidFill>
                  <a:srgbClr val="A21515"/>
                </a:solidFill>
                <a:latin typeface="Consolas"/>
                <a:cs typeface="Consolas"/>
              </a:rPr>
              <a:t>‘r'</a:t>
            </a:r>
            <a:r>
              <a:rPr sz="1600" spc="-10" dirty="0">
                <a:latin typeface="Consolas"/>
                <a:cs typeface="Consolas"/>
              </a:rPr>
              <a:t>, </a:t>
            </a:r>
            <a:r>
              <a:rPr sz="1600" dirty="0">
                <a:latin typeface="Consolas"/>
                <a:cs typeface="Consolas"/>
              </a:rPr>
              <a:t>label=</a:t>
            </a:r>
            <a:r>
              <a:rPr sz="1600" dirty="0">
                <a:solidFill>
                  <a:srgbClr val="A21515"/>
                </a:solidFill>
                <a:latin typeface="Consolas"/>
                <a:cs typeface="Consolas"/>
              </a:rPr>
              <a:t>'Line</a:t>
            </a:r>
            <a:r>
              <a:rPr sz="1600" spc="-45" dirty="0">
                <a:solidFill>
                  <a:srgbClr val="A21515"/>
                </a:solidFill>
                <a:latin typeface="Consolas"/>
                <a:cs typeface="Consolas"/>
              </a:rPr>
              <a:t> </a:t>
            </a:r>
            <a:r>
              <a:rPr sz="1600" spc="-25" dirty="0">
                <a:solidFill>
                  <a:srgbClr val="A21515"/>
                </a:solidFill>
                <a:latin typeface="Consolas"/>
                <a:cs typeface="Consolas"/>
              </a:rPr>
              <a:t>1'</a:t>
            </a:r>
            <a:r>
              <a:rPr sz="1600" spc="-25" dirty="0">
                <a:latin typeface="Consolas"/>
                <a:cs typeface="Consolas"/>
              </a:rPr>
              <a:t>)</a:t>
            </a:r>
            <a:endParaRPr sz="1600" dirty="0">
              <a:latin typeface="Consolas"/>
              <a:cs typeface="Consolas"/>
            </a:endParaRPr>
          </a:p>
          <a:p>
            <a:pPr marL="12700">
              <a:lnSpc>
                <a:spcPct val="100000"/>
              </a:lnSpc>
              <a:spcBef>
                <a:spcPts val="1395"/>
              </a:spcBef>
            </a:pPr>
            <a:r>
              <a:rPr sz="1600" dirty="0">
                <a:latin typeface="Consolas"/>
                <a:cs typeface="Consolas"/>
              </a:rPr>
              <a:t>plt.title(</a:t>
            </a:r>
            <a:r>
              <a:rPr sz="1600" dirty="0">
                <a:solidFill>
                  <a:srgbClr val="A21515"/>
                </a:solidFill>
                <a:latin typeface="Consolas"/>
                <a:cs typeface="Consolas"/>
              </a:rPr>
              <a:t>"Line</a:t>
            </a:r>
            <a:r>
              <a:rPr sz="1600" spc="-50" dirty="0">
                <a:solidFill>
                  <a:srgbClr val="A21515"/>
                </a:solidFill>
                <a:latin typeface="Consolas"/>
                <a:cs typeface="Consolas"/>
              </a:rPr>
              <a:t> </a:t>
            </a:r>
            <a:r>
              <a:rPr sz="1600" spc="-10" dirty="0">
                <a:solidFill>
                  <a:srgbClr val="A21515"/>
                </a:solidFill>
                <a:latin typeface="Consolas"/>
                <a:cs typeface="Consolas"/>
              </a:rPr>
              <a:t>Plot"</a:t>
            </a:r>
            <a:r>
              <a:rPr sz="1600" spc="-10" dirty="0">
                <a:latin typeface="Consolas"/>
                <a:cs typeface="Consolas"/>
              </a:rPr>
              <a:t>)</a:t>
            </a:r>
            <a:endParaRPr sz="1600" dirty="0">
              <a:latin typeface="Consolas"/>
              <a:cs typeface="Consolas"/>
            </a:endParaRPr>
          </a:p>
          <a:p>
            <a:pPr marL="12700" marR="3673475">
              <a:lnSpc>
                <a:spcPct val="172100"/>
              </a:lnSpc>
              <a:spcBef>
                <a:spcPts val="20"/>
              </a:spcBef>
            </a:pPr>
            <a:r>
              <a:rPr sz="1600" spc="-10" dirty="0">
                <a:latin typeface="Consolas"/>
                <a:cs typeface="Consolas"/>
              </a:rPr>
              <a:t>plt.xlabel(</a:t>
            </a:r>
            <a:r>
              <a:rPr sz="1600" spc="-10" dirty="0">
                <a:solidFill>
                  <a:srgbClr val="A21515"/>
                </a:solidFill>
                <a:latin typeface="Consolas"/>
                <a:cs typeface="Consolas"/>
              </a:rPr>
              <a:t>"X-axis"</a:t>
            </a:r>
            <a:r>
              <a:rPr sz="1600" spc="-10" dirty="0">
                <a:latin typeface="Consolas"/>
                <a:cs typeface="Consolas"/>
              </a:rPr>
              <a:t>) plt.ylabel(</a:t>
            </a:r>
            <a:r>
              <a:rPr sz="1600" spc="-10" dirty="0">
                <a:solidFill>
                  <a:srgbClr val="A21515"/>
                </a:solidFill>
                <a:latin typeface="Consolas"/>
                <a:cs typeface="Consolas"/>
              </a:rPr>
              <a:t>"Y-axis"</a:t>
            </a:r>
            <a:r>
              <a:rPr sz="1600" spc="-10" dirty="0">
                <a:latin typeface="Consolas"/>
                <a:cs typeface="Consolas"/>
              </a:rPr>
              <a:t>) </a:t>
            </a:r>
            <a:r>
              <a:rPr sz="1600" spc="-10" dirty="0">
                <a:solidFill>
                  <a:srgbClr val="FF0000"/>
                </a:solidFill>
                <a:latin typeface="Consolas"/>
                <a:cs typeface="Consolas"/>
              </a:rPr>
              <a:t>plt.legend() </a:t>
            </a:r>
            <a:r>
              <a:rPr sz="1600" spc="-10" dirty="0">
                <a:latin typeface="Consolas"/>
                <a:cs typeface="Consolas"/>
              </a:rPr>
              <a:t>plt.grid() plt.show()</a:t>
            </a:r>
            <a:endParaRPr sz="1600" dirty="0">
              <a:latin typeface="Consolas"/>
              <a:cs typeface="Consolas"/>
            </a:endParaRPr>
          </a:p>
        </p:txBody>
      </p:sp>
      <p:pic>
        <p:nvPicPr>
          <p:cNvPr id="4" name="object 4"/>
          <p:cNvPicPr/>
          <p:nvPr/>
        </p:nvPicPr>
        <p:blipFill>
          <a:blip r:embed="rId2" cstate="print"/>
          <a:stretch>
            <a:fillRect/>
          </a:stretch>
        </p:blipFill>
        <p:spPr>
          <a:xfrm>
            <a:off x="7034783" y="1990344"/>
            <a:ext cx="4876800" cy="3852672"/>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76324" y="250316"/>
            <a:ext cx="2659380" cy="756920"/>
          </a:xfrm>
          <a:prstGeom prst="rect">
            <a:avLst/>
          </a:prstGeom>
        </p:spPr>
        <p:txBody>
          <a:bodyPr vert="horz" wrap="square" lIns="0" tIns="12700" rIns="0" bIns="0" rtlCol="0">
            <a:spAutoFit/>
          </a:bodyPr>
          <a:lstStyle/>
          <a:p>
            <a:pPr marL="12700">
              <a:lnSpc>
                <a:spcPct val="100000"/>
              </a:lnSpc>
              <a:spcBef>
                <a:spcPts val="100"/>
              </a:spcBef>
            </a:pPr>
            <a:r>
              <a:rPr dirty="0"/>
              <a:t>Bar</a:t>
            </a:r>
            <a:r>
              <a:rPr spc="-229" dirty="0"/>
              <a:t> </a:t>
            </a:r>
            <a:r>
              <a:rPr spc="-30" dirty="0"/>
              <a:t>Chart</a:t>
            </a:r>
          </a:p>
        </p:txBody>
      </p:sp>
      <p:sp>
        <p:nvSpPr>
          <p:cNvPr id="3" name="object 3"/>
          <p:cNvSpPr txBox="1"/>
          <p:nvPr/>
        </p:nvSpPr>
        <p:spPr>
          <a:xfrm>
            <a:off x="1084580" y="1084224"/>
            <a:ext cx="5812790" cy="4494530"/>
          </a:xfrm>
          <a:prstGeom prst="rect">
            <a:avLst/>
          </a:prstGeom>
        </p:spPr>
        <p:txBody>
          <a:bodyPr vert="horz" wrap="square" lIns="0" tIns="5715" rIns="0" bIns="0" rtlCol="0">
            <a:spAutoFit/>
          </a:bodyPr>
          <a:lstStyle/>
          <a:p>
            <a:pPr marL="12700" marR="1431290" indent="287020">
              <a:lnSpc>
                <a:spcPct val="130200"/>
              </a:lnSpc>
              <a:spcBef>
                <a:spcPts val="45"/>
              </a:spcBef>
              <a:buClr>
                <a:srgbClr val="1CACE3"/>
              </a:buClr>
              <a:buFont typeface="Arial MT"/>
              <a:buChar char="•"/>
              <a:tabLst>
                <a:tab pos="299720" algn="l"/>
              </a:tabLst>
            </a:pPr>
            <a:r>
              <a:rPr sz="2800" spc="-10" dirty="0">
                <a:solidFill>
                  <a:srgbClr val="404040"/>
                </a:solidFill>
                <a:latin typeface="Cambria"/>
                <a:cs typeface="Cambria"/>
              </a:rPr>
              <a:t>Compares</a:t>
            </a:r>
            <a:r>
              <a:rPr sz="2800" spc="-85" dirty="0">
                <a:solidFill>
                  <a:srgbClr val="404040"/>
                </a:solidFill>
                <a:latin typeface="Cambria"/>
                <a:cs typeface="Cambria"/>
              </a:rPr>
              <a:t> </a:t>
            </a:r>
            <a:r>
              <a:rPr sz="2800" spc="-10" dirty="0">
                <a:solidFill>
                  <a:srgbClr val="404040"/>
                </a:solidFill>
                <a:latin typeface="Cambria"/>
                <a:cs typeface="Cambria"/>
              </a:rPr>
              <a:t>categorical</a:t>
            </a:r>
            <a:r>
              <a:rPr sz="2800" spc="-85" dirty="0">
                <a:solidFill>
                  <a:srgbClr val="404040"/>
                </a:solidFill>
                <a:latin typeface="Cambria"/>
                <a:cs typeface="Cambria"/>
              </a:rPr>
              <a:t> </a:t>
            </a:r>
            <a:r>
              <a:rPr sz="2800" spc="-10" dirty="0">
                <a:solidFill>
                  <a:srgbClr val="404040"/>
                </a:solidFill>
                <a:latin typeface="Cambria"/>
                <a:cs typeface="Cambria"/>
              </a:rPr>
              <a:t>data. </a:t>
            </a:r>
            <a:r>
              <a:rPr sz="2800" dirty="0">
                <a:solidFill>
                  <a:srgbClr val="006FC1"/>
                </a:solidFill>
                <a:latin typeface="Calibri"/>
                <a:cs typeface="Calibri"/>
              </a:rPr>
              <a:t>categories</a:t>
            </a:r>
            <a:r>
              <a:rPr sz="2800" spc="-70" dirty="0">
                <a:solidFill>
                  <a:srgbClr val="006FC1"/>
                </a:solidFill>
                <a:latin typeface="Calibri"/>
                <a:cs typeface="Calibri"/>
              </a:rPr>
              <a:t> </a:t>
            </a:r>
            <a:r>
              <a:rPr sz="2800" dirty="0">
                <a:solidFill>
                  <a:srgbClr val="383942"/>
                </a:solidFill>
                <a:latin typeface="Calibri"/>
                <a:cs typeface="Calibri"/>
              </a:rPr>
              <a:t>=</a:t>
            </a:r>
            <a:r>
              <a:rPr sz="2800" spc="-30" dirty="0">
                <a:solidFill>
                  <a:srgbClr val="383942"/>
                </a:solidFill>
                <a:latin typeface="Calibri"/>
                <a:cs typeface="Calibri"/>
              </a:rPr>
              <a:t> </a:t>
            </a:r>
            <a:r>
              <a:rPr sz="2800" dirty="0">
                <a:solidFill>
                  <a:srgbClr val="383942"/>
                </a:solidFill>
                <a:latin typeface="Calibri"/>
                <a:cs typeface="Calibri"/>
              </a:rPr>
              <a:t>[</a:t>
            </a:r>
            <a:r>
              <a:rPr sz="2800" dirty="0">
                <a:solidFill>
                  <a:srgbClr val="A21515"/>
                </a:solidFill>
                <a:latin typeface="Calibri"/>
                <a:cs typeface="Calibri"/>
              </a:rPr>
              <a:t>'A'</a:t>
            </a:r>
            <a:r>
              <a:rPr sz="2800" dirty="0">
                <a:solidFill>
                  <a:srgbClr val="383942"/>
                </a:solidFill>
                <a:latin typeface="Calibri"/>
                <a:cs typeface="Calibri"/>
              </a:rPr>
              <a:t>,</a:t>
            </a:r>
            <a:r>
              <a:rPr sz="2800" spc="-20" dirty="0">
                <a:solidFill>
                  <a:srgbClr val="383942"/>
                </a:solidFill>
                <a:latin typeface="Calibri"/>
                <a:cs typeface="Calibri"/>
              </a:rPr>
              <a:t> </a:t>
            </a:r>
            <a:r>
              <a:rPr sz="2800" dirty="0">
                <a:solidFill>
                  <a:srgbClr val="A21515"/>
                </a:solidFill>
                <a:latin typeface="Calibri"/>
                <a:cs typeface="Calibri"/>
              </a:rPr>
              <a:t>'B'</a:t>
            </a:r>
            <a:r>
              <a:rPr sz="2800" dirty="0">
                <a:solidFill>
                  <a:srgbClr val="383942"/>
                </a:solidFill>
                <a:latin typeface="Calibri"/>
                <a:cs typeface="Calibri"/>
              </a:rPr>
              <a:t>,</a:t>
            </a:r>
            <a:r>
              <a:rPr sz="2800" spc="-40" dirty="0">
                <a:solidFill>
                  <a:srgbClr val="383942"/>
                </a:solidFill>
                <a:latin typeface="Calibri"/>
                <a:cs typeface="Calibri"/>
              </a:rPr>
              <a:t> </a:t>
            </a:r>
            <a:r>
              <a:rPr sz="2800" dirty="0">
                <a:solidFill>
                  <a:srgbClr val="A21515"/>
                </a:solidFill>
                <a:latin typeface="Calibri"/>
                <a:cs typeface="Calibri"/>
              </a:rPr>
              <a:t>'C'</a:t>
            </a:r>
            <a:r>
              <a:rPr sz="2800" dirty="0">
                <a:solidFill>
                  <a:srgbClr val="383942"/>
                </a:solidFill>
                <a:latin typeface="Calibri"/>
                <a:cs typeface="Calibri"/>
              </a:rPr>
              <a:t>,</a:t>
            </a:r>
            <a:r>
              <a:rPr sz="2800" spc="-30" dirty="0">
                <a:solidFill>
                  <a:srgbClr val="383942"/>
                </a:solidFill>
                <a:latin typeface="Calibri"/>
                <a:cs typeface="Calibri"/>
              </a:rPr>
              <a:t> </a:t>
            </a:r>
            <a:r>
              <a:rPr sz="2800" spc="-20" dirty="0">
                <a:solidFill>
                  <a:srgbClr val="A21515"/>
                </a:solidFill>
                <a:latin typeface="Calibri"/>
                <a:cs typeface="Calibri"/>
              </a:rPr>
              <a:t>'D'</a:t>
            </a:r>
            <a:r>
              <a:rPr sz="2800" spc="-20" dirty="0">
                <a:solidFill>
                  <a:srgbClr val="383942"/>
                </a:solidFill>
                <a:latin typeface="Calibri"/>
                <a:cs typeface="Calibri"/>
              </a:rPr>
              <a:t>] </a:t>
            </a:r>
            <a:r>
              <a:rPr sz="2800" dirty="0">
                <a:solidFill>
                  <a:srgbClr val="006FC1"/>
                </a:solidFill>
                <a:latin typeface="Calibri"/>
                <a:cs typeface="Calibri"/>
              </a:rPr>
              <a:t>values</a:t>
            </a:r>
            <a:r>
              <a:rPr sz="2800" spc="-35" dirty="0">
                <a:solidFill>
                  <a:srgbClr val="006FC1"/>
                </a:solidFill>
                <a:latin typeface="Calibri"/>
                <a:cs typeface="Calibri"/>
              </a:rPr>
              <a:t> </a:t>
            </a:r>
            <a:r>
              <a:rPr sz="2800" dirty="0">
                <a:solidFill>
                  <a:srgbClr val="383942"/>
                </a:solidFill>
                <a:latin typeface="Calibri"/>
                <a:cs typeface="Calibri"/>
              </a:rPr>
              <a:t>=</a:t>
            </a:r>
            <a:r>
              <a:rPr sz="2800" spc="-40" dirty="0">
                <a:solidFill>
                  <a:srgbClr val="383942"/>
                </a:solidFill>
                <a:latin typeface="Calibri"/>
                <a:cs typeface="Calibri"/>
              </a:rPr>
              <a:t> </a:t>
            </a:r>
            <a:r>
              <a:rPr sz="2800" dirty="0">
                <a:solidFill>
                  <a:srgbClr val="383942"/>
                </a:solidFill>
                <a:latin typeface="Calibri"/>
                <a:cs typeface="Calibri"/>
              </a:rPr>
              <a:t>[</a:t>
            </a:r>
            <a:r>
              <a:rPr sz="2800" dirty="0">
                <a:solidFill>
                  <a:srgbClr val="098557"/>
                </a:solidFill>
                <a:latin typeface="Calibri"/>
                <a:cs typeface="Calibri"/>
              </a:rPr>
              <a:t>3</a:t>
            </a:r>
            <a:r>
              <a:rPr sz="2800" dirty="0">
                <a:solidFill>
                  <a:srgbClr val="383942"/>
                </a:solidFill>
                <a:latin typeface="Calibri"/>
                <a:cs typeface="Calibri"/>
              </a:rPr>
              <a:t>,</a:t>
            </a:r>
            <a:r>
              <a:rPr sz="2800" spc="5" dirty="0">
                <a:solidFill>
                  <a:srgbClr val="383942"/>
                </a:solidFill>
                <a:latin typeface="Calibri"/>
                <a:cs typeface="Calibri"/>
              </a:rPr>
              <a:t> </a:t>
            </a:r>
            <a:r>
              <a:rPr sz="2800" dirty="0">
                <a:solidFill>
                  <a:srgbClr val="098557"/>
                </a:solidFill>
                <a:latin typeface="Calibri"/>
                <a:cs typeface="Calibri"/>
              </a:rPr>
              <a:t>7</a:t>
            </a:r>
            <a:r>
              <a:rPr sz="2800" dirty="0">
                <a:solidFill>
                  <a:srgbClr val="383942"/>
                </a:solidFill>
                <a:latin typeface="Calibri"/>
                <a:cs typeface="Calibri"/>
              </a:rPr>
              <a:t>,</a:t>
            </a:r>
            <a:r>
              <a:rPr sz="2800" spc="-25" dirty="0">
                <a:solidFill>
                  <a:srgbClr val="383942"/>
                </a:solidFill>
                <a:latin typeface="Calibri"/>
                <a:cs typeface="Calibri"/>
              </a:rPr>
              <a:t> </a:t>
            </a:r>
            <a:r>
              <a:rPr sz="2800" dirty="0">
                <a:solidFill>
                  <a:srgbClr val="098557"/>
                </a:solidFill>
                <a:latin typeface="Calibri"/>
                <a:cs typeface="Calibri"/>
              </a:rPr>
              <a:t>5</a:t>
            </a:r>
            <a:r>
              <a:rPr sz="2800" dirty="0">
                <a:solidFill>
                  <a:srgbClr val="383942"/>
                </a:solidFill>
                <a:latin typeface="Calibri"/>
                <a:cs typeface="Calibri"/>
              </a:rPr>
              <a:t>,</a:t>
            </a:r>
            <a:r>
              <a:rPr sz="2800" spc="-20" dirty="0">
                <a:solidFill>
                  <a:srgbClr val="383942"/>
                </a:solidFill>
                <a:latin typeface="Calibri"/>
                <a:cs typeface="Calibri"/>
              </a:rPr>
              <a:t> </a:t>
            </a:r>
            <a:r>
              <a:rPr sz="2800" spc="-25" dirty="0">
                <a:solidFill>
                  <a:srgbClr val="098557"/>
                </a:solidFill>
                <a:latin typeface="Calibri"/>
                <a:cs typeface="Calibri"/>
              </a:rPr>
              <a:t>9</a:t>
            </a:r>
            <a:r>
              <a:rPr sz="2800" spc="-25" dirty="0">
                <a:solidFill>
                  <a:srgbClr val="383942"/>
                </a:solidFill>
                <a:latin typeface="Calibri"/>
                <a:cs typeface="Calibri"/>
              </a:rPr>
              <a:t>]</a:t>
            </a:r>
            <a:endParaRPr sz="2800" dirty="0">
              <a:latin typeface="Calibri"/>
              <a:cs typeface="Calibri"/>
            </a:endParaRPr>
          </a:p>
          <a:p>
            <a:pPr marL="12700" marR="5080">
              <a:lnSpc>
                <a:spcPts val="4430"/>
              </a:lnSpc>
              <a:spcBef>
                <a:spcPts val="315"/>
              </a:spcBef>
            </a:pP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bar</a:t>
            </a:r>
            <a:r>
              <a:rPr sz="2800" spc="-10" dirty="0">
                <a:solidFill>
                  <a:srgbClr val="383942"/>
                </a:solidFill>
                <a:latin typeface="Calibri"/>
                <a:cs typeface="Calibri"/>
              </a:rPr>
              <a:t>(</a:t>
            </a:r>
            <a:r>
              <a:rPr sz="2800" spc="-10" dirty="0">
                <a:solidFill>
                  <a:srgbClr val="006FC1"/>
                </a:solidFill>
                <a:latin typeface="Calibri"/>
                <a:cs typeface="Calibri"/>
              </a:rPr>
              <a:t>categories</a:t>
            </a:r>
            <a:r>
              <a:rPr sz="2800" spc="-10" dirty="0">
                <a:solidFill>
                  <a:srgbClr val="383942"/>
                </a:solidFill>
                <a:latin typeface="Calibri"/>
                <a:cs typeface="Calibri"/>
              </a:rPr>
              <a:t>,</a:t>
            </a:r>
            <a:r>
              <a:rPr sz="2800" spc="-90" dirty="0">
                <a:solidFill>
                  <a:srgbClr val="383942"/>
                </a:solidFill>
                <a:latin typeface="Calibri"/>
                <a:cs typeface="Calibri"/>
              </a:rPr>
              <a:t> </a:t>
            </a:r>
            <a:r>
              <a:rPr sz="2800" dirty="0">
                <a:solidFill>
                  <a:srgbClr val="006FC1"/>
                </a:solidFill>
                <a:latin typeface="Calibri"/>
                <a:cs typeface="Calibri"/>
              </a:rPr>
              <a:t>values</a:t>
            </a:r>
            <a:r>
              <a:rPr sz="2800" dirty="0">
                <a:solidFill>
                  <a:srgbClr val="383942"/>
                </a:solidFill>
                <a:latin typeface="Calibri"/>
                <a:cs typeface="Calibri"/>
              </a:rPr>
              <a:t>,</a:t>
            </a:r>
            <a:r>
              <a:rPr sz="2800" spc="-85" dirty="0">
                <a:solidFill>
                  <a:srgbClr val="383942"/>
                </a:solidFill>
                <a:latin typeface="Calibri"/>
                <a:cs typeface="Calibri"/>
              </a:rPr>
              <a:t> </a:t>
            </a:r>
            <a:r>
              <a:rPr sz="2800" spc="-10" dirty="0">
                <a:solidFill>
                  <a:srgbClr val="006FC1"/>
                </a:solidFill>
                <a:latin typeface="Calibri"/>
                <a:cs typeface="Calibri"/>
              </a:rPr>
              <a:t>color</a:t>
            </a:r>
            <a:r>
              <a:rPr sz="2800" spc="-10" dirty="0">
                <a:solidFill>
                  <a:srgbClr val="383942"/>
                </a:solidFill>
                <a:latin typeface="Calibri"/>
                <a:cs typeface="Calibri"/>
              </a:rPr>
              <a:t>=</a:t>
            </a:r>
            <a:r>
              <a:rPr sz="2800" spc="-10" dirty="0">
                <a:solidFill>
                  <a:srgbClr val="A21515"/>
                </a:solidFill>
                <a:latin typeface="Calibri"/>
                <a:cs typeface="Calibri"/>
              </a:rPr>
              <a:t>'green'</a:t>
            </a:r>
            <a:r>
              <a:rPr sz="2800" spc="-10" dirty="0">
                <a:solidFill>
                  <a:srgbClr val="383942"/>
                </a:solidFill>
                <a:latin typeface="Calibri"/>
                <a:cs typeface="Calibri"/>
              </a:rPr>
              <a:t>) </a:t>
            </a:r>
            <a:r>
              <a:rPr sz="2800" dirty="0">
                <a:solidFill>
                  <a:srgbClr val="006FC1"/>
                </a:solidFill>
                <a:latin typeface="Calibri"/>
                <a:cs typeface="Calibri"/>
              </a:rPr>
              <a:t>plt</a:t>
            </a:r>
            <a:r>
              <a:rPr sz="2800" dirty="0">
                <a:solidFill>
                  <a:srgbClr val="383942"/>
                </a:solidFill>
                <a:latin typeface="Calibri"/>
                <a:cs typeface="Calibri"/>
              </a:rPr>
              <a:t>.</a:t>
            </a:r>
            <a:r>
              <a:rPr sz="2800" dirty="0">
                <a:solidFill>
                  <a:srgbClr val="795E25"/>
                </a:solidFill>
                <a:latin typeface="Calibri"/>
                <a:cs typeface="Calibri"/>
              </a:rPr>
              <a:t>title</a:t>
            </a:r>
            <a:r>
              <a:rPr sz="2800" dirty="0">
                <a:solidFill>
                  <a:srgbClr val="383942"/>
                </a:solidFill>
                <a:latin typeface="Calibri"/>
                <a:cs typeface="Calibri"/>
              </a:rPr>
              <a:t>(</a:t>
            </a:r>
            <a:r>
              <a:rPr sz="2800" dirty="0">
                <a:solidFill>
                  <a:srgbClr val="A21515"/>
                </a:solidFill>
                <a:latin typeface="Calibri"/>
                <a:cs typeface="Calibri"/>
              </a:rPr>
              <a:t>"Bar</a:t>
            </a:r>
            <a:r>
              <a:rPr sz="2800" spc="-160" dirty="0">
                <a:solidFill>
                  <a:srgbClr val="A21515"/>
                </a:solidFill>
                <a:latin typeface="Calibri"/>
                <a:cs typeface="Calibri"/>
              </a:rPr>
              <a:t> </a:t>
            </a:r>
            <a:r>
              <a:rPr sz="2800" spc="-10" dirty="0">
                <a:solidFill>
                  <a:srgbClr val="A21515"/>
                </a:solidFill>
                <a:latin typeface="Calibri"/>
                <a:cs typeface="Calibri"/>
              </a:rPr>
              <a:t>Chart"</a:t>
            </a:r>
            <a:r>
              <a:rPr sz="2800" spc="-10" dirty="0">
                <a:solidFill>
                  <a:srgbClr val="383942"/>
                </a:solidFill>
                <a:latin typeface="Calibri"/>
                <a:cs typeface="Calibri"/>
              </a:rPr>
              <a:t>)</a:t>
            </a:r>
            <a:endParaRPr sz="2800" dirty="0">
              <a:latin typeface="Calibri"/>
              <a:cs typeface="Calibri"/>
            </a:endParaRPr>
          </a:p>
          <a:p>
            <a:pPr marL="12700" marR="2446655">
              <a:lnSpc>
                <a:spcPts val="4420"/>
              </a:lnSpc>
              <a:spcBef>
                <a:spcPts val="5"/>
              </a:spcBef>
            </a:pP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xlabel</a:t>
            </a:r>
            <a:r>
              <a:rPr sz="2800" spc="-10" dirty="0">
                <a:solidFill>
                  <a:srgbClr val="383942"/>
                </a:solidFill>
                <a:latin typeface="Calibri"/>
                <a:cs typeface="Calibri"/>
              </a:rPr>
              <a:t>(</a:t>
            </a:r>
            <a:r>
              <a:rPr sz="2800" spc="-10" dirty="0">
                <a:solidFill>
                  <a:srgbClr val="A21515"/>
                </a:solidFill>
                <a:latin typeface="Calibri"/>
                <a:cs typeface="Calibri"/>
              </a:rPr>
              <a:t>"Categories"</a:t>
            </a:r>
            <a:r>
              <a:rPr sz="2800" spc="-10" dirty="0">
                <a:solidFill>
                  <a:srgbClr val="383942"/>
                </a:solidFill>
                <a:latin typeface="Calibri"/>
                <a:cs typeface="Calibri"/>
              </a:rPr>
              <a:t>) </a:t>
            </a: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ylabel</a:t>
            </a:r>
            <a:r>
              <a:rPr sz="2800" spc="-10" dirty="0">
                <a:solidFill>
                  <a:srgbClr val="383942"/>
                </a:solidFill>
                <a:latin typeface="Calibri"/>
                <a:cs typeface="Calibri"/>
              </a:rPr>
              <a:t>(</a:t>
            </a:r>
            <a:r>
              <a:rPr sz="2800" spc="-10" dirty="0">
                <a:solidFill>
                  <a:srgbClr val="A21515"/>
                </a:solidFill>
                <a:latin typeface="Calibri"/>
                <a:cs typeface="Calibri"/>
              </a:rPr>
              <a:t>"Values"</a:t>
            </a:r>
            <a:r>
              <a:rPr sz="2800" spc="-10" dirty="0">
                <a:solidFill>
                  <a:srgbClr val="383942"/>
                </a:solidFill>
                <a:latin typeface="Calibri"/>
                <a:cs typeface="Calibri"/>
              </a:rPr>
              <a:t>)</a:t>
            </a:r>
            <a:endParaRPr sz="2800" dirty="0">
              <a:latin typeface="Calibri"/>
              <a:cs typeface="Calibri"/>
            </a:endParaRPr>
          </a:p>
          <a:p>
            <a:pPr marL="12700">
              <a:lnSpc>
                <a:spcPct val="100000"/>
              </a:lnSpc>
              <a:spcBef>
                <a:spcPts val="740"/>
              </a:spcBef>
            </a:pP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show</a:t>
            </a:r>
            <a:r>
              <a:rPr sz="2800" spc="-10" dirty="0">
                <a:solidFill>
                  <a:srgbClr val="383942"/>
                </a:solidFill>
                <a:latin typeface="Calibri"/>
                <a:cs typeface="Calibri"/>
              </a:rPr>
              <a:t>()</a:t>
            </a:r>
            <a:endParaRPr sz="2800" dirty="0">
              <a:latin typeface="Calibri"/>
              <a:cs typeface="Calibri"/>
            </a:endParaRPr>
          </a:p>
        </p:txBody>
      </p:sp>
      <p:pic>
        <p:nvPicPr>
          <p:cNvPr id="4" name="object 4"/>
          <p:cNvPicPr/>
          <p:nvPr/>
        </p:nvPicPr>
        <p:blipFill>
          <a:blip r:embed="rId2" cstate="print"/>
          <a:stretch>
            <a:fillRect/>
          </a:stretch>
        </p:blipFill>
        <p:spPr>
          <a:xfrm>
            <a:off x="6917435" y="1621536"/>
            <a:ext cx="5105400" cy="4192524"/>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latin typeface="Cambria"/>
                <a:cs typeface="Cambria"/>
              </a:rPr>
              <a:t>Bar</a:t>
            </a:r>
            <a:r>
              <a:rPr b="0" spc="-220" dirty="0">
                <a:latin typeface="Cambria"/>
                <a:cs typeface="Cambria"/>
              </a:rPr>
              <a:t> </a:t>
            </a:r>
            <a:r>
              <a:rPr b="0" spc="-40" dirty="0">
                <a:latin typeface="Cambria"/>
                <a:cs typeface="Cambria"/>
              </a:rPr>
              <a:t>Chart</a:t>
            </a:r>
            <a:r>
              <a:rPr b="0" spc="-215" dirty="0">
                <a:latin typeface="Cambria"/>
                <a:cs typeface="Cambria"/>
              </a:rPr>
              <a:t> </a:t>
            </a:r>
            <a:r>
              <a:rPr b="0" spc="-60" dirty="0">
                <a:latin typeface="Cambria"/>
                <a:cs typeface="Cambria"/>
              </a:rPr>
              <a:t>(Compares</a:t>
            </a:r>
            <a:r>
              <a:rPr b="0" spc="-200" dirty="0">
                <a:latin typeface="Cambria"/>
                <a:cs typeface="Cambria"/>
              </a:rPr>
              <a:t> </a:t>
            </a:r>
            <a:r>
              <a:rPr b="0" spc="-55" dirty="0">
                <a:latin typeface="Cambria"/>
                <a:cs typeface="Cambria"/>
              </a:rPr>
              <a:t>categorical</a:t>
            </a:r>
            <a:r>
              <a:rPr b="0" spc="-204" dirty="0">
                <a:latin typeface="Cambria"/>
                <a:cs typeface="Cambria"/>
              </a:rPr>
              <a:t> </a:t>
            </a:r>
            <a:r>
              <a:rPr b="0" spc="-10" dirty="0">
                <a:latin typeface="Cambria"/>
                <a:cs typeface="Cambria"/>
              </a:rPr>
              <a:t>data.)</a:t>
            </a:r>
          </a:p>
        </p:txBody>
      </p:sp>
      <p:sp>
        <p:nvSpPr>
          <p:cNvPr id="3" name="object 3"/>
          <p:cNvSpPr txBox="1"/>
          <p:nvPr/>
        </p:nvSpPr>
        <p:spPr>
          <a:xfrm>
            <a:off x="1084580" y="1068070"/>
            <a:ext cx="6925945" cy="4845050"/>
          </a:xfrm>
          <a:prstGeom prst="rect">
            <a:avLst/>
          </a:prstGeom>
        </p:spPr>
        <p:txBody>
          <a:bodyPr vert="horz" wrap="square" lIns="0" tIns="117475" rIns="0" bIns="0" rtlCol="0">
            <a:spAutoFit/>
          </a:bodyPr>
          <a:lstStyle/>
          <a:p>
            <a:pPr marL="12700">
              <a:lnSpc>
                <a:spcPct val="100000"/>
              </a:lnSpc>
              <a:spcBef>
                <a:spcPts val="925"/>
              </a:spcBef>
            </a:pPr>
            <a:r>
              <a:rPr sz="2400" dirty="0">
                <a:solidFill>
                  <a:srgbClr val="008000"/>
                </a:solidFill>
                <a:latin typeface="Consolas"/>
                <a:cs typeface="Consolas"/>
              </a:rPr>
              <a:t>#</a:t>
            </a:r>
            <a:r>
              <a:rPr sz="2400" spc="-35" dirty="0">
                <a:solidFill>
                  <a:srgbClr val="008000"/>
                </a:solidFill>
                <a:latin typeface="Consolas"/>
                <a:cs typeface="Consolas"/>
              </a:rPr>
              <a:t> </a:t>
            </a:r>
            <a:r>
              <a:rPr sz="2400" dirty="0">
                <a:solidFill>
                  <a:srgbClr val="008000"/>
                </a:solidFill>
                <a:latin typeface="Consolas"/>
                <a:cs typeface="Consolas"/>
              </a:rPr>
              <a:t>Sample</a:t>
            </a:r>
            <a:r>
              <a:rPr sz="2400" spc="-5" dirty="0">
                <a:solidFill>
                  <a:srgbClr val="008000"/>
                </a:solidFill>
                <a:latin typeface="Consolas"/>
                <a:cs typeface="Consolas"/>
              </a:rPr>
              <a:t> </a:t>
            </a:r>
            <a:r>
              <a:rPr sz="2400" spc="-20" dirty="0">
                <a:solidFill>
                  <a:srgbClr val="008000"/>
                </a:solidFill>
                <a:latin typeface="Consolas"/>
                <a:cs typeface="Consolas"/>
              </a:rPr>
              <a:t>Data</a:t>
            </a:r>
            <a:endParaRPr sz="2400" dirty="0">
              <a:latin typeface="Consolas"/>
              <a:cs typeface="Consolas"/>
            </a:endParaRPr>
          </a:p>
          <a:p>
            <a:pPr marL="12700" marR="1351915">
              <a:lnSpc>
                <a:spcPct val="128299"/>
              </a:lnSpc>
              <a:spcBef>
                <a:spcPts val="15"/>
              </a:spcBef>
            </a:pPr>
            <a:r>
              <a:rPr sz="2400" dirty="0">
                <a:latin typeface="Consolas"/>
                <a:cs typeface="Consolas"/>
              </a:rPr>
              <a:t>categories</a:t>
            </a:r>
            <a:r>
              <a:rPr sz="2400" spc="-50" dirty="0">
                <a:latin typeface="Consolas"/>
                <a:cs typeface="Consolas"/>
              </a:rPr>
              <a:t> </a:t>
            </a:r>
            <a:r>
              <a:rPr sz="2400" dirty="0">
                <a:latin typeface="Consolas"/>
                <a:cs typeface="Consolas"/>
              </a:rPr>
              <a:t>=</a:t>
            </a:r>
            <a:r>
              <a:rPr sz="2400" spc="-30" dirty="0">
                <a:latin typeface="Consolas"/>
                <a:cs typeface="Consolas"/>
              </a:rPr>
              <a:t> </a:t>
            </a:r>
            <a:r>
              <a:rPr sz="2400" dirty="0">
                <a:latin typeface="Consolas"/>
                <a:cs typeface="Consolas"/>
              </a:rPr>
              <a:t>[</a:t>
            </a:r>
            <a:r>
              <a:rPr sz="2400" dirty="0">
                <a:solidFill>
                  <a:srgbClr val="A21515"/>
                </a:solidFill>
                <a:latin typeface="Consolas"/>
                <a:cs typeface="Consolas"/>
              </a:rPr>
              <a:t>'A'</a:t>
            </a:r>
            <a:r>
              <a:rPr sz="2400" dirty="0">
                <a:latin typeface="Consolas"/>
                <a:cs typeface="Consolas"/>
              </a:rPr>
              <a:t>,</a:t>
            </a:r>
            <a:r>
              <a:rPr sz="2400" spc="-35" dirty="0">
                <a:latin typeface="Consolas"/>
                <a:cs typeface="Consolas"/>
              </a:rPr>
              <a:t> </a:t>
            </a:r>
            <a:r>
              <a:rPr sz="2400" dirty="0">
                <a:solidFill>
                  <a:srgbClr val="A21515"/>
                </a:solidFill>
                <a:latin typeface="Consolas"/>
                <a:cs typeface="Consolas"/>
              </a:rPr>
              <a:t>'B'</a:t>
            </a:r>
            <a:r>
              <a:rPr sz="2400" dirty="0">
                <a:latin typeface="Consolas"/>
                <a:cs typeface="Consolas"/>
              </a:rPr>
              <a:t>,</a:t>
            </a:r>
            <a:r>
              <a:rPr sz="2400" spc="-35" dirty="0">
                <a:latin typeface="Consolas"/>
                <a:cs typeface="Consolas"/>
              </a:rPr>
              <a:t> </a:t>
            </a:r>
            <a:r>
              <a:rPr sz="2400" dirty="0">
                <a:solidFill>
                  <a:srgbClr val="A21515"/>
                </a:solidFill>
                <a:latin typeface="Consolas"/>
                <a:cs typeface="Consolas"/>
              </a:rPr>
              <a:t>'C'</a:t>
            </a:r>
            <a:r>
              <a:rPr sz="2400" dirty="0">
                <a:latin typeface="Consolas"/>
                <a:cs typeface="Consolas"/>
              </a:rPr>
              <a:t>,</a:t>
            </a:r>
            <a:r>
              <a:rPr sz="2400" spc="-45" dirty="0">
                <a:latin typeface="Consolas"/>
                <a:cs typeface="Consolas"/>
              </a:rPr>
              <a:t> </a:t>
            </a:r>
            <a:r>
              <a:rPr sz="2400" spc="-20" dirty="0">
                <a:solidFill>
                  <a:srgbClr val="A21515"/>
                </a:solidFill>
                <a:latin typeface="Consolas"/>
                <a:cs typeface="Consolas"/>
              </a:rPr>
              <a:t>'D'</a:t>
            </a:r>
            <a:r>
              <a:rPr sz="2400" spc="-20" dirty="0">
                <a:latin typeface="Consolas"/>
                <a:cs typeface="Consolas"/>
              </a:rPr>
              <a:t>] </a:t>
            </a:r>
            <a:r>
              <a:rPr sz="2400" dirty="0">
                <a:latin typeface="Consolas"/>
                <a:cs typeface="Consolas"/>
              </a:rPr>
              <a:t>values</a:t>
            </a:r>
            <a:r>
              <a:rPr sz="2400" spc="-20" dirty="0">
                <a:latin typeface="Consolas"/>
                <a:cs typeface="Consolas"/>
              </a:rPr>
              <a:t> </a:t>
            </a:r>
            <a:r>
              <a:rPr sz="2400" dirty="0">
                <a:latin typeface="Consolas"/>
                <a:cs typeface="Consolas"/>
              </a:rPr>
              <a:t>=</a:t>
            </a:r>
            <a:r>
              <a:rPr sz="2400" spc="-10" dirty="0">
                <a:latin typeface="Consolas"/>
                <a:cs typeface="Consolas"/>
              </a:rPr>
              <a:t> </a:t>
            </a:r>
            <a:r>
              <a:rPr sz="2400" dirty="0">
                <a:latin typeface="Consolas"/>
                <a:cs typeface="Consolas"/>
              </a:rPr>
              <a:t>[</a:t>
            </a:r>
            <a:r>
              <a:rPr sz="2400" dirty="0">
                <a:solidFill>
                  <a:srgbClr val="116644"/>
                </a:solidFill>
                <a:latin typeface="Consolas"/>
                <a:cs typeface="Consolas"/>
              </a:rPr>
              <a:t>3</a:t>
            </a:r>
            <a:r>
              <a:rPr sz="2400" dirty="0">
                <a:latin typeface="Consolas"/>
                <a:cs typeface="Consolas"/>
              </a:rPr>
              <a:t>,</a:t>
            </a:r>
            <a:r>
              <a:rPr sz="2400" spc="-25" dirty="0">
                <a:latin typeface="Consolas"/>
                <a:cs typeface="Consolas"/>
              </a:rPr>
              <a:t> </a:t>
            </a:r>
            <a:r>
              <a:rPr sz="2400" dirty="0">
                <a:solidFill>
                  <a:srgbClr val="116644"/>
                </a:solidFill>
                <a:latin typeface="Consolas"/>
                <a:cs typeface="Consolas"/>
              </a:rPr>
              <a:t>7</a:t>
            </a:r>
            <a:r>
              <a:rPr sz="2400" dirty="0">
                <a:latin typeface="Consolas"/>
                <a:cs typeface="Consolas"/>
              </a:rPr>
              <a:t>,</a:t>
            </a:r>
            <a:r>
              <a:rPr sz="2400" spc="-20" dirty="0">
                <a:latin typeface="Consolas"/>
                <a:cs typeface="Consolas"/>
              </a:rPr>
              <a:t> </a:t>
            </a:r>
            <a:r>
              <a:rPr sz="2400" dirty="0">
                <a:solidFill>
                  <a:srgbClr val="116644"/>
                </a:solidFill>
                <a:latin typeface="Consolas"/>
                <a:cs typeface="Consolas"/>
              </a:rPr>
              <a:t>5</a:t>
            </a:r>
            <a:r>
              <a:rPr sz="2400" dirty="0">
                <a:latin typeface="Consolas"/>
                <a:cs typeface="Consolas"/>
              </a:rPr>
              <a:t>,</a:t>
            </a:r>
            <a:r>
              <a:rPr sz="2400" spc="-25" dirty="0">
                <a:latin typeface="Consolas"/>
                <a:cs typeface="Consolas"/>
              </a:rPr>
              <a:t> </a:t>
            </a:r>
            <a:r>
              <a:rPr sz="2400" spc="-25" dirty="0">
                <a:solidFill>
                  <a:srgbClr val="116644"/>
                </a:solidFill>
                <a:latin typeface="Consolas"/>
                <a:cs typeface="Consolas"/>
              </a:rPr>
              <a:t>9</a:t>
            </a:r>
            <a:r>
              <a:rPr sz="2400" spc="-25" dirty="0">
                <a:latin typeface="Consolas"/>
                <a:cs typeface="Consolas"/>
              </a:rPr>
              <a:t>]</a:t>
            </a:r>
            <a:endParaRPr sz="2400" dirty="0">
              <a:latin typeface="Consolas"/>
              <a:cs typeface="Consolas"/>
            </a:endParaRPr>
          </a:p>
          <a:p>
            <a:pPr>
              <a:lnSpc>
                <a:spcPct val="100000"/>
              </a:lnSpc>
              <a:spcBef>
                <a:spcPts val="325"/>
              </a:spcBef>
            </a:pPr>
            <a:endParaRPr sz="2400" dirty="0">
              <a:latin typeface="Consolas"/>
              <a:cs typeface="Consolas"/>
            </a:endParaRPr>
          </a:p>
          <a:p>
            <a:pPr marL="12700">
              <a:lnSpc>
                <a:spcPct val="100000"/>
              </a:lnSpc>
            </a:pPr>
            <a:r>
              <a:rPr sz="2400" dirty="0">
                <a:solidFill>
                  <a:srgbClr val="008000"/>
                </a:solidFill>
                <a:latin typeface="Consolas"/>
                <a:cs typeface="Consolas"/>
              </a:rPr>
              <a:t>#</a:t>
            </a:r>
            <a:r>
              <a:rPr sz="2400" spc="-35" dirty="0">
                <a:solidFill>
                  <a:srgbClr val="008000"/>
                </a:solidFill>
                <a:latin typeface="Consolas"/>
                <a:cs typeface="Consolas"/>
              </a:rPr>
              <a:t> </a:t>
            </a:r>
            <a:r>
              <a:rPr sz="2400" dirty="0">
                <a:solidFill>
                  <a:srgbClr val="008000"/>
                </a:solidFill>
                <a:latin typeface="Consolas"/>
                <a:cs typeface="Consolas"/>
              </a:rPr>
              <a:t>Create</a:t>
            </a:r>
            <a:r>
              <a:rPr sz="2400" spc="-10" dirty="0">
                <a:solidFill>
                  <a:srgbClr val="008000"/>
                </a:solidFill>
                <a:latin typeface="Consolas"/>
                <a:cs typeface="Consolas"/>
              </a:rPr>
              <a:t> </a:t>
            </a:r>
            <a:r>
              <a:rPr sz="2400" dirty="0">
                <a:solidFill>
                  <a:srgbClr val="008000"/>
                </a:solidFill>
                <a:latin typeface="Consolas"/>
                <a:cs typeface="Consolas"/>
              </a:rPr>
              <a:t>Bar</a:t>
            </a:r>
            <a:r>
              <a:rPr sz="2400" spc="-20" dirty="0">
                <a:solidFill>
                  <a:srgbClr val="008000"/>
                </a:solidFill>
                <a:latin typeface="Consolas"/>
                <a:cs typeface="Consolas"/>
              </a:rPr>
              <a:t> Chart</a:t>
            </a:r>
            <a:endParaRPr sz="2400" dirty="0">
              <a:latin typeface="Consolas"/>
              <a:cs typeface="Consolas"/>
            </a:endParaRPr>
          </a:p>
          <a:p>
            <a:pPr marL="12700" marR="5080">
              <a:lnSpc>
                <a:spcPts val="2300"/>
              </a:lnSpc>
              <a:spcBef>
                <a:spcPts val="1385"/>
              </a:spcBef>
            </a:pPr>
            <a:r>
              <a:rPr sz="2400" dirty="0">
                <a:latin typeface="Consolas"/>
                <a:cs typeface="Consolas"/>
              </a:rPr>
              <a:t>plt.bar(categories,</a:t>
            </a:r>
            <a:r>
              <a:rPr sz="2400" spc="-120" dirty="0">
                <a:latin typeface="Consolas"/>
                <a:cs typeface="Consolas"/>
              </a:rPr>
              <a:t> </a:t>
            </a:r>
            <a:r>
              <a:rPr sz="2400" dirty="0">
                <a:latin typeface="Consolas"/>
                <a:cs typeface="Consolas"/>
              </a:rPr>
              <a:t>values,</a:t>
            </a:r>
            <a:r>
              <a:rPr sz="2400" spc="-105" dirty="0">
                <a:latin typeface="Consolas"/>
                <a:cs typeface="Consolas"/>
              </a:rPr>
              <a:t> </a:t>
            </a:r>
            <a:r>
              <a:rPr sz="2400" spc="-10" dirty="0">
                <a:latin typeface="Consolas"/>
                <a:cs typeface="Consolas"/>
              </a:rPr>
              <a:t>color=[</a:t>
            </a:r>
            <a:r>
              <a:rPr sz="2400" spc="-10" dirty="0">
                <a:solidFill>
                  <a:srgbClr val="A21515"/>
                </a:solidFill>
                <a:latin typeface="Consolas"/>
                <a:cs typeface="Consolas"/>
              </a:rPr>
              <a:t>'red'</a:t>
            </a:r>
            <a:r>
              <a:rPr sz="2400" spc="-10" dirty="0">
                <a:latin typeface="Consolas"/>
                <a:cs typeface="Consolas"/>
              </a:rPr>
              <a:t>, </a:t>
            </a:r>
            <a:r>
              <a:rPr sz="2400" dirty="0">
                <a:solidFill>
                  <a:srgbClr val="A21515"/>
                </a:solidFill>
                <a:latin typeface="Consolas"/>
                <a:cs typeface="Consolas"/>
              </a:rPr>
              <a:t>'blue'</a:t>
            </a:r>
            <a:r>
              <a:rPr sz="2400" dirty="0">
                <a:latin typeface="Consolas"/>
                <a:cs typeface="Consolas"/>
              </a:rPr>
              <a:t>,</a:t>
            </a:r>
            <a:r>
              <a:rPr sz="2400" spc="-60" dirty="0">
                <a:latin typeface="Consolas"/>
                <a:cs typeface="Consolas"/>
              </a:rPr>
              <a:t> </a:t>
            </a:r>
            <a:r>
              <a:rPr sz="2400" dirty="0">
                <a:solidFill>
                  <a:srgbClr val="A21515"/>
                </a:solidFill>
                <a:latin typeface="Consolas"/>
                <a:cs typeface="Consolas"/>
              </a:rPr>
              <a:t>'green'</a:t>
            </a:r>
            <a:r>
              <a:rPr sz="2400" dirty="0">
                <a:latin typeface="Consolas"/>
                <a:cs typeface="Consolas"/>
              </a:rPr>
              <a:t>,</a:t>
            </a:r>
            <a:r>
              <a:rPr sz="2400" spc="-60" dirty="0">
                <a:latin typeface="Consolas"/>
                <a:cs typeface="Consolas"/>
              </a:rPr>
              <a:t> </a:t>
            </a:r>
            <a:r>
              <a:rPr sz="2400" spc="-10" dirty="0">
                <a:solidFill>
                  <a:srgbClr val="A21515"/>
                </a:solidFill>
                <a:latin typeface="Consolas"/>
                <a:cs typeface="Consolas"/>
              </a:rPr>
              <a:t>'purple'</a:t>
            </a:r>
            <a:r>
              <a:rPr sz="2400" spc="-10" dirty="0">
                <a:latin typeface="Consolas"/>
                <a:cs typeface="Consolas"/>
              </a:rPr>
              <a:t>])</a:t>
            </a:r>
            <a:endParaRPr sz="2400" dirty="0">
              <a:latin typeface="Consolas"/>
              <a:cs typeface="Consolas"/>
            </a:endParaRPr>
          </a:p>
          <a:p>
            <a:pPr marL="12700" marR="2867025">
              <a:lnSpc>
                <a:spcPct val="128600"/>
              </a:lnSpc>
              <a:spcBef>
                <a:spcPts val="20"/>
              </a:spcBef>
            </a:pPr>
            <a:r>
              <a:rPr sz="2400" dirty="0">
                <a:latin typeface="Consolas"/>
                <a:cs typeface="Consolas"/>
              </a:rPr>
              <a:t>plt.title(</a:t>
            </a:r>
            <a:r>
              <a:rPr sz="2400" dirty="0">
                <a:solidFill>
                  <a:srgbClr val="A21515"/>
                </a:solidFill>
                <a:latin typeface="Consolas"/>
                <a:cs typeface="Consolas"/>
              </a:rPr>
              <a:t>"Bar</a:t>
            </a:r>
            <a:r>
              <a:rPr sz="2400" spc="-130" dirty="0">
                <a:solidFill>
                  <a:srgbClr val="A21515"/>
                </a:solidFill>
                <a:latin typeface="Consolas"/>
                <a:cs typeface="Consolas"/>
              </a:rPr>
              <a:t> </a:t>
            </a:r>
            <a:r>
              <a:rPr sz="2400" spc="-10" dirty="0">
                <a:solidFill>
                  <a:srgbClr val="A21515"/>
                </a:solidFill>
                <a:latin typeface="Consolas"/>
                <a:cs typeface="Consolas"/>
              </a:rPr>
              <a:t>Chart"</a:t>
            </a:r>
            <a:r>
              <a:rPr sz="2400" spc="-10" dirty="0">
                <a:latin typeface="Consolas"/>
                <a:cs typeface="Consolas"/>
              </a:rPr>
              <a:t>) plt.xlabel(</a:t>
            </a:r>
            <a:r>
              <a:rPr sz="2400" spc="-10" dirty="0">
                <a:solidFill>
                  <a:srgbClr val="A21515"/>
                </a:solidFill>
                <a:latin typeface="Consolas"/>
                <a:cs typeface="Consolas"/>
              </a:rPr>
              <a:t>"Categories"</a:t>
            </a:r>
            <a:r>
              <a:rPr sz="2400" spc="-10" dirty="0">
                <a:latin typeface="Consolas"/>
                <a:cs typeface="Consolas"/>
              </a:rPr>
              <a:t>) plt.ylabel(</a:t>
            </a:r>
            <a:r>
              <a:rPr sz="2400" spc="-10" dirty="0">
                <a:solidFill>
                  <a:srgbClr val="A21515"/>
                </a:solidFill>
                <a:latin typeface="Consolas"/>
                <a:cs typeface="Consolas"/>
              </a:rPr>
              <a:t>"Values"</a:t>
            </a:r>
            <a:r>
              <a:rPr sz="2400" spc="-10" dirty="0">
                <a:latin typeface="Consolas"/>
                <a:cs typeface="Consolas"/>
              </a:rPr>
              <a:t>) plt.show()</a:t>
            </a:r>
            <a:endParaRPr sz="2400" dirty="0">
              <a:latin typeface="Consolas"/>
              <a:cs typeface="Consolas"/>
            </a:endParaRPr>
          </a:p>
        </p:txBody>
      </p:sp>
      <p:pic>
        <p:nvPicPr>
          <p:cNvPr id="4" name="object 4" descr="A bar chart with different colored rectangles  Description automatically generated"/>
          <p:cNvPicPr/>
          <p:nvPr/>
        </p:nvPicPr>
        <p:blipFill>
          <a:blip r:embed="rId2" cstate="print"/>
          <a:stretch>
            <a:fillRect/>
          </a:stretch>
        </p:blipFill>
        <p:spPr>
          <a:xfrm>
            <a:off x="8132064" y="1990344"/>
            <a:ext cx="3753612" cy="3083051"/>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60" dirty="0"/>
              <a:t>Histogram</a:t>
            </a:r>
          </a:p>
        </p:txBody>
      </p:sp>
      <p:sp>
        <p:nvSpPr>
          <p:cNvPr id="3" name="object 3"/>
          <p:cNvSpPr txBox="1"/>
          <p:nvPr/>
        </p:nvSpPr>
        <p:spPr>
          <a:xfrm>
            <a:off x="1084580" y="1084224"/>
            <a:ext cx="6949440" cy="4494530"/>
          </a:xfrm>
          <a:prstGeom prst="rect">
            <a:avLst/>
          </a:prstGeom>
        </p:spPr>
        <p:txBody>
          <a:bodyPr vert="horz" wrap="square" lIns="0" tIns="134620" rIns="0" bIns="0" rtlCol="0">
            <a:spAutoFit/>
          </a:bodyPr>
          <a:lstStyle/>
          <a:p>
            <a:pPr marL="299720" indent="-287020">
              <a:lnSpc>
                <a:spcPct val="100000"/>
              </a:lnSpc>
              <a:spcBef>
                <a:spcPts val="1060"/>
              </a:spcBef>
              <a:buClr>
                <a:srgbClr val="1CACE3"/>
              </a:buClr>
              <a:buFont typeface="Arial MT"/>
              <a:buChar char="•"/>
              <a:tabLst>
                <a:tab pos="299720" algn="l"/>
              </a:tabLst>
            </a:pPr>
            <a:r>
              <a:rPr sz="2800" spc="-10" dirty="0">
                <a:solidFill>
                  <a:srgbClr val="404040"/>
                </a:solidFill>
                <a:latin typeface="Cambria"/>
                <a:cs typeface="Cambria"/>
              </a:rPr>
              <a:t>Displays</a:t>
            </a:r>
            <a:r>
              <a:rPr sz="2800" spc="-55" dirty="0">
                <a:solidFill>
                  <a:srgbClr val="404040"/>
                </a:solidFill>
                <a:latin typeface="Cambria"/>
                <a:cs typeface="Cambria"/>
              </a:rPr>
              <a:t> </a:t>
            </a:r>
            <a:r>
              <a:rPr sz="2800" dirty="0">
                <a:solidFill>
                  <a:srgbClr val="404040"/>
                </a:solidFill>
                <a:latin typeface="Cambria"/>
                <a:cs typeface="Cambria"/>
              </a:rPr>
              <a:t>the</a:t>
            </a:r>
            <a:r>
              <a:rPr sz="2800" spc="-55" dirty="0">
                <a:solidFill>
                  <a:srgbClr val="404040"/>
                </a:solidFill>
                <a:latin typeface="Cambria"/>
                <a:cs typeface="Cambria"/>
              </a:rPr>
              <a:t> </a:t>
            </a:r>
            <a:r>
              <a:rPr sz="2800" spc="-10" dirty="0">
                <a:solidFill>
                  <a:srgbClr val="404040"/>
                </a:solidFill>
                <a:latin typeface="Cambria"/>
                <a:cs typeface="Cambria"/>
              </a:rPr>
              <a:t>distribution</a:t>
            </a:r>
            <a:r>
              <a:rPr sz="2800" spc="-50" dirty="0">
                <a:solidFill>
                  <a:srgbClr val="404040"/>
                </a:solidFill>
                <a:latin typeface="Cambria"/>
                <a:cs typeface="Cambria"/>
              </a:rPr>
              <a:t> </a:t>
            </a:r>
            <a:r>
              <a:rPr sz="2800" dirty="0">
                <a:solidFill>
                  <a:srgbClr val="404040"/>
                </a:solidFill>
                <a:latin typeface="Cambria"/>
                <a:cs typeface="Cambria"/>
              </a:rPr>
              <a:t>of</a:t>
            </a:r>
            <a:r>
              <a:rPr sz="2800" spc="-55" dirty="0">
                <a:solidFill>
                  <a:srgbClr val="404040"/>
                </a:solidFill>
                <a:latin typeface="Cambria"/>
                <a:cs typeface="Cambria"/>
              </a:rPr>
              <a:t> </a:t>
            </a:r>
            <a:r>
              <a:rPr sz="2800" dirty="0">
                <a:solidFill>
                  <a:srgbClr val="404040"/>
                </a:solidFill>
                <a:latin typeface="Cambria"/>
                <a:cs typeface="Cambria"/>
              </a:rPr>
              <a:t>a</a:t>
            </a:r>
            <a:r>
              <a:rPr sz="2800" spc="-45" dirty="0">
                <a:solidFill>
                  <a:srgbClr val="404040"/>
                </a:solidFill>
                <a:latin typeface="Cambria"/>
                <a:cs typeface="Cambria"/>
              </a:rPr>
              <a:t> </a:t>
            </a:r>
            <a:r>
              <a:rPr sz="2800" spc="-10" dirty="0">
                <a:solidFill>
                  <a:srgbClr val="404040"/>
                </a:solidFill>
                <a:latin typeface="Cambria"/>
                <a:cs typeface="Cambria"/>
              </a:rPr>
              <a:t>dataset.</a:t>
            </a:r>
            <a:endParaRPr sz="2800" dirty="0">
              <a:latin typeface="Cambria"/>
              <a:cs typeface="Cambria"/>
            </a:endParaRPr>
          </a:p>
          <a:p>
            <a:pPr marL="12700">
              <a:lnSpc>
                <a:spcPct val="100000"/>
              </a:lnSpc>
              <a:spcBef>
                <a:spcPts val="960"/>
              </a:spcBef>
            </a:pPr>
            <a:r>
              <a:rPr sz="2800" dirty="0">
                <a:solidFill>
                  <a:srgbClr val="AE00DB"/>
                </a:solidFill>
                <a:latin typeface="Calibri"/>
                <a:cs typeface="Calibri"/>
              </a:rPr>
              <a:t>import</a:t>
            </a:r>
            <a:r>
              <a:rPr sz="2800" spc="-60" dirty="0">
                <a:solidFill>
                  <a:srgbClr val="AE00DB"/>
                </a:solidFill>
                <a:latin typeface="Calibri"/>
                <a:cs typeface="Calibri"/>
              </a:rPr>
              <a:t> </a:t>
            </a:r>
            <a:r>
              <a:rPr sz="2800" dirty="0">
                <a:solidFill>
                  <a:srgbClr val="006FC1"/>
                </a:solidFill>
                <a:latin typeface="Calibri"/>
                <a:cs typeface="Calibri"/>
              </a:rPr>
              <a:t>numpy</a:t>
            </a:r>
            <a:r>
              <a:rPr sz="2800" spc="-40" dirty="0">
                <a:solidFill>
                  <a:srgbClr val="006FC1"/>
                </a:solidFill>
                <a:latin typeface="Calibri"/>
                <a:cs typeface="Calibri"/>
              </a:rPr>
              <a:t> </a:t>
            </a:r>
            <a:r>
              <a:rPr sz="2800" dirty="0">
                <a:solidFill>
                  <a:srgbClr val="0000FF"/>
                </a:solidFill>
                <a:latin typeface="Calibri"/>
                <a:cs typeface="Calibri"/>
              </a:rPr>
              <a:t>as</a:t>
            </a:r>
            <a:r>
              <a:rPr sz="2800" spc="-50" dirty="0">
                <a:solidFill>
                  <a:srgbClr val="0000FF"/>
                </a:solidFill>
                <a:latin typeface="Calibri"/>
                <a:cs typeface="Calibri"/>
              </a:rPr>
              <a:t> </a:t>
            </a:r>
            <a:r>
              <a:rPr sz="2800" spc="-25" dirty="0">
                <a:solidFill>
                  <a:srgbClr val="006FC1"/>
                </a:solidFill>
                <a:latin typeface="Calibri"/>
                <a:cs typeface="Calibri"/>
              </a:rPr>
              <a:t>np</a:t>
            </a:r>
            <a:endParaRPr sz="2800" dirty="0">
              <a:latin typeface="Calibri"/>
              <a:cs typeface="Calibri"/>
            </a:endParaRPr>
          </a:p>
          <a:p>
            <a:pPr marL="12700">
              <a:lnSpc>
                <a:spcPct val="100000"/>
              </a:lnSpc>
              <a:spcBef>
                <a:spcPts val="1065"/>
              </a:spcBef>
            </a:pPr>
            <a:r>
              <a:rPr sz="2800" dirty="0">
                <a:solidFill>
                  <a:srgbClr val="006FC1"/>
                </a:solidFill>
                <a:latin typeface="Calibri"/>
                <a:cs typeface="Calibri"/>
              </a:rPr>
              <a:t>data</a:t>
            </a:r>
            <a:r>
              <a:rPr sz="2800" spc="-60" dirty="0">
                <a:solidFill>
                  <a:srgbClr val="006FC1"/>
                </a:solidFill>
                <a:latin typeface="Calibri"/>
                <a:cs typeface="Calibri"/>
              </a:rPr>
              <a:t> </a:t>
            </a:r>
            <a:r>
              <a:rPr sz="2800" dirty="0">
                <a:solidFill>
                  <a:srgbClr val="383942"/>
                </a:solidFill>
                <a:latin typeface="Calibri"/>
                <a:cs typeface="Calibri"/>
              </a:rPr>
              <a:t>=</a:t>
            </a:r>
            <a:r>
              <a:rPr sz="2800" spc="-45" dirty="0">
                <a:solidFill>
                  <a:srgbClr val="383942"/>
                </a:solidFill>
                <a:latin typeface="Calibri"/>
                <a:cs typeface="Calibri"/>
              </a:rPr>
              <a:t> </a:t>
            </a:r>
            <a:r>
              <a:rPr sz="2800" spc="-10" dirty="0">
                <a:solidFill>
                  <a:srgbClr val="006FC1"/>
                </a:solidFill>
                <a:latin typeface="Calibri"/>
                <a:cs typeface="Calibri"/>
              </a:rPr>
              <a:t>np</a:t>
            </a:r>
            <a:r>
              <a:rPr sz="2800" spc="-10" dirty="0">
                <a:solidFill>
                  <a:srgbClr val="383942"/>
                </a:solidFill>
                <a:latin typeface="Calibri"/>
                <a:cs typeface="Calibri"/>
              </a:rPr>
              <a:t>.</a:t>
            </a:r>
            <a:r>
              <a:rPr sz="2800" spc="-10" dirty="0">
                <a:solidFill>
                  <a:srgbClr val="006FC1"/>
                </a:solidFill>
                <a:latin typeface="Calibri"/>
                <a:cs typeface="Calibri"/>
              </a:rPr>
              <a:t>random</a:t>
            </a:r>
            <a:r>
              <a:rPr sz="2800" spc="-10" dirty="0">
                <a:solidFill>
                  <a:srgbClr val="383942"/>
                </a:solidFill>
                <a:latin typeface="Calibri"/>
                <a:cs typeface="Calibri"/>
              </a:rPr>
              <a:t>.</a:t>
            </a:r>
            <a:r>
              <a:rPr sz="2800" spc="-10" dirty="0">
                <a:solidFill>
                  <a:srgbClr val="795E25"/>
                </a:solidFill>
                <a:latin typeface="Calibri"/>
                <a:cs typeface="Calibri"/>
              </a:rPr>
              <a:t>randn</a:t>
            </a:r>
            <a:r>
              <a:rPr sz="2800" spc="-10" dirty="0">
                <a:solidFill>
                  <a:srgbClr val="383942"/>
                </a:solidFill>
                <a:latin typeface="Calibri"/>
                <a:cs typeface="Calibri"/>
              </a:rPr>
              <a:t>(</a:t>
            </a:r>
            <a:r>
              <a:rPr sz="2800" spc="-10" dirty="0">
                <a:solidFill>
                  <a:srgbClr val="098557"/>
                </a:solidFill>
                <a:latin typeface="Calibri"/>
                <a:cs typeface="Calibri"/>
              </a:rPr>
              <a:t>1000</a:t>
            </a:r>
            <a:r>
              <a:rPr sz="2800" spc="-10" dirty="0">
                <a:solidFill>
                  <a:srgbClr val="383942"/>
                </a:solidFill>
                <a:latin typeface="Calibri"/>
                <a:cs typeface="Calibri"/>
              </a:rPr>
              <a:t>)</a:t>
            </a:r>
            <a:endParaRPr sz="2800" dirty="0">
              <a:latin typeface="Calibri"/>
              <a:cs typeface="Calibri"/>
            </a:endParaRPr>
          </a:p>
          <a:p>
            <a:pPr marL="12700" marR="5080">
              <a:lnSpc>
                <a:spcPts val="4430"/>
              </a:lnSpc>
              <a:spcBef>
                <a:spcPts val="315"/>
              </a:spcBef>
            </a:pP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hist</a:t>
            </a:r>
            <a:r>
              <a:rPr sz="2800" spc="-10" dirty="0">
                <a:solidFill>
                  <a:srgbClr val="383942"/>
                </a:solidFill>
                <a:latin typeface="Calibri"/>
                <a:cs typeface="Calibri"/>
              </a:rPr>
              <a:t>(</a:t>
            </a:r>
            <a:r>
              <a:rPr sz="2800" spc="-10" dirty="0">
                <a:solidFill>
                  <a:srgbClr val="006FC1"/>
                </a:solidFill>
                <a:latin typeface="Calibri"/>
                <a:cs typeface="Calibri"/>
              </a:rPr>
              <a:t>data</a:t>
            </a:r>
            <a:r>
              <a:rPr sz="2800" spc="-10" dirty="0">
                <a:solidFill>
                  <a:srgbClr val="383942"/>
                </a:solidFill>
                <a:latin typeface="Calibri"/>
                <a:cs typeface="Calibri"/>
              </a:rPr>
              <a:t>,</a:t>
            </a:r>
            <a:r>
              <a:rPr sz="2800" spc="-100" dirty="0">
                <a:solidFill>
                  <a:srgbClr val="383942"/>
                </a:solidFill>
                <a:latin typeface="Calibri"/>
                <a:cs typeface="Calibri"/>
              </a:rPr>
              <a:t> </a:t>
            </a:r>
            <a:r>
              <a:rPr sz="2800" dirty="0">
                <a:solidFill>
                  <a:srgbClr val="006FC1"/>
                </a:solidFill>
                <a:latin typeface="Calibri"/>
                <a:cs typeface="Calibri"/>
              </a:rPr>
              <a:t>bins</a:t>
            </a:r>
            <a:r>
              <a:rPr sz="2800" dirty="0">
                <a:solidFill>
                  <a:srgbClr val="383942"/>
                </a:solidFill>
                <a:latin typeface="Calibri"/>
                <a:cs typeface="Calibri"/>
              </a:rPr>
              <a:t>=</a:t>
            </a:r>
            <a:r>
              <a:rPr sz="2800" dirty="0">
                <a:solidFill>
                  <a:srgbClr val="098557"/>
                </a:solidFill>
                <a:latin typeface="Calibri"/>
                <a:cs typeface="Calibri"/>
              </a:rPr>
              <a:t>30</a:t>
            </a:r>
            <a:r>
              <a:rPr sz="2800" dirty="0">
                <a:solidFill>
                  <a:srgbClr val="383942"/>
                </a:solidFill>
                <a:latin typeface="Calibri"/>
                <a:cs typeface="Calibri"/>
              </a:rPr>
              <a:t>,</a:t>
            </a:r>
            <a:r>
              <a:rPr sz="2800" spc="-90" dirty="0">
                <a:solidFill>
                  <a:srgbClr val="383942"/>
                </a:solidFill>
                <a:latin typeface="Calibri"/>
                <a:cs typeface="Calibri"/>
              </a:rPr>
              <a:t> </a:t>
            </a:r>
            <a:r>
              <a:rPr sz="2800" dirty="0">
                <a:solidFill>
                  <a:srgbClr val="006FC1"/>
                </a:solidFill>
                <a:latin typeface="Calibri"/>
                <a:cs typeface="Calibri"/>
              </a:rPr>
              <a:t>color</a:t>
            </a:r>
            <a:r>
              <a:rPr sz="2800" dirty="0">
                <a:solidFill>
                  <a:srgbClr val="383942"/>
                </a:solidFill>
                <a:latin typeface="Calibri"/>
                <a:cs typeface="Calibri"/>
              </a:rPr>
              <a:t>=</a:t>
            </a:r>
            <a:r>
              <a:rPr sz="2800" dirty="0">
                <a:solidFill>
                  <a:srgbClr val="A21515"/>
                </a:solidFill>
                <a:latin typeface="Calibri"/>
                <a:cs typeface="Calibri"/>
              </a:rPr>
              <a:t>'purple'</a:t>
            </a:r>
            <a:r>
              <a:rPr sz="2800" dirty="0">
                <a:solidFill>
                  <a:srgbClr val="383942"/>
                </a:solidFill>
                <a:latin typeface="Calibri"/>
                <a:cs typeface="Calibri"/>
              </a:rPr>
              <a:t>,</a:t>
            </a:r>
            <a:r>
              <a:rPr sz="2800" spc="-100" dirty="0">
                <a:solidFill>
                  <a:srgbClr val="383942"/>
                </a:solidFill>
                <a:latin typeface="Calibri"/>
                <a:cs typeface="Calibri"/>
              </a:rPr>
              <a:t> </a:t>
            </a:r>
            <a:r>
              <a:rPr sz="2800" spc="-10" dirty="0">
                <a:solidFill>
                  <a:srgbClr val="006FC1"/>
                </a:solidFill>
                <a:latin typeface="Calibri"/>
                <a:cs typeface="Calibri"/>
              </a:rPr>
              <a:t>alpha</a:t>
            </a:r>
            <a:r>
              <a:rPr sz="2800" spc="-10" dirty="0">
                <a:solidFill>
                  <a:srgbClr val="383942"/>
                </a:solidFill>
                <a:latin typeface="Calibri"/>
                <a:cs typeface="Calibri"/>
              </a:rPr>
              <a:t>=</a:t>
            </a:r>
            <a:r>
              <a:rPr sz="2800" spc="-10" dirty="0">
                <a:solidFill>
                  <a:srgbClr val="098557"/>
                </a:solidFill>
                <a:latin typeface="Calibri"/>
                <a:cs typeface="Calibri"/>
              </a:rPr>
              <a:t>0.7</a:t>
            </a:r>
            <a:r>
              <a:rPr sz="2800" spc="-10" dirty="0">
                <a:solidFill>
                  <a:srgbClr val="383942"/>
                </a:solidFill>
                <a:latin typeface="Calibri"/>
                <a:cs typeface="Calibri"/>
              </a:rPr>
              <a:t>) </a:t>
            </a: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title</a:t>
            </a:r>
            <a:r>
              <a:rPr sz="2800" spc="-10" dirty="0">
                <a:solidFill>
                  <a:srgbClr val="383942"/>
                </a:solidFill>
                <a:latin typeface="Calibri"/>
                <a:cs typeface="Calibri"/>
              </a:rPr>
              <a:t>(</a:t>
            </a:r>
            <a:r>
              <a:rPr sz="2800" spc="-10" dirty="0">
                <a:solidFill>
                  <a:srgbClr val="A21515"/>
                </a:solidFill>
                <a:latin typeface="Calibri"/>
                <a:cs typeface="Calibri"/>
              </a:rPr>
              <a:t>"Histogram"</a:t>
            </a:r>
            <a:r>
              <a:rPr sz="2800" spc="-10" dirty="0">
                <a:solidFill>
                  <a:srgbClr val="383942"/>
                </a:solidFill>
                <a:latin typeface="Calibri"/>
                <a:cs typeface="Calibri"/>
              </a:rPr>
              <a:t>)</a:t>
            </a:r>
            <a:endParaRPr sz="2800" dirty="0">
              <a:latin typeface="Calibri"/>
              <a:cs typeface="Calibri"/>
            </a:endParaRPr>
          </a:p>
          <a:p>
            <a:pPr marL="12700" marR="3606165">
              <a:lnSpc>
                <a:spcPts val="4420"/>
              </a:lnSpc>
              <a:spcBef>
                <a:spcPts val="10"/>
              </a:spcBef>
            </a:pP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xlabel</a:t>
            </a:r>
            <a:r>
              <a:rPr sz="2800" spc="-10" dirty="0">
                <a:solidFill>
                  <a:srgbClr val="383942"/>
                </a:solidFill>
                <a:latin typeface="Calibri"/>
                <a:cs typeface="Calibri"/>
              </a:rPr>
              <a:t>(</a:t>
            </a:r>
            <a:r>
              <a:rPr sz="2800" spc="-10" dirty="0">
                <a:solidFill>
                  <a:srgbClr val="A21515"/>
                </a:solidFill>
                <a:latin typeface="Calibri"/>
                <a:cs typeface="Calibri"/>
              </a:rPr>
              <a:t>"Value"</a:t>
            </a:r>
            <a:r>
              <a:rPr sz="2800" spc="-10" dirty="0">
                <a:solidFill>
                  <a:srgbClr val="383942"/>
                </a:solidFill>
                <a:latin typeface="Calibri"/>
                <a:cs typeface="Calibri"/>
              </a:rPr>
              <a:t>) </a:t>
            </a:r>
            <a:r>
              <a:rPr sz="2800" spc="-20" dirty="0">
                <a:solidFill>
                  <a:srgbClr val="006FC1"/>
                </a:solidFill>
                <a:latin typeface="Calibri"/>
                <a:cs typeface="Calibri"/>
              </a:rPr>
              <a:t>plt</a:t>
            </a:r>
            <a:r>
              <a:rPr sz="2800" spc="-20" dirty="0">
                <a:solidFill>
                  <a:srgbClr val="383942"/>
                </a:solidFill>
                <a:latin typeface="Calibri"/>
                <a:cs typeface="Calibri"/>
              </a:rPr>
              <a:t>.</a:t>
            </a:r>
            <a:r>
              <a:rPr sz="2800" spc="-20" dirty="0">
                <a:solidFill>
                  <a:srgbClr val="795E25"/>
                </a:solidFill>
                <a:latin typeface="Calibri"/>
                <a:cs typeface="Calibri"/>
              </a:rPr>
              <a:t>ylabel</a:t>
            </a:r>
            <a:r>
              <a:rPr sz="2800" spc="-20" dirty="0">
                <a:solidFill>
                  <a:srgbClr val="383942"/>
                </a:solidFill>
                <a:latin typeface="Calibri"/>
                <a:cs typeface="Calibri"/>
              </a:rPr>
              <a:t>(</a:t>
            </a:r>
            <a:r>
              <a:rPr sz="2800" spc="-20" dirty="0">
                <a:solidFill>
                  <a:srgbClr val="A21515"/>
                </a:solidFill>
                <a:latin typeface="Calibri"/>
                <a:cs typeface="Calibri"/>
              </a:rPr>
              <a:t>"Frequency"</a:t>
            </a:r>
            <a:r>
              <a:rPr sz="2800" spc="-20" dirty="0">
                <a:solidFill>
                  <a:srgbClr val="383942"/>
                </a:solidFill>
                <a:latin typeface="Calibri"/>
                <a:cs typeface="Calibri"/>
              </a:rPr>
              <a:t>)</a:t>
            </a:r>
            <a:endParaRPr sz="2800" dirty="0">
              <a:latin typeface="Calibri"/>
              <a:cs typeface="Calibri"/>
            </a:endParaRPr>
          </a:p>
          <a:p>
            <a:pPr marL="12700">
              <a:lnSpc>
                <a:spcPct val="100000"/>
              </a:lnSpc>
              <a:spcBef>
                <a:spcPts val="740"/>
              </a:spcBef>
            </a:pP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show</a:t>
            </a:r>
            <a:r>
              <a:rPr sz="2800" spc="-10" dirty="0">
                <a:solidFill>
                  <a:srgbClr val="383942"/>
                </a:solidFill>
                <a:latin typeface="Calibri"/>
                <a:cs typeface="Calibri"/>
              </a:rPr>
              <a:t>()</a:t>
            </a:r>
            <a:endParaRPr sz="2800" dirty="0">
              <a:latin typeface="Calibri"/>
              <a:cs typeface="Calibri"/>
            </a:endParaRPr>
          </a:p>
        </p:txBody>
      </p:sp>
      <p:pic>
        <p:nvPicPr>
          <p:cNvPr id="4" name="object 4"/>
          <p:cNvPicPr/>
          <p:nvPr/>
        </p:nvPicPr>
        <p:blipFill>
          <a:blip r:embed="rId2" cstate="print"/>
          <a:stretch>
            <a:fillRect/>
          </a:stretch>
        </p:blipFill>
        <p:spPr>
          <a:xfrm>
            <a:off x="8200643" y="2659379"/>
            <a:ext cx="3665220" cy="2919984"/>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C3A49F-D808-6B71-7528-1E43E3575A20}"/>
              </a:ext>
            </a:extLst>
          </p:cNvPr>
          <p:cNvPicPr>
            <a:picLocks noChangeAspect="1"/>
          </p:cNvPicPr>
          <p:nvPr/>
        </p:nvPicPr>
        <p:blipFill>
          <a:blip r:embed="rId2"/>
          <a:stretch>
            <a:fillRect/>
          </a:stretch>
        </p:blipFill>
        <p:spPr>
          <a:xfrm>
            <a:off x="8229600" y="1905000"/>
            <a:ext cx="3788501" cy="2792906"/>
          </a:xfrm>
          <a:prstGeom prst="rect">
            <a:avLst/>
          </a:prstGeom>
        </p:spPr>
      </p:pic>
      <p:sp>
        <p:nvSpPr>
          <p:cNvPr id="2" name="Title 1">
            <a:extLst>
              <a:ext uri="{FF2B5EF4-FFF2-40B4-BE49-F238E27FC236}">
                <a16:creationId xmlns:a16="http://schemas.microsoft.com/office/drawing/2014/main" id="{720744CE-4018-53E0-F97B-65EE7C2D3BE3}"/>
              </a:ext>
            </a:extLst>
          </p:cNvPr>
          <p:cNvSpPr>
            <a:spLocks noGrp="1"/>
          </p:cNvSpPr>
          <p:nvPr>
            <p:ph type="title"/>
          </p:nvPr>
        </p:nvSpPr>
        <p:spPr/>
        <p:txBody>
          <a:bodyPr/>
          <a:lstStyle/>
          <a:p>
            <a:r>
              <a:rPr lang="en-US" dirty="0"/>
              <a:t>Preparing Canvas </a:t>
            </a:r>
            <a:endParaRPr lang="en-IN" dirty="0"/>
          </a:p>
        </p:txBody>
      </p:sp>
      <p:sp>
        <p:nvSpPr>
          <p:cNvPr id="3" name="Text Placeholder 2">
            <a:extLst>
              <a:ext uri="{FF2B5EF4-FFF2-40B4-BE49-F238E27FC236}">
                <a16:creationId xmlns:a16="http://schemas.microsoft.com/office/drawing/2014/main" id="{D08DD91B-DCF3-EC61-8433-F64622D1C70B}"/>
              </a:ext>
            </a:extLst>
          </p:cNvPr>
          <p:cNvSpPr>
            <a:spLocks noGrp="1"/>
          </p:cNvSpPr>
          <p:nvPr>
            <p:ph type="body" idx="1"/>
          </p:nvPr>
        </p:nvSpPr>
        <p:spPr>
          <a:xfrm>
            <a:off x="609600" y="1310330"/>
            <a:ext cx="10591800" cy="5355312"/>
          </a:xfrm>
        </p:spPr>
        <p:txBody>
          <a:bodyPr/>
          <a:lstStyle/>
          <a:p>
            <a:r>
              <a:rPr lang="en-IN" sz="2400" dirty="0">
                <a:solidFill>
                  <a:schemeClr val="tx2"/>
                </a:solidFill>
                <a:latin typeface="Consolas" panose="020B0609020204030204" pitchFamily="49" charset="0"/>
              </a:rPr>
              <a:t>		x = [1, 2, 3, 4, 5]</a:t>
            </a:r>
          </a:p>
          <a:p>
            <a:r>
              <a:rPr lang="en-IN" sz="2400" dirty="0">
                <a:solidFill>
                  <a:schemeClr val="tx2"/>
                </a:solidFill>
                <a:latin typeface="Consolas" panose="020B0609020204030204" pitchFamily="49" charset="0"/>
              </a:rPr>
              <a:t>		y = [2, 3, 5, 7, 11]</a:t>
            </a:r>
          </a:p>
          <a:p>
            <a:br>
              <a:rPr lang="en-IN" sz="2400" dirty="0"/>
            </a:br>
            <a:r>
              <a:rPr lang="en-IN" sz="2400" dirty="0"/>
              <a:t>1. Create a single canvas and axis</a:t>
            </a:r>
          </a:p>
          <a:p>
            <a:r>
              <a:rPr lang="en-IN" sz="2400" dirty="0">
                <a:solidFill>
                  <a:schemeClr val="tx2"/>
                </a:solidFill>
                <a:latin typeface="Consolas" panose="020B0609020204030204" pitchFamily="49" charset="0"/>
              </a:rPr>
              <a:t>	fig, </a:t>
            </a:r>
            <a:r>
              <a:rPr lang="en-IN" sz="2400" dirty="0" err="1">
                <a:solidFill>
                  <a:schemeClr val="tx2"/>
                </a:solidFill>
                <a:latin typeface="Consolas" panose="020B0609020204030204" pitchFamily="49" charset="0"/>
              </a:rPr>
              <a:t>ax</a:t>
            </a:r>
            <a:r>
              <a:rPr lang="en-IN" sz="2400" dirty="0">
                <a:solidFill>
                  <a:schemeClr val="tx2"/>
                </a:solidFill>
                <a:latin typeface="Consolas" panose="020B0609020204030204" pitchFamily="49" charset="0"/>
              </a:rPr>
              <a:t> = </a:t>
            </a:r>
            <a:r>
              <a:rPr lang="en-IN" sz="2400" dirty="0" err="1">
                <a:solidFill>
                  <a:schemeClr val="tx2"/>
                </a:solidFill>
                <a:latin typeface="Consolas" panose="020B0609020204030204" pitchFamily="49" charset="0"/>
              </a:rPr>
              <a:t>plt.subplots</a:t>
            </a:r>
            <a:r>
              <a:rPr lang="en-IN" sz="2400" dirty="0">
                <a:solidFill>
                  <a:schemeClr val="tx2"/>
                </a:solidFill>
                <a:latin typeface="Consolas" panose="020B0609020204030204" pitchFamily="49" charset="0"/>
              </a:rPr>
              <a:t>(</a:t>
            </a:r>
            <a:r>
              <a:rPr lang="en-IN" sz="2400" dirty="0" err="1">
                <a:solidFill>
                  <a:schemeClr val="tx2"/>
                </a:solidFill>
                <a:latin typeface="Consolas" panose="020B0609020204030204" pitchFamily="49" charset="0"/>
              </a:rPr>
              <a:t>figsize</a:t>
            </a:r>
            <a:r>
              <a:rPr lang="en-IN" sz="2400" dirty="0">
                <a:solidFill>
                  <a:schemeClr val="tx2"/>
                </a:solidFill>
                <a:latin typeface="Consolas" panose="020B0609020204030204" pitchFamily="49" charset="0"/>
              </a:rPr>
              <a:t>=(6, 4))</a:t>
            </a:r>
          </a:p>
          <a:p>
            <a:br>
              <a:rPr lang="en-IN" sz="2400" dirty="0"/>
            </a:br>
            <a:r>
              <a:rPr lang="en-IN" sz="2400" dirty="0"/>
              <a:t>2. Layer multiple plots sequentially on the same axis (</a:t>
            </a:r>
            <a:r>
              <a:rPr lang="en-IN" sz="2400" dirty="0" err="1"/>
              <a:t>ax</a:t>
            </a:r>
            <a:r>
              <a:rPr lang="en-IN" sz="2400" dirty="0"/>
              <a:t>)</a:t>
            </a:r>
          </a:p>
          <a:p>
            <a:pPr lvl="1"/>
            <a:r>
              <a:rPr lang="en-IN" sz="2000" dirty="0" err="1">
                <a:solidFill>
                  <a:schemeClr val="tx2"/>
                </a:solidFill>
                <a:latin typeface="Consolas" panose="020B0609020204030204" pitchFamily="49" charset="0"/>
              </a:rPr>
              <a:t>ax.plot</a:t>
            </a:r>
            <a:r>
              <a:rPr lang="en-IN" sz="2000" dirty="0">
                <a:solidFill>
                  <a:schemeClr val="tx2"/>
                </a:solidFill>
                <a:latin typeface="Consolas" panose="020B0609020204030204" pitchFamily="49" charset="0"/>
              </a:rPr>
              <a:t>(x, y, </a:t>
            </a:r>
            <a:r>
              <a:rPr lang="en-IN" sz="2000" dirty="0" err="1">
                <a:solidFill>
                  <a:schemeClr val="tx2"/>
                </a:solidFill>
                <a:latin typeface="Consolas" panose="020B0609020204030204" pitchFamily="49" charset="0"/>
              </a:rPr>
              <a:t>color</a:t>
            </a:r>
            <a:r>
              <a:rPr lang="en-IN" sz="2000" dirty="0">
                <a:solidFill>
                  <a:schemeClr val="tx2"/>
                </a:solidFill>
                <a:latin typeface="Consolas" panose="020B0609020204030204" pitchFamily="49" charset="0"/>
              </a:rPr>
              <a:t>='blue', label='Trend Line')      </a:t>
            </a:r>
          </a:p>
          <a:p>
            <a:pPr lvl="1"/>
            <a:r>
              <a:rPr lang="en-IN" sz="2000" dirty="0" err="1">
                <a:solidFill>
                  <a:schemeClr val="tx2"/>
                </a:solidFill>
                <a:latin typeface="Consolas" panose="020B0609020204030204" pitchFamily="49" charset="0"/>
              </a:rPr>
              <a:t>ax.scatter</a:t>
            </a:r>
            <a:r>
              <a:rPr lang="en-IN" sz="2000" dirty="0">
                <a:solidFill>
                  <a:schemeClr val="tx2"/>
                </a:solidFill>
                <a:latin typeface="Consolas" panose="020B0609020204030204" pitchFamily="49" charset="0"/>
              </a:rPr>
              <a:t>(x, y, </a:t>
            </a:r>
            <a:r>
              <a:rPr lang="en-IN" sz="2000" dirty="0" err="1">
                <a:solidFill>
                  <a:schemeClr val="tx2"/>
                </a:solidFill>
                <a:latin typeface="Consolas" panose="020B0609020204030204" pitchFamily="49" charset="0"/>
              </a:rPr>
              <a:t>color</a:t>
            </a:r>
            <a:r>
              <a:rPr lang="en-IN" sz="2000" dirty="0">
                <a:solidFill>
                  <a:schemeClr val="tx2"/>
                </a:solidFill>
                <a:latin typeface="Consolas" panose="020B0609020204030204" pitchFamily="49" charset="0"/>
              </a:rPr>
              <a:t>='red’, </a:t>
            </a:r>
          </a:p>
          <a:p>
            <a:pPr lvl="1"/>
            <a:r>
              <a:rPr lang="en-IN" sz="2000" dirty="0">
                <a:solidFill>
                  <a:schemeClr val="tx2"/>
                </a:solidFill>
                <a:latin typeface="Consolas" panose="020B0609020204030204" pitchFamily="49" charset="0"/>
              </a:rPr>
              <a:t>s=100, label='Data Points') </a:t>
            </a:r>
          </a:p>
          <a:p>
            <a:pPr lvl="1"/>
            <a:r>
              <a:rPr lang="en-IN" sz="2000" dirty="0" err="1">
                <a:solidFill>
                  <a:schemeClr val="tx2"/>
                </a:solidFill>
                <a:latin typeface="Consolas" panose="020B0609020204030204" pitchFamily="49" charset="0"/>
              </a:rPr>
              <a:t>ax.set_title</a:t>
            </a:r>
            <a:r>
              <a:rPr lang="en-IN" sz="2000" dirty="0">
                <a:solidFill>
                  <a:schemeClr val="tx2"/>
                </a:solidFill>
                <a:latin typeface="Consolas" panose="020B0609020204030204" pitchFamily="49" charset="0"/>
              </a:rPr>
              <a:t>("Combined Line and Scatter Plot")</a:t>
            </a:r>
          </a:p>
          <a:p>
            <a:pPr lvl="1"/>
            <a:r>
              <a:rPr lang="en-IN" sz="2000" dirty="0" err="1">
                <a:solidFill>
                  <a:schemeClr val="tx2"/>
                </a:solidFill>
                <a:latin typeface="Consolas" panose="020B0609020204030204" pitchFamily="49" charset="0"/>
              </a:rPr>
              <a:t>ax.set_xlabel</a:t>
            </a:r>
            <a:r>
              <a:rPr lang="en-IN" sz="2000" dirty="0">
                <a:solidFill>
                  <a:schemeClr val="tx2"/>
                </a:solidFill>
                <a:latin typeface="Consolas" panose="020B0609020204030204" pitchFamily="49" charset="0"/>
              </a:rPr>
              <a:t>("X Axis")</a:t>
            </a:r>
          </a:p>
          <a:p>
            <a:pPr lvl="1"/>
            <a:r>
              <a:rPr lang="en-IN" sz="2000" dirty="0" err="1">
                <a:solidFill>
                  <a:schemeClr val="tx2"/>
                </a:solidFill>
                <a:latin typeface="Consolas" panose="020B0609020204030204" pitchFamily="49" charset="0"/>
              </a:rPr>
              <a:t>ax.set_ylabel</a:t>
            </a:r>
            <a:r>
              <a:rPr lang="en-IN" sz="2000" dirty="0">
                <a:solidFill>
                  <a:schemeClr val="tx2"/>
                </a:solidFill>
                <a:latin typeface="Consolas" panose="020B0609020204030204" pitchFamily="49" charset="0"/>
              </a:rPr>
              <a:t>("Y Axis")</a:t>
            </a:r>
          </a:p>
          <a:p>
            <a:pPr lvl="1"/>
            <a:r>
              <a:rPr lang="en-IN" sz="2000" dirty="0" err="1">
                <a:solidFill>
                  <a:schemeClr val="tx2"/>
                </a:solidFill>
                <a:latin typeface="Consolas" panose="020B0609020204030204" pitchFamily="49" charset="0"/>
              </a:rPr>
              <a:t>ax.legend</a:t>
            </a:r>
            <a:r>
              <a:rPr lang="en-IN" sz="2000" dirty="0">
                <a:solidFill>
                  <a:schemeClr val="tx2"/>
                </a:solidFill>
                <a:latin typeface="Consolas" panose="020B0609020204030204" pitchFamily="49" charset="0"/>
              </a:rPr>
              <a:t>()</a:t>
            </a:r>
          </a:p>
          <a:p>
            <a:pPr lvl="1"/>
            <a:r>
              <a:rPr lang="en-IN" sz="2000" dirty="0" err="1">
                <a:solidFill>
                  <a:schemeClr val="tx2"/>
                </a:solidFill>
                <a:latin typeface="Consolas" panose="020B0609020204030204" pitchFamily="49" charset="0"/>
              </a:rPr>
              <a:t>plt.show</a:t>
            </a:r>
            <a:r>
              <a:rPr lang="en-IN" sz="2000" dirty="0">
                <a:solidFill>
                  <a:schemeClr val="tx2"/>
                </a:solidFill>
                <a:latin typeface="Consolas" panose="020B0609020204030204" pitchFamily="49" charset="0"/>
              </a:rPr>
              <a:t>()</a:t>
            </a:r>
          </a:p>
          <a:p>
            <a:endParaRPr lang="en-IN" sz="2000" dirty="0"/>
          </a:p>
        </p:txBody>
      </p:sp>
    </p:spTree>
    <p:extLst>
      <p:ext uri="{BB962C8B-B14F-4D97-AF65-F5344CB8AC3E}">
        <p14:creationId xmlns:p14="http://schemas.microsoft.com/office/powerpoint/2010/main" val="3235001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9F843-F773-A5E2-B037-759DF475174D}"/>
              </a:ext>
            </a:extLst>
          </p:cNvPr>
          <p:cNvSpPr>
            <a:spLocks noGrp="1"/>
          </p:cNvSpPr>
          <p:nvPr>
            <p:ph type="title"/>
          </p:nvPr>
        </p:nvSpPr>
        <p:spPr>
          <a:xfrm>
            <a:off x="1176324" y="250316"/>
            <a:ext cx="9896475" cy="738664"/>
          </a:xfrm>
        </p:spPr>
        <p:txBody>
          <a:bodyPr/>
          <a:lstStyle/>
          <a:p>
            <a:r>
              <a:rPr lang="en-IN" dirty="0"/>
              <a:t>3. Layer the Plots on the Same Axis</a:t>
            </a:r>
          </a:p>
        </p:txBody>
      </p:sp>
      <p:sp>
        <p:nvSpPr>
          <p:cNvPr id="3" name="Text Placeholder 2">
            <a:extLst>
              <a:ext uri="{FF2B5EF4-FFF2-40B4-BE49-F238E27FC236}">
                <a16:creationId xmlns:a16="http://schemas.microsoft.com/office/drawing/2014/main" id="{A415DF6D-978E-D6A8-ADDD-F524C330D34C}"/>
              </a:ext>
            </a:extLst>
          </p:cNvPr>
          <p:cNvSpPr>
            <a:spLocks noGrp="1"/>
          </p:cNvSpPr>
          <p:nvPr>
            <p:ph type="body" idx="1"/>
          </p:nvPr>
        </p:nvSpPr>
        <p:spPr>
          <a:xfrm>
            <a:off x="609600" y="1752600"/>
            <a:ext cx="10972800" cy="2154436"/>
          </a:xfrm>
        </p:spPr>
        <p:txBody>
          <a:bodyPr/>
          <a:lstStyle/>
          <a:p>
            <a:r>
              <a:rPr lang="en-IN" dirty="0" err="1">
                <a:latin typeface="Consolas" panose="020B0609020204030204" pitchFamily="49" charset="0"/>
              </a:rPr>
              <a:t>ax.plot</a:t>
            </a:r>
            <a:r>
              <a:rPr lang="en-IN" dirty="0">
                <a:latin typeface="Consolas" panose="020B0609020204030204" pitchFamily="49" charset="0"/>
              </a:rPr>
              <a:t>(x, y, </a:t>
            </a:r>
            <a:r>
              <a:rPr lang="en-IN" dirty="0" err="1">
                <a:latin typeface="Consolas" panose="020B0609020204030204" pitchFamily="49" charset="0"/>
              </a:rPr>
              <a:t>color</a:t>
            </a:r>
            <a:r>
              <a:rPr lang="en-IN" dirty="0">
                <a:latin typeface="Consolas" panose="020B0609020204030204" pitchFamily="49" charset="0"/>
              </a:rPr>
              <a:t>='#1f77b4', linewidth=2, </a:t>
            </a:r>
            <a:r>
              <a:rPr lang="en-IN" dirty="0" err="1">
                <a:latin typeface="Consolas" panose="020B0609020204030204" pitchFamily="49" charset="0"/>
              </a:rPr>
              <a:t>zorder</a:t>
            </a:r>
            <a:r>
              <a:rPr lang="en-IN" dirty="0">
                <a:latin typeface="Consolas" panose="020B0609020204030204" pitchFamily="49" charset="0"/>
              </a:rPr>
              <a:t>=1, label='Trend Line’) </a:t>
            </a:r>
          </a:p>
          <a:p>
            <a:endParaRPr lang="en-IN" dirty="0">
              <a:latin typeface="Consolas" panose="020B0609020204030204" pitchFamily="49" charset="0"/>
            </a:endParaRPr>
          </a:p>
          <a:p>
            <a:r>
              <a:rPr lang="en-IN" dirty="0" err="1">
                <a:latin typeface="Consolas" panose="020B0609020204030204" pitchFamily="49" charset="0"/>
              </a:rPr>
              <a:t>ax.scatter</a:t>
            </a:r>
            <a:r>
              <a:rPr lang="en-IN" dirty="0">
                <a:latin typeface="Consolas" panose="020B0609020204030204" pitchFamily="49" charset="0"/>
              </a:rPr>
              <a:t>(x, y, </a:t>
            </a:r>
            <a:r>
              <a:rPr lang="en-IN" dirty="0" err="1">
                <a:latin typeface="Consolas" panose="020B0609020204030204" pitchFamily="49" charset="0"/>
              </a:rPr>
              <a:t>color</a:t>
            </a:r>
            <a:r>
              <a:rPr lang="en-IN" dirty="0">
                <a:latin typeface="Consolas" panose="020B0609020204030204" pitchFamily="49" charset="0"/>
              </a:rPr>
              <a:t>='#d62728', s=80, </a:t>
            </a:r>
            <a:r>
              <a:rPr lang="en-IN" dirty="0" err="1">
                <a:latin typeface="Consolas" panose="020B0609020204030204" pitchFamily="49" charset="0"/>
              </a:rPr>
              <a:t>edgecolor</a:t>
            </a:r>
            <a:r>
              <a:rPr lang="en-IN" dirty="0">
                <a:latin typeface="Consolas" panose="020B0609020204030204" pitchFamily="49" charset="0"/>
              </a:rPr>
              <a:t>='white', </a:t>
            </a:r>
            <a:r>
              <a:rPr lang="en-IN" dirty="0" err="1">
                <a:latin typeface="Consolas" panose="020B0609020204030204" pitchFamily="49" charset="0"/>
              </a:rPr>
              <a:t>zorder</a:t>
            </a:r>
            <a:r>
              <a:rPr lang="en-IN" dirty="0">
                <a:latin typeface="Consolas" panose="020B0609020204030204" pitchFamily="49" charset="0"/>
              </a:rPr>
              <a:t>=2, label='Data Points')</a:t>
            </a:r>
          </a:p>
        </p:txBody>
      </p:sp>
      <p:pic>
        <p:nvPicPr>
          <p:cNvPr id="5" name="Picture 4">
            <a:extLst>
              <a:ext uri="{FF2B5EF4-FFF2-40B4-BE49-F238E27FC236}">
                <a16:creationId xmlns:a16="http://schemas.microsoft.com/office/drawing/2014/main" id="{B14D47DD-F479-DC69-A359-CC3E8D78C9A3}"/>
              </a:ext>
            </a:extLst>
          </p:cNvPr>
          <p:cNvPicPr>
            <a:picLocks noChangeAspect="1"/>
          </p:cNvPicPr>
          <p:nvPr/>
        </p:nvPicPr>
        <p:blipFill>
          <a:blip r:embed="rId2"/>
          <a:stretch>
            <a:fillRect/>
          </a:stretch>
        </p:blipFill>
        <p:spPr>
          <a:xfrm>
            <a:off x="8686800" y="4246248"/>
            <a:ext cx="3135856" cy="2327788"/>
          </a:xfrm>
          <a:prstGeom prst="rect">
            <a:avLst/>
          </a:prstGeom>
        </p:spPr>
      </p:pic>
    </p:spTree>
    <p:extLst>
      <p:ext uri="{BB962C8B-B14F-4D97-AF65-F5344CB8AC3E}">
        <p14:creationId xmlns:p14="http://schemas.microsoft.com/office/powerpoint/2010/main" val="2816511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AD1EF-CAA9-1F91-C84B-E6FE494D41B6}"/>
              </a:ext>
            </a:extLst>
          </p:cNvPr>
          <p:cNvSpPr>
            <a:spLocks noGrp="1"/>
          </p:cNvSpPr>
          <p:nvPr>
            <p:ph type="title"/>
          </p:nvPr>
        </p:nvSpPr>
        <p:spPr>
          <a:xfrm>
            <a:off x="1176324" y="250316"/>
            <a:ext cx="11168076" cy="1477328"/>
          </a:xfrm>
        </p:spPr>
        <p:txBody>
          <a:bodyPr/>
          <a:lstStyle/>
          <a:p>
            <a:r>
              <a:rPr lang="en-IN" dirty="0"/>
              <a:t>4. Canvas Padding &amp; Margin Control</a:t>
            </a:r>
          </a:p>
        </p:txBody>
      </p:sp>
      <p:sp>
        <p:nvSpPr>
          <p:cNvPr id="3" name="Text Placeholder 2">
            <a:extLst>
              <a:ext uri="{FF2B5EF4-FFF2-40B4-BE49-F238E27FC236}">
                <a16:creationId xmlns:a16="http://schemas.microsoft.com/office/drawing/2014/main" id="{C2D1F656-4CDD-F73E-68AC-6C222D33231D}"/>
              </a:ext>
            </a:extLst>
          </p:cNvPr>
          <p:cNvSpPr>
            <a:spLocks noGrp="1"/>
          </p:cNvSpPr>
          <p:nvPr>
            <p:ph type="body" idx="1"/>
          </p:nvPr>
        </p:nvSpPr>
        <p:spPr>
          <a:xfrm>
            <a:off x="228600" y="1984267"/>
            <a:ext cx="10210800" cy="4419600"/>
          </a:xfrm>
        </p:spPr>
        <p:txBody>
          <a:bodyPr/>
          <a:lstStyle/>
          <a:p>
            <a:r>
              <a:rPr lang="en-IN" dirty="0" err="1">
                <a:latin typeface="Consolas" panose="020B0609020204030204" pitchFamily="49" charset="0"/>
              </a:rPr>
              <a:t>fig.subplots_adjust</a:t>
            </a:r>
            <a:r>
              <a:rPr lang="en-IN" dirty="0">
                <a:latin typeface="Consolas" panose="020B0609020204030204" pitchFamily="49" charset="0"/>
              </a:rPr>
              <a:t>( </a:t>
            </a:r>
          </a:p>
          <a:p>
            <a:r>
              <a:rPr lang="en-IN" dirty="0">
                <a:latin typeface="Consolas" panose="020B0609020204030204" pitchFamily="49" charset="0"/>
              </a:rPr>
              <a:t>	</a:t>
            </a:r>
            <a:r>
              <a:rPr lang="en-IN" dirty="0">
                <a:solidFill>
                  <a:schemeClr val="tx2"/>
                </a:solidFill>
                <a:latin typeface="Consolas" panose="020B0609020204030204" pitchFamily="49" charset="0"/>
              </a:rPr>
              <a:t>left</a:t>
            </a:r>
            <a:r>
              <a:rPr lang="en-IN" dirty="0">
                <a:latin typeface="Consolas" panose="020B0609020204030204" pitchFamily="49" charset="0"/>
              </a:rPr>
              <a:t>=0.15,   # Margin on the left side</a:t>
            </a:r>
          </a:p>
          <a:p>
            <a:r>
              <a:rPr lang="en-IN" dirty="0">
                <a:latin typeface="Consolas" panose="020B0609020204030204" pitchFamily="49" charset="0"/>
              </a:rPr>
              <a:t>	</a:t>
            </a:r>
            <a:r>
              <a:rPr lang="en-IN" dirty="0">
                <a:solidFill>
                  <a:schemeClr val="tx2"/>
                </a:solidFill>
                <a:latin typeface="Consolas" panose="020B0609020204030204" pitchFamily="49" charset="0"/>
              </a:rPr>
              <a:t>right</a:t>
            </a:r>
            <a:r>
              <a:rPr lang="en-IN" dirty="0">
                <a:latin typeface="Consolas" panose="020B0609020204030204" pitchFamily="49" charset="0"/>
              </a:rPr>
              <a:t>=0.90,  # Margin on the right side 	</a:t>
            </a:r>
            <a:r>
              <a:rPr lang="en-IN" dirty="0">
                <a:solidFill>
                  <a:schemeClr val="tx2"/>
                </a:solidFill>
                <a:latin typeface="Consolas" panose="020B0609020204030204" pitchFamily="49" charset="0"/>
              </a:rPr>
              <a:t>bottom=0.15</a:t>
            </a:r>
            <a:r>
              <a:rPr lang="en-IN" dirty="0">
                <a:latin typeface="Consolas" panose="020B0609020204030204" pitchFamily="49" charset="0"/>
              </a:rPr>
              <a:t>, # Margin on the bottom </a:t>
            </a:r>
          </a:p>
          <a:p>
            <a:r>
              <a:rPr lang="en-IN" dirty="0">
                <a:latin typeface="Consolas" panose="020B0609020204030204" pitchFamily="49" charset="0"/>
              </a:rPr>
              <a:t>	</a:t>
            </a:r>
            <a:r>
              <a:rPr lang="en-IN" dirty="0">
                <a:solidFill>
                  <a:schemeClr val="tx2"/>
                </a:solidFill>
                <a:latin typeface="Consolas" panose="020B0609020204030204" pitchFamily="49" charset="0"/>
              </a:rPr>
              <a:t>top</a:t>
            </a:r>
            <a:r>
              <a:rPr lang="en-IN" dirty="0">
                <a:latin typeface="Consolas" panose="020B0609020204030204" pitchFamily="49" charset="0"/>
              </a:rPr>
              <a:t>=0.85,    # Margin on the top </a:t>
            </a:r>
          </a:p>
          <a:p>
            <a:r>
              <a:rPr lang="en-IN" dirty="0">
                <a:latin typeface="Consolas" panose="020B0609020204030204" pitchFamily="49" charset="0"/>
              </a:rPr>
              <a:t>	</a:t>
            </a:r>
            <a:r>
              <a:rPr lang="en-IN" dirty="0" err="1">
                <a:solidFill>
                  <a:schemeClr val="tx2"/>
                </a:solidFill>
                <a:latin typeface="Consolas" panose="020B0609020204030204" pitchFamily="49" charset="0"/>
              </a:rPr>
              <a:t>wspace</a:t>
            </a:r>
            <a:r>
              <a:rPr lang="en-IN" dirty="0">
                <a:latin typeface="Consolas" panose="020B0609020204030204" pitchFamily="49" charset="0"/>
              </a:rPr>
              <a:t>=None, # Width padding between subplots  </a:t>
            </a:r>
          </a:p>
          <a:p>
            <a:r>
              <a:rPr lang="en-IN" dirty="0">
                <a:latin typeface="Consolas" panose="020B0609020204030204" pitchFamily="49" charset="0"/>
              </a:rPr>
              <a:t>	</a:t>
            </a:r>
            <a:r>
              <a:rPr lang="en-IN" dirty="0" err="1">
                <a:solidFill>
                  <a:schemeClr val="tx2"/>
                </a:solidFill>
                <a:latin typeface="Consolas" panose="020B0609020204030204" pitchFamily="49" charset="0"/>
              </a:rPr>
              <a:t>hspace</a:t>
            </a:r>
            <a:r>
              <a:rPr lang="en-IN" dirty="0">
                <a:latin typeface="Consolas" panose="020B0609020204030204" pitchFamily="49" charset="0"/>
              </a:rPr>
              <a:t>=None  # Height padding between subplots</a:t>
            </a:r>
          </a:p>
          <a:p>
            <a:r>
              <a:rPr lang="en-IN" dirty="0">
                <a:latin typeface="Consolas" panose="020B0609020204030204" pitchFamily="49" charset="0"/>
              </a:rPr>
              <a:t>)</a:t>
            </a:r>
          </a:p>
        </p:txBody>
      </p:sp>
      <p:pic>
        <p:nvPicPr>
          <p:cNvPr id="5" name="Picture 4">
            <a:extLst>
              <a:ext uri="{FF2B5EF4-FFF2-40B4-BE49-F238E27FC236}">
                <a16:creationId xmlns:a16="http://schemas.microsoft.com/office/drawing/2014/main" id="{9EFC63B1-91C7-9B59-35D9-3103E5501CF7}"/>
              </a:ext>
            </a:extLst>
          </p:cNvPr>
          <p:cNvPicPr>
            <a:picLocks noChangeAspect="1"/>
          </p:cNvPicPr>
          <p:nvPr/>
        </p:nvPicPr>
        <p:blipFill>
          <a:blip r:embed="rId2"/>
          <a:stretch>
            <a:fillRect/>
          </a:stretch>
        </p:blipFill>
        <p:spPr>
          <a:xfrm>
            <a:off x="8961120" y="1600200"/>
            <a:ext cx="2956560" cy="2194694"/>
          </a:xfrm>
          <a:prstGeom prst="rect">
            <a:avLst/>
          </a:prstGeom>
        </p:spPr>
      </p:pic>
    </p:spTree>
    <p:extLst>
      <p:ext uri="{BB962C8B-B14F-4D97-AF65-F5344CB8AC3E}">
        <p14:creationId xmlns:p14="http://schemas.microsoft.com/office/powerpoint/2010/main" val="2910018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1D5D1-6370-5159-3947-72746202A132}"/>
              </a:ext>
            </a:extLst>
          </p:cNvPr>
          <p:cNvSpPr>
            <a:spLocks noGrp="1"/>
          </p:cNvSpPr>
          <p:nvPr>
            <p:ph type="title"/>
          </p:nvPr>
        </p:nvSpPr>
        <p:spPr/>
        <p:txBody>
          <a:bodyPr/>
          <a:lstStyle/>
          <a:p>
            <a:r>
              <a:rPr lang="en-IN" dirty="0"/>
              <a:t>5. Axis Padding &amp; Styling</a:t>
            </a:r>
          </a:p>
        </p:txBody>
      </p:sp>
      <p:sp>
        <p:nvSpPr>
          <p:cNvPr id="3" name="Text Placeholder 2">
            <a:extLst>
              <a:ext uri="{FF2B5EF4-FFF2-40B4-BE49-F238E27FC236}">
                <a16:creationId xmlns:a16="http://schemas.microsoft.com/office/drawing/2014/main" id="{459D3590-627D-6A86-43D8-7398E6847AE4}"/>
              </a:ext>
            </a:extLst>
          </p:cNvPr>
          <p:cNvSpPr>
            <a:spLocks noGrp="1"/>
          </p:cNvSpPr>
          <p:nvPr>
            <p:ph type="body" idx="1"/>
          </p:nvPr>
        </p:nvSpPr>
        <p:spPr>
          <a:xfrm>
            <a:off x="685800" y="1524001"/>
            <a:ext cx="7924800" cy="5047536"/>
          </a:xfrm>
        </p:spPr>
        <p:txBody>
          <a:bodyPr/>
          <a:lstStyle/>
          <a:p>
            <a:r>
              <a:rPr lang="en-IN" dirty="0" err="1">
                <a:latin typeface="Consolas" panose="020B0609020204030204" pitchFamily="49" charset="0"/>
              </a:rPr>
              <a:t>ax.</a:t>
            </a:r>
            <a:r>
              <a:rPr lang="en-IN" dirty="0" err="1">
                <a:solidFill>
                  <a:schemeClr val="tx2"/>
                </a:solidFill>
                <a:latin typeface="Consolas" panose="020B0609020204030204" pitchFamily="49" charset="0"/>
              </a:rPr>
              <a:t>set_facecolor</a:t>
            </a:r>
            <a:r>
              <a:rPr lang="en-IN" dirty="0">
                <a:latin typeface="Consolas" panose="020B0609020204030204" pitchFamily="49" charset="0"/>
              </a:rPr>
              <a:t>('white') # Background </a:t>
            </a:r>
            <a:r>
              <a:rPr lang="en-IN" dirty="0" err="1">
                <a:latin typeface="Consolas" panose="020B0609020204030204" pitchFamily="49" charset="0"/>
              </a:rPr>
              <a:t>color</a:t>
            </a:r>
            <a:r>
              <a:rPr lang="en-IN" dirty="0">
                <a:latin typeface="Consolas" panose="020B0609020204030204" pitchFamily="49" charset="0"/>
              </a:rPr>
              <a:t> of the plotting area </a:t>
            </a:r>
          </a:p>
          <a:p>
            <a:r>
              <a:rPr lang="en-IN" dirty="0" err="1">
                <a:latin typeface="Consolas" panose="020B0609020204030204" pitchFamily="49" charset="0"/>
              </a:rPr>
              <a:t>ax.</a:t>
            </a:r>
            <a:r>
              <a:rPr lang="en-IN" dirty="0" err="1">
                <a:solidFill>
                  <a:schemeClr val="tx2"/>
                </a:solidFill>
                <a:latin typeface="Consolas" panose="020B0609020204030204" pitchFamily="49" charset="0"/>
              </a:rPr>
              <a:t>set_title</a:t>
            </a:r>
            <a:r>
              <a:rPr lang="en-IN" dirty="0">
                <a:latin typeface="Consolas" panose="020B0609020204030204" pitchFamily="49" charset="0"/>
              </a:rPr>
              <a:t>("Fully Parameterized Canvas", </a:t>
            </a:r>
            <a:r>
              <a:rPr lang="en-IN" dirty="0" err="1">
                <a:latin typeface="Consolas" panose="020B0609020204030204" pitchFamily="49" charset="0"/>
              </a:rPr>
              <a:t>fontsize</a:t>
            </a:r>
            <a:r>
              <a:rPr lang="en-IN" dirty="0">
                <a:latin typeface="Consolas" panose="020B0609020204030204" pitchFamily="49" charset="0"/>
              </a:rPr>
              <a:t>=14, pad=15, weight='bold’) </a:t>
            </a:r>
          </a:p>
          <a:p>
            <a:r>
              <a:rPr lang="en-IN" dirty="0" err="1">
                <a:latin typeface="Consolas" panose="020B0609020204030204" pitchFamily="49" charset="0"/>
              </a:rPr>
              <a:t>ax.</a:t>
            </a:r>
            <a:r>
              <a:rPr lang="en-IN" dirty="0" err="1">
                <a:solidFill>
                  <a:schemeClr val="tx2"/>
                </a:solidFill>
                <a:latin typeface="Consolas" panose="020B0609020204030204" pitchFamily="49" charset="0"/>
              </a:rPr>
              <a:t>set_xlabel</a:t>
            </a:r>
            <a:r>
              <a:rPr lang="en-IN" dirty="0">
                <a:latin typeface="Consolas" panose="020B0609020204030204" pitchFamily="49" charset="0"/>
              </a:rPr>
              <a:t>("X Axis Label", </a:t>
            </a:r>
            <a:r>
              <a:rPr lang="en-IN" dirty="0" err="1">
                <a:latin typeface="Consolas" panose="020B0609020204030204" pitchFamily="49" charset="0"/>
              </a:rPr>
              <a:t>fontsize</a:t>
            </a:r>
            <a:r>
              <a:rPr lang="en-IN" dirty="0">
                <a:latin typeface="Consolas" panose="020B0609020204030204" pitchFamily="49" charset="0"/>
              </a:rPr>
              <a:t>=11, </a:t>
            </a:r>
            <a:r>
              <a:rPr lang="en-IN" dirty="0" err="1">
                <a:latin typeface="Consolas" panose="020B0609020204030204" pitchFamily="49" charset="0"/>
              </a:rPr>
              <a:t>labelpad</a:t>
            </a:r>
            <a:r>
              <a:rPr lang="en-IN" dirty="0">
                <a:latin typeface="Consolas" panose="020B0609020204030204" pitchFamily="49" charset="0"/>
              </a:rPr>
              <a:t>=10)   </a:t>
            </a:r>
          </a:p>
          <a:p>
            <a:r>
              <a:rPr lang="en-IN" dirty="0" err="1">
                <a:latin typeface="Consolas" panose="020B0609020204030204" pitchFamily="49" charset="0"/>
              </a:rPr>
              <a:t>ax.</a:t>
            </a:r>
            <a:r>
              <a:rPr lang="en-IN" dirty="0" err="1">
                <a:solidFill>
                  <a:schemeClr val="tx2"/>
                </a:solidFill>
                <a:latin typeface="Consolas" panose="020B0609020204030204" pitchFamily="49" charset="0"/>
              </a:rPr>
              <a:t>set_ylabel</a:t>
            </a:r>
            <a:r>
              <a:rPr lang="en-IN" dirty="0">
                <a:latin typeface="Consolas" panose="020B0609020204030204" pitchFamily="49" charset="0"/>
              </a:rPr>
              <a:t>("Y Axis Label", </a:t>
            </a:r>
            <a:r>
              <a:rPr lang="en-IN" dirty="0" err="1">
                <a:latin typeface="Consolas" panose="020B0609020204030204" pitchFamily="49" charset="0"/>
              </a:rPr>
              <a:t>fontsize</a:t>
            </a:r>
            <a:r>
              <a:rPr lang="en-IN" dirty="0">
                <a:latin typeface="Consolas" panose="020B0609020204030204" pitchFamily="49" charset="0"/>
              </a:rPr>
              <a:t>=11, </a:t>
            </a:r>
            <a:r>
              <a:rPr lang="en-IN" dirty="0" err="1">
                <a:latin typeface="Consolas" panose="020B0609020204030204" pitchFamily="49" charset="0"/>
              </a:rPr>
              <a:t>labelpad</a:t>
            </a:r>
            <a:r>
              <a:rPr lang="en-IN" dirty="0">
                <a:latin typeface="Consolas" panose="020B0609020204030204" pitchFamily="49" charset="0"/>
              </a:rPr>
              <a:t>=10)</a:t>
            </a:r>
          </a:p>
          <a:p>
            <a:endParaRPr lang="en-IN" dirty="0">
              <a:latin typeface="Consolas" panose="020B0609020204030204" pitchFamily="49" charset="0"/>
            </a:endParaRPr>
          </a:p>
          <a:p>
            <a:r>
              <a:rPr lang="en-IN" sz="2400" dirty="0" err="1">
                <a:latin typeface="Consolas" panose="020B0609020204030204" pitchFamily="49" charset="0"/>
              </a:rPr>
              <a:t>ax.</a:t>
            </a:r>
            <a:r>
              <a:rPr lang="en-IN" sz="2400" dirty="0" err="1">
                <a:solidFill>
                  <a:schemeClr val="tx2"/>
                </a:solidFill>
                <a:latin typeface="Consolas" panose="020B0609020204030204" pitchFamily="49" charset="0"/>
              </a:rPr>
              <a:t>legend</a:t>
            </a:r>
            <a:r>
              <a:rPr lang="en-IN" sz="2400" dirty="0">
                <a:latin typeface="Consolas" panose="020B0609020204030204" pitchFamily="49" charset="0"/>
              </a:rPr>
              <a:t>(loc='upper left', </a:t>
            </a:r>
            <a:r>
              <a:rPr lang="en-IN" sz="2400" dirty="0" err="1">
                <a:latin typeface="Consolas" panose="020B0609020204030204" pitchFamily="49" charset="0"/>
              </a:rPr>
              <a:t>frameon</a:t>
            </a:r>
            <a:r>
              <a:rPr lang="en-IN" sz="2400" dirty="0">
                <a:latin typeface="Consolas" panose="020B0609020204030204" pitchFamily="49" charset="0"/>
              </a:rPr>
              <a:t>=True, </a:t>
            </a:r>
            <a:r>
              <a:rPr lang="en-IN" sz="2400" dirty="0" err="1">
                <a:latin typeface="Consolas" panose="020B0609020204030204" pitchFamily="49" charset="0"/>
              </a:rPr>
              <a:t>facecolor</a:t>
            </a:r>
            <a:r>
              <a:rPr lang="en-IN" sz="2400" dirty="0">
                <a:latin typeface="Consolas" panose="020B0609020204030204" pitchFamily="49" charset="0"/>
              </a:rPr>
              <a:t>='white', </a:t>
            </a:r>
            <a:r>
              <a:rPr lang="en-IN" sz="2400" dirty="0" err="1">
                <a:latin typeface="Consolas" panose="020B0609020204030204" pitchFamily="49" charset="0"/>
              </a:rPr>
              <a:t>edgecolor</a:t>
            </a:r>
            <a:r>
              <a:rPr lang="en-IN" sz="2400" dirty="0">
                <a:latin typeface="Consolas" panose="020B0609020204030204" pitchFamily="49" charset="0"/>
              </a:rPr>
              <a:t>='none')</a:t>
            </a:r>
            <a:endParaRPr lang="en-IN" dirty="0">
              <a:latin typeface="Consolas" panose="020B0609020204030204" pitchFamily="49" charset="0"/>
            </a:endParaRPr>
          </a:p>
        </p:txBody>
      </p:sp>
      <p:pic>
        <p:nvPicPr>
          <p:cNvPr id="5" name="Picture 4">
            <a:extLst>
              <a:ext uri="{FF2B5EF4-FFF2-40B4-BE49-F238E27FC236}">
                <a16:creationId xmlns:a16="http://schemas.microsoft.com/office/drawing/2014/main" id="{A7397A24-FE12-43A2-8502-68D7A8BD90EB}"/>
              </a:ext>
            </a:extLst>
          </p:cNvPr>
          <p:cNvPicPr>
            <a:picLocks noChangeAspect="1"/>
          </p:cNvPicPr>
          <p:nvPr/>
        </p:nvPicPr>
        <p:blipFill>
          <a:blip r:embed="rId2"/>
          <a:stretch>
            <a:fillRect/>
          </a:stretch>
        </p:blipFill>
        <p:spPr>
          <a:xfrm>
            <a:off x="8305800" y="1524001"/>
            <a:ext cx="3581400" cy="2658521"/>
          </a:xfrm>
          <a:prstGeom prst="rect">
            <a:avLst/>
          </a:prstGeom>
        </p:spPr>
      </p:pic>
    </p:spTree>
    <p:extLst>
      <p:ext uri="{BB962C8B-B14F-4D97-AF65-F5344CB8AC3E}">
        <p14:creationId xmlns:p14="http://schemas.microsoft.com/office/powerpoint/2010/main" val="1422322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31CBD-0854-C6C7-F23F-C5664A6577CD}"/>
              </a:ext>
            </a:extLst>
          </p:cNvPr>
          <p:cNvSpPr>
            <a:spLocks noGrp="1"/>
          </p:cNvSpPr>
          <p:nvPr>
            <p:ph type="title"/>
          </p:nvPr>
        </p:nvSpPr>
        <p:spPr/>
        <p:txBody>
          <a:bodyPr/>
          <a:lstStyle/>
          <a:p>
            <a:r>
              <a:rPr lang="en-IN" dirty="0"/>
              <a:t>canvas</a:t>
            </a:r>
          </a:p>
        </p:txBody>
      </p:sp>
      <p:sp>
        <p:nvSpPr>
          <p:cNvPr id="3" name="Text Placeholder 2">
            <a:extLst>
              <a:ext uri="{FF2B5EF4-FFF2-40B4-BE49-F238E27FC236}">
                <a16:creationId xmlns:a16="http://schemas.microsoft.com/office/drawing/2014/main" id="{B5F5122E-50AD-1C63-0AE0-79CC9651D7A1}"/>
              </a:ext>
            </a:extLst>
          </p:cNvPr>
          <p:cNvSpPr>
            <a:spLocks noGrp="1"/>
          </p:cNvSpPr>
          <p:nvPr>
            <p:ph type="body" idx="1"/>
          </p:nvPr>
        </p:nvSpPr>
        <p:spPr>
          <a:xfrm>
            <a:off x="381000" y="1705451"/>
            <a:ext cx="10046970" cy="3016210"/>
          </a:xfrm>
        </p:spPr>
        <p:txBody>
          <a:bodyPr/>
          <a:lstStyle/>
          <a:p>
            <a:r>
              <a:rPr lang="en-IN" dirty="0">
                <a:latin typeface="Consolas" panose="020B0609020204030204" pitchFamily="49" charset="0"/>
              </a:rPr>
              <a:t>import </a:t>
            </a:r>
            <a:r>
              <a:rPr lang="en-IN" dirty="0" err="1">
                <a:latin typeface="Consolas" panose="020B0609020204030204" pitchFamily="49" charset="0"/>
              </a:rPr>
              <a:t>matplotlib.pyplot</a:t>
            </a:r>
            <a:r>
              <a:rPr lang="en-IN" dirty="0">
                <a:latin typeface="Consolas" panose="020B0609020204030204" pitchFamily="49" charset="0"/>
              </a:rPr>
              <a:t> as </a:t>
            </a:r>
            <a:r>
              <a:rPr lang="en-IN" dirty="0" err="1">
                <a:latin typeface="Consolas" panose="020B0609020204030204" pitchFamily="49" charset="0"/>
              </a:rPr>
              <a:t>plt</a:t>
            </a:r>
            <a:r>
              <a:rPr lang="en-IN" dirty="0">
                <a:latin typeface="Consolas" panose="020B0609020204030204" pitchFamily="49" charset="0"/>
              </a:rPr>
              <a:t> </a:t>
            </a:r>
          </a:p>
          <a:p>
            <a:r>
              <a:rPr lang="en-IN" dirty="0">
                <a:latin typeface="Consolas" panose="020B0609020204030204" pitchFamily="49" charset="0"/>
              </a:rPr>
              <a:t>import </a:t>
            </a:r>
            <a:r>
              <a:rPr lang="en-IN" dirty="0" err="1">
                <a:latin typeface="Consolas" panose="020B0609020204030204" pitchFamily="49" charset="0"/>
              </a:rPr>
              <a:t>numpy</a:t>
            </a:r>
            <a:r>
              <a:rPr lang="en-IN" dirty="0">
                <a:latin typeface="Consolas" panose="020B0609020204030204" pitchFamily="49" charset="0"/>
              </a:rPr>
              <a:t> as np </a:t>
            </a:r>
          </a:p>
          <a:p>
            <a:endParaRPr lang="en-IN" dirty="0">
              <a:latin typeface="Consolas" panose="020B0609020204030204" pitchFamily="49" charset="0"/>
            </a:endParaRPr>
          </a:p>
          <a:p>
            <a:r>
              <a:rPr lang="en-IN" dirty="0">
                <a:latin typeface="Consolas" panose="020B0609020204030204" pitchFamily="49" charset="0"/>
              </a:rPr>
              <a:t>1. Sample Data </a:t>
            </a:r>
          </a:p>
          <a:p>
            <a:r>
              <a:rPr lang="en-IN" dirty="0">
                <a:latin typeface="Consolas" panose="020B0609020204030204" pitchFamily="49" charset="0"/>
              </a:rPr>
              <a:t>x = </a:t>
            </a:r>
            <a:r>
              <a:rPr lang="en-IN" dirty="0" err="1">
                <a:latin typeface="Consolas" panose="020B0609020204030204" pitchFamily="49" charset="0"/>
              </a:rPr>
              <a:t>np.</a:t>
            </a:r>
            <a:r>
              <a:rPr lang="en-IN" dirty="0" err="1">
                <a:solidFill>
                  <a:schemeClr val="tx2"/>
                </a:solidFill>
                <a:latin typeface="Consolas" panose="020B0609020204030204" pitchFamily="49" charset="0"/>
              </a:rPr>
              <a:t>linspace</a:t>
            </a:r>
            <a:r>
              <a:rPr lang="en-IN" dirty="0">
                <a:latin typeface="Consolas" panose="020B0609020204030204" pitchFamily="49" charset="0"/>
              </a:rPr>
              <a:t>(0, 10, 10) </a:t>
            </a:r>
          </a:p>
          <a:p>
            <a:r>
              <a:rPr lang="en-IN" dirty="0">
                <a:latin typeface="Consolas" panose="020B0609020204030204" pitchFamily="49" charset="0"/>
              </a:rPr>
              <a:t>y = 2 * x + 1</a:t>
            </a:r>
          </a:p>
          <a:p>
            <a:endParaRPr lang="en-IN" dirty="0">
              <a:latin typeface="Consolas" panose="020B0609020204030204" pitchFamily="49" charset="0"/>
            </a:endParaRPr>
          </a:p>
        </p:txBody>
      </p:sp>
      <p:pic>
        <p:nvPicPr>
          <p:cNvPr id="5" name="Picture 4">
            <a:extLst>
              <a:ext uri="{FF2B5EF4-FFF2-40B4-BE49-F238E27FC236}">
                <a16:creationId xmlns:a16="http://schemas.microsoft.com/office/drawing/2014/main" id="{2A97A185-D47F-DBBE-13AB-15A3DB8148C8}"/>
              </a:ext>
            </a:extLst>
          </p:cNvPr>
          <p:cNvPicPr>
            <a:picLocks noChangeAspect="1"/>
          </p:cNvPicPr>
          <p:nvPr/>
        </p:nvPicPr>
        <p:blipFill>
          <a:blip r:embed="rId2"/>
          <a:stretch>
            <a:fillRect/>
          </a:stretch>
        </p:blipFill>
        <p:spPr>
          <a:xfrm>
            <a:off x="6656640" y="2286000"/>
            <a:ext cx="5123880" cy="3803525"/>
          </a:xfrm>
          <a:prstGeom prst="rect">
            <a:avLst/>
          </a:prstGeom>
        </p:spPr>
      </p:pic>
    </p:spTree>
    <p:extLst>
      <p:ext uri="{BB962C8B-B14F-4D97-AF65-F5344CB8AC3E}">
        <p14:creationId xmlns:p14="http://schemas.microsoft.com/office/powerpoint/2010/main" val="3410049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36D4B-0678-4AF9-1E0B-5CCE992258E0}"/>
              </a:ext>
            </a:extLst>
          </p:cNvPr>
          <p:cNvSpPr>
            <a:spLocks noGrp="1"/>
          </p:cNvSpPr>
          <p:nvPr>
            <p:ph type="title"/>
          </p:nvPr>
        </p:nvSpPr>
        <p:spPr>
          <a:xfrm>
            <a:off x="1176324" y="250316"/>
            <a:ext cx="9896475" cy="553998"/>
          </a:xfrm>
        </p:spPr>
        <p:txBody>
          <a:bodyPr/>
          <a:lstStyle/>
          <a:p>
            <a:r>
              <a:rPr lang="en-IN" sz="3600" dirty="0">
                <a:latin typeface="Consolas" panose="020B0609020204030204" pitchFamily="49" charset="0"/>
              </a:rPr>
              <a:t>2. Fully Parameterized Canvas Creation</a:t>
            </a:r>
            <a:endParaRPr lang="en-IN" sz="3600" dirty="0"/>
          </a:p>
        </p:txBody>
      </p:sp>
      <p:sp>
        <p:nvSpPr>
          <p:cNvPr id="3" name="Text Placeholder 2">
            <a:extLst>
              <a:ext uri="{FF2B5EF4-FFF2-40B4-BE49-F238E27FC236}">
                <a16:creationId xmlns:a16="http://schemas.microsoft.com/office/drawing/2014/main" id="{D23D6B3A-2EAC-8B86-5B94-E55D91D121C1}"/>
              </a:ext>
            </a:extLst>
          </p:cNvPr>
          <p:cNvSpPr>
            <a:spLocks noGrp="1"/>
          </p:cNvSpPr>
          <p:nvPr>
            <p:ph type="body" idx="1"/>
          </p:nvPr>
        </p:nvSpPr>
        <p:spPr>
          <a:xfrm>
            <a:off x="381000" y="1219200"/>
            <a:ext cx="12115800" cy="5047536"/>
          </a:xfrm>
        </p:spPr>
        <p:txBody>
          <a:bodyPr/>
          <a:lstStyle/>
          <a:p>
            <a:endParaRPr lang="en-IN" sz="2400" dirty="0">
              <a:latin typeface="Consolas" panose="020B0609020204030204" pitchFamily="49" charset="0"/>
            </a:endParaRPr>
          </a:p>
          <a:p>
            <a:r>
              <a:rPr lang="en-IN" dirty="0">
                <a:solidFill>
                  <a:schemeClr val="tx2"/>
                </a:solidFill>
                <a:latin typeface="Consolas" panose="020B0609020204030204" pitchFamily="49" charset="0"/>
              </a:rPr>
              <a:t>fig, </a:t>
            </a:r>
            <a:r>
              <a:rPr lang="en-IN" dirty="0" err="1">
                <a:solidFill>
                  <a:schemeClr val="tx2"/>
                </a:solidFill>
                <a:latin typeface="Consolas" panose="020B0609020204030204" pitchFamily="49" charset="0"/>
              </a:rPr>
              <a:t>ax</a:t>
            </a:r>
            <a:r>
              <a:rPr lang="en-IN" dirty="0">
                <a:solidFill>
                  <a:schemeClr val="tx2"/>
                </a:solidFill>
                <a:latin typeface="Consolas" panose="020B0609020204030204" pitchFamily="49" charset="0"/>
              </a:rPr>
              <a:t> = </a:t>
            </a:r>
            <a:r>
              <a:rPr lang="en-IN" dirty="0" err="1">
                <a:solidFill>
                  <a:schemeClr val="tx2"/>
                </a:solidFill>
                <a:latin typeface="Consolas" panose="020B0609020204030204" pitchFamily="49" charset="0"/>
              </a:rPr>
              <a:t>plt.subplots</a:t>
            </a:r>
            <a:r>
              <a:rPr lang="en-IN" dirty="0">
                <a:solidFill>
                  <a:schemeClr val="tx2"/>
                </a:solidFill>
                <a:latin typeface="Consolas" panose="020B0609020204030204" pitchFamily="49" charset="0"/>
              </a:rPr>
              <a:t>( </a:t>
            </a:r>
          </a:p>
          <a:p>
            <a:r>
              <a:rPr lang="en-IN" dirty="0">
                <a:solidFill>
                  <a:schemeClr val="tx2"/>
                </a:solidFill>
                <a:latin typeface="Consolas" panose="020B0609020204030204" pitchFamily="49" charset="0"/>
              </a:rPr>
              <a:t>	</a:t>
            </a:r>
            <a:r>
              <a:rPr lang="en-IN" dirty="0" err="1">
                <a:solidFill>
                  <a:schemeClr val="tx2"/>
                </a:solidFill>
                <a:latin typeface="Consolas" panose="020B0609020204030204" pitchFamily="49" charset="0"/>
              </a:rPr>
              <a:t>nrows</a:t>
            </a:r>
            <a:r>
              <a:rPr lang="en-IN" dirty="0">
                <a:solidFill>
                  <a:schemeClr val="tx2"/>
                </a:solidFill>
                <a:latin typeface="Consolas" panose="020B0609020204030204" pitchFamily="49" charset="0"/>
              </a:rPr>
              <a:t>=1,  	        # Single row </a:t>
            </a:r>
          </a:p>
          <a:p>
            <a:r>
              <a:rPr lang="en-IN" dirty="0">
                <a:solidFill>
                  <a:schemeClr val="tx2"/>
                </a:solidFill>
                <a:latin typeface="Consolas" panose="020B0609020204030204" pitchFamily="49" charset="0"/>
              </a:rPr>
              <a:t>	</a:t>
            </a:r>
            <a:r>
              <a:rPr lang="en-IN" dirty="0" err="1">
                <a:solidFill>
                  <a:schemeClr val="tx2"/>
                </a:solidFill>
                <a:latin typeface="Consolas" panose="020B0609020204030204" pitchFamily="49" charset="0"/>
              </a:rPr>
              <a:t>ncols</a:t>
            </a:r>
            <a:r>
              <a:rPr lang="en-IN" dirty="0">
                <a:solidFill>
                  <a:schemeClr val="tx2"/>
                </a:solidFill>
                <a:latin typeface="Consolas" panose="020B0609020204030204" pitchFamily="49" charset="0"/>
              </a:rPr>
              <a:t>=1,              # Single column </a:t>
            </a:r>
          </a:p>
          <a:p>
            <a:r>
              <a:rPr lang="en-IN" dirty="0">
                <a:solidFill>
                  <a:schemeClr val="tx2"/>
                </a:solidFill>
                <a:latin typeface="Consolas" panose="020B0609020204030204" pitchFamily="49" charset="0"/>
              </a:rPr>
              <a:t>	</a:t>
            </a:r>
            <a:r>
              <a:rPr lang="en-IN" dirty="0" err="1">
                <a:solidFill>
                  <a:schemeClr val="tx2"/>
                </a:solidFill>
                <a:latin typeface="Consolas" panose="020B0609020204030204" pitchFamily="49" charset="0"/>
              </a:rPr>
              <a:t>figsize</a:t>
            </a:r>
            <a:r>
              <a:rPr lang="en-IN" dirty="0">
                <a:solidFill>
                  <a:schemeClr val="tx2"/>
                </a:solidFill>
                <a:latin typeface="Consolas" panose="020B0609020204030204" pitchFamily="49" charset="0"/>
              </a:rPr>
              <a:t>=(7, 5),       # Canvas width &amp; height in inches </a:t>
            </a:r>
          </a:p>
          <a:p>
            <a:r>
              <a:rPr lang="en-IN" dirty="0">
                <a:solidFill>
                  <a:schemeClr val="tx2"/>
                </a:solidFill>
                <a:latin typeface="Consolas" panose="020B0609020204030204" pitchFamily="49" charset="0"/>
              </a:rPr>
              <a:t>	dpi=100,              # Resolution (dots per inch) </a:t>
            </a:r>
          </a:p>
          <a:p>
            <a:r>
              <a:rPr lang="en-IN" dirty="0">
                <a:solidFill>
                  <a:schemeClr val="tx2"/>
                </a:solidFill>
                <a:latin typeface="Consolas" panose="020B0609020204030204" pitchFamily="49" charset="0"/>
              </a:rPr>
              <a:t>	</a:t>
            </a:r>
            <a:r>
              <a:rPr lang="en-IN" dirty="0" err="1">
                <a:solidFill>
                  <a:schemeClr val="tx2"/>
                </a:solidFill>
                <a:latin typeface="Consolas" panose="020B0609020204030204" pitchFamily="49" charset="0"/>
              </a:rPr>
              <a:t>facecolor</a:t>
            </a:r>
            <a:r>
              <a:rPr lang="en-IN" dirty="0">
                <a:solidFill>
                  <a:schemeClr val="tx2"/>
                </a:solidFill>
                <a:latin typeface="Consolas" panose="020B0609020204030204" pitchFamily="49" charset="0"/>
              </a:rPr>
              <a:t>='#f7f7f7’,  # Background </a:t>
            </a:r>
            <a:r>
              <a:rPr lang="en-IN" dirty="0" err="1">
                <a:solidFill>
                  <a:schemeClr val="tx2"/>
                </a:solidFill>
                <a:latin typeface="Consolas" panose="020B0609020204030204" pitchFamily="49" charset="0"/>
              </a:rPr>
              <a:t>color</a:t>
            </a:r>
            <a:endParaRPr lang="en-IN" dirty="0">
              <a:solidFill>
                <a:schemeClr val="tx2"/>
              </a:solidFill>
              <a:latin typeface="Consolas" panose="020B0609020204030204" pitchFamily="49" charset="0"/>
            </a:endParaRPr>
          </a:p>
          <a:p>
            <a:r>
              <a:rPr lang="en-IN" dirty="0">
                <a:solidFill>
                  <a:schemeClr val="tx2"/>
                </a:solidFill>
                <a:latin typeface="Consolas" panose="020B0609020204030204" pitchFamily="49" charset="0"/>
              </a:rPr>
              <a:t> 	</a:t>
            </a:r>
            <a:r>
              <a:rPr lang="en-IN" dirty="0" err="1">
                <a:solidFill>
                  <a:schemeClr val="tx2"/>
                </a:solidFill>
                <a:latin typeface="Consolas" panose="020B0609020204030204" pitchFamily="49" charset="0"/>
              </a:rPr>
              <a:t>edgecolor</a:t>
            </a:r>
            <a:r>
              <a:rPr lang="en-IN" dirty="0">
                <a:solidFill>
                  <a:schemeClr val="tx2"/>
                </a:solidFill>
                <a:latin typeface="Consolas" panose="020B0609020204030204" pitchFamily="49" charset="0"/>
              </a:rPr>
              <a:t>='none’,     # Border </a:t>
            </a:r>
            <a:r>
              <a:rPr lang="en-IN" dirty="0" err="1">
                <a:solidFill>
                  <a:schemeClr val="tx2"/>
                </a:solidFill>
                <a:latin typeface="Consolas" panose="020B0609020204030204" pitchFamily="49" charset="0"/>
              </a:rPr>
              <a:t>color</a:t>
            </a:r>
            <a:r>
              <a:rPr lang="en-IN" dirty="0">
                <a:solidFill>
                  <a:schemeClr val="tx2"/>
                </a:solidFill>
                <a:latin typeface="Consolas" panose="020B0609020204030204" pitchFamily="49" charset="0"/>
              </a:rPr>
              <a:t> around the canvas </a:t>
            </a:r>
          </a:p>
          <a:p>
            <a:r>
              <a:rPr lang="en-IN" dirty="0">
                <a:solidFill>
                  <a:schemeClr val="tx2"/>
                </a:solidFill>
                <a:latin typeface="Consolas" panose="020B0609020204030204" pitchFamily="49" charset="0"/>
              </a:rPr>
              <a:t>	linewidth=0,          # Thickness of the canvas border </a:t>
            </a:r>
          </a:p>
          <a:p>
            <a:r>
              <a:rPr lang="en-IN" dirty="0">
                <a:solidFill>
                  <a:schemeClr val="tx2"/>
                </a:solidFill>
                <a:latin typeface="Consolas" panose="020B0609020204030204" pitchFamily="49" charset="0"/>
              </a:rPr>
              <a:t>	</a:t>
            </a:r>
            <a:r>
              <a:rPr lang="en-IN" dirty="0" err="1">
                <a:solidFill>
                  <a:schemeClr val="tx2"/>
                </a:solidFill>
                <a:latin typeface="Consolas" panose="020B0609020204030204" pitchFamily="49" charset="0"/>
              </a:rPr>
              <a:t>subplot_kw</a:t>
            </a:r>
            <a:r>
              <a:rPr lang="en-IN" dirty="0">
                <a:solidFill>
                  <a:schemeClr val="tx2"/>
                </a:solidFill>
                <a:latin typeface="Consolas" panose="020B0609020204030204" pitchFamily="49" charset="0"/>
              </a:rPr>
              <a:t>=None,      # Dictionary of projection </a:t>
            </a:r>
          </a:p>
          <a:p>
            <a:r>
              <a:rPr lang="en-IN" dirty="0">
                <a:solidFill>
                  <a:schemeClr val="tx2"/>
                </a:solidFill>
                <a:latin typeface="Consolas" panose="020B0609020204030204" pitchFamily="49" charset="0"/>
              </a:rPr>
              <a:t>)</a:t>
            </a:r>
          </a:p>
          <a:p>
            <a:endParaRPr lang="en-IN" sz="2400" dirty="0">
              <a:latin typeface="Consolas" panose="020B0609020204030204" pitchFamily="49" charset="0"/>
            </a:endParaRPr>
          </a:p>
        </p:txBody>
      </p:sp>
    </p:spTree>
    <p:extLst>
      <p:ext uri="{BB962C8B-B14F-4D97-AF65-F5344CB8AC3E}">
        <p14:creationId xmlns:p14="http://schemas.microsoft.com/office/powerpoint/2010/main" val="264247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0" dirty="0"/>
              <a:t>Scatter</a:t>
            </a:r>
            <a:r>
              <a:rPr spc="-215" dirty="0"/>
              <a:t> </a:t>
            </a:r>
            <a:r>
              <a:rPr spc="-20" dirty="0"/>
              <a:t>Plot</a:t>
            </a:r>
          </a:p>
        </p:txBody>
      </p:sp>
      <p:sp>
        <p:nvSpPr>
          <p:cNvPr id="3" name="object 3"/>
          <p:cNvSpPr txBox="1"/>
          <p:nvPr/>
        </p:nvSpPr>
        <p:spPr>
          <a:xfrm>
            <a:off x="1084580" y="1050696"/>
            <a:ext cx="9812655" cy="4867910"/>
          </a:xfrm>
          <a:prstGeom prst="rect">
            <a:avLst/>
          </a:prstGeom>
        </p:spPr>
        <p:txBody>
          <a:bodyPr vert="horz" wrap="square" lIns="0" tIns="125095" rIns="0" bIns="0" rtlCol="0">
            <a:spAutoFit/>
          </a:bodyPr>
          <a:lstStyle/>
          <a:p>
            <a:pPr marL="299720" indent="-287020">
              <a:lnSpc>
                <a:spcPct val="100000"/>
              </a:lnSpc>
              <a:spcBef>
                <a:spcPts val="985"/>
              </a:spcBef>
              <a:buClr>
                <a:srgbClr val="1CACE3"/>
              </a:buClr>
              <a:buFont typeface="Arial MT"/>
              <a:buChar char="•"/>
              <a:tabLst>
                <a:tab pos="299720" algn="l"/>
              </a:tabLst>
            </a:pPr>
            <a:r>
              <a:rPr sz="2800" spc="-10" dirty="0">
                <a:solidFill>
                  <a:srgbClr val="404040"/>
                </a:solidFill>
                <a:latin typeface="Cambria"/>
                <a:cs typeface="Cambria"/>
              </a:rPr>
              <a:t>Displays</a:t>
            </a:r>
            <a:r>
              <a:rPr sz="2800" spc="-110" dirty="0">
                <a:solidFill>
                  <a:srgbClr val="404040"/>
                </a:solidFill>
                <a:latin typeface="Cambria"/>
                <a:cs typeface="Cambria"/>
              </a:rPr>
              <a:t> </a:t>
            </a:r>
            <a:r>
              <a:rPr sz="2800" spc="-10" dirty="0">
                <a:solidFill>
                  <a:srgbClr val="404040"/>
                </a:solidFill>
                <a:latin typeface="Cambria"/>
                <a:cs typeface="Cambria"/>
              </a:rPr>
              <a:t>relationships</a:t>
            </a:r>
            <a:r>
              <a:rPr sz="2800" spc="-105" dirty="0">
                <a:solidFill>
                  <a:srgbClr val="404040"/>
                </a:solidFill>
                <a:latin typeface="Cambria"/>
                <a:cs typeface="Cambria"/>
              </a:rPr>
              <a:t> </a:t>
            </a:r>
            <a:r>
              <a:rPr sz="2800" dirty="0">
                <a:solidFill>
                  <a:srgbClr val="404040"/>
                </a:solidFill>
                <a:latin typeface="Cambria"/>
                <a:cs typeface="Cambria"/>
              </a:rPr>
              <a:t>between</a:t>
            </a:r>
            <a:r>
              <a:rPr sz="2800" spc="-105" dirty="0">
                <a:solidFill>
                  <a:srgbClr val="404040"/>
                </a:solidFill>
                <a:latin typeface="Cambria"/>
                <a:cs typeface="Cambria"/>
              </a:rPr>
              <a:t> </a:t>
            </a:r>
            <a:r>
              <a:rPr sz="2800" dirty="0">
                <a:solidFill>
                  <a:srgbClr val="404040"/>
                </a:solidFill>
                <a:latin typeface="Cambria"/>
                <a:cs typeface="Cambria"/>
              </a:rPr>
              <a:t>two</a:t>
            </a:r>
            <a:r>
              <a:rPr sz="2800" spc="-100" dirty="0">
                <a:solidFill>
                  <a:srgbClr val="404040"/>
                </a:solidFill>
                <a:latin typeface="Cambria"/>
                <a:cs typeface="Cambria"/>
              </a:rPr>
              <a:t> </a:t>
            </a:r>
            <a:r>
              <a:rPr sz="2800" spc="-10" dirty="0">
                <a:solidFill>
                  <a:srgbClr val="404040"/>
                </a:solidFill>
                <a:latin typeface="Cambria"/>
                <a:cs typeface="Cambria"/>
              </a:rPr>
              <a:t>variables.</a:t>
            </a:r>
            <a:endParaRPr sz="2800" dirty="0">
              <a:latin typeface="Cambria"/>
              <a:cs typeface="Cambria"/>
            </a:endParaRPr>
          </a:p>
          <a:p>
            <a:pPr marL="12700">
              <a:lnSpc>
                <a:spcPct val="100000"/>
              </a:lnSpc>
              <a:spcBef>
                <a:spcPts val="890"/>
              </a:spcBef>
            </a:pPr>
            <a:r>
              <a:rPr sz="2800" dirty="0">
                <a:latin typeface="Courier New"/>
                <a:cs typeface="Courier New"/>
              </a:rPr>
              <a:t>x</a:t>
            </a:r>
            <a:r>
              <a:rPr sz="2800" spc="-10" dirty="0">
                <a:latin typeface="Courier New"/>
                <a:cs typeface="Courier New"/>
              </a:rPr>
              <a:t> </a:t>
            </a:r>
            <a:r>
              <a:rPr sz="2800" dirty="0">
                <a:latin typeface="Courier New"/>
                <a:cs typeface="Courier New"/>
              </a:rPr>
              <a:t>=</a:t>
            </a:r>
            <a:r>
              <a:rPr sz="2800" spc="-10" dirty="0">
                <a:latin typeface="Courier New"/>
                <a:cs typeface="Courier New"/>
              </a:rPr>
              <a:t> </a:t>
            </a:r>
            <a:r>
              <a:rPr sz="2800" dirty="0">
                <a:latin typeface="Courier New"/>
                <a:cs typeface="Courier New"/>
              </a:rPr>
              <a:t>[</a:t>
            </a:r>
            <a:r>
              <a:rPr sz="2800" dirty="0">
                <a:solidFill>
                  <a:srgbClr val="116644"/>
                </a:solidFill>
                <a:latin typeface="Courier New"/>
                <a:cs typeface="Courier New"/>
              </a:rPr>
              <a:t>5</a:t>
            </a:r>
            <a:r>
              <a:rPr sz="2800" dirty="0">
                <a:latin typeface="Courier New"/>
                <a:cs typeface="Courier New"/>
              </a:rPr>
              <a:t>,</a:t>
            </a:r>
            <a:r>
              <a:rPr sz="2800" spc="-20" dirty="0">
                <a:latin typeface="Courier New"/>
                <a:cs typeface="Courier New"/>
              </a:rPr>
              <a:t> </a:t>
            </a:r>
            <a:r>
              <a:rPr sz="2800" dirty="0">
                <a:solidFill>
                  <a:srgbClr val="116644"/>
                </a:solidFill>
                <a:latin typeface="Courier New"/>
                <a:cs typeface="Courier New"/>
              </a:rPr>
              <a:t>7</a:t>
            </a:r>
            <a:r>
              <a:rPr sz="2800" dirty="0">
                <a:latin typeface="Courier New"/>
                <a:cs typeface="Courier New"/>
              </a:rPr>
              <a:t>,</a:t>
            </a:r>
            <a:r>
              <a:rPr sz="2800" spc="-20" dirty="0">
                <a:latin typeface="Courier New"/>
                <a:cs typeface="Courier New"/>
              </a:rPr>
              <a:t> </a:t>
            </a:r>
            <a:r>
              <a:rPr sz="2800" dirty="0">
                <a:solidFill>
                  <a:srgbClr val="116644"/>
                </a:solidFill>
                <a:latin typeface="Courier New"/>
                <a:cs typeface="Courier New"/>
              </a:rPr>
              <a:t>8</a:t>
            </a:r>
            <a:r>
              <a:rPr sz="2800" dirty="0">
                <a:latin typeface="Courier New"/>
                <a:cs typeface="Courier New"/>
              </a:rPr>
              <a:t>,</a:t>
            </a:r>
            <a:r>
              <a:rPr sz="2800" spc="-20" dirty="0">
                <a:latin typeface="Courier New"/>
                <a:cs typeface="Courier New"/>
              </a:rPr>
              <a:t> </a:t>
            </a:r>
            <a:r>
              <a:rPr sz="2800" dirty="0">
                <a:solidFill>
                  <a:srgbClr val="116644"/>
                </a:solidFill>
                <a:latin typeface="Courier New"/>
                <a:cs typeface="Courier New"/>
              </a:rPr>
              <a:t>7</a:t>
            </a:r>
            <a:r>
              <a:rPr sz="2800" dirty="0">
                <a:latin typeface="Courier New"/>
                <a:cs typeface="Courier New"/>
              </a:rPr>
              <a:t>,</a:t>
            </a:r>
            <a:r>
              <a:rPr sz="2800" spc="-20" dirty="0">
                <a:latin typeface="Courier New"/>
                <a:cs typeface="Courier New"/>
              </a:rPr>
              <a:t> </a:t>
            </a:r>
            <a:r>
              <a:rPr sz="2800" dirty="0">
                <a:solidFill>
                  <a:srgbClr val="116644"/>
                </a:solidFill>
                <a:latin typeface="Courier New"/>
                <a:cs typeface="Courier New"/>
              </a:rPr>
              <a:t>2</a:t>
            </a:r>
            <a:r>
              <a:rPr sz="2800" dirty="0">
                <a:latin typeface="Courier New"/>
                <a:cs typeface="Courier New"/>
              </a:rPr>
              <a:t>,</a:t>
            </a:r>
            <a:r>
              <a:rPr sz="2800" spc="-20" dirty="0">
                <a:latin typeface="Courier New"/>
                <a:cs typeface="Courier New"/>
              </a:rPr>
              <a:t> </a:t>
            </a:r>
            <a:r>
              <a:rPr sz="2800" dirty="0">
                <a:solidFill>
                  <a:srgbClr val="116644"/>
                </a:solidFill>
                <a:latin typeface="Courier New"/>
                <a:cs typeface="Courier New"/>
              </a:rPr>
              <a:t>17</a:t>
            </a:r>
            <a:r>
              <a:rPr sz="2800" dirty="0">
                <a:latin typeface="Courier New"/>
                <a:cs typeface="Courier New"/>
              </a:rPr>
              <a:t>,</a:t>
            </a:r>
            <a:r>
              <a:rPr sz="2800" spc="-15" dirty="0">
                <a:latin typeface="Courier New"/>
                <a:cs typeface="Courier New"/>
              </a:rPr>
              <a:t> </a:t>
            </a:r>
            <a:r>
              <a:rPr sz="2800" dirty="0">
                <a:solidFill>
                  <a:srgbClr val="116644"/>
                </a:solidFill>
                <a:latin typeface="Courier New"/>
                <a:cs typeface="Courier New"/>
              </a:rPr>
              <a:t>2</a:t>
            </a:r>
            <a:r>
              <a:rPr sz="2800" dirty="0">
                <a:latin typeface="Courier New"/>
                <a:cs typeface="Courier New"/>
              </a:rPr>
              <a:t>,</a:t>
            </a:r>
            <a:r>
              <a:rPr sz="2800" spc="-20" dirty="0">
                <a:latin typeface="Courier New"/>
                <a:cs typeface="Courier New"/>
              </a:rPr>
              <a:t> </a:t>
            </a:r>
            <a:r>
              <a:rPr sz="2800" dirty="0">
                <a:solidFill>
                  <a:srgbClr val="116644"/>
                </a:solidFill>
                <a:latin typeface="Courier New"/>
                <a:cs typeface="Courier New"/>
              </a:rPr>
              <a:t>9</a:t>
            </a:r>
            <a:r>
              <a:rPr sz="2800" dirty="0">
                <a:latin typeface="Courier New"/>
                <a:cs typeface="Courier New"/>
              </a:rPr>
              <a:t>,</a:t>
            </a:r>
            <a:r>
              <a:rPr sz="2800" spc="-5" dirty="0">
                <a:latin typeface="Courier New"/>
                <a:cs typeface="Courier New"/>
              </a:rPr>
              <a:t> </a:t>
            </a:r>
            <a:r>
              <a:rPr sz="2800" dirty="0">
                <a:solidFill>
                  <a:srgbClr val="116644"/>
                </a:solidFill>
                <a:latin typeface="Courier New"/>
                <a:cs typeface="Courier New"/>
              </a:rPr>
              <a:t>4</a:t>
            </a:r>
            <a:r>
              <a:rPr sz="2800" dirty="0">
                <a:latin typeface="Courier New"/>
                <a:cs typeface="Courier New"/>
              </a:rPr>
              <a:t>,</a:t>
            </a:r>
            <a:r>
              <a:rPr sz="2800" spc="-20" dirty="0">
                <a:latin typeface="Courier New"/>
                <a:cs typeface="Courier New"/>
              </a:rPr>
              <a:t> </a:t>
            </a:r>
            <a:r>
              <a:rPr sz="2800" spc="-25" dirty="0">
                <a:solidFill>
                  <a:srgbClr val="116644"/>
                </a:solidFill>
                <a:latin typeface="Courier New"/>
                <a:cs typeface="Courier New"/>
              </a:rPr>
              <a:t>11</a:t>
            </a:r>
            <a:r>
              <a:rPr sz="2800" spc="-25" dirty="0">
                <a:latin typeface="Courier New"/>
                <a:cs typeface="Courier New"/>
              </a:rPr>
              <a:t>]</a:t>
            </a:r>
            <a:endParaRPr sz="2800" dirty="0">
              <a:latin typeface="Courier New"/>
              <a:cs typeface="Courier New"/>
            </a:endParaRPr>
          </a:p>
          <a:p>
            <a:pPr marL="12700">
              <a:lnSpc>
                <a:spcPct val="100000"/>
              </a:lnSpc>
              <a:spcBef>
                <a:spcPts val="1070"/>
              </a:spcBef>
            </a:pPr>
            <a:r>
              <a:rPr sz="2800" dirty="0">
                <a:latin typeface="Courier New"/>
                <a:cs typeface="Courier New"/>
              </a:rPr>
              <a:t>y</a:t>
            </a:r>
            <a:r>
              <a:rPr sz="2800" spc="-20" dirty="0">
                <a:latin typeface="Courier New"/>
                <a:cs typeface="Courier New"/>
              </a:rPr>
              <a:t> </a:t>
            </a:r>
            <a:r>
              <a:rPr sz="2800" dirty="0">
                <a:latin typeface="Courier New"/>
                <a:cs typeface="Courier New"/>
              </a:rPr>
              <a:t>=</a:t>
            </a:r>
            <a:r>
              <a:rPr sz="2800" spc="-20" dirty="0">
                <a:latin typeface="Courier New"/>
                <a:cs typeface="Courier New"/>
              </a:rPr>
              <a:t> </a:t>
            </a:r>
            <a:r>
              <a:rPr sz="2800" dirty="0">
                <a:latin typeface="Courier New"/>
                <a:cs typeface="Courier New"/>
              </a:rPr>
              <a:t>[</a:t>
            </a:r>
            <a:r>
              <a:rPr sz="2800" dirty="0">
                <a:solidFill>
                  <a:srgbClr val="116644"/>
                </a:solidFill>
                <a:latin typeface="Courier New"/>
                <a:cs typeface="Courier New"/>
              </a:rPr>
              <a:t>99</a:t>
            </a:r>
            <a:r>
              <a:rPr sz="2800" dirty="0">
                <a:latin typeface="Courier New"/>
                <a:cs typeface="Courier New"/>
              </a:rPr>
              <a:t>,</a:t>
            </a:r>
            <a:r>
              <a:rPr sz="2800" spc="-15" dirty="0">
                <a:latin typeface="Courier New"/>
                <a:cs typeface="Courier New"/>
              </a:rPr>
              <a:t> </a:t>
            </a:r>
            <a:r>
              <a:rPr sz="2800" dirty="0">
                <a:solidFill>
                  <a:srgbClr val="116644"/>
                </a:solidFill>
                <a:latin typeface="Courier New"/>
                <a:cs typeface="Courier New"/>
              </a:rPr>
              <a:t>86</a:t>
            </a:r>
            <a:r>
              <a:rPr sz="2800" dirty="0">
                <a:latin typeface="Courier New"/>
                <a:cs typeface="Courier New"/>
              </a:rPr>
              <a:t>,</a:t>
            </a:r>
            <a:r>
              <a:rPr sz="2800" spc="-25" dirty="0">
                <a:latin typeface="Courier New"/>
                <a:cs typeface="Courier New"/>
              </a:rPr>
              <a:t> </a:t>
            </a:r>
            <a:r>
              <a:rPr sz="2800" dirty="0">
                <a:solidFill>
                  <a:srgbClr val="116644"/>
                </a:solidFill>
                <a:latin typeface="Courier New"/>
                <a:cs typeface="Courier New"/>
              </a:rPr>
              <a:t>87</a:t>
            </a:r>
            <a:r>
              <a:rPr sz="2800" dirty="0">
                <a:latin typeface="Courier New"/>
                <a:cs typeface="Courier New"/>
              </a:rPr>
              <a:t>,</a:t>
            </a:r>
            <a:r>
              <a:rPr sz="2800" spc="-30" dirty="0">
                <a:latin typeface="Courier New"/>
                <a:cs typeface="Courier New"/>
              </a:rPr>
              <a:t> </a:t>
            </a:r>
            <a:r>
              <a:rPr sz="2800" dirty="0">
                <a:solidFill>
                  <a:srgbClr val="116644"/>
                </a:solidFill>
                <a:latin typeface="Courier New"/>
                <a:cs typeface="Courier New"/>
              </a:rPr>
              <a:t>88</a:t>
            </a:r>
            <a:r>
              <a:rPr sz="2800" dirty="0">
                <a:latin typeface="Courier New"/>
                <a:cs typeface="Courier New"/>
              </a:rPr>
              <a:t>,</a:t>
            </a:r>
            <a:r>
              <a:rPr sz="2800" spc="-25" dirty="0">
                <a:latin typeface="Courier New"/>
                <a:cs typeface="Courier New"/>
              </a:rPr>
              <a:t> </a:t>
            </a:r>
            <a:r>
              <a:rPr sz="2800" dirty="0">
                <a:solidFill>
                  <a:srgbClr val="116644"/>
                </a:solidFill>
                <a:latin typeface="Courier New"/>
                <a:cs typeface="Courier New"/>
              </a:rPr>
              <a:t>100</a:t>
            </a:r>
            <a:r>
              <a:rPr sz="2800" dirty="0">
                <a:latin typeface="Courier New"/>
                <a:cs typeface="Courier New"/>
              </a:rPr>
              <a:t>,</a:t>
            </a:r>
            <a:r>
              <a:rPr sz="2800" spc="-30" dirty="0">
                <a:latin typeface="Courier New"/>
                <a:cs typeface="Courier New"/>
              </a:rPr>
              <a:t> </a:t>
            </a:r>
            <a:r>
              <a:rPr sz="2800" dirty="0">
                <a:solidFill>
                  <a:srgbClr val="116644"/>
                </a:solidFill>
                <a:latin typeface="Courier New"/>
                <a:cs typeface="Courier New"/>
              </a:rPr>
              <a:t>86</a:t>
            </a:r>
            <a:r>
              <a:rPr sz="2800" dirty="0">
                <a:latin typeface="Courier New"/>
                <a:cs typeface="Courier New"/>
              </a:rPr>
              <a:t>,</a:t>
            </a:r>
            <a:r>
              <a:rPr sz="2800" spc="-15" dirty="0">
                <a:latin typeface="Courier New"/>
                <a:cs typeface="Courier New"/>
              </a:rPr>
              <a:t> </a:t>
            </a:r>
            <a:r>
              <a:rPr sz="2800" dirty="0">
                <a:solidFill>
                  <a:srgbClr val="116644"/>
                </a:solidFill>
                <a:latin typeface="Courier New"/>
                <a:cs typeface="Courier New"/>
              </a:rPr>
              <a:t>103</a:t>
            </a:r>
            <a:r>
              <a:rPr sz="2800" dirty="0">
                <a:latin typeface="Courier New"/>
                <a:cs typeface="Courier New"/>
              </a:rPr>
              <a:t>,</a:t>
            </a:r>
            <a:r>
              <a:rPr sz="2800" spc="-25" dirty="0">
                <a:latin typeface="Courier New"/>
                <a:cs typeface="Courier New"/>
              </a:rPr>
              <a:t> </a:t>
            </a:r>
            <a:r>
              <a:rPr sz="2800" dirty="0">
                <a:solidFill>
                  <a:srgbClr val="116644"/>
                </a:solidFill>
                <a:latin typeface="Courier New"/>
                <a:cs typeface="Courier New"/>
              </a:rPr>
              <a:t>87</a:t>
            </a:r>
            <a:r>
              <a:rPr sz="2800" dirty="0">
                <a:latin typeface="Courier New"/>
                <a:cs typeface="Courier New"/>
              </a:rPr>
              <a:t>,</a:t>
            </a:r>
            <a:r>
              <a:rPr sz="2800" spc="-30" dirty="0">
                <a:latin typeface="Courier New"/>
                <a:cs typeface="Courier New"/>
              </a:rPr>
              <a:t> </a:t>
            </a:r>
            <a:r>
              <a:rPr sz="2800" dirty="0">
                <a:solidFill>
                  <a:srgbClr val="116644"/>
                </a:solidFill>
                <a:latin typeface="Courier New"/>
                <a:cs typeface="Courier New"/>
              </a:rPr>
              <a:t>94</a:t>
            </a:r>
            <a:r>
              <a:rPr sz="2800" dirty="0">
                <a:latin typeface="Courier New"/>
                <a:cs typeface="Courier New"/>
              </a:rPr>
              <a:t>,</a:t>
            </a:r>
            <a:r>
              <a:rPr sz="2800" spc="-25" dirty="0">
                <a:latin typeface="Courier New"/>
                <a:cs typeface="Courier New"/>
              </a:rPr>
              <a:t> </a:t>
            </a:r>
            <a:r>
              <a:rPr sz="2800" spc="-25" dirty="0">
                <a:solidFill>
                  <a:srgbClr val="116644"/>
                </a:solidFill>
                <a:latin typeface="Courier New"/>
                <a:cs typeface="Courier New"/>
              </a:rPr>
              <a:t>78</a:t>
            </a:r>
            <a:r>
              <a:rPr sz="2800" spc="-25" dirty="0">
                <a:latin typeface="Courier New"/>
                <a:cs typeface="Courier New"/>
              </a:rPr>
              <a:t>]</a:t>
            </a:r>
            <a:endParaRPr sz="2800" dirty="0">
              <a:latin typeface="Courier New"/>
              <a:cs typeface="Courier New"/>
            </a:endParaRPr>
          </a:p>
          <a:p>
            <a:pPr marL="12700" marR="3408679">
              <a:lnSpc>
                <a:spcPct val="132100"/>
              </a:lnSpc>
              <a:spcBef>
                <a:spcPts val="3015"/>
              </a:spcBef>
            </a:pPr>
            <a:r>
              <a:rPr sz="2800" dirty="0">
                <a:latin typeface="Courier New"/>
                <a:cs typeface="Courier New"/>
              </a:rPr>
              <a:t>plt.scatter(x,</a:t>
            </a:r>
            <a:r>
              <a:rPr sz="2800" spc="-60" dirty="0">
                <a:latin typeface="Courier New"/>
                <a:cs typeface="Courier New"/>
              </a:rPr>
              <a:t> </a:t>
            </a:r>
            <a:r>
              <a:rPr sz="2800" dirty="0">
                <a:latin typeface="Courier New"/>
                <a:cs typeface="Courier New"/>
              </a:rPr>
              <a:t>y,</a:t>
            </a:r>
            <a:r>
              <a:rPr sz="2800" spc="-40" dirty="0">
                <a:latin typeface="Courier New"/>
                <a:cs typeface="Courier New"/>
              </a:rPr>
              <a:t> </a:t>
            </a:r>
            <a:r>
              <a:rPr sz="2800" spc="-10" dirty="0">
                <a:latin typeface="Courier New"/>
                <a:cs typeface="Courier New"/>
              </a:rPr>
              <a:t>color=</a:t>
            </a:r>
            <a:r>
              <a:rPr sz="2800" spc="-10" dirty="0">
                <a:solidFill>
                  <a:srgbClr val="A21515"/>
                </a:solidFill>
                <a:latin typeface="Courier New"/>
                <a:cs typeface="Courier New"/>
              </a:rPr>
              <a:t>'red'</a:t>
            </a:r>
            <a:r>
              <a:rPr sz="2800" spc="-10" dirty="0">
                <a:latin typeface="Courier New"/>
                <a:cs typeface="Courier New"/>
              </a:rPr>
              <a:t>) </a:t>
            </a:r>
            <a:r>
              <a:rPr sz="2800" dirty="0">
                <a:latin typeface="Courier New"/>
                <a:cs typeface="Courier New"/>
              </a:rPr>
              <a:t>plt.title(</a:t>
            </a:r>
            <a:r>
              <a:rPr sz="2800" dirty="0">
                <a:solidFill>
                  <a:srgbClr val="A21515"/>
                </a:solidFill>
                <a:latin typeface="Courier New"/>
                <a:cs typeface="Courier New"/>
              </a:rPr>
              <a:t>"Scatter</a:t>
            </a:r>
            <a:r>
              <a:rPr sz="2800" spc="-165" dirty="0">
                <a:solidFill>
                  <a:srgbClr val="A21515"/>
                </a:solidFill>
                <a:latin typeface="Courier New"/>
                <a:cs typeface="Courier New"/>
              </a:rPr>
              <a:t> </a:t>
            </a:r>
            <a:r>
              <a:rPr sz="2800" spc="-10" dirty="0">
                <a:solidFill>
                  <a:srgbClr val="A21515"/>
                </a:solidFill>
                <a:latin typeface="Courier New"/>
                <a:cs typeface="Courier New"/>
              </a:rPr>
              <a:t>Plot"</a:t>
            </a:r>
            <a:r>
              <a:rPr sz="2800" spc="-10" dirty="0">
                <a:latin typeface="Courier New"/>
                <a:cs typeface="Courier New"/>
              </a:rPr>
              <a:t>) plt.xlabel(</a:t>
            </a:r>
            <a:r>
              <a:rPr sz="2800" spc="-10" dirty="0">
                <a:solidFill>
                  <a:srgbClr val="A21515"/>
                </a:solidFill>
                <a:latin typeface="Courier New"/>
                <a:cs typeface="Courier New"/>
              </a:rPr>
              <a:t>"X-axis"</a:t>
            </a:r>
            <a:r>
              <a:rPr sz="2800" spc="-10" dirty="0">
                <a:latin typeface="Courier New"/>
                <a:cs typeface="Courier New"/>
              </a:rPr>
              <a:t>) plt.ylabel(</a:t>
            </a:r>
            <a:r>
              <a:rPr sz="2800" spc="-10" dirty="0">
                <a:solidFill>
                  <a:srgbClr val="A21515"/>
                </a:solidFill>
                <a:latin typeface="Courier New"/>
                <a:cs typeface="Courier New"/>
              </a:rPr>
              <a:t>"Y-axis"</a:t>
            </a:r>
            <a:r>
              <a:rPr sz="2800" spc="-10" dirty="0">
                <a:latin typeface="Courier New"/>
                <a:cs typeface="Courier New"/>
              </a:rPr>
              <a:t>) plt.show()</a:t>
            </a:r>
            <a:endParaRPr sz="2800" dirty="0">
              <a:latin typeface="Courier New"/>
              <a:cs typeface="Courier New"/>
            </a:endParaRPr>
          </a:p>
        </p:txBody>
      </p:sp>
      <p:pic>
        <p:nvPicPr>
          <p:cNvPr id="4" name="object 4"/>
          <p:cNvPicPr/>
          <p:nvPr/>
        </p:nvPicPr>
        <p:blipFill>
          <a:blip r:embed="rId2" cstate="print"/>
          <a:stretch>
            <a:fillRect/>
          </a:stretch>
        </p:blipFill>
        <p:spPr>
          <a:xfrm>
            <a:off x="7848600" y="3124200"/>
            <a:ext cx="3810000" cy="2895601"/>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65" dirty="0"/>
              <a:t>Customizing</a:t>
            </a:r>
            <a:r>
              <a:rPr spc="-180" dirty="0"/>
              <a:t> </a:t>
            </a:r>
            <a:r>
              <a:rPr spc="-10" dirty="0"/>
              <a:t>Plots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17</a:t>
            </a:fld>
            <a:endParaRPr spc="-25" dirty="0"/>
          </a:p>
        </p:txBody>
      </p:sp>
      <p:sp>
        <p:nvSpPr>
          <p:cNvPr id="3" name="object 3"/>
          <p:cNvSpPr txBox="1"/>
          <p:nvPr/>
        </p:nvSpPr>
        <p:spPr>
          <a:xfrm>
            <a:off x="1084580" y="1070508"/>
            <a:ext cx="6021705" cy="4511675"/>
          </a:xfrm>
          <a:prstGeom prst="rect">
            <a:avLst/>
          </a:prstGeom>
        </p:spPr>
        <p:txBody>
          <a:bodyPr vert="horz" wrap="square" lIns="0" tIns="12700" rIns="0" bIns="0" rtlCol="0">
            <a:spAutoFit/>
          </a:bodyPr>
          <a:lstStyle/>
          <a:p>
            <a:pPr marL="12700" marR="1712595" indent="287020">
              <a:lnSpc>
                <a:spcPct val="131700"/>
              </a:lnSpc>
              <a:spcBef>
                <a:spcPts val="100"/>
              </a:spcBef>
              <a:buClr>
                <a:srgbClr val="1CACE3"/>
              </a:buClr>
              <a:buFont typeface="Arial MT"/>
              <a:buChar char="•"/>
              <a:tabLst>
                <a:tab pos="299720" algn="l"/>
              </a:tabLst>
            </a:pPr>
            <a:r>
              <a:rPr sz="2800" b="1" spc="-10" dirty="0">
                <a:solidFill>
                  <a:srgbClr val="404040"/>
                </a:solidFill>
                <a:latin typeface="Cambria"/>
                <a:cs typeface="Cambria"/>
              </a:rPr>
              <a:t>Adding</a:t>
            </a:r>
            <a:r>
              <a:rPr sz="2800" b="1" spc="-80" dirty="0">
                <a:solidFill>
                  <a:srgbClr val="404040"/>
                </a:solidFill>
                <a:latin typeface="Cambria"/>
                <a:cs typeface="Cambria"/>
              </a:rPr>
              <a:t> </a:t>
            </a:r>
            <a:r>
              <a:rPr sz="2800" b="1" dirty="0">
                <a:solidFill>
                  <a:srgbClr val="404040"/>
                </a:solidFill>
                <a:latin typeface="Cambria"/>
                <a:cs typeface="Cambria"/>
              </a:rPr>
              <a:t>Titles</a:t>
            </a:r>
            <a:r>
              <a:rPr sz="2800" b="1" spc="-80" dirty="0">
                <a:solidFill>
                  <a:srgbClr val="404040"/>
                </a:solidFill>
                <a:latin typeface="Cambria"/>
                <a:cs typeface="Cambria"/>
              </a:rPr>
              <a:t> </a:t>
            </a:r>
            <a:r>
              <a:rPr sz="2800" b="1" dirty="0">
                <a:solidFill>
                  <a:srgbClr val="404040"/>
                </a:solidFill>
                <a:latin typeface="Cambria"/>
                <a:cs typeface="Cambria"/>
              </a:rPr>
              <a:t>and</a:t>
            </a:r>
            <a:r>
              <a:rPr sz="2800" b="1" spc="-75" dirty="0">
                <a:solidFill>
                  <a:srgbClr val="404040"/>
                </a:solidFill>
                <a:latin typeface="Cambria"/>
                <a:cs typeface="Cambria"/>
              </a:rPr>
              <a:t> </a:t>
            </a:r>
            <a:r>
              <a:rPr sz="2800" b="1" spc="-10" dirty="0">
                <a:solidFill>
                  <a:srgbClr val="404040"/>
                </a:solidFill>
                <a:latin typeface="Cambria"/>
                <a:cs typeface="Cambria"/>
              </a:rPr>
              <a:t>Labels </a:t>
            </a:r>
            <a:r>
              <a:rPr sz="2800" dirty="0">
                <a:solidFill>
                  <a:srgbClr val="404040"/>
                </a:solidFill>
                <a:latin typeface="Cambria"/>
                <a:cs typeface="Cambria"/>
              </a:rPr>
              <a:t>plt.title("Title</a:t>
            </a:r>
            <a:r>
              <a:rPr sz="2800" spc="-135" dirty="0">
                <a:solidFill>
                  <a:srgbClr val="404040"/>
                </a:solidFill>
                <a:latin typeface="Cambria"/>
                <a:cs typeface="Cambria"/>
              </a:rPr>
              <a:t> </a:t>
            </a:r>
            <a:r>
              <a:rPr sz="2800" spc="-10" dirty="0">
                <a:solidFill>
                  <a:srgbClr val="404040"/>
                </a:solidFill>
                <a:latin typeface="Cambria"/>
                <a:cs typeface="Cambria"/>
              </a:rPr>
              <a:t>Here") plt.xlabel("X-</a:t>
            </a:r>
            <a:r>
              <a:rPr sz="2800" dirty="0">
                <a:solidFill>
                  <a:srgbClr val="404040"/>
                </a:solidFill>
                <a:latin typeface="Cambria"/>
                <a:cs typeface="Cambria"/>
              </a:rPr>
              <a:t>axis </a:t>
            </a:r>
            <a:r>
              <a:rPr sz="2800" spc="-10" dirty="0">
                <a:solidFill>
                  <a:srgbClr val="404040"/>
                </a:solidFill>
                <a:latin typeface="Cambria"/>
                <a:cs typeface="Cambria"/>
              </a:rPr>
              <a:t>Label") </a:t>
            </a:r>
            <a:r>
              <a:rPr sz="2800" spc="-20" dirty="0">
                <a:solidFill>
                  <a:srgbClr val="404040"/>
                </a:solidFill>
                <a:latin typeface="Cambria"/>
                <a:cs typeface="Cambria"/>
              </a:rPr>
              <a:t>plt.ylabel("Y-</a:t>
            </a:r>
            <a:r>
              <a:rPr sz="2800" dirty="0">
                <a:solidFill>
                  <a:srgbClr val="404040"/>
                </a:solidFill>
                <a:latin typeface="Cambria"/>
                <a:cs typeface="Cambria"/>
              </a:rPr>
              <a:t>axis</a:t>
            </a:r>
            <a:r>
              <a:rPr sz="2800" spc="110" dirty="0">
                <a:solidFill>
                  <a:srgbClr val="404040"/>
                </a:solidFill>
                <a:latin typeface="Cambria"/>
                <a:cs typeface="Cambria"/>
              </a:rPr>
              <a:t> </a:t>
            </a:r>
            <a:r>
              <a:rPr sz="2800" spc="-10" dirty="0">
                <a:solidFill>
                  <a:srgbClr val="404040"/>
                </a:solidFill>
                <a:latin typeface="Cambria"/>
                <a:cs typeface="Cambria"/>
              </a:rPr>
              <a:t>Label")</a:t>
            </a:r>
            <a:endParaRPr sz="2800" dirty="0">
              <a:latin typeface="Cambria"/>
              <a:cs typeface="Cambria"/>
            </a:endParaRPr>
          </a:p>
          <a:p>
            <a:pPr marL="299720" indent="-287020">
              <a:lnSpc>
                <a:spcPct val="100000"/>
              </a:lnSpc>
              <a:spcBef>
                <a:spcPts val="1070"/>
              </a:spcBef>
              <a:buClr>
                <a:srgbClr val="1CACE3"/>
              </a:buClr>
              <a:buFont typeface="Arial MT"/>
              <a:buChar char="•"/>
              <a:tabLst>
                <a:tab pos="299720" algn="l"/>
              </a:tabLst>
            </a:pPr>
            <a:r>
              <a:rPr sz="2800" b="1" spc="-10" dirty="0">
                <a:solidFill>
                  <a:srgbClr val="404040"/>
                </a:solidFill>
                <a:latin typeface="Cambria"/>
                <a:cs typeface="Cambria"/>
              </a:rPr>
              <a:t>Adding</a:t>
            </a:r>
            <a:r>
              <a:rPr sz="2800" b="1" spc="-100" dirty="0">
                <a:solidFill>
                  <a:srgbClr val="404040"/>
                </a:solidFill>
                <a:latin typeface="Cambria"/>
                <a:cs typeface="Cambria"/>
              </a:rPr>
              <a:t> </a:t>
            </a:r>
            <a:r>
              <a:rPr sz="2800" b="1" spc="-10" dirty="0">
                <a:solidFill>
                  <a:srgbClr val="404040"/>
                </a:solidFill>
                <a:latin typeface="Cambria"/>
                <a:cs typeface="Cambria"/>
              </a:rPr>
              <a:t>Legends</a:t>
            </a:r>
            <a:endParaRPr sz="2800" dirty="0">
              <a:latin typeface="Cambria"/>
              <a:cs typeface="Cambria"/>
            </a:endParaRPr>
          </a:p>
          <a:p>
            <a:pPr marL="12700">
              <a:lnSpc>
                <a:spcPct val="100000"/>
              </a:lnSpc>
              <a:spcBef>
                <a:spcPts val="1060"/>
              </a:spcBef>
            </a:pPr>
            <a:r>
              <a:rPr sz="2800" dirty="0">
                <a:solidFill>
                  <a:srgbClr val="404040"/>
                </a:solidFill>
                <a:latin typeface="Cambria"/>
                <a:cs typeface="Cambria"/>
              </a:rPr>
              <a:t>plt.plot(x,</a:t>
            </a:r>
            <a:r>
              <a:rPr sz="2800" spc="-100" dirty="0">
                <a:solidFill>
                  <a:srgbClr val="404040"/>
                </a:solidFill>
                <a:latin typeface="Cambria"/>
                <a:cs typeface="Cambria"/>
              </a:rPr>
              <a:t> </a:t>
            </a:r>
            <a:r>
              <a:rPr sz="2800" spc="-110" dirty="0">
                <a:solidFill>
                  <a:srgbClr val="404040"/>
                </a:solidFill>
                <a:latin typeface="Cambria"/>
                <a:cs typeface="Cambria"/>
              </a:rPr>
              <a:t>y,</a:t>
            </a:r>
            <a:r>
              <a:rPr sz="2800" spc="-40" dirty="0">
                <a:solidFill>
                  <a:srgbClr val="404040"/>
                </a:solidFill>
                <a:latin typeface="Cambria"/>
                <a:cs typeface="Cambria"/>
              </a:rPr>
              <a:t> </a:t>
            </a:r>
            <a:r>
              <a:rPr sz="2800" dirty="0">
                <a:solidFill>
                  <a:srgbClr val="404040"/>
                </a:solidFill>
                <a:latin typeface="Cambria"/>
                <a:cs typeface="Cambria"/>
              </a:rPr>
              <a:t>label="Line</a:t>
            </a:r>
            <a:r>
              <a:rPr sz="2800" spc="-80" dirty="0">
                <a:solidFill>
                  <a:srgbClr val="404040"/>
                </a:solidFill>
                <a:latin typeface="Cambria"/>
                <a:cs typeface="Cambria"/>
              </a:rPr>
              <a:t> </a:t>
            </a:r>
            <a:r>
              <a:rPr sz="2800" dirty="0">
                <a:solidFill>
                  <a:srgbClr val="404040"/>
                </a:solidFill>
                <a:latin typeface="Cambria"/>
                <a:cs typeface="Cambria"/>
              </a:rPr>
              <a:t>1")</a:t>
            </a:r>
            <a:r>
              <a:rPr sz="2800" spc="-75" dirty="0">
                <a:solidFill>
                  <a:srgbClr val="404040"/>
                </a:solidFill>
                <a:latin typeface="Cambria"/>
                <a:cs typeface="Cambria"/>
              </a:rPr>
              <a:t> </a:t>
            </a:r>
            <a:r>
              <a:rPr sz="2800" spc="-10" dirty="0">
                <a:solidFill>
                  <a:srgbClr val="404040"/>
                </a:solidFill>
                <a:latin typeface="Cambria"/>
                <a:cs typeface="Cambria"/>
              </a:rPr>
              <a:t>plt.legend()</a:t>
            </a:r>
            <a:endParaRPr sz="2800" dirty="0">
              <a:latin typeface="Cambria"/>
              <a:cs typeface="Cambria"/>
            </a:endParaRPr>
          </a:p>
          <a:p>
            <a:pPr marL="299720" indent="-287020">
              <a:lnSpc>
                <a:spcPct val="100000"/>
              </a:lnSpc>
              <a:spcBef>
                <a:spcPts val="1065"/>
              </a:spcBef>
              <a:buClr>
                <a:srgbClr val="1CACE3"/>
              </a:buClr>
              <a:buFont typeface="Arial MT"/>
              <a:buChar char="•"/>
              <a:tabLst>
                <a:tab pos="299720" algn="l"/>
              </a:tabLst>
            </a:pPr>
            <a:r>
              <a:rPr sz="2800" b="1" spc="-10" dirty="0">
                <a:solidFill>
                  <a:srgbClr val="404040"/>
                </a:solidFill>
                <a:latin typeface="Cambria"/>
                <a:cs typeface="Cambria"/>
              </a:rPr>
              <a:t>Adding</a:t>
            </a:r>
            <a:r>
              <a:rPr sz="2800" b="1" spc="-100" dirty="0">
                <a:solidFill>
                  <a:srgbClr val="404040"/>
                </a:solidFill>
                <a:latin typeface="Cambria"/>
                <a:cs typeface="Cambria"/>
              </a:rPr>
              <a:t> </a:t>
            </a:r>
            <a:r>
              <a:rPr sz="2800" b="1" spc="-10" dirty="0">
                <a:solidFill>
                  <a:srgbClr val="404040"/>
                </a:solidFill>
                <a:latin typeface="Cambria"/>
                <a:cs typeface="Cambria"/>
              </a:rPr>
              <a:t>Grids</a:t>
            </a:r>
            <a:endParaRPr sz="2800" dirty="0">
              <a:latin typeface="Cambria"/>
              <a:cs typeface="Cambria"/>
            </a:endParaRPr>
          </a:p>
          <a:p>
            <a:pPr marL="12700">
              <a:lnSpc>
                <a:spcPct val="100000"/>
              </a:lnSpc>
              <a:spcBef>
                <a:spcPts val="985"/>
              </a:spcBef>
            </a:pP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grid</a:t>
            </a:r>
            <a:r>
              <a:rPr sz="2800" spc="-10" dirty="0">
                <a:solidFill>
                  <a:srgbClr val="383942"/>
                </a:solidFill>
                <a:latin typeface="Calibri"/>
                <a:cs typeface="Calibri"/>
              </a:rPr>
              <a:t>()</a:t>
            </a:r>
            <a:endParaRPr sz="28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5" dirty="0"/>
              <a:t>Advanced</a:t>
            </a:r>
            <a:r>
              <a:rPr spc="-120" dirty="0"/>
              <a:t> </a:t>
            </a:r>
            <a:r>
              <a:rPr spc="-65" dirty="0"/>
              <a:t>Features</a:t>
            </a:r>
          </a:p>
        </p:txBody>
      </p:sp>
      <p:sp>
        <p:nvSpPr>
          <p:cNvPr id="3" name="object 3"/>
          <p:cNvSpPr txBox="1"/>
          <p:nvPr/>
        </p:nvSpPr>
        <p:spPr>
          <a:xfrm>
            <a:off x="1084580" y="1070508"/>
            <a:ext cx="4579620" cy="4508500"/>
          </a:xfrm>
          <a:prstGeom prst="rect">
            <a:avLst/>
          </a:prstGeom>
        </p:spPr>
        <p:txBody>
          <a:bodyPr vert="horz" wrap="square" lIns="0" tIns="147955" rIns="0" bIns="0" rtlCol="0">
            <a:spAutoFit/>
          </a:bodyPr>
          <a:lstStyle/>
          <a:p>
            <a:pPr marL="12700">
              <a:lnSpc>
                <a:spcPct val="100000"/>
              </a:lnSpc>
              <a:spcBef>
                <a:spcPts val="1165"/>
              </a:spcBef>
            </a:pPr>
            <a:r>
              <a:rPr sz="2800" b="1" spc="-10" dirty="0">
                <a:solidFill>
                  <a:srgbClr val="404040"/>
                </a:solidFill>
                <a:latin typeface="Cambria"/>
                <a:cs typeface="Cambria"/>
              </a:rPr>
              <a:t>Subplots</a:t>
            </a:r>
            <a:endParaRPr sz="2800" dirty="0">
              <a:latin typeface="Cambria"/>
              <a:cs typeface="Cambria"/>
            </a:endParaRPr>
          </a:p>
          <a:p>
            <a:pPr marL="12700" marR="107314" indent="287020">
              <a:lnSpc>
                <a:spcPct val="130000"/>
              </a:lnSpc>
              <a:spcBef>
                <a:spcPts val="60"/>
              </a:spcBef>
              <a:buClr>
                <a:srgbClr val="1CACE3"/>
              </a:buClr>
              <a:buFont typeface="Arial MT"/>
              <a:buChar char="•"/>
              <a:tabLst>
                <a:tab pos="299720" algn="l"/>
              </a:tabLst>
            </a:pPr>
            <a:r>
              <a:rPr sz="2800" dirty="0">
                <a:solidFill>
                  <a:srgbClr val="404040"/>
                </a:solidFill>
                <a:latin typeface="Cambria"/>
                <a:cs typeface="Cambria"/>
              </a:rPr>
              <a:t>Multiple</a:t>
            </a:r>
            <a:r>
              <a:rPr sz="2800" spc="-45" dirty="0">
                <a:solidFill>
                  <a:srgbClr val="404040"/>
                </a:solidFill>
                <a:latin typeface="Cambria"/>
                <a:cs typeface="Cambria"/>
              </a:rPr>
              <a:t> </a:t>
            </a:r>
            <a:r>
              <a:rPr sz="2800" dirty="0">
                <a:solidFill>
                  <a:srgbClr val="404040"/>
                </a:solidFill>
                <a:latin typeface="Cambria"/>
                <a:cs typeface="Cambria"/>
              </a:rPr>
              <a:t>plots</a:t>
            </a:r>
            <a:r>
              <a:rPr sz="2800" spc="-55" dirty="0">
                <a:solidFill>
                  <a:srgbClr val="404040"/>
                </a:solidFill>
                <a:latin typeface="Cambria"/>
                <a:cs typeface="Cambria"/>
              </a:rPr>
              <a:t> </a:t>
            </a:r>
            <a:r>
              <a:rPr sz="2800" dirty="0">
                <a:solidFill>
                  <a:srgbClr val="404040"/>
                </a:solidFill>
                <a:latin typeface="Cambria"/>
                <a:cs typeface="Cambria"/>
              </a:rPr>
              <a:t>in</a:t>
            </a:r>
            <a:r>
              <a:rPr sz="2800" spc="-60" dirty="0">
                <a:solidFill>
                  <a:srgbClr val="404040"/>
                </a:solidFill>
                <a:latin typeface="Cambria"/>
                <a:cs typeface="Cambria"/>
              </a:rPr>
              <a:t> </a:t>
            </a:r>
            <a:r>
              <a:rPr sz="2800" dirty="0">
                <a:solidFill>
                  <a:srgbClr val="404040"/>
                </a:solidFill>
                <a:latin typeface="Cambria"/>
                <a:cs typeface="Cambria"/>
              </a:rPr>
              <a:t>one</a:t>
            </a:r>
            <a:r>
              <a:rPr sz="2800" spc="-55" dirty="0">
                <a:solidFill>
                  <a:srgbClr val="404040"/>
                </a:solidFill>
                <a:latin typeface="Cambria"/>
                <a:cs typeface="Cambria"/>
              </a:rPr>
              <a:t> </a:t>
            </a:r>
            <a:r>
              <a:rPr sz="2800" spc="-10" dirty="0">
                <a:solidFill>
                  <a:srgbClr val="404040"/>
                </a:solidFill>
                <a:latin typeface="Cambria"/>
                <a:cs typeface="Cambria"/>
              </a:rPr>
              <a:t>figure. </a:t>
            </a:r>
            <a:r>
              <a:rPr sz="2800" dirty="0">
                <a:solidFill>
                  <a:srgbClr val="006FC1"/>
                </a:solidFill>
                <a:latin typeface="Calibri"/>
                <a:cs typeface="Calibri"/>
              </a:rPr>
              <a:t>fig</a:t>
            </a:r>
            <a:r>
              <a:rPr sz="2800" dirty="0">
                <a:solidFill>
                  <a:srgbClr val="383942"/>
                </a:solidFill>
                <a:latin typeface="Calibri"/>
                <a:cs typeface="Calibri"/>
              </a:rPr>
              <a:t>,</a:t>
            </a:r>
            <a:r>
              <a:rPr sz="2800" spc="-70" dirty="0">
                <a:solidFill>
                  <a:srgbClr val="383942"/>
                </a:solidFill>
                <a:latin typeface="Calibri"/>
                <a:cs typeface="Calibri"/>
              </a:rPr>
              <a:t> </a:t>
            </a:r>
            <a:r>
              <a:rPr sz="2800" dirty="0">
                <a:solidFill>
                  <a:srgbClr val="006FC1"/>
                </a:solidFill>
                <a:latin typeface="Calibri"/>
                <a:cs typeface="Calibri"/>
              </a:rPr>
              <a:t>axs</a:t>
            </a:r>
            <a:r>
              <a:rPr sz="2800" spc="-60" dirty="0">
                <a:solidFill>
                  <a:srgbClr val="006FC1"/>
                </a:solidFill>
                <a:latin typeface="Calibri"/>
                <a:cs typeface="Calibri"/>
              </a:rPr>
              <a:t> </a:t>
            </a:r>
            <a:r>
              <a:rPr sz="2800" dirty="0">
                <a:solidFill>
                  <a:srgbClr val="383942"/>
                </a:solidFill>
                <a:latin typeface="Calibri"/>
                <a:cs typeface="Calibri"/>
              </a:rPr>
              <a:t>=</a:t>
            </a:r>
            <a:r>
              <a:rPr sz="2800" spc="-40" dirty="0">
                <a:solidFill>
                  <a:srgbClr val="383942"/>
                </a:solidFill>
                <a:latin typeface="Calibri"/>
                <a:cs typeface="Calibri"/>
              </a:rPr>
              <a:t> </a:t>
            </a:r>
            <a:r>
              <a:rPr sz="2800" dirty="0">
                <a:solidFill>
                  <a:srgbClr val="006FC1"/>
                </a:solidFill>
                <a:latin typeface="Calibri"/>
                <a:cs typeface="Calibri"/>
              </a:rPr>
              <a:t>plt</a:t>
            </a:r>
            <a:r>
              <a:rPr sz="2800" dirty="0">
                <a:solidFill>
                  <a:srgbClr val="383942"/>
                </a:solidFill>
                <a:latin typeface="Calibri"/>
                <a:cs typeface="Calibri"/>
              </a:rPr>
              <a:t>.</a:t>
            </a:r>
            <a:r>
              <a:rPr sz="2800" dirty="0">
                <a:solidFill>
                  <a:srgbClr val="795E25"/>
                </a:solidFill>
                <a:latin typeface="Calibri"/>
                <a:cs typeface="Calibri"/>
              </a:rPr>
              <a:t>subplots</a:t>
            </a:r>
            <a:r>
              <a:rPr sz="2800" dirty="0">
                <a:solidFill>
                  <a:srgbClr val="383942"/>
                </a:solidFill>
                <a:latin typeface="Calibri"/>
                <a:cs typeface="Calibri"/>
              </a:rPr>
              <a:t>(</a:t>
            </a:r>
            <a:r>
              <a:rPr sz="2800" dirty="0">
                <a:solidFill>
                  <a:srgbClr val="098557"/>
                </a:solidFill>
                <a:latin typeface="Calibri"/>
                <a:cs typeface="Calibri"/>
              </a:rPr>
              <a:t>2</a:t>
            </a:r>
            <a:r>
              <a:rPr sz="2800" dirty="0">
                <a:solidFill>
                  <a:srgbClr val="383942"/>
                </a:solidFill>
                <a:latin typeface="Calibri"/>
                <a:cs typeface="Calibri"/>
              </a:rPr>
              <a:t>, </a:t>
            </a:r>
            <a:r>
              <a:rPr sz="2800" spc="-25" dirty="0">
                <a:solidFill>
                  <a:srgbClr val="098557"/>
                </a:solidFill>
                <a:latin typeface="Calibri"/>
                <a:cs typeface="Calibri"/>
              </a:rPr>
              <a:t>2</a:t>
            </a:r>
            <a:r>
              <a:rPr sz="2800" spc="-25" dirty="0">
                <a:solidFill>
                  <a:srgbClr val="383942"/>
                </a:solidFill>
                <a:latin typeface="Calibri"/>
                <a:cs typeface="Calibri"/>
              </a:rPr>
              <a:t>) </a:t>
            </a:r>
            <a:r>
              <a:rPr sz="2800" dirty="0">
                <a:solidFill>
                  <a:srgbClr val="006FC1"/>
                </a:solidFill>
                <a:latin typeface="Calibri"/>
                <a:cs typeface="Calibri"/>
              </a:rPr>
              <a:t>axs</a:t>
            </a:r>
            <a:r>
              <a:rPr sz="2800" dirty="0">
                <a:solidFill>
                  <a:srgbClr val="383942"/>
                </a:solidFill>
                <a:latin typeface="Calibri"/>
                <a:cs typeface="Calibri"/>
              </a:rPr>
              <a:t>[</a:t>
            </a:r>
            <a:r>
              <a:rPr sz="2800" dirty="0">
                <a:solidFill>
                  <a:srgbClr val="098557"/>
                </a:solidFill>
                <a:latin typeface="Calibri"/>
                <a:cs typeface="Calibri"/>
              </a:rPr>
              <a:t>0</a:t>
            </a:r>
            <a:r>
              <a:rPr sz="2800" dirty="0">
                <a:solidFill>
                  <a:srgbClr val="383942"/>
                </a:solidFill>
                <a:latin typeface="Calibri"/>
                <a:cs typeface="Calibri"/>
              </a:rPr>
              <a:t>,</a:t>
            </a:r>
            <a:r>
              <a:rPr sz="2800" spc="-95" dirty="0">
                <a:solidFill>
                  <a:srgbClr val="383942"/>
                </a:solidFill>
                <a:latin typeface="Calibri"/>
                <a:cs typeface="Calibri"/>
              </a:rPr>
              <a:t> </a:t>
            </a:r>
            <a:r>
              <a:rPr sz="2800" dirty="0">
                <a:solidFill>
                  <a:srgbClr val="098557"/>
                </a:solidFill>
                <a:latin typeface="Calibri"/>
                <a:cs typeface="Calibri"/>
              </a:rPr>
              <a:t>0</a:t>
            </a:r>
            <a:r>
              <a:rPr sz="2800" dirty="0">
                <a:solidFill>
                  <a:srgbClr val="383942"/>
                </a:solidFill>
                <a:latin typeface="Calibri"/>
                <a:cs typeface="Calibri"/>
              </a:rPr>
              <a:t>].</a:t>
            </a:r>
            <a:r>
              <a:rPr sz="2800" dirty="0">
                <a:solidFill>
                  <a:srgbClr val="795E25"/>
                </a:solidFill>
                <a:latin typeface="Calibri"/>
                <a:cs typeface="Calibri"/>
              </a:rPr>
              <a:t>plot</a:t>
            </a:r>
            <a:r>
              <a:rPr sz="2800" dirty="0">
                <a:solidFill>
                  <a:srgbClr val="383942"/>
                </a:solidFill>
                <a:latin typeface="Calibri"/>
                <a:cs typeface="Calibri"/>
              </a:rPr>
              <a:t>(</a:t>
            </a:r>
            <a:r>
              <a:rPr sz="2800" dirty="0">
                <a:solidFill>
                  <a:srgbClr val="006FC1"/>
                </a:solidFill>
                <a:latin typeface="Calibri"/>
                <a:cs typeface="Calibri"/>
              </a:rPr>
              <a:t>x</a:t>
            </a:r>
            <a:r>
              <a:rPr sz="2800" dirty="0">
                <a:solidFill>
                  <a:srgbClr val="383942"/>
                </a:solidFill>
                <a:latin typeface="Calibri"/>
                <a:cs typeface="Calibri"/>
              </a:rPr>
              <a:t>,</a:t>
            </a:r>
            <a:r>
              <a:rPr sz="2800" spc="-90" dirty="0">
                <a:solidFill>
                  <a:srgbClr val="383942"/>
                </a:solidFill>
                <a:latin typeface="Calibri"/>
                <a:cs typeface="Calibri"/>
              </a:rPr>
              <a:t> </a:t>
            </a:r>
            <a:r>
              <a:rPr sz="2800" spc="-25" dirty="0">
                <a:solidFill>
                  <a:srgbClr val="006FC1"/>
                </a:solidFill>
                <a:latin typeface="Calibri"/>
                <a:cs typeface="Calibri"/>
              </a:rPr>
              <a:t>y</a:t>
            </a:r>
            <a:r>
              <a:rPr sz="2800" spc="-25" dirty="0">
                <a:solidFill>
                  <a:srgbClr val="383942"/>
                </a:solidFill>
                <a:latin typeface="Calibri"/>
                <a:cs typeface="Calibri"/>
              </a:rPr>
              <a:t>)</a:t>
            </a:r>
            <a:endParaRPr sz="2800" dirty="0">
              <a:latin typeface="Calibri"/>
              <a:cs typeface="Calibri"/>
            </a:endParaRPr>
          </a:p>
          <a:p>
            <a:pPr marL="12700" marR="5080">
              <a:lnSpc>
                <a:spcPct val="131800"/>
              </a:lnSpc>
            </a:pPr>
            <a:r>
              <a:rPr sz="2800" dirty="0">
                <a:solidFill>
                  <a:srgbClr val="006FC1"/>
                </a:solidFill>
                <a:latin typeface="Calibri"/>
                <a:cs typeface="Calibri"/>
              </a:rPr>
              <a:t>axs</a:t>
            </a:r>
            <a:r>
              <a:rPr sz="2800" dirty="0">
                <a:solidFill>
                  <a:srgbClr val="383942"/>
                </a:solidFill>
                <a:latin typeface="Calibri"/>
                <a:cs typeface="Calibri"/>
              </a:rPr>
              <a:t>[</a:t>
            </a:r>
            <a:r>
              <a:rPr sz="2800" dirty="0">
                <a:solidFill>
                  <a:srgbClr val="098557"/>
                </a:solidFill>
                <a:latin typeface="Calibri"/>
                <a:cs typeface="Calibri"/>
              </a:rPr>
              <a:t>0</a:t>
            </a:r>
            <a:r>
              <a:rPr sz="2800" dirty="0">
                <a:solidFill>
                  <a:srgbClr val="383942"/>
                </a:solidFill>
                <a:latin typeface="Calibri"/>
                <a:cs typeface="Calibri"/>
              </a:rPr>
              <a:t>,</a:t>
            </a:r>
            <a:r>
              <a:rPr sz="2800" spc="-65" dirty="0">
                <a:solidFill>
                  <a:srgbClr val="383942"/>
                </a:solidFill>
                <a:latin typeface="Calibri"/>
                <a:cs typeface="Calibri"/>
              </a:rPr>
              <a:t> </a:t>
            </a:r>
            <a:r>
              <a:rPr sz="2800" spc="-10" dirty="0">
                <a:solidFill>
                  <a:srgbClr val="098557"/>
                </a:solidFill>
                <a:latin typeface="Calibri"/>
                <a:cs typeface="Calibri"/>
              </a:rPr>
              <a:t>1</a:t>
            </a:r>
            <a:r>
              <a:rPr sz="2800" spc="-10" dirty="0">
                <a:solidFill>
                  <a:srgbClr val="383942"/>
                </a:solidFill>
                <a:latin typeface="Calibri"/>
                <a:cs typeface="Calibri"/>
              </a:rPr>
              <a:t>].</a:t>
            </a:r>
            <a:r>
              <a:rPr sz="2800" spc="-10" dirty="0">
                <a:solidFill>
                  <a:srgbClr val="795E25"/>
                </a:solidFill>
                <a:latin typeface="Calibri"/>
                <a:cs typeface="Calibri"/>
              </a:rPr>
              <a:t>bar</a:t>
            </a:r>
            <a:r>
              <a:rPr sz="2800" spc="-10" dirty="0">
                <a:solidFill>
                  <a:srgbClr val="383942"/>
                </a:solidFill>
                <a:latin typeface="Calibri"/>
                <a:cs typeface="Calibri"/>
              </a:rPr>
              <a:t>(</a:t>
            </a:r>
            <a:r>
              <a:rPr sz="2800" spc="-10" dirty="0">
                <a:solidFill>
                  <a:srgbClr val="006FC1"/>
                </a:solidFill>
                <a:latin typeface="Calibri"/>
                <a:cs typeface="Calibri"/>
              </a:rPr>
              <a:t>categories</a:t>
            </a:r>
            <a:r>
              <a:rPr sz="2800" spc="-10" dirty="0">
                <a:solidFill>
                  <a:srgbClr val="383942"/>
                </a:solidFill>
                <a:latin typeface="Calibri"/>
                <a:cs typeface="Calibri"/>
              </a:rPr>
              <a:t>,</a:t>
            </a:r>
            <a:r>
              <a:rPr sz="2800" spc="-60" dirty="0">
                <a:solidFill>
                  <a:srgbClr val="383942"/>
                </a:solidFill>
                <a:latin typeface="Calibri"/>
                <a:cs typeface="Calibri"/>
              </a:rPr>
              <a:t> </a:t>
            </a:r>
            <a:r>
              <a:rPr sz="2800" spc="-10" dirty="0">
                <a:solidFill>
                  <a:srgbClr val="006FC1"/>
                </a:solidFill>
                <a:latin typeface="Calibri"/>
                <a:cs typeface="Calibri"/>
              </a:rPr>
              <a:t>values</a:t>
            </a:r>
            <a:r>
              <a:rPr sz="2800" spc="-10" dirty="0">
                <a:solidFill>
                  <a:srgbClr val="383942"/>
                </a:solidFill>
                <a:latin typeface="Calibri"/>
                <a:cs typeface="Calibri"/>
              </a:rPr>
              <a:t>) </a:t>
            </a:r>
            <a:r>
              <a:rPr sz="2800" dirty="0">
                <a:solidFill>
                  <a:srgbClr val="006FC1"/>
                </a:solidFill>
                <a:latin typeface="Calibri"/>
                <a:cs typeface="Calibri"/>
              </a:rPr>
              <a:t>axs</a:t>
            </a:r>
            <a:r>
              <a:rPr sz="2800" dirty="0">
                <a:solidFill>
                  <a:srgbClr val="383942"/>
                </a:solidFill>
                <a:latin typeface="Calibri"/>
                <a:cs typeface="Calibri"/>
              </a:rPr>
              <a:t>[</a:t>
            </a:r>
            <a:r>
              <a:rPr sz="2800" dirty="0">
                <a:solidFill>
                  <a:srgbClr val="098557"/>
                </a:solidFill>
                <a:latin typeface="Calibri"/>
                <a:cs typeface="Calibri"/>
              </a:rPr>
              <a:t>1</a:t>
            </a:r>
            <a:r>
              <a:rPr sz="2800" dirty="0">
                <a:solidFill>
                  <a:srgbClr val="383942"/>
                </a:solidFill>
                <a:latin typeface="Calibri"/>
                <a:cs typeface="Calibri"/>
              </a:rPr>
              <a:t>,</a:t>
            </a:r>
            <a:r>
              <a:rPr sz="2800" spc="-80" dirty="0">
                <a:solidFill>
                  <a:srgbClr val="383942"/>
                </a:solidFill>
                <a:latin typeface="Calibri"/>
                <a:cs typeface="Calibri"/>
              </a:rPr>
              <a:t> </a:t>
            </a:r>
            <a:r>
              <a:rPr sz="2800" spc="-10" dirty="0">
                <a:solidFill>
                  <a:srgbClr val="098557"/>
                </a:solidFill>
                <a:latin typeface="Calibri"/>
                <a:cs typeface="Calibri"/>
              </a:rPr>
              <a:t>0</a:t>
            </a:r>
            <a:r>
              <a:rPr sz="2800" spc="-10" dirty="0">
                <a:solidFill>
                  <a:srgbClr val="383942"/>
                </a:solidFill>
                <a:latin typeface="Calibri"/>
                <a:cs typeface="Calibri"/>
              </a:rPr>
              <a:t>].</a:t>
            </a:r>
            <a:r>
              <a:rPr sz="2800" spc="-10" dirty="0">
                <a:solidFill>
                  <a:srgbClr val="795E25"/>
                </a:solidFill>
                <a:latin typeface="Calibri"/>
                <a:cs typeface="Calibri"/>
              </a:rPr>
              <a:t>scatter</a:t>
            </a:r>
            <a:r>
              <a:rPr sz="2800" spc="-10" dirty="0">
                <a:solidFill>
                  <a:srgbClr val="383942"/>
                </a:solidFill>
                <a:latin typeface="Calibri"/>
                <a:cs typeface="Calibri"/>
              </a:rPr>
              <a:t>(</a:t>
            </a:r>
            <a:r>
              <a:rPr sz="2800" spc="-10" dirty="0">
                <a:solidFill>
                  <a:srgbClr val="006FC1"/>
                </a:solidFill>
                <a:latin typeface="Calibri"/>
                <a:cs typeface="Calibri"/>
              </a:rPr>
              <a:t>x</a:t>
            </a:r>
            <a:r>
              <a:rPr sz="2800" spc="-10" dirty="0">
                <a:solidFill>
                  <a:srgbClr val="383942"/>
                </a:solidFill>
                <a:latin typeface="Calibri"/>
                <a:cs typeface="Calibri"/>
              </a:rPr>
              <a:t>,</a:t>
            </a:r>
            <a:r>
              <a:rPr sz="2800" spc="-95" dirty="0">
                <a:solidFill>
                  <a:srgbClr val="383942"/>
                </a:solidFill>
                <a:latin typeface="Calibri"/>
                <a:cs typeface="Calibri"/>
              </a:rPr>
              <a:t> </a:t>
            </a:r>
            <a:r>
              <a:rPr sz="2800" spc="-25" dirty="0">
                <a:solidFill>
                  <a:srgbClr val="006FC1"/>
                </a:solidFill>
                <a:latin typeface="Calibri"/>
                <a:cs typeface="Calibri"/>
              </a:rPr>
              <a:t>y</a:t>
            </a:r>
            <a:r>
              <a:rPr sz="2800" spc="-25" dirty="0">
                <a:solidFill>
                  <a:srgbClr val="383942"/>
                </a:solidFill>
                <a:latin typeface="Calibri"/>
                <a:cs typeface="Calibri"/>
              </a:rPr>
              <a:t>)</a:t>
            </a:r>
            <a:endParaRPr sz="2800" dirty="0">
              <a:latin typeface="Calibri"/>
              <a:cs typeface="Calibri"/>
            </a:endParaRPr>
          </a:p>
          <a:p>
            <a:pPr marL="12700" marR="1887220">
              <a:lnSpc>
                <a:spcPts val="4430"/>
              </a:lnSpc>
              <a:spcBef>
                <a:spcPts val="114"/>
              </a:spcBef>
            </a:pPr>
            <a:r>
              <a:rPr sz="2800" dirty="0">
                <a:solidFill>
                  <a:srgbClr val="006FC1"/>
                </a:solidFill>
                <a:latin typeface="Calibri"/>
                <a:cs typeface="Calibri"/>
              </a:rPr>
              <a:t>axs</a:t>
            </a:r>
            <a:r>
              <a:rPr sz="2800" dirty="0">
                <a:solidFill>
                  <a:srgbClr val="383942"/>
                </a:solidFill>
                <a:latin typeface="Calibri"/>
                <a:cs typeface="Calibri"/>
              </a:rPr>
              <a:t>[</a:t>
            </a:r>
            <a:r>
              <a:rPr sz="2800" dirty="0">
                <a:solidFill>
                  <a:srgbClr val="098557"/>
                </a:solidFill>
                <a:latin typeface="Calibri"/>
                <a:cs typeface="Calibri"/>
              </a:rPr>
              <a:t>1</a:t>
            </a:r>
            <a:r>
              <a:rPr sz="2800" dirty="0">
                <a:solidFill>
                  <a:srgbClr val="383942"/>
                </a:solidFill>
                <a:latin typeface="Calibri"/>
                <a:cs typeface="Calibri"/>
              </a:rPr>
              <a:t>,</a:t>
            </a:r>
            <a:r>
              <a:rPr sz="2800" spc="-85" dirty="0">
                <a:solidFill>
                  <a:srgbClr val="383942"/>
                </a:solidFill>
                <a:latin typeface="Calibri"/>
                <a:cs typeface="Calibri"/>
              </a:rPr>
              <a:t> </a:t>
            </a:r>
            <a:r>
              <a:rPr sz="2800" spc="-10" dirty="0">
                <a:solidFill>
                  <a:srgbClr val="098557"/>
                </a:solidFill>
                <a:latin typeface="Calibri"/>
                <a:cs typeface="Calibri"/>
              </a:rPr>
              <a:t>1</a:t>
            </a:r>
            <a:r>
              <a:rPr sz="2800" spc="-10" dirty="0">
                <a:solidFill>
                  <a:srgbClr val="383942"/>
                </a:solidFill>
                <a:latin typeface="Calibri"/>
                <a:cs typeface="Calibri"/>
              </a:rPr>
              <a:t>].</a:t>
            </a:r>
            <a:r>
              <a:rPr sz="2800" spc="-10" dirty="0">
                <a:solidFill>
                  <a:srgbClr val="795E25"/>
                </a:solidFill>
                <a:latin typeface="Calibri"/>
                <a:cs typeface="Calibri"/>
              </a:rPr>
              <a:t>hist</a:t>
            </a:r>
            <a:r>
              <a:rPr sz="2800" spc="-10" dirty="0">
                <a:solidFill>
                  <a:srgbClr val="383942"/>
                </a:solidFill>
                <a:latin typeface="Calibri"/>
                <a:cs typeface="Calibri"/>
              </a:rPr>
              <a:t>(</a:t>
            </a:r>
            <a:r>
              <a:rPr sz="2800" spc="-10" dirty="0">
                <a:solidFill>
                  <a:srgbClr val="006FC1"/>
                </a:solidFill>
                <a:latin typeface="Calibri"/>
                <a:cs typeface="Calibri"/>
              </a:rPr>
              <a:t>data</a:t>
            </a:r>
            <a:r>
              <a:rPr sz="2800" spc="-10" dirty="0">
                <a:solidFill>
                  <a:srgbClr val="383942"/>
                </a:solidFill>
                <a:latin typeface="Calibri"/>
                <a:cs typeface="Calibri"/>
              </a:rPr>
              <a:t>) </a:t>
            </a: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show</a:t>
            </a:r>
            <a:r>
              <a:rPr sz="2800" spc="-10" dirty="0">
                <a:solidFill>
                  <a:srgbClr val="383942"/>
                </a:solidFill>
                <a:latin typeface="Calibri"/>
                <a:cs typeface="Calibri"/>
              </a:rPr>
              <a:t>()</a:t>
            </a:r>
            <a:endParaRPr sz="2800" dirty="0">
              <a:latin typeface="Calibri"/>
              <a:cs typeface="Calibri"/>
            </a:endParaRPr>
          </a:p>
        </p:txBody>
      </p:sp>
      <p:pic>
        <p:nvPicPr>
          <p:cNvPr id="4" name="object 4"/>
          <p:cNvPicPr/>
          <p:nvPr/>
        </p:nvPicPr>
        <p:blipFill>
          <a:blip r:embed="rId2" cstate="print"/>
          <a:stretch>
            <a:fillRect/>
          </a:stretch>
        </p:blipFill>
        <p:spPr>
          <a:xfrm>
            <a:off x="6126479" y="1751076"/>
            <a:ext cx="5257800" cy="3933444"/>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27067-D8F3-1510-461D-A17AB77C4308}"/>
              </a:ext>
            </a:extLst>
          </p:cNvPr>
          <p:cNvSpPr>
            <a:spLocks noGrp="1"/>
          </p:cNvSpPr>
          <p:nvPr>
            <p:ph type="title"/>
          </p:nvPr>
        </p:nvSpPr>
        <p:spPr/>
        <p:txBody>
          <a:bodyPr/>
          <a:lstStyle/>
          <a:p>
            <a:r>
              <a:rPr lang="en-IN" dirty="0"/>
              <a:t>Advanced Formatting &amp; Exporting</a:t>
            </a:r>
          </a:p>
        </p:txBody>
      </p:sp>
      <p:sp>
        <p:nvSpPr>
          <p:cNvPr id="3" name="Text Placeholder 2">
            <a:extLst>
              <a:ext uri="{FF2B5EF4-FFF2-40B4-BE49-F238E27FC236}">
                <a16:creationId xmlns:a16="http://schemas.microsoft.com/office/drawing/2014/main" id="{635A23E1-B330-4211-B53D-5C91F3910491}"/>
              </a:ext>
            </a:extLst>
          </p:cNvPr>
          <p:cNvSpPr>
            <a:spLocks noGrp="1"/>
          </p:cNvSpPr>
          <p:nvPr>
            <p:ph type="body" idx="1"/>
          </p:nvPr>
        </p:nvSpPr>
        <p:spPr>
          <a:xfrm>
            <a:off x="228600" y="1676400"/>
            <a:ext cx="7315200" cy="4801314"/>
          </a:xfrm>
        </p:spPr>
        <p:txBody>
          <a:bodyPr/>
          <a:lstStyle/>
          <a:p>
            <a:r>
              <a:rPr lang="en-IN" sz="2600" dirty="0" err="1">
                <a:latin typeface="Consolas" panose="020B0609020204030204" pitchFamily="49" charset="0"/>
              </a:rPr>
              <a:t>plt.</a:t>
            </a:r>
            <a:r>
              <a:rPr lang="en-IN" sz="2600" dirty="0" err="1">
                <a:solidFill>
                  <a:schemeClr val="tx2"/>
                </a:solidFill>
                <a:latin typeface="Consolas" panose="020B0609020204030204" pitchFamily="49" charset="0"/>
              </a:rPr>
              <a:t>figure</a:t>
            </a:r>
            <a:r>
              <a:rPr lang="en-IN" sz="2600" dirty="0">
                <a:latin typeface="Consolas" panose="020B0609020204030204" pitchFamily="49" charset="0"/>
              </a:rPr>
              <a:t>(</a:t>
            </a:r>
            <a:r>
              <a:rPr lang="en-IN" sz="2600" dirty="0" err="1">
                <a:latin typeface="Consolas" panose="020B0609020204030204" pitchFamily="49" charset="0"/>
              </a:rPr>
              <a:t>figsize</a:t>
            </a:r>
            <a:r>
              <a:rPr lang="en-IN" sz="2600" dirty="0">
                <a:latin typeface="Consolas" panose="020B0609020204030204" pitchFamily="49" charset="0"/>
              </a:rPr>
              <a:t>=(8, 5)) </a:t>
            </a:r>
          </a:p>
          <a:p>
            <a:r>
              <a:rPr lang="en-IN" sz="2600" dirty="0">
                <a:latin typeface="Consolas" panose="020B0609020204030204" pitchFamily="49" charset="0"/>
              </a:rPr>
              <a:t>epochs = [1, 2, 3, 4, 5] </a:t>
            </a:r>
          </a:p>
          <a:p>
            <a:r>
              <a:rPr lang="en-IN" sz="2600" dirty="0">
                <a:latin typeface="Consolas" panose="020B0609020204030204" pitchFamily="49" charset="0"/>
              </a:rPr>
              <a:t>accuracy = [0.65, 0.72, 0.80, 0.85, 0.89] </a:t>
            </a:r>
          </a:p>
          <a:p>
            <a:r>
              <a:rPr lang="en-IN" sz="2600" dirty="0" err="1">
                <a:latin typeface="Consolas" panose="020B0609020204030204" pitchFamily="49" charset="0"/>
              </a:rPr>
              <a:t>plt.</a:t>
            </a:r>
            <a:r>
              <a:rPr lang="en-IN" sz="2600" dirty="0" err="1">
                <a:solidFill>
                  <a:schemeClr val="tx2"/>
                </a:solidFill>
                <a:latin typeface="Consolas" panose="020B0609020204030204" pitchFamily="49" charset="0"/>
              </a:rPr>
              <a:t>plot</a:t>
            </a:r>
            <a:r>
              <a:rPr lang="en-IN" sz="2600" dirty="0">
                <a:latin typeface="Consolas" panose="020B0609020204030204" pitchFamily="49" charset="0"/>
              </a:rPr>
              <a:t>(epochs, accuracy, marker='s', </a:t>
            </a:r>
            <a:r>
              <a:rPr lang="en-IN" sz="2600" dirty="0" err="1">
                <a:latin typeface="Consolas" panose="020B0609020204030204" pitchFamily="49" charset="0"/>
              </a:rPr>
              <a:t>color</a:t>
            </a:r>
            <a:r>
              <a:rPr lang="en-IN" sz="2600" dirty="0">
                <a:latin typeface="Consolas" panose="020B0609020204030204" pitchFamily="49" charset="0"/>
              </a:rPr>
              <a:t>='#2ca02c') </a:t>
            </a:r>
            <a:r>
              <a:rPr lang="en-IN" sz="2600" dirty="0" err="1">
                <a:latin typeface="Consolas" panose="020B0609020204030204" pitchFamily="49" charset="0"/>
              </a:rPr>
              <a:t>plt.title</a:t>
            </a:r>
            <a:r>
              <a:rPr lang="en-IN" sz="2600" dirty="0">
                <a:latin typeface="Consolas" panose="020B0609020204030204" pitchFamily="49" charset="0"/>
              </a:rPr>
              <a:t>("Model Accuracy over Epochs") </a:t>
            </a:r>
          </a:p>
          <a:p>
            <a:r>
              <a:rPr lang="en-IN" sz="2600" dirty="0" err="1">
                <a:latin typeface="Consolas" panose="020B0609020204030204" pitchFamily="49" charset="0"/>
              </a:rPr>
              <a:t>plt.</a:t>
            </a:r>
            <a:r>
              <a:rPr lang="en-IN" sz="2600" dirty="0" err="1">
                <a:solidFill>
                  <a:schemeClr val="tx2"/>
                </a:solidFill>
                <a:latin typeface="Consolas" panose="020B0609020204030204" pitchFamily="49" charset="0"/>
              </a:rPr>
              <a:t>xlabel</a:t>
            </a:r>
            <a:r>
              <a:rPr lang="en-IN" sz="2600" dirty="0">
                <a:latin typeface="Consolas" panose="020B0609020204030204" pitchFamily="49" charset="0"/>
              </a:rPr>
              <a:t>("Epoch") </a:t>
            </a:r>
          </a:p>
          <a:p>
            <a:r>
              <a:rPr lang="en-IN" sz="2600" dirty="0" err="1">
                <a:latin typeface="Consolas" panose="020B0609020204030204" pitchFamily="49" charset="0"/>
              </a:rPr>
              <a:t>plt.</a:t>
            </a:r>
            <a:r>
              <a:rPr lang="en-IN" sz="2600" dirty="0" err="1">
                <a:solidFill>
                  <a:schemeClr val="tx2"/>
                </a:solidFill>
                <a:latin typeface="Consolas" panose="020B0609020204030204" pitchFamily="49" charset="0"/>
              </a:rPr>
              <a:t>ylabel</a:t>
            </a:r>
            <a:r>
              <a:rPr lang="en-IN" sz="2600" dirty="0">
                <a:latin typeface="Consolas" panose="020B0609020204030204" pitchFamily="49" charset="0"/>
              </a:rPr>
              <a:t>("Accuracy") </a:t>
            </a:r>
          </a:p>
          <a:p>
            <a:r>
              <a:rPr lang="en-IN" sz="2600" dirty="0" err="1">
                <a:latin typeface="Consolas" panose="020B0609020204030204" pitchFamily="49" charset="0"/>
              </a:rPr>
              <a:t>plt.</a:t>
            </a:r>
            <a:r>
              <a:rPr lang="en-IN" sz="2600" dirty="0" err="1">
                <a:solidFill>
                  <a:schemeClr val="tx2"/>
                </a:solidFill>
                <a:latin typeface="Consolas" panose="020B0609020204030204" pitchFamily="49" charset="0"/>
              </a:rPr>
              <a:t>xlim</a:t>
            </a:r>
            <a:r>
              <a:rPr lang="en-IN" sz="2600" dirty="0">
                <a:latin typeface="Consolas" panose="020B0609020204030204" pitchFamily="49" charset="0"/>
              </a:rPr>
              <a:t>(0, 6) </a:t>
            </a:r>
          </a:p>
          <a:p>
            <a:r>
              <a:rPr lang="en-IN" sz="2600" dirty="0" err="1">
                <a:latin typeface="Consolas" panose="020B0609020204030204" pitchFamily="49" charset="0"/>
              </a:rPr>
              <a:t>plt.</a:t>
            </a:r>
            <a:r>
              <a:rPr lang="en-IN" sz="2600" dirty="0" err="1">
                <a:solidFill>
                  <a:schemeClr val="tx2"/>
                </a:solidFill>
                <a:latin typeface="Consolas" panose="020B0609020204030204" pitchFamily="49" charset="0"/>
              </a:rPr>
              <a:t>ylim</a:t>
            </a:r>
            <a:r>
              <a:rPr lang="en-IN" sz="2600" dirty="0">
                <a:latin typeface="Consolas" panose="020B0609020204030204" pitchFamily="49" charset="0"/>
              </a:rPr>
              <a:t>(0.5, 1.0) </a:t>
            </a:r>
          </a:p>
          <a:p>
            <a:r>
              <a:rPr lang="en-IN" sz="2600" dirty="0" err="1">
                <a:latin typeface="Consolas" panose="020B0609020204030204" pitchFamily="49" charset="0"/>
              </a:rPr>
              <a:t>plt.show</a:t>
            </a:r>
            <a:r>
              <a:rPr lang="en-IN" sz="2600" dirty="0">
                <a:latin typeface="Consolas" panose="020B0609020204030204" pitchFamily="49" charset="0"/>
              </a:rPr>
              <a:t>()</a:t>
            </a:r>
          </a:p>
        </p:txBody>
      </p:sp>
      <p:sp>
        <p:nvSpPr>
          <p:cNvPr id="4" name="TextBox 3">
            <a:extLst>
              <a:ext uri="{FF2B5EF4-FFF2-40B4-BE49-F238E27FC236}">
                <a16:creationId xmlns:a16="http://schemas.microsoft.com/office/drawing/2014/main" id="{50DC0285-4E91-2D67-DFA0-2A3FEE70D7F3}"/>
              </a:ext>
            </a:extLst>
          </p:cNvPr>
          <p:cNvSpPr txBox="1"/>
          <p:nvPr/>
        </p:nvSpPr>
        <p:spPr>
          <a:xfrm>
            <a:off x="7467600" y="1214735"/>
            <a:ext cx="4724400" cy="5262979"/>
          </a:xfrm>
          <a:prstGeom prst="rect">
            <a:avLst/>
          </a:prstGeom>
          <a:noFill/>
        </p:spPr>
        <p:txBody>
          <a:bodyPr wrap="square" rtlCol="0">
            <a:spAutoFit/>
          </a:bodyPr>
          <a:lstStyle/>
          <a:p>
            <a:r>
              <a:rPr lang="en-IN" sz="2400" b="1" dirty="0"/>
              <a:t>When preparing charts for professional reports, the default sizing often isn't enough. </a:t>
            </a:r>
          </a:p>
          <a:p>
            <a:r>
              <a:rPr lang="en-IN" sz="2400" dirty="0" err="1">
                <a:solidFill>
                  <a:schemeClr val="accent1"/>
                </a:solidFill>
              </a:rPr>
              <a:t>figsize</a:t>
            </a:r>
            <a:r>
              <a:rPr lang="en-IN" sz="2400" dirty="0">
                <a:solidFill>
                  <a:schemeClr val="accent1"/>
                </a:solidFill>
              </a:rPr>
              <a:t>=(8, 5) </a:t>
            </a:r>
            <a:r>
              <a:rPr lang="en-IN" sz="2400" dirty="0"/>
              <a:t>creates a wider canvas. We use hex </a:t>
            </a:r>
            <a:r>
              <a:rPr lang="en-IN" sz="2400" dirty="0" err="1"/>
              <a:t>color</a:t>
            </a:r>
            <a:r>
              <a:rPr lang="en-IN" sz="2400" dirty="0"/>
              <a:t> codes (#2ca02c) for precise branding. Most importantly, </a:t>
            </a:r>
          </a:p>
          <a:p>
            <a:r>
              <a:rPr lang="en-IN" sz="2400" dirty="0" err="1">
                <a:solidFill>
                  <a:schemeClr val="accent1"/>
                </a:solidFill>
              </a:rPr>
              <a:t>plt.xlim</a:t>
            </a:r>
            <a:r>
              <a:rPr lang="en-IN" sz="2400" dirty="0">
                <a:solidFill>
                  <a:schemeClr val="accent1"/>
                </a:solidFill>
              </a:rPr>
              <a:t>() </a:t>
            </a:r>
            <a:r>
              <a:rPr lang="en-IN" sz="2400" dirty="0"/>
              <a:t>and </a:t>
            </a:r>
            <a:r>
              <a:rPr lang="en-IN" sz="2400" dirty="0" err="1">
                <a:solidFill>
                  <a:schemeClr val="accent1"/>
                </a:solidFill>
              </a:rPr>
              <a:t>plt.ylim</a:t>
            </a:r>
            <a:r>
              <a:rPr lang="en-IN" sz="2400" dirty="0">
                <a:solidFill>
                  <a:schemeClr val="accent1"/>
                </a:solidFill>
              </a:rPr>
              <a:t>() </a:t>
            </a:r>
            <a:r>
              <a:rPr lang="en-IN" sz="2400" dirty="0"/>
              <a:t>lock the axes. This prevents Matplotlib from auto-scaling the axes, which is crucial if you are comparing multiple graphs side-by-side and need their scales to be identical.</a:t>
            </a:r>
          </a:p>
        </p:txBody>
      </p:sp>
    </p:spTree>
    <p:extLst>
      <p:ext uri="{BB962C8B-B14F-4D97-AF65-F5344CB8AC3E}">
        <p14:creationId xmlns:p14="http://schemas.microsoft.com/office/powerpoint/2010/main" val="794620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30046-2DAD-D60B-C315-684CBA9E04B8}"/>
              </a:ext>
            </a:extLst>
          </p:cNvPr>
          <p:cNvSpPr>
            <a:spLocks noGrp="1"/>
          </p:cNvSpPr>
          <p:nvPr>
            <p:ph type="title"/>
          </p:nvPr>
        </p:nvSpPr>
        <p:spPr/>
        <p:txBody>
          <a:bodyPr/>
          <a:lstStyle/>
          <a:p>
            <a:r>
              <a:rPr lang="en-IN" dirty="0"/>
              <a:t>Pie Charts</a:t>
            </a:r>
          </a:p>
        </p:txBody>
      </p:sp>
      <p:sp>
        <p:nvSpPr>
          <p:cNvPr id="3" name="Text Placeholder 2">
            <a:extLst>
              <a:ext uri="{FF2B5EF4-FFF2-40B4-BE49-F238E27FC236}">
                <a16:creationId xmlns:a16="http://schemas.microsoft.com/office/drawing/2014/main" id="{25938CF5-24A5-F87B-3D7F-89D4D7CD1F81}"/>
              </a:ext>
            </a:extLst>
          </p:cNvPr>
          <p:cNvSpPr>
            <a:spLocks noGrp="1"/>
          </p:cNvSpPr>
          <p:nvPr>
            <p:ph type="body" idx="1"/>
          </p:nvPr>
        </p:nvSpPr>
        <p:spPr>
          <a:xfrm>
            <a:off x="152400" y="1582340"/>
            <a:ext cx="7620000" cy="4431983"/>
          </a:xfrm>
        </p:spPr>
        <p:txBody>
          <a:bodyPr/>
          <a:lstStyle/>
          <a:p>
            <a:r>
              <a:rPr lang="en-IN" sz="2400" dirty="0">
                <a:latin typeface="Consolas" panose="020B0609020204030204" pitchFamily="49" charset="0"/>
              </a:rPr>
              <a:t>labels = ['Training Data', 'Validation Data', 'Test Data']</a:t>
            </a:r>
          </a:p>
          <a:p>
            <a:r>
              <a:rPr lang="en-IN" sz="2400" dirty="0">
                <a:latin typeface="Consolas" panose="020B0609020204030204" pitchFamily="49" charset="0"/>
              </a:rPr>
              <a:t>sizes = [70, 15, 15]</a:t>
            </a:r>
          </a:p>
          <a:p>
            <a:r>
              <a:rPr lang="en-IN" sz="2400" dirty="0" err="1">
                <a:latin typeface="Consolas" panose="020B0609020204030204" pitchFamily="49" charset="0"/>
              </a:rPr>
              <a:t>colors</a:t>
            </a:r>
            <a:r>
              <a:rPr lang="en-IN" sz="2400" dirty="0">
                <a:latin typeface="Consolas" panose="020B0609020204030204" pitchFamily="49" charset="0"/>
              </a:rPr>
              <a:t> = ['#ff9999','#66b3ff','#99ff99']</a:t>
            </a:r>
          </a:p>
          <a:p>
            <a:r>
              <a:rPr lang="en-IN" sz="2400" dirty="0">
                <a:latin typeface="Consolas" panose="020B0609020204030204" pitchFamily="49" charset="0"/>
              </a:rPr>
              <a:t>explode = (0.1, 0, 0) </a:t>
            </a:r>
          </a:p>
          <a:p>
            <a:endParaRPr lang="en-IN" sz="2400" dirty="0">
              <a:latin typeface="Consolas" panose="020B0609020204030204" pitchFamily="49" charset="0"/>
            </a:endParaRPr>
          </a:p>
          <a:p>
            <a:r>
              <a:rPr lang="en-IN" sz="2400" dirty="0" err="1">
                <a:latin typeface="Consolas" panose="020B0609020204030204" pitchFamily="49" charset="0"/>
              </a:rPr>
              <a:t>plt.</a:t>
            </a:r>
            <a:r>
              <a:rPr lang="en-IN" sz="2400" dirty="0" err="1">
                <a:solidFill>
                  <a:schemeClr val="tx2"/>
                </a:solidFill>
                <a:latin typeface="Consolas" panose="020B0609020204030204" pitchFamily="49" charset="0"/>
              </a:rPr>
              <a:t>pie</a:t>
            </a:r>
            <a:r>
              <a:rPr lang="en-IN" sz="2400" dirty="0">
                <a:latin typeface="Consolas" panose="020B0609020204030204" pitchFamily="49" charset="0"/>
              </a:rPr>
              <a:t>(sizes, explode=explode, labels=labels, </a:t>
            </a:r>
            <a:r>
              <a:rPr lang="en-IN" sz="2400" dirty="0" err="1">
                <a:latin typeface="Consolas" panose="020B0609020204030204" pitchFamily="49" charset="0"/>
              </a:rPr>
              <a:t>colors</a:t>
            </a:r>
            <a:r>
              <a:rPr lang="en-IN" sz="2400" dirty="0">
                <a:latin typeface="Consolas" panose="020B0609020204030204" pitchFamily="49" charset="0"/>
              </a:rPr>
              <a:t>=</a:t>
            </a:r>
            <a:r>
              <a:rPr lang="en-IN" sz="2400" dirty="0" err="1">
                <a:latin typeface="Consolas" panose="020B0609020204030204" pitchFamily="49" charset="0"/>
              </a:rPr>
              <a:t>colors</a:t>
            </a:r>
            <a:r>
              <a:rPr lang="en-IN" sz="2400" dirty="0">
                <a:latin typeface="Consolas" panose="020B0609020204030204" pitchFamily="49" charset="0"/>
              </a:rPr>
              <a:t>, </a:t>
            </a:r>
            <a:r>
              <a:rPr lang="en-IN" sz="2400" dirty="0" err="1">
                <a:latin typeface="Consolas" panose="020B0609020204030204" pitchFamily="49" charset="0"/>
              </a:rPr>
              <a:t>autopct</a:t>
            </a:r>
            <a:r>
              <a:rPr lang="en-IN" sz="2400" dirty="0">
                <a:latin typeface="Consolas" panose="020B0609020204030204" pitchFamily="49" charset="0"/>
              </a:rPr>
              <a:t>='%1.1f%%', shadow=True, </a:t>
            </a:r>
            <a:r>
              <a:rPr lang="en-IN" sz="2400" dirty="0" err="1">
                <a:latin typeface="Consolas" panose="020B0609020204030204" pitchFamily="49" charset="0"/>
              </a:rPr>
              <a:t>startangle</a:t>
            </a:r>
            <a:r>
              <a:rPr lang="en-IN" sz="2400" dirty="0">
                <a:latin typeface="Consolas" panose="020B0609020204030204" pitchFamily="49" charset="0"/>
              </a:rPr>
              <a:t>=140)</a:t>
            </a:r>
          </a:p>
          <a:p>
            <a:r>
              <a:rPr lang="en-IN" sz="2400" dirty="0" err="1">
                <a:latin typeface="Consolas" panose="020B0609020204030204" pitchFamily="49" charset="0"/>
              </a:rPr>
              <a:t>plt.</a:t>
            </a:r>
            <a:r>
              <a:rPr lang="en-IN" sz="2400" dirty="0" err="1">
                <a:solidFill>
                  <a:schemeClr val="tx2"/>
                </a:solidFill>
                <a:latin typeface="Consolas" panose="020B0609020204030204" pitchFamily="49" charset="0"/>
              </a:rPr>
              <a:t>title</a:t>
            </a:r>
            <a:r>
              <a:rPr lang="en-IN" sz="2400" dirty="0">
                <a:latin typeface="Consolas" panose="020B0609020204030204" pitchFamily="49" charset="0"/>
              </a:rPr>
              <a:t>("Standard Dataset Split")</a:t>
            </a:r>
          </a:p>
          <a:p>
            <a:r>
              <a:rPr lang="en-IN" sz="2400" dirty="0" err="1">
                <a:latin typeface="Consolas" panose="020B0609020204030204" pitchFamily="49" charset="0"/>
              </a:rPr>
              <a:t>plt.</a:t>
            </a:r>
            <a:r>
              <a:rPr lang="en-IN" sz="2400" dirty="0" err="1">
                <a:solidFill>
                  <a:schemeClr val="tx2"/>
                </a:solidFill>
                <a:latin typeface="Consolas" panose="020B0609020204030204" pitchFamily="49" charset="0"/>
              </a:rPr>
              <a:t>show</a:t>
            </a:r>
            <a:r>
              <a:rPr lang="en-IN" sz="2400" dirty="0">
                <a:latin typeface="Consolas" panose="020B0609020204030204" pitchFamily="49" charset="0"/>
              </a:rPr>
              <a:t>()</a:t>
            </a:r>
          </a:p>
        </p:txBody>
      </p:sp>
      <p:sp>
        <p:nvSpPr>
          <p:cNvPr id="4" name="TextBox 3">
            <a:extLst>
              <a:ext uri="{FF2B5EF4-FFF2-40B4-BE49-F238E27FC236}">
                <a16:creationId xmlns:a16="http://schemas.microsoft.com/office/drawing/2014/main" id="{8764CCE7-F864-3C5B-F8A6-0F323A03146A}"/>
              </a:ext>
            </a:extLst>
          </p:cNvPr>
          <p:cNvSpPr txBox="1"/>
          <p:nvPr/>
        </p:nvSpPr>
        <p:spPr>
          <a:xfrm>
            <a:off x="7691120" y="1225689"/>
            <a:ext cx="4343400" cy="5632311"/>
          </a:xfrm>
          <a:prstGeom prst="rect">
            <a:avLst/>
          </a:prstGeom>
          <a:noFill/>
        </p:spPr>
        <p:txBody>
          <a:bodyPr wrap="square" rtlCol="0">
            <a:spAutoFit/>
          </a:bodyPr>
          <a:lstStyle/>
          <a:p>
            <a:pPr marL="342900" indent="-342900">
              <a:buFont typeface="Arial" panose="020B0604020202020204" pitchFamily="34" charset="0"/>
              <a:buChar char="•"/>
            </a:pPr>
            <a:r>
              <a:rPr lang="en-IN" sz="2400" dirty="0"/>
              <a:t>Pie charts are perfect for illustrating part-to-whole relationships, like how we split datasets in machine learning. </a:t>
            </a:r>
          </a:p>
          <a:p>
            <a:pPr marL="342900" indent="-342900">
              <a:buFont typeface="Arial" panose="020B0604020202020204" pitchFamily="34" charset="0"/>
              <a:buChar char="•"/>
            </a:pPr>
            <a:r>
              <a:rPr lang="en-IN" sz="2400" dirty="0"/>
              <a:t>The explode parameter is a great tool for emphasis, it  'explodes' a specific slice out from the </a:t>
            </a:r>
            <a:r>
              <a:rPr lang="en-IN" sz="2400" dirty="0" err="1"/>
              <a:t>center</a:t>
            </a:r>
            <a:r>
              <a:rPr lang="en-IN" sz="2400" dirty="0"/>
              <a:t> so the audience focuses on it. </a:t>
            </a:r>
          </a:p>
          <a:p>
            <a:pPr marL="342900" indent="-342900">
              <a:buFont typeface="Arial" panose="020B0604020202020204" pitchFamily="34" charset="0"/>
              <a:buChar char="•"/>
            </a:pPr>
            <a:r>
              <a:rPr lang="en-IN" sz="2400" dirty="0"/>
              <a:t>The </a:t>
            </a:r>
            <a:r>
              <a:rPr lang="en-IN" sz="2400" dirty="0" err="1">
                <a:solidFill>
                  <a:schemeClr val="accent1"/>
                </a:solidFill>
              </a:rPr>
              <a:t>autopct</a:t>
            </a:r>
            <a:r>
              <a:rPr lang="en-IN" sz="2400" dirty="0"/>
              <a:t> parameter automatically calculates and formats our raw numbers into readable percentages on the chart itself.</a:t>
            </a:r>
          </a:p>
        </p:txBody>
      </p:sp>
    </p:spTree>
    <p:extLst>
      <p:ext uri="{BB962C8B-B14F-4D97-AF65-F5344CB8AC3E}">
        <p14:creationId xmlns:p14="http://schemas.microsoft.com/office/powerpoint/2010/main" val="2105127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31CE9-F4A2-4CB9-205B-A6539D66372B}"/>
              </a:ext>
            </a:extLst>
          </p:cNvPr>
          <p:cNvSpPr>
            <a:spLocks noGrp="1"/>
          </p:cNvSpPr>
          <p:nvPr>
            <p:ph type="title"/>
          </p:nvPr>
        </p:nvSpPr>
        <p:spPr>
          <a:xfrm>
            <a:off x="1371600" y="267462"/>
            <a:ext cx="9896475" cy="761492"/>
          </a:xfrm>
        </p:spPr>
        <p:txBody>
          <a:bodyPr/>
          <a:lstStyle/>
          <a:p>
            <a:r>
              <a:rPr lang="en-IN" dirty="0"/>
              <a:t>Box Plots for Distribution</a:t>
            </a:r>
          </a:p>
        </p:txBody>
      </p:sp>
      <p:sp>
        <p:nvSpPr>
          <p:cNvPr id="3" name="Text Placeholder 2">
            <a:extLst>
              <a:ext uri="{FF2B5EF4-FFF2-40B4-BE49-F238E27FC236}">
                <a16:creationId xmlns:a16="http://schemas.microsoft.com/office/drawing/2014/main" id="{F3D70F68-D392-C3B8-BCF3-4D475B562472}"/>
              </a:ext>
            </a:extLst>
          </p:cNvPr>
          <p:cNvSpPr>
            <a:spLocks noGrp="1"/>
          </p:cNvSpPr>
          <p:nvPr>
            <p:ph type="body" idx="1"/>
          </p:nvPr>
        </p:nvSpPr>
        <p:spPr>
          <a:xfrm>
            <a:off x="228600" y="1524000"/>
            <a:ext cx="7391400" cy="4862870"/>
          </a:xfrm>
        </p:spPr>
        <p:txBody>
          <a:bodyPr/>
          <a:lstStyle/>
          <a:p>
            <a:r>
              <a:rPr lang="en-IN" sz="2400" dirty="0" err="1">
                <a:latin typeface="Consolas" panose="020B0609020204030204" pitchFamily="49" charset="0"/>
              </a:rPr>
              <a:t>np.random.seed</a:t>
            </a:r>
            <a:r>
              <a:rPr lang="en-IN" sz="2400" dirty="0">
                <a:latin typeface="Consolas" panose="020B0609020204030204" pitchFamily="49" charset="0"/>
              </a:rPr>
              <a:t>(42)</a:t>
            </a:r>
          </a:p>
          <a:p>
            <a:r>
              <a:rPr lang="en-IN" sz="2400" dirty="0" err="1">
                <a:latin typeface="Consolas" panose="020B0609020204030204" pitchFamily="49" charset="0"/>
              </a:rPr>
              <a:t>model_a_scores</a:t>
            </a:r>
            <a:r>
              <a:rPr lang="en-IN" sz="2400" dirty="0">
                <a:latin typeface="Consolas" panose="020B0609020204030204" pitchFamily="49" charset="0"/>
              </a:rPr>
              <a:t> = </a:t>
            </a:r>
            <a:r>
              <a:rPr lang="en-IN" sz="2400" dirty="0" err="1">
                <a:latin typeface="Consolas" panose="020B0609020204030204" pitchFamily="49" charset="0"/>
              </a:rPr>
              <a:t>np.random.normal</a:t>
            </a:r>
            <a:r>
              <a:rPr lang="en-IN" sz="2400" dirty="0">
                <a:latin typeface="Consolas" panose="020B0609020204030204" pitchFamily="49" charset="0"/>
              </a:rPr>
              <a:t>(85, 5, 100)</a:t>
            </a:r>
          </a:p>
          <a:p>
            <a:r>
              <a:rPr lang="en-IN" sz="2400" dirty="0" err="1">
                <a:latin typeface="Consolas" panose="020B0609020204030204" pitchFamily="49" charset="0"/>
              </a:rPr>
              <a:t>model_b_scores</a:t>
            </a:r>
            <a:r>
              <a:rPr lang="en-IN" sz="2400" dirty="0">
                <a:latin typeface="Consolas" panose="020B0609020204030204" pitchFamily="49" charset="0"/>
              </a:rPr>
              <a:t> = </a:t>
            </a:r>
            <a:r>
              <a:rPr lang="en-IN" sz="2400" dirty="0" err="1">
                <a:latin typeface="Consolas" panose="020B0609020204030204" pitchFamily="49" charset="0"/>
              </a:rPr>
              <a:t>np.random.normal</a:t>
            </a:r>
            <a:r>
              <a:rPr lang="en-IN" sz="2400" dirty="0">
                <a:latin typeface="Consolas" panose="020B0609020204030204" pitchFamily="49" charset="0"/>
              </a:rPr>
              <a:t>(88, 3, 100)</a:t>
            </a:r>
          </a:p>
          <a:p>
            <a:r>
              <a:rPr lang="en-IN" sz="2400" dirty="0" err="1">
                <a:latin typeface="Consolas" panose="020B0609020204030204" pitchFamily="49" charset="0"/>
              </a:rPr>
              <a:t>plt.figure</a:t>
            </a:r>
            <a:r>
              <a:rPr lang="en-IN" sz="2400" dirty="0">
                <a:latin typeface="Consolas" panose="020B0609020204030204" pitchFamily="49" charset="0"/>
              </a:rPr>
              <a:t>(</a:t>
            </a:r>
            <a:r>
              <a:rPr lang="en-IN" sz="2400" dirty="0" err="1">
                <a:latin typeface="Consolas" panose="020B0609020204030204" pitchFamily="49" charset="0"/>
              </a:rPr>
              <a:t>figsize</a:t>
            </a:r>
            <a:r>
              <a:rPr lang="en-IN" sz="2400" dirty="0">
                <a:latin typeface="Consolas" panose="020B0609020204030204" pitchFamily="49" charset="0"/>
              </a:rPr>
              <a:t>=(10, 3))</a:t>
            </a:r>
          </a:p>
          <a:p>
            <a:r>
              <a:rPr lang="en-IN" sz="2400" dirty="0" err="1">
                <a:latin typeface="Consolas" panose="020B0609020204030204" pitchFamily="49" charset="0"/>
              </a:rPr>
              <a:t>plt.boxplot</a:t>
            </a:r>
            <a:r>
              <a:rPr lang="en-IN" sz="2400" dirty="0">
                <a:latin typeface="Consolas" panose="020B0609020204030204" pitchFamily="49" charset="0"/>
              </a:rPr>
              <a:t>([</a:t>
            </a:r>
            <a:r>
              <a:rPr lang="en-IN" sz="2400" dirty="0" err="1">
                <a:latin typeface="Consolas" panose="020B0609020204030204" pitchFamily="49" charset="0"/>
              </a:rPr>
              <a:t>model_a_scores</a:t>
            </a:r>
            <a:r>
              <a:rPr lang="en-IN" sz="2400" dirty="0">
                <a:latin typeface="Consolas" panose="020B0609020204030204" pitchFamily="49" charset="0"/>
              </a:rPr>
              <a:t>, </a:t>
            </a:r>
            <a:r>
              <a:rPr lang="en-IN" sz="2400" dirty="0" err="1">
                <a:latin typeface="Consolas" panose="020B0609020204030204" pitchFamily="49" charset="0"/>
              </a:rPr>
              <a:t>model_b_scores</a:t>
            </a:r>
            <a:r>
              <a:rPr lang="en-IN" sz="2400" dirty="0">
                <a:latin typeface="Consolas" panose="020B0609020204030204" pitchFamily="49" charset="0"/>
              </a:rPr>
              <a:t>], labels=['Model A', 'Model B'])</a:t>
            </a:r>
          </a:p>
          <a:p>
            <a:r>
              <a:rPr lang="en-IN" sz="2400" dirty="0" err="1">
                <a:latin typeface="Consolas" panose="020B0609020204030204" pitchFamily="49" charset="0"/>
              </a:rPr>
              <a:t>plt.title</a:t>
            </a:r>
            <a:r>
              <a:rPr lang="en-IN" sz="2400" dirty="0">
                <a:latin typeface="Consolas" panose="020B0609020204030204" pitchFamily="49" charset="0"/>
              </a:rPr>
              <a:t>("Performance Variance Across Runs")</a:t>
            </a:r>
          </a:p>
          <a:p>
            <a:r>
              <a:rPr lang="en-IN" sz="2400" dirty="0" err="1">
                <a:latin typeface="Consolas" panose="020B0609020204030204" pitchFamily="49" charset="0"/>
              </a:rPr>
              <a:t>plt.ylabel</a:t>
            </a:r>
            <a:r>
              <a:rPr lang="en-IN" sz="2400" dirty="0">
                <a:latin typeface="Consolas" panose="020B0609020204030204" pitchFamily="49" charset="0"/>
              </a:rPr>
              <a:t>("F1 Score")</a:t>
            </a:r>
          </a:p>
          <a:p>
            <a:r>
              <a:rPr lang="en-IN" sz="2400" dirty="0" err="1">
                <a:latin typeface="Consolas" panose="020B0609020204030204" pitchFamily="49" charset="0"/>
              </a:rPr>
              <a:t>plt.show</a:t>
            </a:r>
            <a:r>
              <a:rPr lang="en-IN" sz="2400" dirty="0">
                <a:latin typeface="Consolas" panose="020B0609020204030204" pitchFamily="49" charset="0"/>
              </a:rPr>
              <a:t>()</a:t>
            </a:r>
          </a:p>
        </p:txBody>
      </p:sp>
      <p:sp>
        <p:nvSpPr>
          <p:cNvPr id="4" name="TextBox 3">
            <a:extLst>
              <a:ext uri="{FF2B5EF4-FFF2-40B4-BE49-F238E27FC236}">
                <a16:creationId xmlns:a16="http://schemas.microsoft.com/office/drawing/2014/main" id="{3DA39CD0-6A46-5FC0-A683-B40D4EA8AFB9}"/>
              </a:ext>
            </a:extLst>
          </p:cNvPr>
          <p:cNvSpPr txBox="1"/>
          <p:nvPr/>
        </p:nvSpPr>
        <p:spPr>
          <a:xfrm>
            <a:off x="7391400" y="1295400"/>
            <a:ext cx="4648200" cy="3416320"/>
          </a:xfrm>
          <a:prstGeom prst="rect">
            <a:avLst/>
          </a:prstGeom>
          <a:noFill/>
        </p:spPr>
        <p:txBody>
          <a:bodyPr wrap="square" rtlCol="0">
            <a:spAutoFit/>
          </a:bodyPr>
          <a:lstStyle/>
          <a:p>
            <a:pPr marL="285750" indent="-285750">
              <a:buFont typeface="Arial" panose="020B0604020202020204" pitchFamily="34" charset="0"/>
              <a:buChar char="•"/>
            </a:pPr>
            <a:r>
              <a:rPr lang="en-IN" dirty="0"/>
              <a:t>Averages don't tell the whole story. Box plots show us the </a:t>
            </a:r>
            <a:r>
              <a:rPr lang="en-IN" i="1" dirty="0"/>
              <a:t>distribution</a:t>
            </a:r>
            <a:r>
              <a:rPr lang="en-IN" dirty="0"/>
              <a:t> of our data. The orange line in the middle is the </a:t>
            </a:r>
            <a:r>
              <a:rPr lang="en-IN" dirty="0">
                <a:solidFill>
                  <a:schemeClr val="accent1"/>
                </a:solidFill>
              </a:rPr>
              <a:t>median</a:t>
            </a:r>
            <a:r>
              <a:rPr lang="en-IN" dirty="0"/>
              <a:t>. The box contains the middle 50% of your data, and </a:t>
            </a:r>
          </a:p>
          <a:p>
            <a:pPr marL="285750" indent="-285750">
              <a:buFont typeface="Arial" panose="020B0604020202020204" pitchFamily="34" charset="0"/>
              <a:buChar char="•"/>
            </a:pPr>
            <a:r>
              <a:rPr lang="en-IN" dirty="0"/>
              <a:t>the whiskers show the range. Those little circles at the top and bottom? Matplotlib automatically detects and plots statistical </a:t>
            </a:r>
            <a:r>
              <a:rPr lang="en-IN" dirty="0">
                <a:solidFill>
                  <a:schemeClr val="accent1"/>
                </a:solidFill>
              </a:rPr>
              <a:t>outliers</a:t>
            </a:r>
            <a:r>
              <a:rPr lang="en-IN" dirty="0"/>
              <a:t> for you. </a:t>
            </a:r>
          </a:p>
          <a:p>
            <a:pPr marL="285750" indent="-285750">
              <a:buFont typeface="Arial" panose="020B0604020202020204" pitchFamily="34" charset="0"/>
              <a:buChar char="•"/>
            </a:pPr>
            <a:r>
              <a:rPr lang="en-IN" dirty="0"/>
              <a:t>This is essential when evaluating if a model is consistently good or just got lucky on a few runs.</a:t>
            </a:r>
          </a:p>
        </p:txBody>
      </p:sp>
      <p:pic>
        <p:nvPicPr>
          <p:cNvPr id="6" name="Picture 5">
            <a:extLst>
              <a:ext uri="{FF2B5EF4-FFF2-40B4-BE49-F238E27FC236}">
                <a16:creationId xmlns:a16="http://schemas.microsoft.com/office/drawing/2014/main" id="{1FB48C62-2BFE-60C6-CFB8-0447EEBAC26D}"/>
              </a:ext>
            </a:extLst>
          </p:cNvPr>
          <p:cNvPicPr>
            <a:picLocks noChangeAspect="1"/>
          </p:cNvPicPr>
          <p:nvPr/>
        </p:nvPicPr>
        <p:blipFill>
          <a:blip r:embed="rId2"/>
          <a:stretch>
            <a:fillRect/>
          </a:stretch>
        </p:blipFill>
        <p:spPr>
          <a:xfrm>
            <a:off x="7391400" y="4571480"/>
            <a:ext cx="4556760" cy="2139914"/>
          </a:xfrm>
          <a:prstGeom prst="rect">
            <a:avLst/>
          </a:prstGeom>
        </p:spPr>
      </p:pic>
    </p:spTree>
    <p:extLst>
      <p:ext uri="{BB962C8B-B14F-4D97-AF65-F5344CB8AC3E}">
        <p14:creationId xmlns:p14="http://schemas.microsoft.com/office/powerpoint/2010/main" val="3434671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84379-8574-96A2-FD9D-3D32938094EE}"/>
              </a:ext>
            </a:extLst>
          </p:cNvPr>
          <p:cNvSpPr>
            <a:spLocks noGrp="1"/>
          </p:cNvSpPr>
          <p:nvPr>
            <p:ph type="title"/>
          </p:nvPr>
        </p:nvSpPr>
        <p:spPr/>
        <p:txBody>
          <a:bodyPr/>
          <a:lstStyle/>
          <a:p>
            <a:r>
              <a:rPr lang="en-US" dirty="0"/>
              <a:t>Outlier Detection</a:t>
            </a:r>
            <a:endParaRPr lang="en-IN" dirty="0"/>
          </a:p>
        </p:txBody>
      </p:sp>
      <p:sp>
        <p:nvSpPr>
          <p:cNvPr id="3" name="Text Placeholder 2">
            <a:extLst>
              <a:ext uri="{FF2B5EF4-FFF2-40B4-BE49-F238E27FC236}">
                <a16:creationId xmlns:a16="http://schemas.microsoft.com/office/drawing/2014/main" id="{A0A4264A-1834-ED15-2D7A-70D1AD6274C7}"/>
              </a:ext>
            </a:extLst>
          </p:cNvPr>
          <p:cNvSpPr>
            <a:spLocks noGrp="1"/>
          </p:cNvSpPr>
          <p:nvPr>
            <p:ph type="body" idx="1"/>
          </p:nvPr>
        </p:nvSpPr>
        <p:spPr>
          <a:xfrm>
            <a:off x="152400" y="1600200"/>
            <a:ext cx="6553200" cy="5170646"/>
          </a:xfrm>
        </p:spPr>
        <p:txBody>
          <a:bodyPr/>
          <a:lstStyle/>
          <a:p>
            <a:r>
              <a:rPr lang="en-IN" dirty="0"/>
              <a:t>The IQR represents the range of the middle 50% of the data.</a:t>
            </a:r>
          </a:p>
          <a:p>
            <a:r>
              <a:rPr lang="en-IN" dirty="0"/>
              <a:t> </a:t>
            </a:r>
          </a:p>
          <a:p>
            <a:endParaRPr lang="en-IN" dirty="0"/>
          </a:p>
          <a:p>
            <a:endParaRPr lang="en-IN" dirty="0"/>
          </a:p>
          <a:p>
            <a:endParaRPr lang="en-IN" dirty="0"/>
          </a:p>
          <a:p>
            <a:r>
              <a:rPr lang="en-IN" b="1" dirty="0"/>
              <a:t>Formula:</a:t>
            </a:r>
          </a:p>
          <a:p>
            <a:r>
              <a:rPr lang="en-IN" dirty="0"/>
              <a:t>IQR = Q3 - Q1</a:t>
            </a:r>
          </a:p>
          <a:p>
            <a:r>
              <a:rPr lang="en-IN" i="1" dirty="0"/>
              <a:t>Q3 = Third Quartile (75th percentile) (0.75)</a:t>
            </a:r>
            <a:r>
              <a:rPr lang="en-IN" dirty="0"/>
              <a:t> </a:t>
            </a:r>
          </a:p>
          <a:p>
            <a:r>
              <a:rPr lang="en-IN" i="1" dirty="0"/>
              <a:t>Q1 = First Quartile (25th percentile) (0.25)</a:t>
            </a:r>
            <a:endParaRPr lang="en-IN" dirty="0"/>
          </a:p>
          <a:p>
            <a:endParaRPr lang="en-IN" dirty="0"/>
          </a:p>
        </p:txBody>
      </p:sp>
      <p:pic>
        <p:nvPicPr>
          <p:cNvPr id="5" name="Picture 4">
            <a:extLst>
              <a:ext uri="{FF2B5EF4-FFF2-40B4-BE49-F238E27FC236}">
                <a16:creationId xmlns:a16="http://schemas.microsoft.com/office/drawing/2014/main" id="{2FCEBA00-B184-34C1-C38B-332FDED0C6E3}"/>
              </a:ext>
            </a:extLst>
          </p:cNvPr>
          <p:cNvPicPr>
            <a:picLocks noChangeAspect="1"/>
          </p:cNvPicPr>
          <p:nvPr/>
        </p:nvPicPr>
        <p:blipFill>
          <a:blip r:embed="rId2"/>
          <a:stretch>
            <a:fillRect/>
          </a:stretch>
        </p:blipFill>
        <p:spPr>
          <a:xfrm>
            <a:off x="6715760" y="2133600"/>
            <a:ext cx="4851075" cy="2283646"/>
          </a:xfrm>
          <a:prstGeom prst="rect">
            <a:avLst/>
          </a:prstGeom>
        </p:spPr>
      </p:pic>
    </p:spTree>
    <p:extLst>
      <p:ext uri="{BB962C8B-B14F-4D97-AF65-F5344CB8AC3E}">
        <p14:creationId xmlns:p14="http://schemas.microsoft.com/office/powerpoint/2010/main" val="353863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FAEEA-EFD0-A6BB-D608-BB2353AFD5EA}"/>
              </a:ext>
            </a:extLst>
          </p:cNvPr>
          <p:cNvSpPr>
            <a:spLocks noGrp="1"/>
          </p:cNvSpPr>
          <p:nvPr>
            <p:ph type="title"/>
          </p:nvPr>
        </p:nvSpPr>
        <p:spPr/>
        <p:txBody>
          <a:bodyPr/>
          <a:lstStyle/>
          <a:p>
            <a:r>
              <a:rPr lang="en-US" dirty="0"/>
              <a:t>Outlier Detection</a:t>
            </a:r>
            <a:endParaRPr lang="en-IN" dirty="0"/>
          </a:p>
        </p:txBody>
      </p:sp>
      <p:sp>
        <p:nvSpPr>
          <p:cNvPr id="3" name="Text Placeholder 2">
            <a:extLst>
              <a:ext uri="{FF2B5EF4-FFF2-40B4-BE49-F238E27FC236}">
                <a16:creationId xmlns:a16="http://schemas.microsoft.com/office/drawing/2014/main" id="{19879B50-9137-5FFF-F430-212FA393530A}"/>
              </a:ext>
            </a:extLst>
          </p:cNvPr>
          <p:cNvSpPr>
            <a:spLocks noGrp="1"/>
          </p:cNvSpPr>
          <p:nvPr>
            <p:ph type="body" idx="1"/>
          </p:nvPr>
        </p:nvSpPr>
        <p:spPr>
          <a:xfrm>
            <a:off x="457200" y="2625130"/>
            <a:ext cx="10046970" cy="3877985"/>
          </a:xfrm>
        </p:spPr>
        <p:txBody>
          <a:bodyPr/>
          <a:lstStyle/>
          <a:p>
            <a:r>
              <a:rPr lang="en-IN" dirty="0">
                <a:latin typeface="Consolas" panose="020B0609020204030204" pitchFamily="49" charset="0"/>
              </a:rPr>
              <a:t>def </a:t>
            </a:r>
            <a:r>
              <a:rPr lang="en-IN" dirty="0" err="1">
                <a:latin typeface="Consolas" panose="020B0609020204030204" pitchFamily="49" charset="0"/>
              </a:rPr>
              <a:t>remove_outliers_iqr</a:t>
            </a:r>
            <a:r>
              <a:rPr lang="en-IN" dirty="0">
                <a:latin typeface="Consolas" panose="020B0609020204030204" pitchFamily="49" charset="0"/>
              </a:rPr>
              <a:t>(</a:t>
            </a:r>
            <a:r>
              <a:rPr lang="en-IN" dirty="0" err="1">
                <a:latin typeface="Consolas" panose="020B0609020204030204" pitchFamily="49" charset="0"/>
              </a:rPr>
              <a:t>df</a:t>
            </a:r>
            <a:r>
              <a:rPr lang="en-IN" dirty="0">
                <a:latin typeface="Consolas" panose="020B0609020204030204" pitchFamily="49" charset="0"/>
              </a:rPr>
              <a:t>, column):</a:t>
            </a:r>
          </a:p>
          <a:p>
            <a:r>
              <a:rPr lang="en-IN" dirty="0">
                <a:latin typeface="Consolas" panose="020B0609020204030204" pitchFamily="49" charset="0"/>
              </a:rPr>
              <a:t>    Q1 = </a:t>
            </a:r>
            <a:r>
              <a:rPr lang="en-IN" dirty="0" err="1">
                <a:latin typeface="Consolas" panose="020B0609020204030204" pitchFamily="49" charset="0"/>
              </a:rPr>
              <a:t>df</a:t>
            </a:r>
            <a:r>
              <a:rPr lang="en-IN" dirty="0">
                <a:latin typeface="Consolas" panose="020B0609020204030204" pitchFamily="49" charset="0"/>
              </a:rPr>
              <a:t>[column].</a:t>
            </a:r>
            <a:r>
              <a:rPr lang="en-IN" dirty="0">
                <a:solidFill>
                  <a:schemeClr val="tx2"/>
                </a:solidFill>
                <a:latin typeface="Consolas" panose="020B0609020204030204" pitchFamily="49" charset="0"/>
              </a:rPr>
              <a:t>quantile</a:t>
            </a:r>
            <a:r>
              <a:rPr lang="en-IN" dirty="0">
                <a:latin typeface="Consolas" panose="020B0609020204030204" pitchFamily="49" charset="0"/>
              </a:rPr>
              <a:t>(0.25)</a:t>
            </a:r>
          </a:p>
          <a:p>
            <a:r>
              <a:rPr lang="en-IN" dirty="0">
                <a:latin typeface="Consolas" panose="020B0609020204030204" pitchFamily="49" charset="0"/>
              </a:rPr>
              <a:t>    Q3 = </a:t>
            </a:r>
            <a:r>
              <a:rPr lang="en-IN" dirty="0" err="1">
                <a:latin typeface="Consolas" panose="020B0609020204030204" pitchFamily="49" charset="0"/>
              </a:rPr>
              <a:t>df</a:t>
            </a:r>
            <a:r>
              <a:rPr lang="en-IN" dirty="0">
                <a:latin typeface="Consolas" panose="020B0609020204030204" pitchFamily="49" charset="0"/>
              </a:rPr>
              <a:t>[column].</a:t>
            </a:r>
            <a:r>
              <a:rPr lang="en-IN" dirty="0">
                <a:solidFill>
                  <a:schemeClr val="tx2"/>
                </a:solidFill>
                <a:latin typeface="Consolas" panose="020B0609020204030204" pitchFamily="49" charset="0"/>
              </a:rPr>
              <a:t>quantile</a:t>
            </a:r>
            <a:r>
              <a:rPr lang="en-IN" dirty="0">
                <a:latin typeface="Consolas" panose="020B0609020204030204" pitchFamily="49" charset="0"/>
              </a:rPr>
              <a:t>(0.75)</a:t>
            </a:r>
          </a:p>
          <a:p>
            <a:r>
              <a:rPr lang="en-IN" dirty="0">
                <a:latin typeface="Consolas" panose="020B0609020204030204" pitchFamily="49" charset="0"/>
              </a:rPr>
              <a:t>    IQR = Q3 - Q1</a:t>
            </a:r>
          </a:p>
          <a:p>
            <a:r>
              <a:rPr lang="en-IN" dirty="0">
                <a:latin typeface="Consolas" panose="020B0609020204030204" pitchFamily="49" charset="0"/>
              </a:rPr>
              <a:t>    </a:t>
            </a:r>
            <a:r>
              <a:rPr lang="en-IN" dirty="0" err="1">
                <a:latin typeface="Consolas" panose="020B0609020204030204" pitchFamily="49" charset="0"/>
              </a:rPr>
              <a:t>lower_bound</a:t>
            </a:r>
            <a:r>
              <a:rPr lang="en-IN" dirty="0">
                <a:latin typeface="Consolas" panose="020B0609020204030204" pitchFamily="49" charset="0"/>
              </a:rPr>
              <a:t> = Q1 - 1.5 * IQR</a:t>
            </a:r>
          </a:p>
          <a:p>
            <a:r>
              <a:rPr lang="en-IN" dirty="0">
                <a:latin typeface="Consolas" panose="020B0609020204030204" pitchFamily="49" charset="0"/>
              </a:rPr>
              <a:t>    </a:t>
            </a:r>
            <a:r>
              <a:rPr lang="en-IN" dirty="0" err="1">
                <a:latin typeface="Consolas" panose="020B0609020204030204" pitchFamily="49" charset="0"/>
              </a:rPr>
              <a:t>upper_bound</a:t>
            </a:r>
            <a:r>
              <a:rPr lang="en-IN" dirty="0">
                <a:latin typeface="Consolas" panose="020B0609020204030204" pitchFamily="49" charset="0"/>
              </a:rPr>
              <a:t> = Q3 + 1.5 * IQR</a:t>
            </a:r>
          </a:p>
          <a:p>
            <a:r>
              <a:rPr lang="en-IN" dirty="0">
                <a:latin typeface="Consolas" panose="020B0609020204030204" pitchFamily="49" charset="0"/>
              </a:rPr>
              <a:t>    return </a:t>
            </a:r>
            <a:r>
              <a:rPr lang="en-IN" dirty="0" err="1">
                <a:latin typeface="Consolas" panose="020B0609020204030204" pitchFamily="49" charset="0"/>
              </a:rPr>
              <a:t>df</a:t>
            </a:r>
            <a:r>
              <a:rPr lang="en-IN" dirty="0">
                <a:latin typeface="Consolas" panose="020B0609020204030204" pitchFamily="49" charset="0"/>
              </a:rPr>
              <a:t>[(</a:t>
            </a:r>
            <a:r>
              <a:rPr lang="en-IN" dirty="0" err="1">
                <a:latin typeface="Consolas" panose="020B0609020204030204" pitchFamily="49" charset="0"/>
              </a:rPr>
              <a:t>df</a:t>
            </a:r>
            <a:r>
              <a:rPr lang="en-IN" dirty="0">
                <a:latin typeface="Consolas" panose="020B0609020204030204" pitchFamily="49" charset="0"/>
              </a:rPr>
              <a:t>[column] &gt;= </a:t>
            </a:r>
            <a:r>
              <a:rPr lang="en-IN" dirty="0" err="1">
                <a:latin typeface="Consolas" panose="020B0609020204030204" pitchFamily="49" charset="0"/>
              </a:rPr>
              <a:t>lower_bound</a:t>
            </a:r>
            <a:r>
              <a:rPr lang="en-IN" dirty="0">
                <a:latin typeface="Consolas" panose="020B0609020204030204" pitchFamily="49" charset="0"/>
              </a:rPr>
              <a:t>) &amp; (</a:t>
            </a:r>
            <a:r>
              <a:rPr lang="en-IN" dirty="0" err="1">
                <a:latin typeface="Consolas" panose="020B0609020204030204" pitchFamily="49" charset="0"/>
              </a:rPr>
              <a:t>df</a:t>
            </a:r>
            <a:r>
              <a:rPr lang="en-IN" dirty="0">
                <a:latin typeface="Consolas" panose="020B0609020204030204" pitchFamily="49" charset="0"/>
              </a:rPr>
              <a:t>[column] &lt;= </a:t>
            </a:r>
            <a:r>
              <a:rPr lang="en-IN" dirty="0" err="1">
                <a:latin typeface="Consolas" panose="020B0609020204030204" pitchFamily="49" charset="0"/>
              </a:rPr>
              <a:t>upper_bound</a:t>
            </a:r>
            <a:r>
              <a:rPr lang="en-IN" dirty="0">
                <a:latin typeface="Consolas" panose="020B0609020204030204" pitchFamily="49" charset="0"/>
              </a:rPr>
              <a:t>)]</a:t>
            </a:r>
          </a:p>
          <a:p>
            <a:endParaRPr lang="en-IN" dirty="0">
              <a:latin typeface="Consolas" panose="020B0609020204030204" pitchFamily="49" charset="0"/>
            </a:endParaRPr>
          </a:p>
        </p:txBody>
      </p:sp>
      <p:sp>
        <p:nvSpPr>
          <p:cNvPr id="4" name="TextBox 3">
            <a:extLst>
              <a:ext uri="{FF2B5EF4-FFF2-40B4-BE49-F238E27FC236}">
                <a16:creationId xmlns:a16="http://schemas.microsoft.com/office/drawing/2014/main" id="{373B9D27-4D90-BA12-1C02-9E08776BC37D}"/>
              </a:ext>
            </a:extLst>
          </p:cNvPr>
          <p:cNvSpPr txBox="1"/>
          <p:nvPr/>
        </p:nvSpPr>
        <p:spPr>
          <a:xfrm>
            <a:off x="609600" y="1676400"/>
            <a:ext cx="9364981" cy="923330"/>
          </a:xfrm>
          <a:prstGeom prst="rect">
            <a:avLst/>
          </a:prstGeom>
          <a:noFill/>
        </p:spPr>
        <p:txBody>
          <a:bodyPr wrap="square" rtlCol="0">
            <a:spAutoFit/>
          </a:bodyPr>
          <a:lstStyle/>
          <a:p>
            <a:r>
              <a:rPr lang="en-IN" b="1" dirty="0"/>
              <a:t>Lower bound:</a:t>
            </a:r>
            <a:r>
              <a:rPr lang="en-IN" dirty="0"/>
              <a:t> Q1 - (1.5*IQR)</a:t>
            </a:r>
          </a:p>
          <a:p>
            <a:r>
              <a:rPr lang="en-IN" b="1" dirty="0"/>
              <a:t>Upper bound:</a:t>
            </a:r>
            <a:r>
              <a:rPr lang="en-IN" dirty="0"/>
              <a:t> Q3 + (1.5* IQR)</a:t>
            </a:r>
          </a:p>
          <a:p>
            <a:endParaRPr lang="en-IN" dirty="0"/>
          </a:p>
        </p:txBody>
      </p:sp>
      <p:pic>
        <p:nvPicPr>
          <p:cNvPr id="5" name="Picture 4">
            <a:extLst>
              <a:ext uri="{FF2B5EF4-FFF2-40B4-BE49-F238E27FC236}">
                <a16:creationId xmlns:a16="http://schemas.microsoft.com/office/drawing/2014/main" id="{E2665790-2735-D28B-6DE8-2A7E22B4D30D}"/>
              </a:ext>
            </a:extLst>
          </p:cNvPr>
          <p:cNvPicPr>
            <a:picLocks noChangeAspect="1"/>
          </p:cNvPicPr>
          <p:nvPr/>
        </p:nvPicPr>
        <p:blipFill>
          <a:blip r:embed="rId2"/>
          <a:stretch>
            <a:fillRect/>
          </a:stretch>
        </p:blipFill>
        <p:spPr>
          <a:xfrm>
            <a:off x="7531062" y="1295400"/>
            <a:ext cx="4532337" cy="2133600"/>
          </a:xfrm>
          <a:prstGeom prst="rect">
            <a:avLst/>
          </a:prstGeom>
        </p:spPr>
      </p:pic>
    </p:spTree>
    <p:extLst>
      <p:ext uri="{BB962C8B-B14F-4D97-AF65-F5344CB8AC3E}">
        <p14:creationId xmlns:p14="http://schemas.microsoft.com/office/powerpoint/2010/main" val="2228952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0B9FE-8EF5-68B2-2B9A-6DE8FDEE8C5D}"/>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A1672E3D-D01F-E32B-2AE3-8732B17C08A4}"/>
              </a:ext>
            </a:extLst>
          </p:cNvPr>
          <p:cNvPicPr>
            <a:picLocks noChangeAspect="1"/>
          </p:cNvPicPr>
          <p:nvPr/>
        </p:nvPicPr>
        <p:blipFill>
          <a:blip r:embed="rId2"/>
          <a:stretch>
            <a:fillRect/>
          </a:stretch>
        </p:blipFill>
        <p:spPr>
          <a:xfrm>
            <a:off x="7315200" y="2971800"/>
            <a:ext cx="3673344" cy="2653265"/>
          </a:xfrm>
          <a:prstGeom prst="rect">
            <a:avLst/>
          </a:prstGeom>
        </p:spPr>
      </p:pic>
      <p:pic>
        <p:nvPicPr>
          <p:cNvPr id="7" name="Picture 6">
            <a:extLst>
              <a:ext uri="{FF2B5EF4-FFF2-40B4-BE49-F238E27FC236}">
                <a16:creationId xmlns:a16="http://schemas.microsoft.com/office/drawing/2014/main" id="{72479711-7930-8B69-427E-2FF99E2B7270}"/>
              </a:ext>
            </a:extLst>
          </p:cNvPr>
          <p:cNvPicPr>
            <a:picLocks noChangeAspect="1"/>
          </p:cNvPicPr>
          <p:nvPr/>
        </p:nvPicPr>
        <p:blipFill>
          <a:blip r:embed="rId3"/>
          <a:stretch>
            <a:fillRect/>
          </a:stretch>
        </p:blipFill>
        <p:spPr>
          <a:xfrm>
            <a:off x="685799" y="2783915"/>
            <a:ext cx="3673343" cy="2685108"/>
          </a:xfrm>
          <a:prstGeom prst="rect">
            <a:avLst/>
          </a:prstGeom>
        </p:spPr>
      </p:pic>
      <p:sp>
        <p:nvSpPr>
          <p:cNvPr id="8" name="TextBox 7">
            <a:extLst>
              <a:ext uri="{FF2B5EF4-FFF2-40B4-BE49-F238E27FC236}">
                <a16:creationId xmlns:a16="http://schemas.microsoft.com/office/drawing/2014/main" id="{0906A56D-93E1-76C7-90E2-37036F630DEB}"/>
              </a:ext>
            </a:extLst>
          </p:cNvPr>
          <p:cNvSpPr txBox="1"/>
          <p:nvPr/>
        </p:nvSpPr>
        <p:spPr>
          <a:xfrm>
            <a:off x="1731229" y="2362200"/>
            <a:ext cx="1582484" cy="369332"/>
          </a:xfrm>
          <a:prstGeom prst="rect">
            <a:avLst/>
          </a:prstGeom>
          <a:noFill/>
        </p:spPr>
        <p:txBody>
          <a:bodyPr wrap="none" rtlCol="0">
            <a:spAutoFit/>
          </a:bodyPr>
          <a:lstStyle/>
          <a:p>
            <a:r>
              <a:rPr lang="en-US" dirty="0"/>
              <a:t>Initial Dataset</a:t>
            </a:r>
            <a:endParaRPr lang="en-IN" dirty="0"/>
          </a:p>
        </p:txBody>
      </p:sp>
      <p:sp>
        <p:nvSpPr>
          <p:cNvPr id="11" name="TextBox 10">
            <a:extLst>
              <a:ext uri="{FF2B5EF4-FFF2-40B4-BE49-F238E27FC236}">
                <a16:creationId xmlns:a16="http://schemas.microsoft.com/office/drawing/2014/main" id="{4397F8CE-6EAB-9034-A9C8-9E73E8381E57}"/>
              </a:ext>
            </a:extLst>
          </p:cNvPr>
          <p:cNvSpPr txBox="1"/>
          <p:nvPr/>
        </p:nvSpPr>
        <p:spPr>
          <a:xfrm>
            <a:off x="7848600" y="2362200"/>
            <a:ext cx="3082895" cy="369332"/>
          </a:xfrm>
          <a:prstGeom prst="rect">
            <a:avLst/>
          </a:prstGeom>
          <a:noFill/>
        </p:spPr>
        <p:txBody>
          <a:bodyPr wrap="none" rtlCol="0">
            <a:spAutoFit/>
          </a:bodyPr>
          <a:lstStyle/>
          <a:p>
            <a:r>
              <a:rPr lang="en-US" dirty="0"/>
              <a:t>Dataset after outlier removal</a:t>
            </a:r>
            <a:endParaRPr lang="en-IN" dirty="0"/>
          </a:p>
        </p:txBody>
      </p:sp>
    </p:spTree>
    <p:extLst>
      <p:ext uri="{BB962C8B-B14F-4D97-AF65-F5344CB8AC3E}">
        <p14:creationId xmlns:p14="http://schemas.microsoft.com/office/powerpoint/2010/main" val="3913197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7A35D-6E42-7B88-1854-5232AFA5FB5D}"/>
              </a:ext>
            </a:extLst>
          </p:cNvPr>
          <p:cNvSpPr>
            <a:spLocks noGrp="1"/>
          </p:cNvSpPr>
          <p:nvPr>
            <p:ph type="title"/>
          </p:nvPr>
        </p:nvSpPr>
        <p:spPr/>
        <p:txBody>
          <a:bodyPr/>
          <a:lstStyle/>
          <a:p>
            <a:r>
              <a:rPr lang="en-IN" dirty="0"/>
              <a:t>The Anatomy of a Box Plot</a:t>
            </a:r>
          </a:p>
        </p:txBody>
      </p:sp>
      <p:sp>
        <p:nvSpPr>
          <p:cNvPr id="3" name="Text Placeholder 2">
            <a:extLst>
              <a:ext uri="{FF2B5EF4-FFF2-40B4-BE49-F238E27FC236}">
                <a16:creationId xmlns:a16="http://schemas.microsoft.com/office/drawing/2014/main" id="{1B344B6A-2802-2564-36F8-5D0FA2098E34}"/>
              </a:ext>
            </a:extLst>
          </p:cNvPr>
          <p:cNvSpPr>
            <a:spLocks noGrp="1"/>
          </p:cNvSpPr>
          <p:nvPr>
            <p:ph type="body" idx="1"/>
          </p:nvPr>
        </p:nvSpPr>
        <p:spPr>
          <a:xfrm>
            <a:off x="152400" y="1683259"/>
            <a:ext cx="12039600" cy="4924425"/>
          </a:xfrm>
        </p:spPr>
        <p:txBody>
          <a:bodyPr/>
          <a:lstStyle/>
          <a:p>
            <a:r>
              <a:rPr lang="en-IN" sz="2000" b="1" dirty="0"/>
              <a:t>Minimum (min):</a:t>
            </a:r>
            <a:r>
              <a:rPr lang="en-IN" sz="2000" dirty="0"/>
              <a:t> The lowest data point in your dataset, excluding any statistical outliers. It marks the end of the left whisker.</a:t>
            </a:r>
          </a:p>
          <a:p>
            <a:r>
              <a:rPr lang="en-IN" sz="2000" b="1" dirty="0"/>
              <a:t>Lower Quartile (Q1):</a:t>
            </a:r>
            <a:r>
              <a:rPr lang="en-IN" sz="2000" dirty="0"/>
              <a:t> The 25th percentile. Exactly 25% of your data points fall below this line. It forms the left edge of the box.</a:t>
            </a:r>
          </a:p>
          <a:p>
            <a:r>
              <a:rPr lang="en-IN" sz="2000" b="1" dirty="0"/>
              <a:t>Median (Q2):</a:t>
            </a:r>
            <a:r>
              <a:rPr lang="en-IN" sz="2000" dirty="0"/>
              <a:t> The 50th percentile, or the exact middle value of your dataset. Half the data is above this red line, and half is below. It shows the central tendency of your data.</a:t>
            </a:r>
          </a:p>
          <a:p>
            <a:r>
              <a:rPr lang="en-IN" sz="2000" b="1" dirty="0"/>
              <a:t>Upper Quartile (Q3):</a:t>
            </a:r>
            <a:r>
              <a:rPr lang="en-IN" sz="2000" dirty="0"/>
              <a:t> The 75th percentile. Exactly 75% of your data falls below this line (meaning 25% is above it). It forms the right edge of the box.</a:t>
            </a:r>
          </a:p>
          <a:p>
            <a:r>
              <a:rPr lang="en-IN" sz="2000" b="1" dirty="0"/>
              <a:t>Maximum (max):</a:t>
            </a:r>
            <a:r>
              <a:rPr lang="en-IN" sz="2000" dirty="0"/>
              <a:t> The highest data point in your dataset, excluding outliers. It marks the end of the right whisker.</a:t>
            </a:r>
          </a:p>
          <a:p>
            <a:r>
              <a:rPr lang="en-IN" sz="2000" b="1" dirty="0"/>
              <a:t>Interquartile Range (IQR):</a:t>
            </a:r>
            <a:r>
              <a:rPr lang="en-IN" sz="2000" dirty="0"/>
              <a:t> The physical length of the box, calculated as $IQR = Q3 - Q1$. This is the most crucial part of the plot because it represents the "middle 50%" of your data. It shows where the bulk of your typical values lie.</a:t>
            </a:r>
          </a:p>
          <a:p>
            <a:r>
              <a:rPr lang="en-IN" sz="2000" b="1" dirty="0"/>
              <a:t>Whiskers:</a:t>
            </a:r>
            <a:r>
              <a:rPr lang="en-IN" sz="2000" dirty="0"/>
              <a:t> The lines extending outward from the box to the min and max. They show the full spread of the data outside the middle 50%.</a:t>
            </a:r>
          </a:p>
          <a:p>
            <a:endParaRPr lang="en-IN" sz="2000" dirty="0"/>
          </a:p>
        </p:txBody>
      </p:sp>
    </p:spTree>
    <p:extLst>
      <p:ext uri="{BB962C8B-B14F-4D97-AF65-F5344CB8AC3E}">
        <p14:creationId xmlns:p14="http://schemas.microsoft.com/office/powerpoint/2010/main" val="1353537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09D2B2-3B81-7F44-6AB9-E76E091A1B99}"/>
              </a:ext>
            </a:extLst>
          </p:cNvPr>
          <p:cNvSpPr>
            <a:spLocks noGrp="1"/>
          </p:cNvSpPr>
          <p:nvPr>
            <p:ph type="body" idx="1"/>
          </p:nvPr>
        </p:nvSpPr>
        <p:spPr>
          <a:xfrm>
            <a:off x="1219200" y="197346"/>
            <a:ext cx="10046970" cy="6463308"/>
          </a:xfrm>
        </p:spPr>
        <p:txBody>
          <a:bodyPr/>
          <a:lstStyle/>
          <a:p>
            <a:r>
              <a:rPr lang="en-IN" sz="2000" dirty="0">
                <a:latin typeface="Consolas" panose="020B0609020204030204" pitchFamily="49" charset="0"/>
              </a:rPr>
              <a:t>import </a:t>
            </a:r>
            <a:r>
              <a:rPr lang="en-IN" sz="2000" dirty="0" err="1">
                <a:latin typeface="Consolas" panose="020B0609020204030204" pitchFamily="49" charset="0"/>
              </a:rPr>
              <a:t>numpy</a:t>
            </a:r>
            <a:r>
              <a:rPr lang="en-IN" sz="2000" dirty="0">
                <a:latin typeface="Consolas" panose="020B0609020204030204" pitchFamily="49" charset="0"/>
              </a:rPr>
              <a:t> as np</a:t>
            </a:r>
          </a:p>
          <a:p>
            <a:r>
              <a:rPr lang="en-IN" sz="2000" dirty="0">
                <a:latin typeface="Consolas" panose="020B0609020204030204" pitchFamily="49" charset="0"/>
              </a:rPr>
              <a:t>data = [12, 15, 17, 20, 22, 25, 29, 35, 40, 65]</a:t>
            </a:r>
          </a:p>
          <a:p>
            <a:endParaRPr lang="en-IN" sz="2000" dirty="0"/>
          </a:p>
          <a:p>
            <a:r>
              <a:rPr lang="en-IN" sz="2000" b="1" dirty="0"/>
              <a:t>2. Calculate the Quartiles and Median using percentiles</a:t>
            </a:r>
          </a:p>
          <a:p>
            <a:r>
              <a:rPr lang="en-IN" sz="2000" dirty="0">
                <a:latin typeface="Consolas" panose="020B0609020204030204" pitchFamily="49" charset="0"/>
              </a:rPr>
              <a:t>q1 = </a:t>
            </a:r>
            <a:r>
              <a:rPr lang="en-IN" sz="2000" dirty="0" err="1">
                <a:latin typeface="Consolas" panose="020B0609020204030204" pitchFamily="49" charset="0"/>
              </a:rPr>
              <a:t>np.percentile</a:t>
            </a:r>
            <a:r>
              <a:rPr lang="en-IN" sz="2000" dirty="0">
                <a:latin typeface="Consolas" panose="020B0609020204030204" pitchFamily="49" charset="0"/>
              </a:rPr>
              <a:t>(data, 25)</a:t>
            </a:r>
          </a:p>
          <a:p>
            <a:r>
              <a:rPr lang="en-IN" sz="2000" dirty="0">
                <a:latin typeface="Consolas" panose="020B0609020204030204" pitchFamily="49" charset="0"/>
              </a:rPr>
              <a:t>median = </a:t>
            </a:r>
            <a:r>
              <a:rPr lang="en-IN" sz="2000" dirty="0" err="1">
                <a:latin typeface="Consolas" panose="020B0609020204030204" pitchFamily="49" charset="0"/>
              </a:rPr>
              <a:t>np.median</a:t>
            </a:r>
            <a:r>
              <a:rPr lang="en-IN" sz="2000" dirty="0">
                <a:latin typeface="Consolas" panose="020B0609020204030204" pitchFamily="49" charset="0"/>
              </a:rPr>
              <a:t>(data) # Equivalent to </a:t>
            </a:r>
            <a:r>
              <a:rPr lang="en-IN" sz="2000" dirty="0" err="1">
                <a:latin typeface="Consolas" panose="020B0609020204030204" pitchFamily="49" charset="0"/>
              </a:rPr>
              <a:t>np.percentile</a:t>
            </a:r>
            <a:r>
              <a:rPr lang="en-IN" sz="2000" dirty="0">
                <a:latin typeface="Consolas" panose="020B0609020204030204" pitchFamily="49" charset="0"/>
              </a:rPr>
              <a:t>(data, 50)</a:t>
            </a:r>
          </a:p>
          <a:p>
            <a:r>
              <a:rPr lang="en-IN" sz="2000" dirty="0">
                <a:latin typeface="Consolas" panose="020B0609020204030204" pitchFamily="49" charset="0"/>
              </a:rPr>
              <a:t>q3 = </a:t>
            </a:r>
            <a:r>
              <a:rPr lang="en-IN" sz="2000" dirty="0" err="1">
                <a:latin typeface="Consolas" panose="020B0609020204030204" pitchFamily="49" charset="0"/>
              </a:rPr>
              <a:t>np.percentile</a:t>
            </a:r>
            <a:r>
              <a:rPr lang="en-IN" sz="2000" dirty="0">
                <a:latin typeface="Consolas" panose="020B0609020204030204" pitchFamily="49" charset="0"/>
              </a:rPr>
              <a:t>(data, 75)</a:t>
            </a:r>
          </a:p>
          <a:p>
            <a:endParaRPr lang="en-IN" sz="2000" dirty="0"/>
          </a:p>
          <a:p>
            <a:r>
              <a:rPr lang="en-IN" sz="2000" b="1" dirty="0"/>
              <a:t>3. Calculate the Interquartile Range (IQR)</a:t>
            </a:r>
          </a:p>
          <a:p>
            <a:endParaRPr lang="en-IN" sz="2000" b="1" dirty="0"/>
          </a:p>
          <a:p>
            <a:r>
              <a:rPr lang="en-IN" sz="2000" dirty="0" err="1">
                <a:latin typeface="Consolas" panose="020B0609020204030204" pitchFamily="49" charset="0"/>
              </a:rPr>
              <a:t>iqr</a:t>
            </a:r>
            <a:r>
              <a:rPr lang="en-IN" sz="2000" dirty="0">
                <a:latin typeface="Consolas" panose="020B0609020204030204" pitchFamily="49" charset="0"/>
              </a:rPr>
              <a:t> = q3 - q1</a:t>
            </a:r>
          </a:p>
          <a:p>
            <a:endParaRPr lang="en-IN" sz="2000" dirty="0"/>
          </a:p>
          <a:p>
            <a:r>
              <a:rPr lang="en-IN" sz="2000" b="1" dirty="0"/>
              <a:t>4. Determine the whisker bounds (standard 1.5 * IQR rule)</a:t>
            </a:r>
          </a:p>
          <a:p>
            <a:r>
              <a:rPr lang="en-IN" sz="2000" dirty="0" err="1">
                <a:latin typeface="Consolas" panose="020B0609020204030204" pitchFamily="49" charset="0"/>
              </a:rPr>
              <a:t>lower_bound</a:t>
            </a:r>
            <a:r>
              <a:rPr lang="en-IN" sz="2000" dirty="0">
                <a:latin typeface="Consolas" panose="020B0609020204030204" pitchFamily="49" charset="0"/>
              </a:rPr>
              <a:t> = q1 - (1.5 * </a:t>
            </a:r>
            <a:r>
              <a:rPr lang="en-IN" sz="2000" dirty="0" err="1">
                <a:latin typeface="Consolas" panose="020B0609020204030204" pitchFamily="49" charset="0"/>
              </a:rPr>
              <a:t>iqr</a:t>
            </a:r>
            <a:r>
              <a:rPr lang="en-IN" sz="2000" dirty="0">
                <a:latin typeface="Consolas" panose="020B0609020204030204" pitchFamily="49" charset="0"/>
              </a:rPr>
              <a:t>)</a:t>
            </a:r>
          </a:p>
          <a:p>
            <a:r>
              <a:rPr lang="en-IN" sz="2000" dirty="0" err="1">
                <a:latin typeface="Consolas" panose="020B0609020204030204" pitchFamily="49" charset="0"/>
              </a:rPr>
              <a:t>upper_bound</a:t>
            </a:r>
            <a:r>
              <a:rPr lang="en-IN" sz="2000" dirty="0">
                <a:latin typeface="Consolas" panose="020B0609020204030204" pitchFamily="49" charset="0"/>
              </a:rPr>
              <a:t> = q3 + (1.5 * </a:t>
            </a:r>
            <a:r>
              <a:rPr lang="en-IN" sz="2000" dirty="0" err="1">
                <a:latin typeface="Consolas" panose="020B0609020204030204" pitchFamily="49" charset="0"/>
              </a:rPr>
              <a:t>iqr</a:t>
            </a:r>
            <a:r>
              <a:rPr lang="en-IN" sz="2000" dirty="0">
                <a:latin typeface="Consolas" panose="020B0609020204030204" pitchFamily="49" charset="0"/>
              </a:rPr>
              <a:t>)</a:t>
            </a:r>
          </a:p>
          <a:p>
            <a:endParaRPr lang="en-IN" sz="2000" dirty="0"/>
          </a:p>
          <a:p>
            <a:r>
              <a:rPr lang="en-IN" sz="2000" b="1" dirty="0"/>
              <a:t>5. Find actual Min and Max within the bounds (excluding outliers)</a:t>
            </a:r>
          </a:p>
          <a:p>
            <a:r>
              <a:rPr lang="en-IN" sz="2000" i="1" dirty="0"/>
              <a:t>We filter the data to only include points within our calculated bounds</a:t>
            </a:r>
          </a:p>
          <a:p>
            <a:r>
              <a:rPr lang="en-IN" sz="2000" dirty="0" err="1">
                <a:latin typeface="Consolas" panose="020B0609020204030204" pitchFamily="49" charset="0"/>
              </a:rPr>
              <a:t>min_val</a:t>
            </a:r>
            <a:r>
              <a:rPr lang="en-IN" sz="2000" dirty="0">
                <a:latin typeface="Consolas" panose="020B0609020204030204" pitchFamily="49" charset="0"/>
              </a:rPr>
              <a:t> = </a:t>
            </a:r>
            <a:r>
              <a:rPr lang="en-IN" sz="2000" dirty="0" err="1">
                <a:latin typeface="Consolas" panose="020B0609020204030204" pitchFamily="49" charset="0"/>
              </a:rPr>
              <a:t>np.min</a:t>
            </a:r>
            <a:r>
              <a:rPr lang="en-IN" sz="2000" dirty="0">
                <a:latin typeface="Consolas" panose="020B0609020204030204" pitchFamily="49" charset="0"/>
              </a:rPr>
              <a:t>([x for x in data if x &gt;= </a:t>
            </a:r>
            <a:r>
              <a:rPr lang="en-IN" sz="2000" dirty="0" err="1">
                <a:latin typeface="Consolas" panose="020B0609020204030204" pitchFamily="49" charset="0"/>
              </a:rPr>
              <a:t>lower_bound</a:t>
            </a:r>
            <a:r>
              <a:rPr lang="en-IN" sz="2000" dirty="0">
                <a:latin typeface="Consolas" panose="020B0609020204030204" pitchFamily="49" charset="0"/>
              </a:rPr>
              <a:t>])</a:t>
            </a:r>
          </a:p>
          <a:p>
            <a:r>
              <a:rPr lang="en-IN" sz="2000" dirty="0" err="1">
                <a:latin typeface="Consolas" panose="020B0609020204030204" pitchFamily="49" charset="0"/>
              </a:rPr>
              <a:t>max_val</a:t>
            </a:r>
            <a:r>
              <a:rPr lang="en-IN" sz="2000" dirty="0">
                <a:latin typeface="Consolas" panose="020B0609020204030204" pitchFamily="49" charset="0"/>
              </a:rPr>
              <a:t> = </a:t>
            </a:r>
            <a:r>
              <a:rPr lang="en-IN" sz="2000" dirty="0" err="1">
                <a:latin typeface="Consolas" panose="020B0609020204030204" pitchFamily="49" charset="0"/>
              </a:rPr>
              <a:t>np.max</a:t>
            </a:r>
            <a:r>
              <a:rPr lang="en-IN" sz="2000" dirty="0">
                <a:latin typeface="Consolas" panose="020B0609020204030204" pitchFamily="49" charset="0"/>
              </a:rPr>
              <a:t>([x for x in data if x &lt;= </a:t>
            </a:r>
            <a:r>
              <a:rPr lang="en-IN" sz="2000" dirty="0" err="1">
                <a:latin typeface="Consolas" panose="020B0609020204030204" pitchFamily="49" charset="0"/>
              </a:rPr>
              <a:t>upper_bound</a:t>
            </a:r>
            <a:r>
              <a:rPr lang="en-IN" sz="2000" dirty="0">
                <a:latin typeface="Consolas" panose="020B0609020204030204" pitchFamily="49" charset="0"/>
              </a:rPr>
              <a:t>])</a:t>
            </a:r>
          </a:p>
          <a:p>
            <a:endParaRPr lang="en-IN" sz="2000" dirty="0"/>
          </a:p>
        </p:txBody>
      </p:sp>
    </p:spTree>
    <p:extLst>
      <p:ext uri="{BB962C8B-B14F-4D97-AF65-F5344CB8AC3E}">
        <p14:creationId xmlns:p14="http://schemas.microsoft.com/office/powerpoint/2010/main" val="250886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F7F0-EF63-F8F3-9623-3DF4A4C9DCD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7390EA7-250D-64D2-FF99-13EF677369FF}"/>
              </a:ext>
            </a:extLst>
          </p:cNvPr>
          <p:cNvSpPr>
            <a:spLocks noGrp="1"/>
          </p:cNvSpPr>
          <p:nvPr>
            <p:ph type="body" idx="1"/>
          </p:nvPr>
        </p:nvSpPr>
        <p:spPr>
          <a:xfrm>
            <a:off x="1072514" y="1070508"/>
            <a:ext cx="10046970" cy="6032421"/>
          </a:xfrm>
        </p:spPr>
        <p:txBody>
          <a:bodyPr/>
          <a:lstStyle/>
          <a:p>
            <a:r>
              <a:rPr lang="en-IN" dirty="0"/>
              <a:t># 6. Display the results</a:t>
            </a:r>
          </a:p>
          <a:p>
            <a:r>
              <a:rPr lang="en-IN" dirty="0"/>
              <a:t>print("--- Box Plot Statistics ---")</a:t>
            </a:r>
          </a:p>
          <a:p>
            <a:r>
              <a:rPr lang="en-IN" dirty="0"/>
              <a:t>print(</a:t>
            </a:r>
            <a:r>
              <a:rPr lang="en-IN" dirty="0" err="1"/>
              <a:t>f"Minimum</a:t>
            </a:r>
            <a:r>
              <a:rPr lang="en-IN" dirty="0"/>
              <a:t>: {</a:t>
            </a:r>
            <a:r>
              <a:rPr lang="en-IN" dirty="0" err="1"/>
              <a:t>min_val</a:t>
            </a:r>
            <a:r>
              <a:rPr lang="en-IN" dirty="0"/>
              <a:t>}")</a:t>
            </a:r>
          </a:p>
          <a:p>
            <a:r>
              <a:rPr lang="en-IN" dirty="0"/>
              <a:t>print(f"Q1:      {q1}")</a:t>
            </a:r>
          </a:p>
          <a:p>
            <a:r>
              <a:rPr lang="en-IN" dirty="0"/>
              <a:t>print(</a:t>
            </a:r>
            <a:r>
              <a:rPr lang="en-IN" dirty="0" err="1"/>
              <a:t>f"Median</a:t>
            </a:r>
            <a:r>
              <a:rPr lang="en-IN" dirty="0"/>
              <a:t>:  {median}")</a:t>
            </a:r>
          </a:p>
          <a:p>
            <a:r>
              <a:rPr lang="en-IN" dirty="0"/>
              <a:t>print(f"Q3:      {q3}")</a:t>
            </a:r>
          </a:p>
          <a:p>
            <a:r>
              <a:rPr lang="en-IN" dirty="0"/>
              <a:t>print(</a:t>
            </a:r>
            <a:r>
              <a:rPr lang="en-IN" dirty="0" err="1"/>
              <a:t>f"Maximum</a:t>
            </a:r>
            <a:r>
              <a:rPr lang="en-IN" dirty="0"/>
              <a:t>: {</a:t>
            </a:r>
            <a:r>
              <a:rPr lang="en-IN" dirty="0" err="1"/>
              <a:t>max_val</a:t>
            </a:r>
            <a:r>
              <a:rPr lang="en-IN" dirty="0"/>
              <a:t>}")</a:t>
            </a:r>
          </a:p>
          <a:p>
            <a:r>
              <a:rPr lang="en-IN" dirty="0"/>
              <a:t>print(</a:t>
            </a:r>
            <a:r>
              <a:rPr lang="en-IN" dirty="0" err="1"/>
              <a:t>f"IQR</a:t>
            </a:r>
            <a:r>
              <a:rPr lang="en-IN" dirty="0"/>
              <a:t>:     {</a:t>
            </a:r>
            <a:r>
              <a:rPr lang="en-IN" dirty="0" err="1"/>
              <a:t>iqr</a:t>
            </a:r>
            <a:r>
              <a:rPr lang="en-IN" dirty="0"/>
              <a:t>}")</a:t>
            </a:r>
          </a:p>
          <a:p>
            <a:endParaRPr lang="en-IN" dirty="0"/>
          </a:p>
          <a:p>
            <a:r>
              <a:rPr lang="en-IN" dirty="0"/>
              <a:t># Identify any outliers</a:t>
            </a:r>
          </a:p>
          <a:p>
            <a:r>
              <a:rPr lang="en-IN" dirty="0"/>
              <a:t>outliers = [x for x in data if x &lt; </a:t>
            </a:r>
            <a:r>
              <a:rPr lang="en-IN" dirty="0" err="1"/>
              <a:t>lower_bound</a:t>
            </a:r>
            <a:r>
              <a:rPr lang="en-IN" dirty="0"/>
              <a:t> or x &gt; </a:t>
            </a:r>
            <a:r>
              <a:rPr lang="en-IN" dirty="0" err="1"/>
              <a:t>upper_bound</a:t>
            </a:r>
            <a:r>
              <a:rPr lang="en-IN" dirty="0"/>
              <a:t>]</a:t>
            </a:r>
          </a:p>
          <a:p>
            <a:r>
              <a:rPr lang="en-IN" dirty="0"/>
              <a:t>if outliers:</a:t>
            </a:r>
          </a:p>
          <a:p>
            <a:r>
              <a:rPr lang="en-IN" dirty="0"/>
              <a:t>    print(</a:t>
            </a:r>
            <a:r>
              <a:rPr lang="en-IN" dirty="0" err="1"/>
              <a:t>f"Outliers</a:t>
            </a:r>
            <a:r>
              <a:rPr lang="en-IN" dirty="0"/>
              <a:t> detected: {outliers}")</a:t>
            </a:r>
          </a:p>
          <a:p>
            <a:endParaRPr lang="en-IN" dirty="0"/>
          </a:p>
        </p:txBody>
      </p:sp>
      <p:pic>
        <p:nvPicPr>
          <p:cNvPr id="4" name="Picture 3">
            <a:extLst>
              <a:ext uri="{FF2B5EF4-FFF2-40B4-BE49-F238E27FC236}">
                <a16:creationId xmlns:a16="http://schemas.microsoft.com/office/drawing/2014/main" id="{A969C46A-FCA1-7AAE-88E2-B6269BC569F2}"/>
              </a:ext>
            </a:extLst>
          </p:cNvPr>
          <p:cNvPicPr>
            <a:picLocks noChangeAspect="1"/>
          </p:cNvPicPr>
          <p:nvPr/>
        </p:nvPicPr>
        <p:blipFill>
          <a:blip r:embed="rId2"/>
          <a:stretch>
            <a:fillRect/>
          </a:stretch>
        </p:blipFill>
        <p:spPr>
          <a:xfrm>
            <a:off x="7086600" y="1931564"/>
            <a:ext cx="4556760" cy="2139914"/>
          </a:xfrm>
          <a:prstGeom prst="rect">
            <a:avLst/>
          </a:prstGeom>
        </p:spPr>
      </p:pic>
    </p:spTree>
    <p:extLst>
      <p:ext uri="{BB962C8B-B14F-4D97-AF65-F5344CB8AC3E}">
        <p14:creationId xmlns:p14="http://schemas.microsoft.com/office/powerpoint/2010/main" val="225000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066D9-F738-09A0-10DE-CEEF588F670F}"/>
              </a:ext>
            </a:extLst>
          </p:cNvPr>
          <p:cNvSpPr>
            <a:spLocks noGrp="1"/>
          </p:cNvSpPr>
          <p:nvPr>
            <p:ph type="title"/>
          </p:nvPr>
        </p:nvSpPr>
        <p:spPr/>
        <p:txBody>
          <a:bodyPr/>
          <a:lstStyle/>
          <a:p>
            <a:r>
              <a:rPr lang="en-IN" dirty="0"/>
              <a:t>Pandas + NumPy + Matplotlib</a:t>
            </a:r>
          </a:p>
        </p:txBody>
      </p:sp>
      <p:sp>
        <p:nvSpPr>
          <p:cNvPr id="3" name="Text Placeholder 2">
            <a:extLst>
              <a:ext uri="{FF2B5EF4-FFF2-40B4-BE49-F238E27FC236}">
                <a16:creationId xmlns:a16="http://schemas.microsoft.com/office/drawing/2014/main" id="{46ACE344-788B-487E-6443-4803A19914E6}"/>
              </a:ext>
            </a:extLst>
          </p:cNvPr>
          <p:cNvSpPr>
            <a:spLocks noGrp="1"/>
          </p:cNvSpPr>
          <p:nvPr>
            <p:ph type="body" idx="1"/>
          </p:nvPr>
        </p:nvSpPr>
        <p:spPr>
          <a:xfrm>
            <a:off x="1072514" y="1070508"/>
            <a:ext cx="10046970" cy="6463308"/>
          </a:xfrm>
        </p:spPr>
        <p:txBody>
          <a:bodyPr/>
          <a:lstStyle/>
          <a:p>
            <a:r>
              <a:rPr lang="en-IN" dirty="0"/>
              <a:t>import pandas as pd</a:t>
            </a:r>
          </a:p>
          <a:p>
            <a:r>
              <a:rPr lang="en-IN" dirty="0"/>
              <a:t>import </a:t>
            </a:r>
            <a:r>
              <a:rPr lang="en-IN" dirty="0" err="1"/>
              <a:t>numpy</a:t>
            </a:r>
            <a:r>
              <a:rPr lang="en-IN" dirty="0"/>
              <a:t> as np</a:t>
            </a:r>
          </a:p>
          <a:p>
            <a:r>
              <a:rPr lang="en-IN" dirty="0"/>
              <a:t>import </a:t>
            </a:r>
            <a:r>
              <a:rPr lang="en-IN" dirty="0" err="1"/>
              <a:t>matplotlib.pyplot</a:t>
            </a:r>
            <a:r>
              <a:rPr lang="en-IN" dirty="0"/>
              <a:t> as </a:t>
            </a:r>
            <a:r>
              <a:rPr lang="en-IN" dirty="0" err="1"/>
              <a:t>plt</a:t>
            </a:r>
            <a:endParaRPr lang="en-IN" dirty="0"/>
          </a:p>
          <a:p>
            <a:endParaRPr lang="en-IN" dirty="0"/>
          </a:p>
          <a:p>
            <a:r>
              <a:rPr lang="en-IN" b="1" dirty="0"/>
              <a:t>1. PANDAS: Load a real dataset directly from the internet</a:t>
            </a:r>
          </a:p>
          <a:p>
            <a:r>
              <a:rPr lang="en-IN" dirty="0" err="1"/>
              <a:t>url</a:t>
            </a:r>
            <a:r>
              <a:rPr lang="en-IN" dirty="0"/>
              <a:t> = "https://raw.githubusercontent.com/</a:t>
            </a:r>
            <a:r>
              <a:rPr lang="en-IN" dirty="0" err="1"/>
              <a:t>mwaskom</a:t>
            </a:r>
            <a:r>
              <a:rPr lang="en-IN" dirty="0"/>
              <a:t>/seaborn-data/master/titanic.csv"</a:t>
            </a:r>
          </a:p>
          <a:p>
            <a:r>
              <a:rPr lang="en-IN" dirty="0" err="1"/>
              <a:t>df</a:t>
            </a:r>
            <a:r>
              <a:rPr lang="en-IN" dirty="0"/>
              <a:t> = </a:t>
            </a:r>
            <a:r>
              <a:rPr lang="en-IN" dirty="0" err="1"/>
              <a:t>pd.read_csv</a:t>
            </a:r>
            <a:r>
              <a:rPr lang="en-IN" dirty="0"/>
              <a:t>(</a:t>
            </a:r>
            <a:r>
              <a:rPr lang="en-IN" dirty="0" err="1"/>
              <a:t>url</a:t>
            </a:r>
            <a:r>
              <a:rPr lang="en-IN" dirty="0"/>
              <a:t>)</a:t>
            </a:r>
          </a:p>
          <a:p>
            <a:endParaRPr lang="en-IN" dirty="0"/>
          </a:p>
          <a:p>
            <a:r>
              <a:rPr lang="en-IN" b="1" dirty="0"/>
              <a:t>2. PANDAS: Clean and Group the data</a:t>
            </a:r>
          </a:p>
          <a:p>
            <a:r>
              <a:rPr lang="en-IN" dirty="0"/>
              <a:t># Let's find the average ticket fare for each passenger class</a:t>
            </a:r>
          </a:p>
          <a:p>
            <a:r>
              <a:rPr lang="en-IN" dirty="0" err="1"/>
              <a:t>fare_by_class</a:t>
            </a:r>
            <a:r>
              <a:rPr lang="en-IN" dirty="0"/>
              <a:t> = </a:t>
            </a:r>
            <a:r>
              <a:rPr lang="en-IN" dirty="0" err="1"/>
              <a:t>df.groupby</a:t>
            </a:r>
            <a:r>
              <a:rPr lang="en-IN" dirty="0"/>
              <a:t>('</a:t>
            </a:r>
            <a:r>
              <a:rPr lang="en-IN" dirty="0" err="1"/>
              <a:t>class'</a:t>
            </a:r>
            <a:r>
              <a:rPr lang="en-IN" dirty="0"/>
              <a:t>)['fare']</a:t>
            </a:r>
          </a:p>
          <a:p>
            <a:r>
              <a:rPr lang="en-IN" dirty="0" err="1"/>
              <a:t>avg_fares</a:t>
            </a:r>
            <a:r>
              <a:rPr lang="en-IN" dirty="0"/>
              <a:t> = </a:t>
            </a:r>
            <a:r>
              <a:rPr lang="en-IN" dirty="0" err="1"/>
              <a:t>fare_by_class.mean</a:t>
            </a:r>
            <a:r>
              <a:rPr lang="en-IN" dirty="0"/>
              <a:t>()</a:t>
            </a:r>
          </a:p>
          <a:p>
            <a:endParaRPr lang="en-IN" dirty="0"/>
          </a:p>
          <a:p>
            <a:endParaRPr lang="en-IN" dirty="0"/>
          </a:p>
        </p:txBody>
      </p:sp>
    </p:spTree>
    <p:extLst>
      <p:ext uri="{BB962C8B-B14F-4D97-AF65-F5344CB8AC3E}">
        <p14:creationId xmlns:p14="http://schemas.microsoft.com/office/powerpoint/2010/main" val="4245088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EE262F0-8460-F963-E96D-006D9DE22F2E}"/>
              </a:ext>
            </a:extLst>
          </p:cNvPr>
          <p:cNvSpPr>
            <a:spLocks noGrp="1"/>
          </p:cNvSpPr>
          <p:nvPr>
            <p:ph type="body" idx="1"/>
          </p:nvPr>
        </p:nvSpPr>
        <p:spPr>
          <a:xfrm>
            <a:off x="1072515" y="228600"/>
            <a:ext cx="10046970" cy="5601533"/>
          </a:xfrm>
        </p:spPr>
        <p:txBody>
          <a:bodyPr/>
          <a:lstStyle/>
          <a:p>
            <a:r>
              <a:rPr lang="en-IN" b="1" dirty="0"/>
              <a:t>3. NUMPY: Mathematical operations</a:t>
            </a:r>
          </a:p>
          <a:p>
            <a:r>
              <a:rPr lang="en-IN" dirty="0"/>
              <a:t>Calculate the standard deviation to see the price variance in each class</a:t>
            </a:r>
          </a:p>
          <a:p>
            <a:r>
              <a:rPr lang="en-IN" dirty="0" err="1"/>
              <a:t>std_fares</a:t>
            </a:r>
            <a:r>
              <a:rPr lang="en-IN" dirty="0"/>
              <a:t> = </a:t>
            </a:r>
            <a:r>
              <a:rPr lang="en-IN" dirty="0" err="1"/>
              <a:t>fare_by_class.apply</a:t>
            </a:r>
            <a:r>
              <a:rPr lang="en-IN" dirty="0"/>
              <a:t>(</a:t>
            </a:r>
            <a:r>
              <a:rPr lang="en-IN" dirty="0" err="1"/>
              <a:t>np.std</a:t>
            </a:r>
            <a:r>
              <a:rPr lang="en-IN" dirty="0"/>
              <a:t>)</a:t>
            </a:r>
          </a:p>
          <a:p>
            <a:r>
              <a:rPr lang="en-IN" dirty="0"/>
              <a:t># Generate evenly spaced positions for our X-axis bars</a:t>
            </a:r>
          </a:p>
          <a:p>
            <a:r>
              <a:rPr lang="en-IN" dirty="0" err="1"/>
              <a:t>x_positions</a:t>
            </a:r>
            <a:r>
              <a:rPr lang="en-IN" dirty="0"/>
              <a:t> = </a:t>
            </a:r>
            <a:r>
              <a:rPr lang="en-IN" dirty="0" err="1"/>
              <a:t>np.arange</a:t>
            </a:r>
            <a:r>
              <a:rPr lang="en-IN" dirty="0"/>
              <a:t>(</a:t>
            </a:r>
            <a:r>
              <a:rPr lang="en-IN" dirty="0" err="1"/>
              <a:t>len</a:t>
            </a:r>
            <a:r>
              <a:rPr lang="en-IN" dirty="0"/>
              <a:t>(</a:t>
            </a:r>
            <a:r>
              <a:rPr lang="en-IN" dirty="0" err="1"/>
              <a:t>avg_fares</a:t>
            </a:r>
            <a:r>
              <a:rPr lang="en-IN" dirty="0"/>
              <a:t>)) </a:t>
            </a:r>
          </a:p>
          <a:p>
            <a:endParaRPr lang="en-IN" dirty="0"/>
          </a:p>
          <a:p>
            <a:r>
              <a:rPr lang="en-IN" b="1" dirty="0"/>
              <a:t>4. MATPLOTLIB: The Visualization</a:t>
            </a:r>
          </a:p>
          <a:p>
            <a:r>
              <a:rPr lang="en-IN" dirty="0" err="1"/>
              <a:t>plt.figure</a:t>
            </a:r>
            <a:r>
              <a:rPr lang="en-IN" dirty="0"/>
              <a:t>(</a:t>
            </a:r>
            <a:r>
              <a:rPr lang="en-IN" dirty="0" err="1"/>
              <a:t>figsize</a:t>
            </a:r>
            <a:r>
              <a:rPr lang="en-IN" dirty="0"/>
              <a:t>=(9, 6))</a:t>
            </a:r>
          </a:p>
          <a:p>
            <a:r>
              <a:rPr lang="en-IN" dirty="0" err="1"/>
              <a:t>plt.bar</a:t>
            </a:r>
            <a:r>
              <a:rPr lang="en-IN" dirty="0"/>
              <a:t>(</a:t>
            </a:r>
            <a:r>
              <a:rPr lang="en-IN" dirty="0" err="1"/>
              <a:t>x_positions</a:t>
            </a:r>
            <a:r>
              <a:rPr lang="en-IN" dirty="0"/>
              <a:t>, </a:t>
            </a:r>
            <a:r>
              <a:rPr lang="en-IN" dirty="0" err="1"/>
              <a:t>avg_fares</a:t>
            </a:r>
            <a:r>
              <a:rPr lang="en-IN" dirty="0"/>
              <a:t>, </a:t>
            </a:r>
            <a:r>
              <a:rPr lang="en-IN" dirty="0" err="1"/>
              <a:t>yerr</a:t>
            </a:r>
            <a:r>
              <a:rPr lang="en-IN" dirty="0"/>
              <a:t>=</a:t>
            </a:r>
            <a:r>
              <a:rPr lang="en-IN" dirty="0" err="1"/>
              <a:t>std_fares</a:t>
            </a:r>
            <a:r>
              <a:rPr lang="en-IN" dirty="0"/>
              <a:t>, capsize=7, </a:t>
            </a:r>
          </a:p>
          <a:p>
            <a:r>
              <a:rPr lang="en-IN" dirty="0"/>
              <a:t>        </a:t>
            </a:r>
            <a:r>
              <a:rPr lang="en-IN" dirty="0" err="1"/>
              <a:t>color</a:t>
            </a:r>
            <a:r>
              <a:rPr lang="en-IN" dirty="0"/>
              <a:t>=['#gold', '#silver', '#cd7f32'], alpha=0.8, </a:t>
            </a:r>
            <a:r>
              <a:rPr lang="en-IN" dirty="0" err="1"/>
              <a:t>edgecolor</a:t>
            </a:r>
            <a:r>
              <a:rPr lang="en-IN" dirty="0"/>
              <a:t>='black')</a:t>
            </a:r>
          </a:p>
          <a:p>
            <a:r>
              <a:rPr lang="en-IN" dirty="0" err="1"/>
              <a:t>plt.show</a:t>
            </a:r>
            <a:r>
              <a:rPr lang="en-IN" dirty="0"/>
              <a:t>()</a:t>
            </a:r>
          </a:p>
        </p:txBody>
      </p:sp>
    </p:spTree>
    <p:extLst>
      <p:ext uri="{BB962C8B-B14F-4D97-AF65-F5344CB8AC3E}">
        <p14:creationId xmlns:p14="http://schemas.microsoft.com/office/powerpoint/2010/main" val="13146910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31C3462-D5A2-1151-5663-A066F99EA83E}"/>
              </a:ext>
            </a:extLst>
          </p:cNvPr>
          <p:cNvSpPr>
            <a:spLocks noGrp="1"/>
          </p:cNvSpPr>
          <p:nvPr>
            <p:ph type="body" idx="1"/>
          </p:nvPr>
        </p:nvSpPr>
        <p:spPr>
          <a:xfrm>
            <a:off x="1143000" y="304800"/>
            <a:ext cx="10046970" cy="5601533"/>
          </a:xfrm>
        </p:spPr>
        <p:txBody>
          <a:bodyPr/>
          <a:lstStyle/>
          <a:p>
            <a:r>
              <a:rPr lang="en-IN" b="1" dirty="0"/>
              <a:t>Replace the numeric x-positions with the actual class names from Pandas</a:t>
            </a:r>
          </a:p>
          <a:p>
            <a:r>
              <a:rPr lang="en-IN" dirty="0" err="1"/>
              <a:t>plt.xticks</a:t>
            </a:r>
            <a:r>
              <a:rPr lang="en-IN" dirty="0"/>
              <a:t>(</a:t>
            </a:r>
            <a:r>
              <a:rPr lang="en-IN" dirty="0" err="1"/>
              <a:t>x_positions</a:t>
            </a:r>
            <a:r>
              <a:rPr lang="en-IN" dirty="0"/>
              <a:t>, </a:t>
            </a:r>
            <a:r>
              <a:rPr lang="en-IN" dirty="0" err="1"/>
              <a:t>avg_fares.index</a:t>
            </a:r>
            <a:r>
              <a:rPr lang="en-IN" dirty="0"/>
              <a:t>, </a:t>
            </a:r>
            <a:r>
              <a:rPr lang="en-IN" dirty="0" err="1"/>
              <a:t>fontsize</a:t>
            </a:r>
            <a:r>
              <a:rPr lang="en-IN" dirty="0"/>
              <a:t>=12)</a:t>
            </a:r>
          </a:p>
          <a:p>
            <a:endParaRPr lang="en-IN" dirty="0"/>
          </a:p>
          <a:p>
            <a:r>
              <a:rPr lang="en-IN" dirty="0"/>
              <a:t># Formatting the plot</a:t>
            </a:r>
          </a:p>
          <a:p>
            <a:r>
              <a:rPr lang="en-IN" dirty="0" err="1"/>
              <a:t>plt.title</a:t>
            </a:r>
            <a:r>
              <a:rPr lang="en-IN" dirty="0"/>
              <a:t>("Titanic Passenger Fares by Class\n(with Standard Deviation)", </a:t>
            </a:r>
            <a:r>
              <a:rPr lang="en-IN" dirty="0" err="1"/>
              <a:t>fontsize</a:t>
            </a:r>
            <a:r>
              <a:rPr lang="en-IN" dirty="0"/>
              <a:t>=14)</a:t>
            </a:r>
          </a:p>
          <a:p>
            <a:r>
              <a:rPr lang="en-IN" dirty="0" err="1"/>
              <a:t>plt.ylabel</a:t>
            </a:r>
            <a:r>
              <a:rPr lang="en-IN" dirty="0"/>
              <a:t>("Ticket Fare (£)", </a:t>
            </a:r>
            <a:r>
              <a:rPr lang="en-IN" dirty="0" err="1"/>
              <a:t>fontsize</a:t>
            </a:r>
            <a:r>
              <a:rPr lang="en-IN" dirty="0"/>
              <a:t>=12)</a:t>
            </a:r>
          </a:p>
          <a:p>
            <a:r>
              <a:rPr lang="en-IN" dirty="0" err="1"/>
              <a:t>plt.xlabel</a:t>
            </a:r>
            <a:r>
              <a:rPr lang="en-IN" dirty="0"/>
              <a:t>("Passenger Class", </a:t>
            </a:r>
            <a:r>
              <a:rPr lang="en-IN" dirty="0" err="1"/>
              <a:t>fontsize</a:t>
            </a:r>
            <a:r>
              <a:rPr lang="en-IN" dirty="0"/>
              <a:t>=12)</a:t>
            </a:r>
          </a:p>
          <a:p>
            <a:r>
              <a:rPr lang="en-IN" dirty="0" err="1"/>
              <a:t>plt.grid</a:t>
            </a:r>
            <a:r>
              <a:rPr lang="en-IN" dirty="0"/>
              <a:t>(axis='y', </a:t>
            </a:r>
            <a:r>
              <a:rPr lang="en-IN" dirty="0" err="1"/>
              <a:t>linestyle</a:t>
            </a:r>
            <a:r>
              <a:rPr lang="en-IN" dirty="0"/>
              <a:t>='--', alpha=0.7)</a:t>
            </a:r>
          </a:p>
          <a:p>
            <a:endParaRPr lang="en-IN" dirty="0"/>
          </a:p>
          <a:p>
            <a:r>
              <a:rPr lang="en-IN" dirty="0" err="1"/>
              <a:t>plt.tight_layout</a:t>
            </a:r>
            <a:r>
              <a:rPr lang="en-IN" dirty="0"/>
              <a:t>()</a:t>
            </a:r>
          </a:p>
          <a:p>
            <a:endParaRPr lang="en-IN" dirty="0"/>
          </a:p>
        </p:txBody>
      </p:sp>
    </p:spTree>
    <p:extLst>
      <p:ext uri="{BB962C8B-B14F-4D97-AF65-F5344CB8AC3E}">
        <p14:creationId xmlns:p14="http://schemas.microsoft.com/office/powerpoint/2010/main" val="71661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76324" y="250316"/>
            <a:ext cx="3331845" cy="756920"/>
          </a:xfrm>
          <a:prstGeom prst="rect">
            <a:avLst/>
          </a:prstGeom>
        </p:spPr>
        <p:txBody>
          <a:bodyPr vert="horz" wrap="square" lIns="0" tIns="12700" rIns="0" bIns="0" rtlCol="0">
            <a:spAutoFit/>
          </a:bodyPr>
          <a:lstStyle/>
          <a:p>
            <a:pPr marL="12700">
              <a:lnSpc>
                <a:spcPct val="100000"/>
              </a:lnSpc>
              <a:spcBef>
                <a:spcPts val="100"/>
              </a:spcBef>
            </a:pPr>
            <a:r>
              <a:rPr spc="-70" dirty="0"/>
              <a:t>Saving</a:t>
            </a:r>
            <a:r>
              <a:rPr spc="-165" dirty="0"/>
              <a:t> </a:t>
            </a:r>
            <a:r>
              <a:rPr spc="-10" dirty="0"/>
              <a:t>Plots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31</a:t>
            </a:fld>
            <a:endParaRPr spc="-25" dirty="0"/>
          </a:p>
        </p:txBody>
      </p:sp>
      <p:sp>
        <p:nvSpPr>
          <p:cNvPr id="3" name="object 3"/>
          <p:cNvSpPr txBox="1"/>
          <p:nvPr/>
        </p:nvSpPr>
        <p:spPr>
          <a:xfrm>
            <a:off x="3265932" y="1225296"/>
            <a:ext cx="6067425" cy="603885"/>
          </a:xfrm>
          <a:prstGeom prst="rect">
            <a:avLst/>
          </a:prstGeom>
          <a:solidFill>
            <a:srgbClr val="FFFFFF"/>
          </a:solidFill>
          <a:ln w="15875">
            <a:solidFill>
              <a:srgbClr val="61A29F"/>
            </a:solidFill>
          </a:ln>
        </p:spPr>
        <p:txBody>
          <a:bodyPr vert="horz" wrap="square" lIns="0" tIns="0" rIns="0" bIns="0" rtlCol="0">
            <a:spAutoFit/>
          </a:bodyPr>
          <a:lstStyle/>
          <a:p>
            <a:pPr marL="193675">
              <a:lnSpc>
                <a:spcPts val="3675"/>
              </a:lnSpc>
            </a:pPr>
            <a:r>
              <a:rPr sz="3600" i="1" spc="-10" dirty="0">
                <a:solidFill>
                  <a:srgbClr val="006FC1"/>
                </a:solidFill>
                <a:latin typeface="Consolas"/>
                <a:cs typeface="Consolas"/>
              </a:rPr>
              <a:t>plt</a:t>
            </a:r>
            <a:r>
              <a:rPr sz="3600" i="1" spc="-10" dirty="0">
                <a:solidFill>
                  <a:srgbClr val="383942"/>
                </a:solidFill>
                <a:latin typeface="Consolas"/>
                <a:cs typeface="Consolas"/>
              </a:rPr>
              <a:t>.</a:t>
            </a:r>
            <a:r>
              <a:rPr sz="3600" i="1" spc="-10" dirty="0">
                <a:solidFill>
                  <a:srgbClr val="795E25"/>
                </a:solidFill>
                <a:latin typeface="Consolas"/>
                <a:cs typeface="Consolas"/>
              </a:rPr>
              <a:t>savefig</a:t>
            </a:r>
            <a:r>
              <a:rPr sz="3600" i="1" spc="-10" dirty="0">
                <a:solidFill>
                  <a:srgbClr val="383942"/>
                </a:solidFill>
                <a:latin typeface="Consolas"/>
                <a:cs typeface="Consolas"/>
              </a:rPr>
              <a:t>(</a:t>
            </a:r>
            <a:r>
              <a:rPr sz="3600" i="1" spc="-10" dirty="0">
                <a:solidFill>
                  <a:srgbClr val="A21515"/>
                </a:solidFill>
                <a:latin typeface="Consolas"/>
                <a:cs typeface="Consolas"/>
              </a:rPr>
              <a:t>"plot.png"</a:t>
            </a:r>
            <a:r>
              <a:rPr sz="3600" i="1" spc="-10" dirty="0">
                <a:solidFill>
                  <a:srgbClr val="383942"/>
                </a:solidFill>
                <a:latin typeface="Consolas"/>
                <a:cs typeface="Consolas"/>
              </a:rPr>
              <a:t>)</a:t>
            </a:r>
            <a:endParaRPr sz="3600" dirty="0">
              <a:latin typeface="Consolas"/>
              <a:cs typeface="Consolas"/>
            </a:endParaRPr>
          </a:p>
        </p:txBody>
      </p:sp>
      <p:sp>
        <p:nvSpPr>
          <p:cNvPr id="4" name="object 4"/>
          <p:cNvSpPr txBox="1"/>
          <p:nvPr/>
        </p:nvSpPr>
        <p:spPr>
          <a:xfrm>
            <a:off x="1084580" y="1680495"/>
            <a:ext cx="9357360" cy="4186554"/>
          </a:xfrm>
          <a:prstGeom prst="rect">
            <a:avLst/>
          </a:prstGeom>
        </p:spPr>
        <p:txBody>
          <a:bodyPr vert="horz" wrap="square" lIns="0" tIns="107950" rIns="0" bIns="0" rtlCol="0">
            <a:spAutoFit/>
          </a:bodyPr>
          <a:lstStyle/>
          <a:p>
            <a:pPr marL="1178560">
              <a:lnSpc>
                <a:spcPct val="100000"/>
              </a:lnSpc>
              <a:spcBef>
                <a:spcPts val="850"/>
              </a:spcBef>
            </a:pPr>
            <a:r>
              <a:rPr sz="2800" dirty="0">
                <a:solidFill>
                  <a:srgbClr val="404040"/>
                </a:solidFill>
                <a:latin typeface="Cambria"/>
                <a:cs typeface="Cambria"/>
              </a:rPr>
              <a:t>#</a:t>
            </a:r>
            <a:r>
              <a:rPr sz="2800" spc="-45" dirty="0">
                <a:solidFill>
                  <a:srgbClr val="404040"/>
                </a:solidFill>
                <a:latin typeface="Cambria"/>
                <a:cs typeface="Cambria"/>
              </a:rPr>
              <a:t> </a:t>
            </a:r>
            <a:r>
              <a:rPr sz="2800" dirty="0">
                <a:solidFill>
                  <a:srgbClr val="404040"/>
                </a:solidFill>
                <a:latin typeface="Cambria"/>
                <a:cs typeface="Cambria"/>
              </a:rPr>
              <a:t>Save</a:t>
            </a:r>
            <a:r>
              <a:rPr sz="2800" spc="-45" dirty="0">
                <a:solidFill>
                  <a:srgbClr val="404040"/>
                </a:solidFill>
                <a:latin typeface="Cambria"/>
                <a:cs typeface="Cambria"/>
              </a:rPr>
              <a:t> </a:t>
            </a:r>
            <a:r>
              <a:rPr sz="2800" dirty="0">
                <a:solidFill>
                  <a:srgbClr val="404040"/>
                </a:solidFill>
                <a:latin typeface="Cambria"/>
                <a:cs typeface="Cambria"/>
              </a:rPr>
              <a:t>the</a:t>
            </a:r>
            <a:r>
              <a:rPr sz="2800" spc="-30" dirty="0">
                <a:solidFill>
                  <a:srgbClr val="404040"/>
                </a:solidFill>
                <a:latin typeface="Cambria"/>
                <a:cs typeface="Cambria"/>
              </a:rPr>
              <a:t> </a:t>
            </a:r>
            <a:r>
              <a:rPr sz="2800" dirty="0">
                <a:solidFill>
                  <a:srgbClr val="404040"/>
                </a:solidFill>
                <a:latin typeface="Cambria"/>
                <a:cs typeface="Cambria"/>
              </a:rPr>
              <a:t>plot</a:t>
            </a:r>
            <a:r>
              <a:rPr sz="2800" spc="-30" dirty="0">
                <a:solidFill>
                  <a:srgbClr val="404040"/>
                </a:solidFill>
                <a:latin typeface="Cambria"/>
                <a:cs typeface="Cambria"/>
              </a:rPr>
              <a:t> </a:t>
            </a:r>
            <a:r>
              <a:rPr sz="2800" dirty="0">
                <a:solidFill>
                  <a:srgbClr val="404040"/>
                </a:solidFill>
                <a:latin typeface="Cambria"/>
                <a:cs typeface="Cambria"/>
              </a:rPr>
              <a:t>as</a:t>
            </a:r>
            <a:r>
              <a:rPr sz="2800" spc="-45" dirty="0">
                <a:solidFill>
                  <a:srgbClr val="404040"/>
                </a:solidFill>
                <a:latin typeface="Cambria"/>
                <a:cs typeface="Cambria"/>
              </a:rPr>
              <a:t> </a:t>
            </a:r>
            <a:r>
              <a:rPr sz="2800" dirty="0">
                <a:solidFill>
                  <a:srgbClr val="404040"/>
                </a:solidFill>
                <a:latin typeface="Cambria"/>
                <a:cs typeface="Cambria"/>
              </a:rPr>
              <a:t>a</a:t>
            </a:r>
            <a:r>
              <a:rPr sz="2800" spc="-55" dirty="0">
                <a:solidFill>
                  <a:srgbClr val="404040"/>
                </a:solidFill>
                <a:latin typeface="Cambria"/>
                <a:cs typeface="Cambria"/>
              </a:rPr>
              <a:t> </a:t>
            </a:r>
            <a:r>
              <a:rPr sz="2800" dirty="0">
                <a:solidFill>
                  <a:srgbClr val="404040"/>
                </a:solidFill>
                <a:latin typeface="Cambria"/>
                <a:cs typeface="Cambria"/>
              </a:rPr>
              <a:t>PDF</a:t>
            </a:r>
            <a:r>
              <a:rPr sz="2800" spc="-30" dirty="0">
                <a:solidFill>
                  <a:srgbClr val="404040"/>
                </a:solidFill>
                <a:latin typeface="Cambria"/>
                <a:cs typeface="Cambria"/>
              </a:rPr>
              <a:t> </a:t>
            </a:r>
            <a:r>
              <a:rPr sz="2800" spc="-10" dirty="0">
                <a:solidFill>
                  <a:srgbClr val="404040"/>
                </a:solidFill>
                <a:latin typeface="Consolas"/>
                <a:cs typeface="Consolas"/>
              </a:rPr>
              <a:t>plt.savefig('plot.pdf')</a:t>
            </a:r>
            <a:endParaRPr sz="2800" dirty="0">
              <a:latin typeface="Consolas"/>
              <a:cs typeface="Consolas"/>
            </a:endParaRPr>
          </a:p>
          <a:p>
            <a:pPr marL="12700">
              <a:lnSpc>
                <a:spcPct val="100000"/>
              </a:lnSpc>
              <a:spcBef>
                <a:spcPts val="760"/>
              </a:spcBef>
            </a:pPr>
            <a:r>
              <a:rPr sz="2800" b="1" dirty="0">
                <a:solidFill>
                  <a:srgbClr val="404040"/>
                </a:solidFill>
                <a:latin typeface="Cambria"/>
                <a:cs typeface="Cambria"/>
              </a:rPr>
              <a:t>When</a:t>
            </a:r>
            <a:r>
              <a:rPr sz="2800" b="1" spc="-50" dirty="0">
                <a:solidFill>
                  <a:srgbClr val="404040"/>
                </a:solidFill>
                <a:latin typeface="Cambria"/>
                <a:cs typeface="Cambria"/>
              </a:rPr>
              <a:t> </a:t>
            </a:r>
            <a:r>
              <a:rPr sz="2800" b="1" dirty="0">
                <a:solidFill>
                  <a:srgbClr val="404040"/>
                </a:solidFill>
                <a:latin typeface="Cambria"/>
                <a:cs typeface="Cambria"/>
              </a:rPr>
              <a:t>to</a:t>
            </a:r>
            <a:r>
              <a:rPr sz="2800" b="1" spc="-40" dirty="0">
                <a:solidFill>
                  <a:srgbClr val="404040"/>
                </a:solidFill>
                <a:latin typeface="Cambria"/>
                <a:cs typeface="Cambria"/>
              </a:rPr>
              <a:t> </a:t>
            </a:r>
            <a:r>
              <a:rPr sz="2800" b="1" dirty="0">
                <a:solidFill>
                  <a:srgbClr val="404040"/>
                </a:solidFill>
                <a:latin typeface="Cambria"/>
                <a:cs typeface="Cambria"/>
              </a:rPr>
              <a:t>Use</a:t>
            </a:r>
            <a:r>
              <a:rPr sz="2800" b="1" spc="-60" dirty="0">
                <a:solidFill>
                  <a:srgbClr val="404040"/>
                </a:solidFill>
                <a:latin typeface="Cambria"/>
                <a:cs typeface="Cambria"/>
              </a:rPr>
              <a:t> </a:t>
            </a:r>
            <a:r>
              <a:rPr sz="2800" b="1" spc="-10" dirty="0">
                <a:solidFill>
                  <a:srgbClr val="404040"/>
                </a:solidFill>
                <a:latin typeface="Cambria"/>
                <a:cs typeface="Cambria"/>
              </a:rPr>
              <a:t>Matplotlib?</a:t>
            </a:r>
            <a:endParaRPr sz="2800" dirty="0">
              <a:latin typeface="Cambria"/>
              <a:cs typeface="Cambria"/>
            </a:endParaRPr>
          </a:p>
          <a:p>
            <a:pPr marL="299720" indent="-287020">
              <a:lnSpc>
                <a:spcPct val="100000"/>
              </a:lnSpc>
              <a:spcBef>
                <a:spcPts val="735"/>
              </a:spcBef>
              <a:buClr>
                <a:srgbClr val="1CACE3"/>
              </a:buClr>
              <a:buFont typeface="Arial MT"/>
              <a:buChar char="•"/>
              <a:tabLst>
                <a:tab pos="299720" algn="l"/>
              </a:tabLst>
            </a:pPr>
            <a:r>
              <a:rPr sz="2800" dirty="0">
                <a:solidFill>
                  <a:srgbClr val="404040"/>
                </a:solidFill>
                <a:latin typeface="Cambria"/>
                <a:cs typeface="Cambria"/>
              </a:rPr>
              <a:t>When</a:t>
            </a:r>
            <a:r>
              <a:rPr sz="2800" spc="-75" dirty="0">
                <a:solidFill>
                  <a:srgbClr val="404040"/>
                </a:solidFill>
                <a:latin typeface="Cambria"/>
                <a:cs typeface="Cambria"/>
              </a:rPr>
              <a:t> </a:t>
            </a:r>
            <a:r>
              <a:rPr sz="2800" dirty="0">
                <a:solidFill>
                  <a:srgbClr val="404040"/>
                </a:solidFill>
                <a:latin typeface="Cambria"/>
                <a:cs typeface="Cambria"/>
              </a:rPr>
              <a:t>creating</a:t>
            </a:r>
            <a:r>
              <a:rPr sz="2800" spc="-70" dirty="0">
                <a:solidFill>
                  <a:srgbClr val="404040"/>
                </a:solidFill>
                <a:latin typeface="Cambria"/>
                <a:cs typeface="Cambria"/>
              </a:rPr>
              <a:t> </a:t>
            </a:r>
            <a:r>
              <a:rPr sz="2800" dirty="0">
                <a:solidFill>
                  <a:srgbClr val="404040"/>
                </a:solidFill>
                <a:latin typeface="Cambria"/>
                <a:cs typeface="Cambria"/>
              </a:rPr>
              <a:t>simple</a:t>
            </a:r>
            <a:r>
              <a:rPr sz="2800" spc="-70" dirty="0">
                <a:solidFill>
                  <a:srgbClr val="404040"/>
                </a:solidFill>
                <a:latin typeface="Cambria"/>
                <a:cs typeface="Cambria"/>
              </a:rPr>
              <a:t> </a:t>
            </a:r>
            <a:r>
              <a:rPr sz="2800" dirty="0">
                <a:solidFill>
                  <a:srgbClr val="404040"/>
                </a:solidFill>
                <a:latin typeface="Cambria"/>
                <a:cs typeface="Cambria"/>
              </a:rPr>
              <a:t>and</a:t>
            </a:r>
            <a:r>
              <a:rPr sz="2800" spc="-80" dirty="0">
                <a:solidFill>
                  <a:srgbClr val="404040"/>
                </a:solidFill>
                <a:latin typeface="Cambria"/>
                <a:cs typeface="Cambria"/>
              </a:rPr>
              <a:t> </a:t>
            </a:r>
            <a:r>
              <a:rPr sz="2800" dirty="0">
                <a:solidFill>
                  <a:srgbClr val="404040"/>
                </a:solidFill>
                <a:latin typeface="Cambria"/>
                <a:cs typeface="Cambria"/>
              </a:rPr>
              <a:t>static</a:t>
            </a:r>
            <a:r>
              <a:rPr sz="2800" spc="-70" dirty="0">
                <a:solidFill>
                  <a:srgbClr val="404040"/>
                </a:solidFill>
                <a:latin typeface="Cambria"/>
                <a:cs typeface="Cambria"/>
              </a:rPr>
              <a:t> </a:t>
            </a:r>
            <a:r>
              <a:rPr sz="2800" spc="-10" dirty="0">
                <a:solidFill>
                  <a:srgbClr val="404040"/>
                </a:solidFill>
                <a:latin typeface="Cambria"/>
                <a:cs typeface="Cambria"/>
              </a:rPr>
              <a:t>visualizations.</a:t>
            </a:r>
            <a:endParaRPr sz="2800" dirty="0">
              <a:latin typeface="Cambria"/>
              <a:cs typeface="Cambria"/>
            </a:endParaRPr>
          </a:p>
          <a:p>
            <a:pPr marL="299720" indent="-287020">
              <a:lnSpc>
                <a:spcPct val="100000"/>
              </a:lnSpc>
              <a:spcBef>
                <a:spcPts val="730"/>
              </a:spcBef>
              <a:buClr>
                <a:srgbClr val="1CACE3"/>
              </a:buClr>
              <a:buFont typeface="Arial MT"/>
              <a:buChar char="•"/>
              <a:tabLst>
                <a:tab pos="299720" algn="l"/>
              </a:tabLst>
            </a:pPr>
            <a:r>
              <a:rPr sz="2800" dirty="0">
                <a:solidFill>
                  <a:srgbClr val="404040"/>
                </a:solidFill>
                <a:latin typeface="Cambria"/>
                <a:cs typeface="Cambria"/>
              </a:rPr>
              <a:t>When</a:t>
            </a:r>
            <a:r>
              <a:rPr sz="2800" spc="-60" dirty="0">
                <a:solidFill>
                  <a:srgbClr val="404040"/>
                </a:solidFill>
                <a:latin typeface="Cambria"/>
                <a:cs typeface="Cambria"/>
              </a:rPr>
              <a:t> </a:t>
            </a:r>
            <a:r>
              <a:rPr sz="2800" dirty="0">
                <a:solidFill>
                  <a:srgbClr val="404040"/>
                </a:solidFill>
                <a:latin typeface="Cambria"/>
                <a:cs typeface="Cambria"/>
              </a:rPr>
              <a:t>you</a:t>
            </a:r>
            <a:r>
              <a:rPr sz="2800" spc="-45" dirty="0">
                <a:solidFill>
                  <a:srgbClr val="404040"/>
                </a:solidFill>
                <a:latin typeface="Cambria"/>
                <a:cs typeface="Cambria"/>
              </a:rPr>
              <a:t> </a:t>
            </a:r>
            <a:r>
              <a:rPr sz="2800" dirty="0">
                <a:solidFill>
                  <a:srgbClr val="404040"/>
                </a:solidFill>
                <a:latin typeface="Cambria"/>
                <a:cs typeface="Cambria"/>
              </a:rPr>
              <a:t>need</a:t>
            </a:r>
            <a:r>
              <a:rPr sz="2800" spc="-70" dirty="0">
                <a:solidFill>
                  <a:srgbClr val="404040"/>
                </a:solidFill>
                <a:latin typeface="Cambria"/>
                <a:cs typeface="Cambria"/>
              </a:rPr>
              <a:t> </a:t>
            </a:r>
            <a:r>
              <a:rPr sz="2800" dirty="0">
                <a:solidFill>
                  <a:srgbClr val="404040"/>
                </a:solidFill>
                <a:latin typeface="Cambria"/>
                <a:cs typeface="Cambria"/>
              </a:rPr>
              <a:t>detailed</a:t>
            </a:r>
            <a:r>
              <a:rPr sz="2800" spc="-60" dirty="0">
                <a:solidFill>
                  <a:srgbClr val="404040"/>
                </a:solidFill>
                <a:latin typeface="Cambria"/>
                <a:cs typeface="Cambria"/>
              </a:rPr>
              <a:t> </a:t>
            </a:r>
            <a:r>
              <a:rPr sz="2800" spc="-10" dirty="0">
                <a:solidFill>
                  <a:srgbClr val="404040"/>
                </a:solidFill>
                <a:latin typeface="Cambria"/>
                <a:cs typeface="Cambria"/>
              </a:rPr>
              <a:t>customization.</a:t>
            </a:r>
            <a:endParaRPr sz="2800" dirty="0">
              <a:latin typeface="Cambria"/>
              <a:cs typeface="Cambria"/>
            </a:endParaRPr>
          </a:p>
          <a:p>
            <a:pPr marL="299085" indent="-286385">
              <a:lnSpc>
                <a:spcPct val="100000"/>
              </a:lnSpc>
              <a:spcBef>
                <a:spcPts val="720"/>
              </a:spcBef>
              <a:buClr>
                <a:srgbClr val="1CACE3"/>
              </a:buClr>
              <a:buFont typeface="Arial MT"/>
              <a:buChar char="•"/>
              <a:tabLst>
                <a:tab pos="299085" algn="l"/>
              </a:tabLst>
            </a:pPr>
            <a:r>
              <a:rPr sz="2800" dirty="0">
                <a:solidFill>
                  <a:srgbClr val="404040"/>
                </a:solidFill>
                <a:latin typeface="Cambria"/>
                <a:cs typeface="Cambria"/>
              </a:rPr>
              <a:t>Ideal</a:t>
            </a:r>
            <a:r>
              <a:rPr sz="2800" spc="-40" dirty="0">
                <a:solidFill>
                  <a:srgbClr val="404040"/>
                </a:solidFill>
                <a:latin typeface="Cambria"/>
                <a:cs typeface="Cambria"/>
              </a:rPr>
              <a:t> </a:t>
            </a:r>
            <a:r>
              <a:rPr sz="2800" dirty="0">
                <a:solidFill>
                  <a:srgbClr val="404040"/>
                </a:solidFill>
                <a:latin typeface="Cambria"/>
                <a:cs typeface="Cambria"/>
              </a:rPr>
              <a:t>for</a:t>
            </a:r>
            <a:r>
              <a:rPr sz="2800" spc="-30" dirty="0">
                <a:solidFill>
                  <a:srgbClr val="404040"/>
                </a:solidFill>
                <a:latin typeface="Cambria"/>
                <a:cs typeface="Cambria"/>
              </a:rPr>
              <a:t> </a:t>
            </a:r>
            <a:r>
              <a:rPr sz="2800" dirty="0">
                <a:solidFill>
                  <a:srgbClr val="404040"/>
                </a:solidFill>
                <a:latin typeface="Cambria"/>
                <a:cs typeface="Cambria"/>
              </a:rPr>
              <a:t>data</a:t>
            </a:r>
            <a:r>
              <a:rPr sz="2800" spc="-50" dirty="0">
                <a:solidFill>
                  <a:srgbClr val="404040"/>
                </a:solidFill>
                <a:latin typeface="Cambria"/>
                <a:cs typeface="Cambria"/>
              </a:rPr>
              <a:t> </a:t>
            </a:r>
            <a:r>
              <a:rPr sz="2800" spc="-10" dirty="0">
                <a:solidFill>
                  <a:srgbClr val="404040"/>
                </a:solidFill>
                <a:latin typeface="Cambria"/>
                <a:cs typeface="Cambria"/>
              </a:rPr>
              <a:t>exploration</a:t>
            </a:r>
            <a:r>
              <a:rPr sz="2800" spc="-35" dirty="0">
                <a:solidFill>
                  <a:srgbClr val="404040"/>
                </a:solidFill>
                <a:latin typeface="Cambria"/>
                <a:cs typeface="Cambria"/>
              </a:rPr>
              <a:t> </a:t>
            </a:r>
            <a:r>
              <a:rPr sz="2800" dirty="0">
                <a:solidFill>
                  <a:srgbClr val="404040"/>
                </a:solidFill>
                <a:latin typeface="Cambria"/>
                <a:cs typeface="Cambria"/>
              </a:rPr>
              <a:t>and</a:t>
            </a:r>
            <a:r>
              <a:rPr sz="2800" spc="-45" dirty="0">
                <a:solidFill>
                  <a:srgbClr val="404040"/>
                </a:solidFill>
                <a:latin typeface="Cambria"/>
                <a:cs typeface="Cambria"/>
              </a:rPr>
              <a:t> </a:t>
            </a:r>
            <a:r>
              <a:rPr sz="2800" spc="-10" dirty="0">
                <a:solidFill>
                  <a:srgbClr val="404040"/>
                </a:solidFill>
                <a:latin typeface="Cambria"/>
                <a:cs typeface="Cambria"/>
              </a:rPr>
              <a:t>reporting.</a:t>
            </a:r>
            <a:endParaRPr sz="2800" dirty="0">
              <a:latin typeface="Cambria"/>
              <a:cs typeface="Cambria"/>
            </a:endParaRPr>
          </a:p>
          <a:p>
            <a:pPr marL="12700">
              <a:lnSpc>
                <a:spcPct val="100000"/>
              </a:lnSpc>
              <a:spcBef>
                <a:spcPts val="735"/>
              </a:spcBef>
            </a:pPr>
            <a:r>
              <a:rPr sz="2800" b="1" spc="-10" dirty="0">
                <a:solidFill>
                  <a:srgbClr val="404040"/>
                </a:solidFill>
                <a:latin typeface="Cambria"/>
                <a:cs typeface="Cambria"/>
              </a:rPr>
              <a:t>Limitations</a:t>
            </a:r>
            <a:endParaRPr sz="2800" dirty="0">
              <a:latin typeface="Cambria"/>
              <a:cs typeface="Cambria"/>
            </a:endParaRPr>
          </a:p>
          <a:p>
            <a:pPr marL="299720" indent="-287020">
              <a:lnSpc>
                <a:spcPct val="100000"/>
              </a:lnSpc>
              <a:spcBef>
                <a:spcPts val="730"/>
              </a:spcBef>
              <a:buClr>
                <a:srgbClr val="1CACE3"/>
              </a:buClr>
              <a:buFont typeface="Arial MT"/>
              <a:buChar char="•"/>
              <a:tabLst>
                <a:tab pos="299720" algn="l"/>
              </a:tabLst>
            </a:pPr>
            <a:r>
              <a:rPr sz="2800" dirty="0">
                <a:solidFill>
                  <a:srgbClr val="404040"/>
                </a:solidFill>
                <a:latin typeface="Cambria"/>
                <a:cs typeface="Cambria"/>
              </a:rPr>
              <a:t>Not</a:t>
            </a:r>
            <a:r>
              <a:rPr sz="2800" spc="-60" dirty="0">
                <a:solidFill>
                  <a:srgbClr val="404040"/>
                </a:solidFill>
                <a:latin typeface="Cambria"/>
                <a:cs typeface="Cambria"/>
              </a:rPr>
              <a:t> </a:t>
            </a:r>
            <a:r>
              <a:rPr sz="2800" dirty="0">
                <a:solidFill>
                  <a:srgbClr val="404040"/>
                </a:solidFill>
                <a:latin typeface="Cambria"/>
                <a:cs typeface="Cambria"/>
              </a:rPr>
              <a:t>as</a:t>
            </a:r>
            <a:r>
              <a:rPr sz="2800" spc="-50" dirty="0">
                <a:solidFill>
                  <a:srgbClr val="404040"/>
                </a:solidFill>
                <a:latin typeface="Cambria"/>
                <a:cs typeface="Cambria"/>
              </a:rPr>
              <a:t> </a:t>
            </a:r>
            <a:r>
              <a:rPr sz="2800" spc="-10" dirty="0">
                <a:solidFill>
                  <a:srgbClr val="404040"/>
                </a:solidFill>
                <a:latin typeface="Cambria"/>
                <a:cs typeface="Cambria"/>
              </a:rPr>
              <a:t>aesthetically</a:t>
            </a:r>
            <a:r>
              <a:rPr sz="2800" spc="-55" dirty="0">
                <a:solidFill>
                  <a:srgbClr val="404040"/>
                </a:solidFill>
                <a:latin typeface="Cambria"/>
                <a:cs typeface="Cambria"/>
              </a:rPr>
              <a:t> </a:t>
            </a:r>
            <a:r>
              <a:rPr sz="2800" dirty="0">
                <a:solidFill>
                  <a:srgbClr val="404040"/>
                </a:solidFill>
                <a:latin typeface="Cambria"/>
                <a:cs typeface="Cambria"/>
              </a:rPr>
              <a:t>modern</a:t>
            </a:r>
            <a:r>
              <a:rPr sz="2800" spc="-60" dirty="0">
                <a:solidFill>
                  <a:srgbClr val="404040"/>
                </a:solidFill>
                <a:latin typeface="Cambria"/>
                <a:cs typeface="Cambria"/>
              </a:rPr>
              <a:t> </a:t>
            </a:r>
            <a:r>
              <a:rPr sz="2800" dirty="0">
                <a:solidFill>
                  <a:srgbClr val="404040"/>
                </a:solidFill>
                <a:latin typeface="Cambria"/>
                <a:cs typeface="Cambria"/>
              </a:rPr>
              <a:t>as</a:t>
            </a:r>
            <a:r>
              <a:rPr sz="2800" spc="-55" dirty="0">
                <a:solidFill>
                  <a:srgbClr val="404040"/>
                </a:solidFill>
                <a:latin typeface="Cambria"/>
                <a:cs typeface="Cambria"/>
              </a:rPr>
              <a:t> </a:t>
            </a:r>
            <a:r>
              <a:rPr sz="2800" dirty="0">
                <a:solidFill>
                  <a:srgbClr val="404040"/>
                </a:solidFill>
                <a:latin typeface="Cambria"/>
                <a:cs typeface="Cambria"/>
              </a:rPr>
              <a:t>Seaborn</a:t>
            </a:r>
            <a:r>
              <a:rPr sz="2800" spc="-60" dirty="0">
                <a:solidFill>
                  <a:srgbClr val="404040"/>
                </a:solidFill>
                <a:latin typeface="Cambria"/>
                <a:cs typeface="Cambria"/>
              </a:rPr>
              <a:t> </a:t>
            </a:r>
            <a:r>
              <a:rPr sz="2800" dirty="0">
                <a:solidFill>
                  <a:srgbClr val="404040"/>
                </a:solidFill>
                <a:latin typeface="Cambria"/>
                <a:cs typeface="Cambria"/>
              </a:rPr>
              <a:t>or</a:t>
            </a:r>
            <a:r>
              <a:rPr sz="2800" spc="-30" dirty="0">
                <a:solidFill>
                  <a:srgbClr val="404040"/>
                </a:solidFill>
                <a:latin typeface="Cambria"/>
                <a:cs typeface="Cambria"/>
              </a:rPr>
              <a:t> </a:t>
            </a:r>
            <a:r>
              <a:rPr sz="2800" spc="-10" dirty="0">
                <a:solidFill>
                  <a:srgbClr val="404040"/>
                </a:solidFill>
                <a:latin typeface="Cambria"/>
                <a:cs typeface="Cambria"/>
              </a:rPr>
              <a:t>Plotly.</a:t>
            </a:r>
            <a:endParaRPr sz="2800" dirty="0">
              <a:latin typeface="Cambria"/>
              <a:cs typeface="Cambria"/>
            </a:endParaRPr>
          </a:p>
          <a:p>
            <a:pPr marL="299085" indent="-286385">
              <a:lnSpc>
                <a:spcPct val="100000"/>
              </a:lnSpc>
              <a:spcBef>
                <a:spcPts val="720"/>
              </a:spcBef>
              <a:buClr>
                <a:srgbClr val="1CACE3"/>
              </a:buClr>
              <a:buFont typeface="Arial MT"/>
              <a:buChar char="•"/>
              <a:tabLst>
                <a:tab pos="299085" algn="l"/>
              </a:tabLst>
            </a:pPr>
            <a:r>
              <a:rPr sz="2800" spc="-10" dirty="0">
                <a:solidFill>
                  <a:srgbClr val="404040"/>
                </a:solidFill>
                <a:latin typeface="Cambria"/>
                <a:cs typeface="Cambria"/>
              </a:rPr>
              <a:t>Requires</a:t>
            </a:r>
            <a:r>
              <a:rPr sz="2800" spc="-105" dirty="0">
                <a:solidFill>
                  <a:srgbClr val="404040"/>
                </a:solidFill>
                <a:latin typeface="Cambria"/>
                <a:cs typeface="Cambria"/>
              </a:rPr>
              <a:t> </a:t>
            </a:r>
            <a:r>
              <a:rPr sz="2800" dirty="0">
                <a:solidFill>
                  <a:srgbClr val="404040"/>
                </a:solidFill>
                <a:latin typeface="Cambria"/>
                <a:cs typeface="Cambria"/>
              </a:rPr>
              <a:t>more</a:t>
            </a:r>
            <a:r>
              <a:rPr sz="2800" spc="-105" dirty="0">
                <a:solidFill>
                  <a:srgbClr val="404040"/>
                </a:solidFill>
                <a:latin typeface="Cambria"/>
                <a:cs typeface="Cambria"/>
              </a:rPr>
              <a:t> </a:t>
            </a:r>
            <a:r>
              <a:rPr sz="2800" dirty="0">
                <a:solidFill>
                  <a:srgbClr val="404040"/>
                </a:solidFill>
                <a:latin typeface="Cambria"/>
                <a:cs typeface="Cambria"/>
              </a:rPr>
              <a:t>effort</a:t>
            </a:r>
            <a:r>
              <a:rPr sz="2800" spc="-105" dirty="0">
                <a:solidFill>
                  <a:srgbClr val="404040"/>
                </a:solidFill>
                <a:latin typeface="Cambria"/>
                <a:cs typeface="Cambria"/>
              </a:rPr>
              <a:t> </a:t>
            </a:r>
            <a:r>
              <a:rPr sz="2800" dirty="0">
                <a:solidFill>
                  <a:srgbClr val="404040"/>
                </a:solidFill>
                <a:latin typeface="Cambria"/>
                <a:cs typeface="Cambria"/>
              </a:rPr>
              <a:t>for</a:t>
            </a:r>
            <a:r>
              <a:rPr sz="2800" spc="-100" dirty="0">
                <a:solidFill>
                  <a:srgbClr val="404040"/>
                </a:solidFill>
                <a:latin typeface="Cambria"/>
                <a:cs typeface="Cambria"/>
              </a:rPr>
              <a:t> </a:t>
            </a:r>
            <a:r>
              <a:rPr sz="2800" dirty="0">
                <a:solidFill>
                  <a:srgbClr val="404040"/>
                </a:solidFill>
                <a:latin typeface="Cambria"/>
                <a:cs typeface="Cambria"/>
              </a:rPr>
              <a:t>advanced</a:t>
            </a:r>
            <a:r>
              <a:rPr sz="2800" spc="-100" dirty="0">
                <a:solidFill>
                  <a:srgbClr val="404040"/>
                </a:solidFill>
                <a:latin typeface="Cambria"/>
                <a:cs typeface="Cambria"/>
              </a:rPr>
              <a:t> </a:t>
            </a:r>
            <a:r>
              <a:rPr sz="2800" spc="-10" dirty="0">
                <a:solidFill>
                  <a:srgbClr val="404040"/>
                </a:solidFill>
                <a:latin typeface="Cambria"/>
                <a:cs typeface="Cambria"/>
              </a:rPr>
              <a:t>visualizations.</a:t>
            </a:r>
            <a:endParaRPr sz="2800" dirty="0">
              <a:latin typeface="Cambria"/>
              <a:cs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Best</a:t>
            </a:r>
            <a:r>
              <a:rPr spc="-180" dirty="0"/>
              <a:t> </a:t>
            </a:r>
            <a:r>
              <a:rPr spc="-60" dirty="0"/>
              <a:t>Practices</a:t>
            </a:r>
            <a:r>
              <a:rPr spc="-185" dirty="0"/>
              <a:t> </a:t>
            </a:r>
            <a:r>
              <a:rPr dirty="0"/>
              <a:t>&amp;</a:t>
            </a:r>
            <a:r>
              <a:rPr spc="-165" dirty="0"/>
              <a:t> </a:t>
            </a:r>
            <a:r>
              <a:rPr spc="-35" dirty="0"/>
              <a:t>Conclusion</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32</a:t>
            </a:fld>
            <a:endParaRPr spc="-25" dirty="0"/>
          </a:p>
        </p:txBody>
      </p:sp>
      <p:sp>
        <p:nvSpPr>
          <p:cNvPr id="3" name="object 3"/>
          <p:cNvSpPr txBox="1"/>
          <p:nvPr/>
        </p:nvSpPr>
        <p:spPr>
          <a:xfrm>
            <a:off x="1084580" y="1070508"/>
            <a:ext cx="10255250" cy="4906645"/>
          </a:xfrm>
          <a:prstGeom prst="rect">
            <a:avLst/>
          </a:prstGeom>
        </p:spPr>
        <p:txBody>
          <a:bodyPr vert="horz" wrap="square" lIns="0" tIns="147955" rIns="0" bIns="0" rtlCol="0">
            <a:spAutoFit/>
          </a:bodyPr>
          <a:lstStyle/>
          <a:p>
            <a:pPr marL="299720" indent="-287020">
              <a:lnSpc>
                <a:spcPct val="100000"/>
              </a:lnSpc>
              <a:spcBef>
                <a:spcPts val="1165"/>
              </a:spcBef>
              <a:buClr>
                <a:srgbClr val="1CACE3"/>
              </a:buClr>
              <a:buFont typeface="Arial MT"/>
              <a:buChar char="•"/>
              <a:tabLst>
                <a:tab pos="299720" algn="l"/>
              </a:tabLst>
            </a:pPr>
            <a:r>
              <a:rPr sz="2800" dirty="0">
                <a:solidFill>
                  <a:srgbClr val="404040"/>
                </a:solidFill>
                <a:latin typeface="Cambria"/>
                <a:cs typeface="Cambria"/>
              </a:rPr>
              <a:t>Label</a:t>
            </a:r>
            <a:r>
              <a:rPr sz="2800" spc="-55" dirty="0">
                <a:solidFill>
                  <a:srgbClr val="404040"/>
                </a:solidFill>
                <a:latin typeface="Cambria"/>
                <a:cs typeface="Cambria"/>
              </a:rPr>
              <a:t> </a:t>
            </a:r>
            <a:r>
              <a:rPr sz="2800" dirty="0">
                <a:solidFill>
                  <a:srgbClr val="404040"/>
                </a:solidFill>
                <a:latin typeface="Cambria"/>
                <a:cs typeface="Cambria"/>
              </a:rPr>
              <a:t>axes</a:t>
            </a:r>
            <a:r>
              <a:rPr sz="2800" spc="-75" dirty="0">
                <a:solidFill>
                  <a:srgbClr val="404040"/>
                </a:solidFill>
                <a:latin typeface="Cambria"/>
                <a:cs typeface="Cambria"/>
              </a:rPr>
              <a:t> </a:t>
            </a:r>
            <a:r>
              <a:rPr sz="2800" dirty="0">
                <a:solidFill>
                  <a:srgbClr val="404040"/>
                </a:solidFill>
                <a:latin typeface="Cambria"/>
                <a:cs typeface="Cambria"/>
              </a:rPr>
              <a:t>and</a:t>
            </a:r>
            <a:r>
              <a:rPr sz="2800" spc="-50" dirty="0">
                <a:solidFill>
                  <a:srgbClr val="404040"/>
                </a:solidFill>
                <a:latin typeface="Cambria"/>
                <a:cs typeface="Cambria"/>
              </a:rPr>
              <a:t> </a:t>
            </a:r>
            <a:r>
              <a:rPr sz="2800" dirty="0">
                <a:solidFill>
                  <a:srgbClr val="404040"/>
                </a:solidFill>
                <a:latin typeface="Cambria"/>
                <a:cs typeface="Cambria"/>
              </a:rPr>
              <a:t>add</a:t>
            </a:r>
            <a:r>
              <a:rPr sz="2800" spc="-65" dirty="0">
                <a:solidFill>
                  <a:srgbClr val="404040"/>
                </a:solidFill>
                <a:latin typeface="Cambria"/>
                <a:cs typeface="Cambria"/>
              </a:rPr>
              <a:t> </a:t>
            </a:r>
            <a:r>
              <a:rPr sz="2800" dirty="0">
                <a:solidFill>
                  <a:srgbClr val="404040"/>
                </a:solidFill>
                <a:latin typeface="Cambria"/>
                <a:cs typeface="Cambria"/>
              </a:rPr>
              <a:t>titles</a:t>
            </a:r>
            <a:r>
              <a:rPr sz="2800" spc="-50" dirty="0">
                <a:solidFill>
                  <a:srgbClr val="404040"/>
                </a:solidFill>
                <a:latin typeface="Cambria"/>
                <a:cs typeface="Cambria"/>
              </a:rPr>
              <a:t> </a:t>
            </a:r>
            <a:r>
              <a:rPr sz="2800" dirty="0">
                <a:solidFill>
                  <a:srgbClr val="404040"/>
                </a:solidFill>
                <a:latin typeface="Cambria"/>
                <a:cs typeface="Cambria"/>
              </a:rPr>
              <a:t>for</a:t>
            </a:r>
            <a:r>
              <a:rPr sz="2800" spc="-55" dirty="0">
                <a:solidFill>
                  <a:srgbClr val="404040"/>
                </a:solidFill>
                <a:latin typeface="Cambria"/>
                <a:cs typeface="Cambria"/>
              </a:rPr>
              <a:t> </a:t>
            </a:r>
            <a:r>
              <a:rPr sz="2800" spc="-10" dirty="0">
                <a:solidFill>
                  <a:srgbClr val="404040"/>
                </a:solidFill>
                <a:latin typeface="Cambria"/>
                <a:cs typeface="Cambria"/>
              </a:rPr>
              <a:t>clarity.</a:t>
            </a:r>
            <a:endParaRPr sz="2800" dirty="0">
              <a:latin typeface="Cambria"/>
              <a:cs typeface="Cambria"/>
            </a:endParaRPr>
          </a:p>
          <a:p>
            <a:pPr marL="299720" indent="-287020">
              <a:lnSpc>
                <a:spcPct val="100000"/>
              </a:lnSpc>
              <a:spcBef>
                <a:spcPts val="1070"/>
              </a:spcBef>
              <a:buClr>
                <a:srgbClr val="1CACE3"/>
              </a:buClr>
              <a:buFont typeface="Arial MT"/>
              <a:buChar char="•"/>
              <a:tabLst>
                <a:tab pos="299720" algn="l"/>
              </a:tabLst>
            </a:pPr>
            <a:r>
              <a:rPr sz="2800" dirty="0">
                <a:solidFill>
                  <a:srgbClr val="404040"/>
                </a:solidFill>
                <a:latin typeface="Cambria"/>
                <a:cs typeface="Cambria"/>
              </a:rPr>
              <a:t>Use</a:t>
            </a:r>
            <a:r>
              <a:rPr sz="2800" spc="-75" dirty="0">
                <a:solidFill>
                  <a:srgbClr val="404040"/>
                </a:solidFill>
                <a:latin typeface="Cambria"/>
                <a:cs typeface="Cambria"/>
              </a:rPr>
              <a:t> </a:t>
            </a:r>
            <a:r>
              <a:rPr sz="2800" dirty="0">
                <a:solidFill>
                  <a:srgbClr val="404040"/>
                </a:solidFill>
                <a:latin typeface="Cambria"/>
                <a:cs typeface="Cambria"/>
              </a:rPr>
              <a:t>legends</a:t>
            </a:r>
            <a:r>
              <a:rPr sz="2800" spc="-75" dirty="0">
                <a:solidFill>
                  <a:srgbClr val="404040"/>
                </a:solidFill>
                <a:latin typeface="Cambria"/>
                <a:cs typeface="Cambria"/>
              </a:rPr>
              <a:t> </a:t>
            </a:r>
            <a:r>
              <a:rPr sz="2800" dirty="0">
                <a:solidFill>
                  <a:srgbClr val="404040"/>
                </a:solidFill>
                <a:latin typeface="Cambria"/>
                <a:cs typeface="Cambria"/>
              </a:rPr>
              <a:t>for</a:t>
            </a:r>
            <a:r>
              <a:rPr sz="2800" spc="-70" dirty="0">
                <a:solidFill>
                  <a:srgbClr val="404040"/>
                </a:solidFill>
                <a:latin typeface="Cambria"/>
                <a:cs typeface="Cambria"/>
              </a:rPr>
              <a:t> </a:t>
            </a:r>
            <a:r>
              <a:rPr sz="2800" dirty="0">
                <a:solidFill>
                  <a:srgbClr val="404040"/>
                </a:solidFill>
                <a:latin typeface="Cambria"/>
                <a:cs typeface="Cambria"/>
              </a:rPr>
              <a:t>multiple</a:t>
            </a:r>
            <a:r>
              <a:rPr sz="2800" spc="-65" dirty="0">
                <a:solidFill>
                  <a:srgbClr val="404040"/>
                </a:solidFill>
                <a:latin typeface="Cambria"/>
                <a:cs typeface="Cambria"/>
              </a:rPr>
              <a:t> </a:t>
            </a:r>
            <a:r>
              <a:rPr sz="2800" spc="-10" dirty="0">
                <a:solidFill>
                  <a:srgbClr val="404040"/>
                </a:solidFill>
                <a:latin typeface="Cambria"/>
                <a:cs typeface="Cambria"/>
              </a:rPr>
              <a:t>datasets.</a:t>
            </a:r>
            <a:endParaRPr sz="2800" dirty="0">
              <a:latin typeface="Cambria"/>
              <a:cs typeface="Cambria"/>
            </a:endParaRPr>
          </a:p>
          <a:p>
            <a:pPr marL="299085" indent="-286385">
              <a:lnSpc>
                <a:spcPct val="100000"/>
              </a:lnSpc>
              <a:spcBef>
                <a:spcPts val="1055"/>
              </a:spcBef>
              <a:buClr>
                <a:srgbClr val="1CACE3"/>
              </a:buClr>
              <a:buFont typeface="Arial MT"/>
              <a:buChar char="•"/>
              <a:tabLst>
                <a:tab pos="299085" algn="l"/>
              </a:tabLst>
            </a:pPr>
            <a:r>
              <a:rPr sz="2800" dirty="0">
                <a:solidFill>
                  <a:srgbClr val="404040"/>
                </a:solidFill>
                <a:latin typeface="Cambria"/>
                <a:cs typeface="Cambria"/>
              </a:rPr>
              <a:t>Choose</a:t>
            </a:r>
            <a:r>
              <a:rPr sz="2800" spc="-90" dirty="0">
                <a:solidFill>
                  <a:srgbClr val="404040"/>
                </a:solidFill>
                <a:latin typeface="Cambria"/>
                <a:cs typeface="Cambria"/>
              </a:rPr>
              <a:t> </a:t>
            </a:r>
            <a:r>
              <a:rPr sz="2800" spc="-10" dirty="0">
                <a:solidFill>
                  <a:srgbClr val="404040"/>
                </a:solidFill>
                <a:latin typeface="Cambria"/>
                <a:cs typeface="Cambria"/>
              </a:rPr>
              <a:t>appropriate</a:t>
            </a:r>
            <a:r>
              <a:rPr sz="2800" spc="-90" dirty="0">
                <a:solidFill>
                  <a:srgbClr val="404040"/>
                </a:solidFill>
                <a:latin typeface="Cambria"/>
                <a:cs typeface="Cambria"/>
              </a:rPr>
              <a:t> </a:t>
            </a:r>
            <a:r>
              <a:rPr sz="2800" dirty="0">
                <a:solidFill>
                  <a:srgbClr val="404040"/>
                </a:solidFill>
                <a:latin typeface="Cambria"/>
                <a:cs typeface="Cambria"/>
              </a:rPr>
              <a:t>plot</a:t>
            </a:r>
            <a:r>
              <a:rPr sz="2800" spc="-80" dirty="0">
                <a:solidFill>
                  <a:srgbClr val="404040"/>
                </a:solidFill>
                <a:latin typeface="Cambria"/>
                <a:cs typeface="Cambria"/>
              </a:rPr>
              <a:t> </a:t>
            </a:r>
            <a:r>
              <a:rPr sz="2800" dirty="0">
                <a:solidFill>
                  <a:srgbClr val="404040"/>
                </a:solidFill>
                <a:latin typeface="Cambria"/>
                <a:cs typeface="Cambria"/>
              </a:rPr>
              <a:t>types</a:t>
            </a:r>
            <a:r>
              <a:rPr sz="2800" spc="-90" dirty="0">
                <a:solidFill>
                  <a:srgbClr val="404040"/>
                </a:solidFill>
                <a:latin typeface="Cambria"/>
                <a:cs typeface="Cambria"/>
              </a:rPr>
              <a:t> </a:t>
            </a:r>
            <a:r>
              <a:rPr sz="2800" dirty="0">
                <a:solidFill>
                  <a:srgbClr val="404040"/>
                </a:solidFill>
                <a:latin typeface="Cambria"/>
                <a:cs typeface="Cambria"/>
              </a:rPr>
              <a:t>for</a:t>
            </a:r>
            <a:r>
              <a:rPr sz="2800" spc="-85" dirty="0">
                <a:solidFill>
                  <a:srgbClr val="404040"/>
                </a:solidFill>
                <a:latin typeface="Cambria"/>
                <a:cs typeface="Cambria"/>
              </a:rPr>
              <a:t> </a:t>
            </a:r>
            <a:r>
              <a:rPr sz="2800" dirty="0">
                <a:solidFill>
                  <a:srgbClr val="404040"/>
                </a:solidFill>
                <a:latin typeface="Cambria"/>
                <a:cs typeface="Cambria"/>
              </a:rPr>
              <a:t>your</a:t>
            </a:r>
            <a:r>
              <a:rPr sz="2800" spc="-70" dirty="0">
                <a:solidFill>
                  <a:srgbClr val="404040"/>
                </a:solidFill>
                <a:latin typeface="Cambria"/>
                <a:cs typeface="Cambria"/>
              </a:rPr>
              <a:t> </a:t>
            </a:r>
            <a:r>
              <a:rPr sz="2800" spc="-10" dirty="0">
                <a:solidFill>
                  <a:srgbClr val="404040"/>
                </a:solidFill>
                <a:latin typeface="Cambria"/>
                <a:cs typeface="Cambria"/>
              </a:rPr>
              <a:t>data.</a:t>
            </a:r>
            <a:endParaRPr sz="2800" dirty="0">
              <a:latin typeface="Cambria"/>
              <a:cs typeface="Cambria"/>
            </a:endParaRPr>
          </a:p>
          <a:p>
            <a:pPr marL="299720" indent="-287020">
              <a:lnSpc>
                <a:spcPct val="100000"/>
              </a:lnSpc>
              <a:spcBef>
                <a:spcPts val="1070"/>
              </a:spcBef>
              <a:buClr>
                <a:srgbClr val="1CACE3"/>
              </a:buClr>
              <a:buFont typeface="Arial MT"/>
              <a:buChar char="•"/>
              <a:tabLst>
                <a:tab pos="299720" algn="l"/>
              </a:tabLst>
            </a:pPr>
            <a:r>
              <a:rPr sz="2800" dirty="0">
                <a:solidFill>
                  <a:srgbClr val="404040"/>
                </a:solidFill>
                <a:latin typeface="Cambria"/>
                <a:cs typeface="Cambria"/>
              </a:rPr>
              <a:t>Maintain</a:t>
            </a:r>
            <a:r>
              <a:rPr sz="2800" spc="-105" dirty="0">
                <a:solidFill>
                  <a:srgbClr val="404040"/>
                </a:solidFill>
                <a:latin typeface="Cambria"/>
                <a:cs typeface="Cambria"/>
              </a:rPr>
              <a:t> </a:t>
            </a:r>
            <a:r>
              <a:rPr sz="2800" spc="-10" dirty="0">
                <a:solidFill>
                  <a:srgbClr val="404040"/>
                </a:solidFill>
                <a:latin typeface="Cambria"/>
                <a:cs typeface="Cambria"/>
              </a:rPr>
              <a:t>consistent</a:t>
            </a:r>
            <a:r>
              <a:rPr sz="2800" spc="-90" dirty="0">
                <a:solidFill>
                  <a:srgbClr val="404040"/>
                </a:solidFill>
                <a:latin typeface="Cambria"/>
                <a:cs typeface="Cambria"/>
              </a:rPr>
              <a:t> </a:t>
            </a:r>
            <a:r>
              <a:rPr sz="2800" dirty="0">
                <a:solidFill>
                  <a:srgbClr val="404040"/>
                </a:solidFill>
                <a:latin typeface="Cambria"/>
                <a:cs typeface="Cambria"/>
              </a:rPr>
              <a:t>styles</a:t>
            </a:r>
            <a:r>
              <a:rPr sz="2800" spc="-75" dirty="0">
                <a:solidFill>
                  <a:srgbClr val="404040"/>
                </a:solidFill>
                <a:latin typeface="Cambria"/>
                <a:cs typeface="Cambria"/>
              </a:rPr>
              <a:t> </a:t>
            </a:r>
            <a:r>
              <a:rPr sz="2800" dirty="0">
                <a:solidFill>
                  <a:srgbClr val="404040"/>
                </a:solidFill>
                <a:latin typeface="Cambria"/>
                <a:cs typeface="Cambria"/>
              </a:rPr>
              <a:t>for</a:t>
            </a:r>
            <a:r>
              <a:rPr sz="2800" spc="-95" dirty="0">
                <a:solidFill>
                  <a:srgbClr val="404040"/>
                </a:solidFill>
                <a:latin typeface="Cambria"/>
                <a:cs typeface="Cambria"/>
              </a:rPr>
              <a:t> </a:t>
            </a:r>
            <a:r>
              <a:rPr sz="2800" spc="-10" dirty="0">
                <a:solidFill>
                  <a:srgbClr val="404040"/>
                </a:solidFill>
                <a:latin typeface="Cambria"/>
                <a:cs typeface="Cambria"/>
              </a:rPr>
              <a:t>readability.</a:t>
            </a:r>
            <a:endParaRPr sz="2800" dirty="0">
              <a:latin typeface="Cambria"/>
              <a:cs typeface="Cambria"/>
            </a:endParaRPr>
          </a:p>
          <a:p>
            <a:pPr marL="12700">
              <a:lnSpc>
                <a:spcPct val="100000"/>
              </a:lnSpc>
              <a:spcBef>
                <a:spcPts val="1070"/>
              </a:spcBef>
            </a:pPr>
            <a:r>
              <a:rPr sz="2800" b="1" spc="-10" dirty="0">
                <a:solidFill>
                  <a:srgbClr val="404040"/>
                </a:solidFill>
                <a:latin typeface="Cambria"/>
                <a:cs typeface="Cambria"/>
              </a:rPr>
              <a:t>Conclusion</a:t>
            </a:r>
            <a:endParaRPr sz="2800" dirty="0">
              <a:latin typeface="Cambria"/>
              <a:cs typeface="Cambria"/>
            </a:endParaRPr>
          </a:p>
          <a:p>
            <a:pPr marL="299720" indent="-287020">
              <a:lnSpc>
                <a:spcPct val="100000"/>
              </a:lnSpc>
              <a:spcBef>
                <a:spcPts val="1060"/>
              </a:spcBef>
              <a:buClr>
                <a:srgbClr val="1CACE3"/>
              </a:buClr>
              <a:buFont typeface="Arial MT"/>
              <a:buChar char="•"/>
              <a:tabLst>
                <a:tab pos="299720" algn="l"/>
              </a:tabLst>
            </a:pPr>
            <a:r>
              <a:rPr sz="2800" dirty="0">
                <a:solidFill>
                  <a:srgbClr val="404040"/>
                </a:solidFill>
                <a:latin typeface="Cambria"/>
                <a:cs typeface="Cambria"/>
              </a:rPr>
              <a:t>Matplotlib</a:t>
            </a:r>
            <a:r>
              <a:rPr sz="2800" spc="-50" dirty="0">
                <a:solidFill>
                  <a:srgbClr val="404040"/>
                </a:solidFill>
                <a:latin typeface="Cambria"/>
                <a:cs typeface="Cambria"/>
              </a:rPr>
              <a:t> </a:t>
            </a:r>
            <a:r>
              <a:rPr sz="2800" dirty="0">
                <a:solidFill>
                  <a:srgbClr val="404040"/>
                </a:solidFill>
                <a:latin typeface="Cambria"/>
                <a:cs typeface="Cambria"/>
              </a:rPr>
              <a:t>is</a:t>
            </a:r>
            <a:r>
              <a:rPr sz="2800" spc="-80" dirty="0">
                <a:solidFill>
                  <a:srgbClr val="404040"/>
                </a:solidFill>
                <a:latin typeface="Cambria"/>
                <a:cs typeface="Cambria"/>
              </a:rPr>
              <a:t> </a:t>
            </a:r>
            <a:r>
              <a:rPr sz="2800" dirty="0">
                <a:solidFill>
                  <a:srgbClr val="404040"/>
                </a:solidFill>
                <a:latin typeface="Cambria"/>
                <a:cs typeface="Cambria"/>
              </a:rPr>
              <a:t>a</a:t>
            </a:r>
            <a:r>
              <a:rPr sz="2800" spc="-70" dirty="0">
                <a:solidFill>
                  <a:srgbClr val="404040"/>
                </a:solidFill>
                <a:latin typeface="Cambria"/>
                <a:cs typeface="Cambria"/>
              </a:rPr>
              <a:t> </a:t>
            </a:r>
            <a:r>
              <a:rPr sz="2800" spc="-10" dirty="0">
                <a:solidFill>
                  <a:srgbClr val="404040"/>
                </a:solidFill>
                <a:latin typeface="Cambria"/>
                <a:cs typeface="Cambria"/>
              </a:rPr>
              <a:t>powerful</a:t>
            </a:r>
            <a:r>
              <a:rPr sz="2800" spc="-60" dirty="0">
                <a:solidFill>
                  <a:srgbClr val="404040"/>
                </a:solidFill>
                <a:latin typeface="Cambria"/>
                <a:cs typeface="Cambria"/>
              </a:rPr>
              <a:t> </a:t>
            </a:r>
            <a:r>
              <a:rPr sz="2800" dirty="0">
                <a:solidFill>
                  <a:srgbClr val="404040"/>
                </a:solidFill>
                <a:latin typeface="Cambria"/>
                <a:cs typeface="Cambria"/>
              </a:rPr>
              <a:t>and</a:t>
            </a:r>
            <a:r>
              <a:rPr sz="2800" spc="-70" dirty="0">
                <a:solidFill>
                  <a:srgbClr val="404040"/>
                </a:solidFill>
                <a:latin typeface="Cambria"/>
                <a:cs typeface="Cambria"/>
              </a:rPr>
              <a:t> </a:t>
            </a:r>
            <a:r>
              <a:rPr sz="2800" spc="-10" dirty="0">
                <a:solidFill>
                  <a:srgbClr val="404040"/>
                </a:solidFill>
                <a:latin typeface="Cambria"/>
                <a:cs typeface="Cambria"/>
              </a:rPr>
              <a:t>versatile</a:t>
            </a:r>
            <a:r>
              <a:rPr sz="2800" spc="-55" dirty="0">
                <a:solidFill>
                  <a:srgbClr val="404040"/>
                </a:solidFill>
                <a:latin typeface="Cambria"/>
                <a:cs typeface="Cambria"/>
              </a:rPr>
              <a:t> </a:t>
            </a:r>
            <a:r>
              <a:rPr sz="2800" dirty="0">
                <a:solidFill>
                  <a:srgbClr val="404040"/>
                </a:solidFill>
                <a:latin typeface="Cambria"/>
                <a:cs typeface="Cambria"/>
              </a:rPr>
              <a:t>library</a:t>
            </a:r>
            <a:r>
              <a:rPr sz="2800" spc="-60" dirty="0">
                <a:solidFill>
                  <a:srgbClr val="404040"/>
                </a:solidFill>
                <a:latin typeface="Cambria"/>
                <a:cs typeface="Cambria"/>
              </a:rPr>
              <a:t> </a:t>
            </a:r>
            <a:r>
              <a:rPr sz="2800" dirty="0">
                <a:solidFill>
                  <a:srgbClr val="404040"/>
                </a:solidFill>
                <a:latin typeface="Cambria"/>
                <a:cs typeface="Cambria"/>
              </a:rPr>
              <a:t>for</a:t>
            </a:r>
            <a:r>
              <a:rPr sz="2800" spc="-70" dirty="0">
                <a:solidFill>
                  <a:srgbClr val="404040"/>
                </a:solidFill>
                <a:latin typeface="Cambria"/>
                <a:cs typeface="Cambria"/>
              </a:rPr>
              <a:t> </a:t>
            </a:r>
            <a:r>
              <a:rPr sz="2800" spc="-10" dirty="0">
                <a:solidFill>
                  <a:srgbClr val="404040"/>
                </a:solidFill>
                <a:latin typeface="Cambria"/>
                <a:cs typeface="Cambria"/>
              </a:rPr>
              <a:t>visualizing</a:t>
            </a:r>
            <a:r>
              <a:rPr sz="2800" spc="-60" dirty="0">
                <a:solidFill>
                  <a:srgbClr val="404040"/>
                </a:solidFill>
                <a:latin typeface="Cambria"/>
                <a:cs typeface="Cambria"/>
              </a:rPr>
              <a:t> </a:t>
            </a:r>
            <a:r>
              <a:rPr sz="2800" spc="-10" dirty="0">
                <a:solidFill>
                  <a:srgbClr val="404040"/>
                </a:solidFill>
                <a:latin typeface="Cambria"/>
                <a:cs typeface="Cambria"/>
              </a:rPr>
              <a:t>data.</a:t>
            </a:r>
            <a:endParaRPr sz="2800" dirty="0">
              <a:latin typeface="Cambria"/>
              <a:cs typeface="Cambria"/>
            </a:endParaRPr>
          </a:p>
          <a:p>
            <a:pPr marL="299085" marR="5080" indent="-287020">
              <a:lnSpc>
                <a:spcPts val="3020"/>
              </a:lnSpc>
              <a:spcBef>
                <a:spcPts val="1450"/>
              </a:spcBef>
              <a:buClr>
                <a:srgbClr val="1CACE3"/>
              </a:buClr>
              <a:buFont typeface="Arial MT"/>
              <a:buChar char="•"/>
              <a:tabLst>
                <a:tab pos="300355" algn="l"/>
              </a:tabLst>
            </a:pPr>
            <a:r>
              <a:rPr sz="2800" dirty="0">
                <a:solidFill>
                  <a:srgbClr val="404040"/>
                </a:solidFill>
                <a:latin typeface="Cambria"/>
                <a:cs typeface="Cambria"/>
              </a:rPr>
              <a:t>Its</a:t>
            </a:r>
            <a:r>
              <a:rPr sz="2800" spc="-60" dirty="0">
                <a:solidFill>
                  <a:srgbClr val="404040"/>
                </a:solidFill>
                <a:latin typeface="Cambria"/>
                <a:cs typeface="Cambria"/>
              </a:rPr>
              <a:t> </a:t>
            </a:r>
            <a:r>
              <a:rPr sz="2800" dirty="0">
                <a:solidFill>
                  <a:srgbClr val="404040"/>
                </a:solidFill>
                <a:latin typeface="Cambria"/>
                <a:cs typeface="Cambria"/>
              </a:rPr>
              <a:t>wide</a:t>
            </a:r>
            <a:r>
              <a:rPr sz="2800" spc="-60" dirty="0">
                <a:solidFill>
                  <a:srgbClr val="404040"/>
                </a:solidFill>
                <a:latin typeface="Cambria"/>
                <a:cs typeface="Cambria"/>
              </a:rPr>
              <a:t> </a:t>
            </a:r>
            <a:r>
              <a:rPr sz="2800" dirty="0">
                <a:solidFill>
                  <a:srgbClr val="404040"/>
                </a:solidFill>
                <a:latin typeface="Cambria"/>
                <a:cs typeface="Cambria"/>
              </a:rPr>
              <a:t>range</a:t>
            </a:r>
            <a:r>
              <a:rPr sz="2800" spc="-45" dirty="0">
                <a:solidFill>
                  <a:srgbClr val="404040"/>
                </a:solidFill>
                <a:latin typeface="Cambria"/>
                <a:cs typeface="Cambria"/>
              </a:rPr>
              <a:t> </a:t>
            </a:r>
            <a:r>
              <a:rPr sz="2800" dirty="0">
                <a:solidFill>
                  <a:srgbClr val="404040"/>
                </a:solidFill>
                <a:latin typeface="Cambria"/>
                <a:cs typeface="Cambria"/>
              </a:rPr>
              <a:t>of</a:t>
            </a:r>
            <a:r>
              <a:rPr sz="2800" spc="-60" dirty="0">
                <a:solidFill>
                  <a:srgbClr val="404040"/>
                </a:solidFill>
                <a:latin typeface="Cambria"/>
                <a:cs typeface="Cambria"/>
              </a:rPr>
              <a:t> </a:t>
            </a:r>
            <a:r>
              <a:rPr sz="2800" dirty="0">
                <a:solidFill>
                  <a:srgbClr val="404040"/>
                </a:solidFill>
                <a:latin typeface="Cambria"/>
                <a:cs typeface="Cambria"/>
              </a:rPr>
              <a:t>features</a:t>
            </a:r>
            <a:r>
              <a:rPr sz="2800" spc="-60" dirty="0">
                <a:solidFill>
                  <a:srgbClr val="404040"/>
                </a:solidFill>
                <a:latin typeface="Cambria"/>
                <a:cs typeface="Cambria"/>
              </a:rPr>
              <a:t> </a:t>
            </a:r>
            <a:r>
              <a:rPr sz="2800" dirty="0">
                <a:solidFill>
                  <a:srgbClr val="404040"/>
                </a:solidFill>
                <a:latin typeface="Cambria"/>
                <a:cs typeface="Cambria"/>
              </a:rPr>
              <a:t>and</a:t>
            </a:r>
            <a:r>
              <a:rPr sz="2800" spc="-60" dirty="0">
                <a:solidFill>
                  <a:srgbClr val="404040"/>
                </a:solidFill>
                <a:latin typeface="Cambria"/>
                <a:cs typeface="Cambria"/>
              </a:rPr>
              <a:t> </a:t>
            </a:r>
            <a:r>
              <a:rPr sz="2800" spc="-10" dirty="0">
                <a:solidFill>
                  <a:srgbClr val="404040"/>
                </a:solidFill>
                <a:latin typeface="Cambria"/>
                <a:cs typeface="Cambria"/>
              </a:rPr>
              <a:t>customization</a:t>
            </a:r>
            <a:r>
              <a:rPr sz="2800" spc="-75" dirty="0">
                <a:solidFill>
                  <a:srgbClr val="404040"/>
                </a:solidFill>
                <a:latin typeface="Cambria"/>
                <a:cs typeface="Cambria"/>
              </a:rPr>
              <a:t> </a:t>
            </a:r>
            <a:r>
              <a:rPr sz="2800" dirty="0">
                <a:solidFill>
                  <a:srgbClr val="404040"/>
                </a:solidFill>
                <a:latin typeface="Cambria"/>
                <a:cs typeface="Cambria"/>
              </a:rPr>
              <a:t>options</a:t>
            </a:r>
            <a:r>
              <a:rPr sz="2800" spc="-60" dirty="0">
                <a:solidFill>
                  <a:srgbClr val="404040"/>
                </a:solidFill>
                <a:latin typeface="Cambria"/>
                <a:cs typeface="Cambria"/>
              </a:rPr>
              <a:t> </a:t>
            </a:r>
            <a:r>
              <a:rPr sz="2800" dirty="0">
                <a:solidFill>
                  <a:srgbClr val="404040"/>
                </a:solidFill>
                <a:latin typeface="Cambria"/>
                <a:cs typeface="Cambria"/>
              </a:rPr>
              <a:t>make</a:t>
            </a:r>
            <a:r>
              <a:rPr sz="2800" spc="-70" dirty="0">
                <a:solidFill>
                  <a:srgbClr val="404040"/>
                </a:solidFill>
                <a:latin typeface="Cambria"/>
                <a:cs typeface="Cambria"/>
              </a:rPr>
              <a:t> </a:t>
            </a:r>
            <a:r>
              <a:rPr sz="2800" dirty="0">
                <a:solidFill>
                  <a:srgbClr val="404040"/>
                </a:solidFill>
                <a:latin typeface="Cambria"/>
                <a:cs typeface="Cambria"/>
              </a:rPr>
              <a:t>it</a:t>
            </a:r>
            <a:r>
              <a:rPr sz="2800" spc="-60" dirty="0">
                <a:solidFill>
                  <a:srgbClr val="404040"/>
                </a:solidFill>
                <a:latin typeface="Cambria"/>
                <a:cs typeface="Cambria"/>
              </a:rPr>
              <a:t> </a:t>
            </a:r>
            <a:r>
              <a:rPr sz="2800" dirty="0">
                <a:solidFill>
                  <a:srgbClr val="404040"/>
                </a:solidFill>
                <a:latin typeface="Cambria"/>
                <a:cs typeface="Cambria"/>
              </a:rPr>
              <a:t>a</a:t>
            </a:r>
            <a:r>
              <a:rPr sz="2800" spc="-60" dirty="0">
                <a:solidFill>
                  <a:srgbClr val="404040"/>
                </a:solidFill>
                <a:latin typeface="Cambria"/>
                <a:cs typeface="Cambria"/>
              </a:rPr>
              <a:t> </a:t>
            </a:r>
            <a:r>
              <a:rPr sz="2800" spc="-25" dirty="0">
                <a:solidFill>
                  <a:srgbClr val="404040"/>
                </a:solidFill>
                <a:latin typeface="Cambria"/>
                <a:cs typeface="Cambria"/>
              </a:rPr>
              <a:t>go-	</a:t>
            </a:r>
            <a:r>
              <a:rPr sz="2800" dirty="0">
                <a:solidFill>
                  <a:srgbClr val="404040"/>
                </a:solidFill>
                <a:latin typeface="Cambria"/>
                <a:cs typeface="Cambria"/>
              </a:rPr>
              <a:t>to</a:t>
            </a:r>
            <a:r>
              <a:rPr sz="2800" spc="-60" dirty="0">
                <a:solidFill>
                  <a:srgbClr val="404040"/>
                </a:solidFill>
                <a:latin typeface="Cambria"/>
                <a:cs typeface="Cambria"/>
              </a:rPr>
              <a:t> </a:t>
            </a:r>
            <a:r>
              <a:rPr sz="2800" dirty="0">
                <a:solidFill>
                  <a:srgbClr val="404040"/>
                </a:solidFill>
                <a:latin typeface="Cambria"/>
                <a:cs typeface="Cambria"/>
              </a:rPr>
              <a:t>tool</a:t>
            </a:r>
            <a:r>
              <a:rPr sz="2800" spc="-45" dirty="0">
                <a:solidFill>
                  <a:srgbClr val="404040"/>
                </a:solidFill>
                <a:latin typeface="Cambria"/>
                <a:cs typeface="Cambria"/>
              </a:rPr>
              <a:t> </a:t>
            </a:r>
            <a:r>
              <a:rPr sz="2800" dirty="0">
                <a:solidFill>
                  <a:srgbClr val="404040"/>
                </a:solidFill>
                <a:latin typeface="Cambria"/>
                <a:cs typeface="Cambria"/>
              </a:rPr>
              <a:t>for</a:t>
            </a:r>
            <a:r>
              <a:rPr sz="2800" spc="-55" dirty="0">
                <a:solidFill>
                  <a:srgbClr val="404040"/>
                </a:solidFill>
                <a:latin typeface="Cambria"/>
                <a:cs typeface="Cambria"/>
              </a:rPr>
              <a:t> </a:t>
            </a:r>
            <a:r>
              <a:rPr sz="2800" dirty="0">
                <a:solidFill>
                  <a:srgbClr val="404040"/>
                </a:solidFill>
                <a:latin typeface="Cambria"/>
                <a:cs typeface="Cambria"/>
              </a:rPr>
              <a:t>data</a:t>
            </a:r>
            <a:r>
              <a:rPr sz="2800" spc="-65" dirty="0">
                <a:solidFill>
                  <a:srgbClr val="404040"/>
                </a:solidFill>
                <a:latin typeface="Cambria"/>
                <a:cs typeface="Cambria"/>
              </a:rPr>
              <a:t> </a:t>
            </a:r>
            <a:r>
              <a:rPr sz="2800" dirty="0">
                <a:solidFill>
                  <a:srgbClr val="404040"/>
                </a:solidFill>
                <a:latin typeface="Cambria"/>
                <a:cs typeface="Cambria"/>
              </a:rPr>
              <a:t>scientists</a:t>
            </a:r>
            <a:r>
              <a:rPr sz="2800" spc="-55" dirty="0">
                <a:solidFill>
                  <a:srgbClr val="404040"/>
                </a:solidFill>
                <a:latin typeface="Cambria"/>
                <a:cs typeface="Cambria"/>
              </a:rPr>
              <a:t> </a:t>
            </a:r>
            <a:r>
              <a:rPr sz="2800" dirty="0">
                <a:solidFill>
                  <a:srgbClr val="404040"/>
                </a:solidFill>
                <a:latin typeface="Cambria"/>
                <a:cs typeface="Cambria"/>
              </a:rPr>
              <a:t>and</a:t>
            </a:r>
            <a:r>
              <a:rPr sz="2800" spc="-70" dirty="0">
                <a:solidFill>
                  <a:srgbClr val="404040"/>
                </a:solidFill>
                <a:latin typeface="Cambria"/>
                <a:cs typeface="Cambria"/>
              </a:rPr>
              <a:t> </a:t>
            </a:r>
            <a:r>
              <a:rPr sz="2800" spc="-10" dirty="0">
                <a:solidFill>
                  <a:srgbClr val="404040"/>
                </a:solidFill>
                <a:latin typeface="Cambria"/>
                <a:cs typeface="Cambria"/>
              </a:rPr>
              <a:t>analysts.</a:t>
            </a:r>
            <a:endParaRPr sz="2800" dirty="0">
              <a:latin typeface="Cambria"/>
              <a:cs typeface="Cambria"/>
            </a:endParaRPr>
          </a:p>
          <a:p>
            <a:pPr marL="299720" indent="-287020">
              <a:lnSpc>
                <a:spcPct val="100000"/>
              </a:lnSpc>
              <a:spcBef>
                <a:spcPts val="1030"/>
              </a:spcBef>
              <a:buClr>
                <a:srgbClr val="1CACE3"/>
              </a:buClr>
              <a:buFont typeface="Arial MT"/>
              <a:buChar char="•"/>
              <a:tabLst>
                <a:tab pos="299720" algn="l"/>
              </a:tabLst>
            </a:pPr>
            <a:r>
              <a:rPr sz="2800" b="1" spc="-10" dirty="0">
                <a:solidFill>
                  <a:srgbClr val="404040"/>
                </a:solidFill>
                <a:latin typeface="Cambria"/>
                <a:cs typeface="Cambria"/>
              </a:rPr>
              <a:t>Explore</a:t>
            </a:r>
            <a:r>
              <a:rPr sz="2800" b="1" spc="-100" dirty="0">
                <a:solidFill>
                  <a:srgbClr val="404040"/>
                </a:solidFill>
                <a:latin typeface="Cambria"/>
                <a:cs typeface="Cambria"/>
              </a:rPr>
              <a:t> </a:t>
            </a:r>
            <a:r>
              <a:rPr sz="2800" b="1" dirty="0">
                <a:solidFill>
                  <a:srgbClr val="404040"/>
                </a:solidFill>
                <a:latin typeface="Cambria"/>
                <a:cs typeface="Cambria"/>
              </a:rPr>
              <a:t>more</a:t>
            </a:r>
            <a:r>
              <a:rPr sz="2800" b="1" spc="-105" dirty="0">
                <a:solidFill>
                  <a:srgbClr val="404040"/>
                </a:solidFill>
                <a:latin typeface="Cambria"/>
                <a:cs typeface="Cambria"/>
              </a:rPr>
              <a:t> </a:t>
            </a:r>
            <a:r>
              <a:rPr sz="2800" b="1" dirty="0">
                <a:solidFill>
                  <a:srgbClr val="404040"/>
                </a:solidFill>
                <a:latin typeface="Cambria"/>
                <a:cs typeface="Cambria"/>
              </a:rPr>
              <a:t>at:</a:t>
            </a:r>
            <a:r>
              <a:rPr sz="2800" b="1" spc="-75" dirty="0">
                <a:solidFill>
                  <a:srgbClr val="404040"/>
                </a:solidFill>
                <a:latin typeface="Cambria"/>
                <a:cs typeface="Cambria"/>
              </a:rPr>
              <a:t> </a:t>
            </a:r>
            <a:r>
              <a:rPr sz="2800" u="sng" dirty="0">
                <a:solidFill>
                  <a:srgbClr val="6DAC1C"/>
                </a:solidFill>
                <a:uFill>
                  <a:solidFill>
                    <a:srgbClr val="6DAC1C"/>
                  </a:solidFill>
                </a:uFill>
                <a:latin typeface="Cambria"/>
                <a:cs typeface="Cambria"/>
                <a:hlinkClick r:id="rId2"/>
              </a:rPr>
              <a:t>Matplotlib</a:t>
            </a:r>
            <a:r>
              <a:rPr sz="2800" u="sng" spc="-85" dirty="0">
                <a:solidFill>
                  <a:srgbClr val="6DAC1C"/>
                </a:solidFill>
                <a:uFill>
                  <a:solidFill>
                    <a:srgbClr val="6DAC1C"/>
                  </a:solidFill>
                </a:uFill>
                <a:latin typeface="Cambria"/>
                <a:cs typeface="Cambria"/>
                <a:hlinkClick r:id="rId2"/>
              </a:rPr>
              <a:t> </a:t>
            </a:r>
            <a:r>
              <a:rPr sz="2800" u="sng" spc="-10" dirty="0">
                <a:solidFill>
                  <a:srgbClr val="6DAC1C"/>
                </a:solidFill>
                <a:uFill>
                  <a:solidFill>
                    <a:srgbClr val="6DAC1C"/>
                  </a:solidFill>
                </a:uFill>
                <a:latin typeface="Cambria"/>
                <a:cs typeface="Cambria"/>
                <a:hlinkClick r:id="rId2"/>
              </a:rPr>
              <a:t>Documentation</a:t>
            </a:r>
            <a:endParaRPr sz="2800" dirty="0">
              <a:latin typeface="Cambria"/>
              <a:cs typeface="Cambr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spc="-60" dirty="0">
                <a:latin typeface="Cambria"/>
                <a:cs typeface="Cambria"/>
              </a:rPr>
              <a:t>Introduction</a:t>
            </a:r>
            <a:r>
              <a:rPr b="0" spc="-190" dirty="0">
                <a:latin typeface="Cambria"/>
                <a:cs typeface="Cambria"/>
              </a:rPr>
              <a:t> </a:t>
            </a:r>
            <a:r>
              <a:rPr b="0" dirty="0">
                <a:latin typeface="Cambria"/>
                <a:cs typeface="Cambria"/>
              </a:rPr>
              <a:t>to</a:t>
            </a:r>
            <a:r>
              <a:rPr b="0" spc="-190" dirty="0">
                <a:latin typeface="Cambria"/>
                <a:cs typeface="Cambria"/>
              </a:rPr>
              <a:t> </a:t>
            </a:r>
            <a:r>
              <a:rPr b="0" spc="-20" dirty="0">
                <a:latin typeface="Cambria"/>
                <a:cs typeface="Cambria"/>
              </a:rPr>
              <a:t>Seaborn</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33</a:t>
            </a:fld>
            <a:endParaRPr spc="-25" dirty="0"/>
          </a:p>
        </p:txBody>
      </p:sp>
      <p:sp>
        <p:nvSpPr>
          <p:cNvPr id="3" name="object 3"/>
          <p:cNvSpPr txBox="1"/>
          <p:nvPr/>
        </p:nvSpPr>
        <p:spPr>
          <a:xfrm>
            <a:off x="1084580" y="1069980"/>
            <a:ext cx="10520045" cy="4192270"/>
          </a:xfrm>
          <a:prstGeom prst="rect">
            <a:avLst/>
          </a:prstGeom>
        </p:spPr>
        <p:txBody>
          <a:bodyPr vert="horz" wrap="square" lIns="0" tIns="133985" rIns="0" bIns="0" rtlCol="0">
            <a:spAutoFit/>
          </a:bodyPr>
          <a:lstStyle/>
          <a:p>
            <a:pPr marL="12700">
              <a:lnSpc>
                <a:spcPct val="100000"/>
              </a:lnSpc>
              <a:spcBef>
                <a:spcPts val="1055"/>
              </a:spcBef>
            </a:pPr>
            <a:r>
              <a:rPr sz="3600" b="1" dirty="0">
                <a:solidFill>
                  <a:srgbClr val="404040"/>
                </a:solidFill>
                <a:latin typeface="Cambria"/>
                <a:cs typeface="Cambria"/>
              </a:rPr>
              <a:t>What</a:t>
            </a:r>
            <a:r>
              <a:rPr sz="3600" b="1" spc="-15" dirty="0">
                <a:solidFill>
                  <a:srgbClr val="404040"/>
                </a:solidFill>
                <a:latin typeface="Cambria"/>
                <a:cs typeface="Cambria"/>
              </a:rPr>
              <a:t> </a:t>
            </a:r>
            <a:r>
              <a:rPr sz="3600" b="1" dirty="0">
                <a:solidFill>
                  <a:srgbClr val="404040"/>
                </a:solidFill>
                <a:latin typeface="Cambria"/>
                <a:cs typeface="Cambria"/>
              </a:rPr>
              <a:t>is</a:t>
            </a:r>
            <a:r>
              <a:rPr sz="3600" b="1" spc="-25" dirty="0">
                <a:solidFill>
                  <a:srgbClr val="404040"/>
                </a:solidFill>
                <a:latin typeface="Cambria"/>
                <a:cs typeface="Cambria"/>
              </a:rPr>
              <a:t> </a:t>
            </a:r>
            <a:r>
              <a:rPr sz="3600" b="1" spc="-10" dirty="0">
                <a:solidFill>
                  <a:srgbClr val="404040"/>
                </a:solidFill>
                <a:latin typeface="Cambria"/>
                <a:cs typeface="Cambria"/>
              </a:rPr>
              <a:t>Seaborn?</a:t>
            </a:r>
            <a:endParaRPr sz="3600" dirty="0">
              <a:latin typeface="Cambria"/>
              <a:cs typeface="Cambria"/>
            </a:endParaRPr>
          </a:p>
          <a:p>
            <a:pPr marL="300355" marR="379095" indent="-288290">
              <a:lnSpc>
                <a:spcPts val="3890"/>
              </a:lnSpc>
              <a:spcBef>
                <a:spcPts val="1450"/>
              </a:spcBef>
              <a:buClr>
                <a:srgbClr val="1CACE3"/>
              </a:buClr>
              <a:buFont typeface="Arial MT"/>
              <a:buChar char="•"/>
              <a:tabLst>
                <a:tab pos="300355" algn="l"/>
              </a:tabLst>
            </a:pPr>
            <a:r>
              <a:rPr sz="3600" dirty="0">
                <a:solidFill>
                  <a:srgbClr val="404040"/>
                </a:solidFill>
                <a:latin typeface="Cambria"/>
                <a:cs typeface="Cambria"/>
              </a:rPr>
              <a:t>Seaborn</a:t>
            </a:r>
            <a:r>
              <a:rPr sz="3600" spc="-45" dirty="0">
                <a:solidFill>
                  <a:srgbClr val="404040"/>
                </a:solidFill>
                <a:latin typeface="Cambria"/>
                <a:cs typeface="Cambria"/>
              </a:rPr>
              <a:t> </a:t>
            </a:r>
            <a:r>
              <a:rPr sz="3600" dirty="0">
                <a:solidFill>
                  <a:srgbClr val="404040"/>
                </a:solidFill>
                <a:latin typeface="Cambria"/>
                <a:cs typeface="Cambria"/>
              </a:rPr>
              <a:t>is</a:t>
            </a:r>
            <a:r>
              <a:rPr sz="3600" spc="-50" dirty="0">
                <a:solidFill>
                  <a:srgbClr val="404040"/>
                </a:solidFill>
                <a:latin typeface="Cambria"/>
                <a:cs typeface="Cambria"/>
              </a:rPr>
              <a:t> </a:t>
            </a:r>
            <a:r>
              <a:rPr sz="3600" dirty="0">
                <a:solidFill>
                  <a:srgbClr val="404040"/>
                </a:solidFill>
                <a:latin typeface="Cambria"/>
                <a:cs typeface="Cambria"/>
              </a:rPr>
              <a:t>a</a:t>
            </a:r>
            <a:r>
              <a:rPr sz="3600" spc="-60" dirty="0">
                <a:solidFill>
                  <a:srgbClr val="404040"/>
                </a:solidFill>
                <a:latin typeface="Cambria"/>
                <a:cs typeface="Cambria"/>
              </a:rPr>
              <a:t> </a:t>
            </a:r>
            <a:r>
              <a:rPr sz="3600" dirty="0">
                <a:solidFill>
                  <a:srgbClr val="404040"/>
                </a:solidFill>
                <a:latin typeface="Cambria"/>
                <a:cs typeface="Cambria"/>
              </a:rPr>
              <a:t>Python</a:t>
            </a:r>
            <a:r>
              <a:rPr sz="3600" spc="-65" dirty="0">
                <a:solidFill>
                  <a:srgbClr val="404040"/>
                </a:solidFill>
                <a:latin typeface="Cambria"/>
                <a:cs typeface="Cambria"/>
              </a:rPr>
              <a:t> </a:t>
            </a:r>
            <a:r>
              <a:rPr sz="3600" dirty="0">
                <a:solidFill>
                  <a:srgbClr val="404040"/>
                </a:solidFill>
                <a:latin typeface="Cambria"/>
                <a:cs typeface="Cambria"/>
              </a:rPr>
              <a:t>data</a:t>
            </a:r>
            <a:r>
              <a:rPr sz="3600" spc="-45" dirty="0">
                <a:solidFill>
                  <a:srgbClr val="404040"/>
                </a:solidFill>
                <a:latin typeface="Cambria"/>
                <a:cs typeface="Cambria"/>
              </a:rPr>
              <a:t> </a:t>
            </a:r>
            <a:r>
              <a:rPr sz="3600" dirty="0">
                <a:solidFill>
                  <a:srgbClr val="404040"/>
                </a:solidFill>
                <a:latin typeface="Cambria"/>
                <a:cs typeface="Cambria"/>
              </a:rPr>
              <a:t>visualization</a:t>
            </a:r>
            <a:r>
              <a:rPr sz="3600" spc="-35" dirty="0">
                <a:solidFill>
                  <a:srgbClr val="404040"/>
                </a:solidFill>
                <a:latin typeface="Cambria"/>
                <a:cs typeface="Cambria"/>
              </a:rPr>
              <a:t> </a:t>
            </a:r>
            <a:r>
              <a:rPr sz="3600" dirty="0">
                <a:solidFill>
                  <a:srgbClr val="404040"/>
                </a:solidFill>
                <a:latin typeface="Cambria"/>
                <a:cs typeface="Cambria"/>
              </a:rPr>
              <a:t>library</a:t>
            </a:r>
            <a:r>
              <a:rPr sz="3600" spc="-60" dirty="0">
                <a:solidFill>
                  <a:srgbClr val="404040"/>
                </a:solidFill>
                <a:latin typeface="Cambria"/>
                <a:cs typeface="Cambria"/>
              </a:rPr>
              <a:t> </a:t>
            </a:r>
            <a:r>
              <a:rPr sz="3600" spc="-10" dirty="0">
                <a:solidFill>
                  <a:srgbClr val="404040"/>
                </a:solidFill>
                <a:latin typeface="Cambria"/>
                <a:cs typeface="Cambria"/>
              </a:rPr>
              <a:t>built </a:t>
            </a:r>
            <a:r>
              <a:rPr sz="3600" dirty="0">
                <a:solidFill>
                  <a:srgbClr val="404040"/>
                </a:solidFill>
                <a:latin typeface="Cambria"/>
                <a:cs typeface="Cambria"/>
              </a:rPr>
              <a:t>on</a:t>
            </a:r>
            <a:r>
              <a:rPr sz="3600" spc="-35" dirty="0">
                <a:solidFill>
                  <a:srgbClr val="404040"/>
                </a:solidFill>
                <a:latin typeface="Cambria"/>
                <a:cs typeface="Cambria"/>
              </a:rPr>
              <a:t> </a:t>
            </a:r>
            <a:r>
              <a:rPr sz="3600" dirty="0">
                <a:solidFill>
                  <a:srgbClr val="404040"/>
                </a:solidFill>
                <a:latin typeface="Cambria"/>
                <a:cs typeface="Cambria"/>
              </a:rPr>
              <a:t>top</a:t>
            </a:r>
            <a:r>
              <a:rPr sz="3600" spc="-45" dirty="0">
                <a:solidFill>
                  <a:srgbClr val="404040"/>
                </a:solidFill>
                <a:latin typeface="Cambria"/>
                <a:cs typeface="Cambria"/>
              </a:rPr>
              <a:t> </a:t>
            </a:r>
            <a:r>
              <a:rPr sz="3600" dirty="0">
                <a:solidFill>
                  <a:srgbClr val="404040"/>
                </a:solidFill>
                <a:latin typeface="Cambria"/>
                <a:cs typeface="Cambria"/>
              </a:rPr>
              <a:t>of</a:t>
            </a:r>
            <a:r>
              <a:rPr sz="3600" spc="-40" dirty="0">
                <a:solidFill>
                  <a:srgbClr val="404040"/>
                </a:solidFill>
                <a:latin typeface="Cambria"/>
                <a:cs typeface="Cambria"/>
              </a:rPr>
              <a:t> </a:t>
            </a:r>
            <a:r>
              <a:rPr sz="3600" spc="-10" dirty="0">
                <a:solidFill>
                  <a:srgbClr val="404040"/>
                </a:solidFill>
                <a:latin typeface="Cambria"/>
                <a:cs typeface="Cambria"/>
              </a:rPr>
              <a:t>Matplotlib.</a:t>
            </a:r>
            <a:endParaRPr sz="3600" dirty="0">
              <a:latin typeface="Cambria"/>
              <a:cs typeface="Cambria"/>
            </a:endParaRPr>
          </a:p>
          <a:p>
            <a:pPr marL="300355" marR="5080" indent="-288290">
              <a:lnSpc>
                <a:spcPts val="3890"/>
              </a:lnSpc>
              <a:spcBef>
                <a:spcPts val="1400"/>
              </a:spcBef>
              <a:buClr>
                <a:srgbClr val="1CACE3"/>
              </a:buClr>
              <a:buFont typeface="Arial MT"/>
              <a:buChar char="•"/>
              <a:tabLst>
                <a:tab pos="300355" algn="l"/>
              </a:tabLst>
            </a:pPr>
            <a:r>
              <a:rPr sz="3600" spc="-10" dirty="0">
                <a:solidFill>
                  <a:srgbClr val="404040"/>
                </a:solidFill>
                <a:latin typeface="Cambria"/>
                <a:cs typeface="Cambria"/>
              </a:rPr>
              <a:t>Provides</a:t>
            </a:r>
            <a:r>
              <a:rPr sz="3600" spc="-105" dirty="0">
                <a:solidFill>
                  <a:srgbClr val="404040"/>
                </a:solidFill>
                <a:latin typeface="Cambria"/>
                <a:cs typeface="Cambria"/>
              </a:rPr>
              <a:t> </a:t>
            </a:r>
            <a:r>
              <a:rPr sz="3600" dirty="0">
                <a:solidFill>
                  <a:srgbClr val="404040"/>
                </a:solidFill>
                <a:latin typeface="Cambria"/>
                <a:cs typeface="Cambria"/>
              </a:rPr>
              <a:t>a</a:t>
            </a:r>
            <a:r>
              <a:rPr sz="3600" spc="-100" dirty="0">
                <a:solidFill>
                  <a:srgbClr val="404040"/>
                </a:solidFill>
                <a:latin typeface="Cambria"/>
                <a:cs typeface="Cambria"/>
              </a:rPr>
              <a:t> </a:t>
            </a:r>
            <a:r>
              <a:rPr sz="3600" spc="-20" dirty="0">
                <a:solidFill>
                  <a:srgbClr val="404040"/>
                </a:solidFill>
                <a:latin typeface="Cambria"/>
                <a:cs typeface="Cambria"/>
              </a:rPr>
              <a:t>high-</a:t>
            </a:r>
            <a:r>
              <a:rPr sz="3600" dirty="0">
                <a:solidFill>
                  <a:srgbClr val="404040"/>
                </a:solidFill>
                <a:latin typeface="Cambria"/>
                <a:cs typeface="Cambria"/>
              </a:rPr>
              <a:t>level</a:t>
            </a:r>
            <a:r>
              <a:rPr sz="3600" spc="-125" dirty="0">
                <a:solidFill>
                  <a:srgbClr val="404040"/>
                </a:solidFill>
                <a:latin typeface="Cambria"/>
                <a:cs typeface="Cambria"/>
              </a:rPr>
              <a:t> </a:t>
            </a:r>
            <a:r>
              <a:rPr sz="3600" dirty="0">
                <a:solidFill>
                  <a:srgbClr val="404040"/>
                </a:solidFill>
                <a:latin typeface="Cambria"/>
                <a:cs typeface="Cambria"/>
              </a:rPr>
              <a:t>interface</a:t>
            </a:r>
            <a:r>
              <a:rPr sz="3600" spc="-114" dirty="0">
                <a:solidFill>
                  <a:srgbClr val="404040"/>
                </a:solidFill>
                <a:latin typeface="Cambria"/>
                <a:cs typeface="Cambria"/>
              </a:rPr>
              <a:t> </a:t>
            </a:r>
            <a:r>
              <a:rPr sz="3600" dirty="0">
                <a:solidFill>
                  <a:srgbClr val="404040"/>
                </a:solidFill>
                <a:latin typeface="Cambria"/>
                <a:cs typeface="Cambria"/>
              </a:rPr>
              <a:t>for</a:t>
            </a:r>
            <a:r>
              <a:rPr sz="3600" spc="-105" dirty="0">
                <a:solidFill>
                  <a:srgbClr val="404040"/>
                </a:solidFill>
                <a:latin typeface="Cambria"/>
                <a:cs typeface="Cambria"/>
              </a:rPr>
              <a:t> </a:t>
            </a:r>
            <a:r>
              <a:rPr sz="3600" spc="-10" dirty="0">
                <a:solidFill>
                  <a:srgbClr val="404040"/>
                </a:solidFill>
                <a:latin typeface="Cambria"/>
                <a:cs typeface="Cambria"/>
              </a:rPr>
              <a:t>drawing</a:t>
            </a:r>
            <a:r>
              <a:rPr sz="3600" spc="-90" dirty="0">
                <a:solidFill>
                  <a:srgbClr val="404040"/>
                </a:solidFill>
                <a:latin typeface="Cambria"/>
                <a:cs typeface="Cambria"/>
              </a:rPr>
              <a:t> </a:t>
            </a:r>
            <a:r>
              <a:rPr sz="3600" spc="-10" dirty="0">
                <a:solidFill>
                  <a:srgbClr val="404040"/>
                </a:solidFill>
                <a:latin typeface="Cambria"/>
                <a:cs typeface="Cambria"/>
              </a:rPr>
              <a:t>attractive </a:t>
            </a:r>
            <a:r>
              <a:rPr sz="3600" dirty="0">
                <a:solidFill>
                  <a:srgbClr val="404040"/>
                </a:solidFill>
                <a:latin typeface="Cambria"/>
                <a:cs typeface="Cambria"/>
              </a:rPr>
              <a:t>and</a:t>
            </a:r>
            <a:r>
              <a:rPr sz="3600" spc="-70" dirty="0">
                <a:solidFill>
                  <a:srgbClr val="404040"/>
                </a:solidFill>
                <a:latin typeface="Cambria"/>
                <a:cs typeface="Cambria"/>
              </a:rPr>
              <a:t> </a:t>
            </a:r>
            <a:r>
              <a:rPr sz="3600" spc="-25" dirty="0">
                <a:solidFill>
                  <a:srgbClr val="404040"/>
                </a:solidFill>
                <a:latin typeface="Cambria"/>
                <a:cs typeface="Cambria"/>
              </a:rPr>
              <a:t>informative</a:t>
            </a:r>
            <a:r>
              <a:rPr sz="3600" spc="-75" dirty="0">
                <a:solidFill>
                  <a:srgbClr val="404040"/>
                </a:solidFill>
                <a:latin typeface="Cambria"/>
                <a:cs typeface="Cambria"/>
              </a:rPr>
              <a:t> </a:t>
            </a:r>
            <a:r>
              <a:rPr sz="3600" dirty="0">
                <a:solidFill>
                  <a:srgbClr val="404040"/>
                </a:solidFill>
                <a:latin typeface="Cambria"/>
                <a:cs typeface="Cambria"/>
              </a:rPr>
              <a:t>statistical</a:t>
            </a:r>
            <a:r>
              <a:rPr sz="3600" spc="-75" dirty="0">
                <a:solidFill>
                  <a:srgbClr val="404040"/>
                </a:solidFill>
                <a:latin typeface="Cambria"/>
                <a:cs typeface="Cambria"/>
              </a:rPr>
              <a:t> </a:t>
            </a:r>
            <a:r>
              <a:rPr sz="3600" spc="-10" dirty="0">
                <a:solidFill>
                  <a:srgbClr val="404040"/>
                </a:solidFill>
                <a:latin typeface="Cambria"/>
                <a:cs typeface="Cambria"/>
              </a:rPr>
              <a:t>graphics.</a:t>
            </a:r>
            <a:endParaRPr sz="3600" dirty="0">
              <a:latin typeface="Cambria"/>
              <a:cs typeface="Cambria"/>
            </a:endParaRPr>
          </a:p>
          <a:p>
            <a:pPr marL="300355" marR="972185" indent="-288290">
              <a:lnSpc>
                <a:spcPts val="3890"/>
              </a:lnSpc>
              <a:spcBef>
                <a:spcPts val="1405"/>
              </a:spcBef>
              <a:buClr>
                <a:srgbClr val="1CACE3"/>
              </a:buClr>
              <a:buFont typeface="Arial MT"/>
              <a:buChar char="•"/>
              <a:tabLst>
                <a:tab pos="300355" algn="l"/>
              </a:tabLst>
            </a:pPr>
            <a:r>
              <a:rPr sz="3600" spc="-30" dirty="0">
                <a:solidFill>
                  <a:srgbClr val="404040"/>
                </a:solidFill>
                <a:latin typeface="Cambria"/>
                <a:cs typeface="Cambria"/>
              </a:rPr>
              <a:t>Works</a:t>
            </a:r>
            <a:r>
              <a:rPr sz="3600" spc="-130" dirty="0">
                <a:solidFill>
                  <a:srgbClr val="404040"/>
                </a:solidFill>
                <a:latin typeface="Cambria"/>
                <a:cs typeface="Cambria"/>
              </a:rPr>
              <a:t> </a:t>
            </a:r>
            <a:r>
              <a:rPr sz="3600" dirty="0">
                <a:solidFill>
                  <a:srgbClr val="404040"/>
                </a:solidFill>
                <a:latin typeface="Cambria"/>
                <a:cs typeface="Cambria"/>
              </a:rPr>
              <a:t>seamlessly</a:t>
            </a:r>
            <a:r>
              <a:rPr sz="3600" spc="-130" dirty="0">
                <a:solidFill>
                  <a:srgbClr val="404040"/>
                </a:solidFill>
                <a:latin typeface="Cambria"/>
                <a:cs typeface="Cambria"/>
              </a:rPr>
              <a:t> </a:t>
            </a:r>
            <a:r>
              <a:rPr sz="3600" dirty="0">
                <a:solidFill>
                  <a:srgbClr val="404040"/>
                </a:solidFill>
                <a:latin typeface="Cambria"/>
                <a:cs typeface="Cambria"/>
              </a:rPr>
              <a:t>with</a:t>
            </a:r>
            <a:r>
              <a:rPr sz="3600" spc="-125" dirty="0">
                <a:solidFill>
                  <a:srgbClr val="404040"/>
                </a:solidFill>
                <a:latin typeface="Cambria"/>
                <a:cs typeface="Cambria"/>
              </a:rPr>
              <a:t> </a:t>
            </a:r>
            <a:r>
              <a:rPr sz="3600" dirty="0">
                <a:solidFill>
                  <a:srgbClr val="404040"/>
                </a:solidFill>
                <a:latin typeface="Cambria"/>
                <a:cs typeface="Cambria"/>
              </a:rPr>
              <a:t>Pandas</a:t>
            </a:r>
            <a:r>
              <a:rPr sz="3600" spc="-95" dirty="0">
                <a:solidFill>
                  <a:srgbClr val="404040"/>
                </a:solidFill>
                <a:latin typeface="Cambria"/>
                <a:cs typeface="Cambria"/>
              </a:rPr>
              <a:t> </a:t>
            </a:r>
            <a:r>
              <a:rPr sz="3600" spc="-20" dirty="0">
                <a:solidFill>
                  <a:srgbClr val="404040"/>
                </a:solidFill>
                <a:latin typeface="Cambria"/>
                <a:cs typeface="Cambria"/>
              </a:rPr>
              <a:t>DataFrames</a:t>
            </a:r>
            <a:r>
              <a:rPr sz="3600" spc="-105" dirty="0">
                <a:solidFill>
                  <a:srgbClr val="404040"/>
                </a:solidFill>
                <a:latin typeface="Cambria"/>
                <a:cs typeface="Cambria"/>
              </a:rPr>
              <a:t> </a:t>
            </a:r>
            <a:r>
              <a:rPr sz="3600" spc="-25" dirty="0">
                <a:solidFill>
                  <a:srgbClr val="404040"/>
                </a:solidFill>
                <a:latin typeface="Cambria"/>
                <a:cs typeface="Cambria"/>
              </a:rPr>
              <a:t>and </a:t>
            </a:r>
            <a:r>
              <a:rPr sz="3600" dirty="0">
                <a:solidFill>
                  <a:srgbClr val="404040"/>
                </a:solidFill>
                <a:latin typeface="Cambria"/>
                <a:cs typeface="Cambria"/>
              </a:rPr>
              <a:t>NumPy</a:t>
            </a:r>
            <a:r>
              <a:rPr sz="3600" spc="-120" dirty="0">
                <a:solidFill>
                  <a:srgbClr val="404040"/>
                </a:solidFill>
                <a:latin typeface="Cambria"/>
                <a:cs typeface="Cambria"/>
              </a:rPr>
              <a:t> </a:t>
            </a:r>
            <a:r>
              <a:rPr sz="3600" spc="-10" dirty="0">
                <a:solidFill>
                  <a:srgbClr val="404040"/>
                </a:solidFill>
                <a:latin typeface="Cambria"/>
                <a:cs typeface="Cambria"/>
              </a:rPr>
              <a:t>arrays.</a:t>
            </a:r>
            <a:endParaRPr sz="3600" dirty="0">
              <a:latin typeface="Cambria"/>
              <a:cs typeface="Cambr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0" dirty="0"/>
              <a:t>Key</a:t>
            </a:r>
            <a:r>
              <a:rPr spc="-150" dirty="0"/>
              <a:t> </a:t>
            </a:r>
            <a:r>
              <a:rPr spc="-70" dirty="0"/>
              <a:t>Features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34</a:t>
            </a:fld>
            <a:endParaRPr spc="-25" dirty="0"/>
          </a:p>
        </p:txBody>
      </p:sp>
      <p:sp>
        <p:nvSpPr>
          <p:cNvPr id="3" name="object 3"/>
          <p:cNvSpPr txBox="1">
            <a:spLocks noGrp="1"/>
          </p:cNvSpPr>
          <p:nvPr>
            <p:ph type="body" idx="1"/>
          </p:nvPr>
        </p:nvSpPr>
        <p:spPr>
          <a:prstGeom prst="rect">
            <a:avLst/>
          </a:prstGeom>
        </p:spPr>
        <p:txBody>
          <a:bodyPr vert="horz" wrap="square" lIns="0" tIns="147955" rIns="0" bIns="0" rtlCol="0">
            <a:spAutoFit/>
          </a:bodyPr>
          <a:lstStyle/>
          <a:p>
            <a:pPr marL="311785" indent="-287020">
              <a:lnSpc>
                <a:spcPct val="100000"/>
              </a:lnSpc>
              <a:spcBef>
                <a:spcPts val="1165"/>
              </a:spcBef>
              <a:buClr>
                <a:srgbClr val="1CACE3"/>
              </a:buClr>
              <a:buFont typeface="Arial MT"/>
              <a:buChar char="•"/>
              <a:tabLst>
                <a:tab pos="311785" algn="l"/>
              </a:tabLst>
            </a:pPr>
            <a:r>
              <a:rPr dirty="0"/>
              <a:t>Easy</a:t>
            </a:r>
            <a:r>
              <a:rPr spc="-70" dirty="0"/>
              <a:t> </a:t>
            </a:r>
            <a:r>
              <a:rPr dirty="0"/>
              <a:t>creation</a:t>
            </a:r>
            <a:r>
              <a:rPr spc="-65" dirty="0"/>
              <a:t> </a:t>
            </a:r>
            <a:r>
              <a:rPr dirty="0"/>
              <a:t>of</a:t>
            </a:r>
            <a:r>
              <a:rPr spc="-75" dirty="0"/>
              <a:t> </a:t>
            </a:r>
            <a:r>
              <a:rPr dirty="0"/>
              <a:t>complex</a:t>
            </a:r>
            <a:r>
              <a:rPr spc="-65" dirty="0"/>
              <a:t> </a:t>
            </a:r>
            <a:r>
              <a:rPr spc="-10" dirty="0"/>
              <a:t>visualizations</a:t>
            </a:r>
            <a:r>
              <a:rPr spc="-65" dirty="0"/>
              <a:t> </a:t>
            </a:r>
            <a:r>
              <a:rPr dirty="0"/>
              <a:t>with</a:t>
            </a:r>
            <a:r>
              <a:rPr spc="-60" dirty="0"/>
              <a:t> </a:t>
            </a:r>
            <a:r>
              <a:rPr dirty="0"/>
              <a:t>minimal</a:t>
            </a:r>
            <a:r>
              <a:rPr spc="-80" dirty="0"/>
              <a:t> </a:t>
            </a:r>
            <a:r>
              <a:rPr spc="-10" dirty="0"/>
              <a:t>code.</a:t>
            </a:r>
          </a:p>
          <a:p>
            <a:pPr marL="311785" indent="-287020">
              <a:lnSpc>
                <a:spcPct val="100000"/>
              </a:lnSpc>
              <a:spcBef>
                <a:spcPts val="1070"/>
              </a:spcBef>
              <a:buClr>
                <a:srgbClr val="1CACE3"/>
              </a:buClr>
              <a:buFont typeface="Arial MT"/>
              <a:buChar char="•"/>
              <a:tabLst>
                <a:tab pos="311785" algn="l"/>
              </a:tabLst>
            </a:pPr>
            <a:r>
              <a:rPr spc="-20" dirty="0"/>
              <a:t>Built-</a:t>
            </a:r>
            <a:r>
              <a:rPr dirty="0"/>
              <a:t>in</a:t>
            </a:r>
            <a:r>
              <a:rPr spc="-50" dirty="0"/>
              <a:t> </a:t>
            </a:r>
            <a:r>
              <a:rPr dirty="0"/>
              <a:t>themes</a:t>
            </a:r>
            <a:r>
              <a:rPr spc="-60" dirty="0"/>
              <a:t> </a:t>
            </a:r>
            <a:r>
              <a:rPr dirty="0"/>
              <a:t>for</a:t>
            </a:r>
            <a:r>
              <a:rPr spc="-50" dirty="0"/>
              <a:t> </a:t>
            </a:r>
            <a:r>
              <a:rPr dirty="0"/>
              <a:t>better</a:t>
            </a:r>
            <a:r>
              <a:rPr spc="-45" dirty="0"/>
              <a:t> </a:t>
            </a:r>
            <a:r>
              <a:rPr spc="-10" dirty="0"/>
              <a:t>aesthetics.</a:t>
            </a:r>
          </a:p>
          <a:p>
            <a:pPr marL="311150" indent="-286385">
              <a:lnSpc>
                <a:spcPct val="100000"/>
              </a:lnSpc>
              <a:spcBef>
                <a:spcPts val="1055"/>
              </a:spcBef>
              <a:buClr>
                <a:srgbClr val="1CACE3"/>
              </a:buClr>
              <a:buFont typeface="Arial MT"/>
              <a:buChar char="•"/>
              <a:tabLst>
                <a:tab pos="311150" algn="l"/>
              </a:tabLst>
            </a:pPr>
            <a:r>
              <a:rPr dirty="0"/>
              <a:t>Statistical</a:t>
            </a:r>
            <a:r>
              <a:rPr spc="-100" dirty="0"/>
              <a:t> </a:t>
            </a:r>
            <a:r>
              <a:rPr dirty="0"/>
              <a:t>visualization</a:t>
            </a:r>
            <a:r>
              <a:rPr spc="-80" dirty="0"/>
              <a:t> </a:t>
            </a:r>
            <a:r>
              <a:rPr dirty="0"/>
              <a:t>capabilities</a:t>
            </a:r>
            <a:r>
              <a:rPr spc="-90" dirty="0"/>
              <a:t> </a:t>
            </a:r>
            <a:r>
              <a:rPr dirty="0"/>
              <a:t>(e.g.,</a:t>
            </a:r>
            <a:r>
              <a:rPr spc="-85" dirty="0"/>
              <a:t> </a:t>
            </a:r>
            <a:r>
              <a:rPr spc="-10" dirty="0"/>
              <a:t>histograms,</a:t>
            </a:r>
            <a:r>
              <a:rPr spc="-80" dirty="0"/>
              <a:t> </a:t>
            </a:r>
            <a:r>
              <a:rPr dirty="0"/>
              <a:t>KDE</a:t>
            </a:r>
            <a:r>
              <a:rPr spc="-80" dirty="0"/>
              <a:t> </a:t>
            </a:r>
            <a:r>
              <a:rPr spc="-10" dirty="0"/>
              <a:t>plots).</a:t>
            </a:r>
          </a:p>
          <a:p>
            <a:pPr marL="311785" indent="-287020">
              <a:lnSpc>
                <a:spcPct val="100000"/>
              </a:lnSpc>
              <a:spcBef>
                <a:spcPts val="1070"/>
              </a:spcBef>
              <a:buClr>
                <a:srgbClr val="1CACE3"/>
              </a:buClr>
              <a:buFont typeface="Arial MT"/>
              <a:buChar char="•"/>
              <a:tabLst>
                <a:tab pos="311785" algn="l"/>
              </a:tabLst>
            </a:pPr>
            <a:r>
              <a:rPr spc="-10" dirty="0"/>
              <a:t>Integration</a:t>
            </a:r>
            <a:r>
              <a:rPr spc="-75" dirty="0"/>
              <a:t> </a:t>
            </a:r>
            <a:r>
              <a:rPr dirty="0"/>
              <a:t>with</a:t>
            </a:r>
            <a:r>
              <a:rPr spc="-85" dirty="0"/>
              <a:t> </a:t>
            </a:r>
            <a:r>
              <a:rPr dirty="0"/>
              <a:t>Pandas</a:t>
            </a:r>
            <a:r>
              <a:rPr spc="-80" dirty="0"/>
              <a:t> </a:t>
            </a:r>
            <a:r>
              <a:rPr dirty="0"/>
              <a:t>for</a:t>
            </a:r>
            <a:r>
              <a:rPr spc="-85" dirty="0"/>
              <a:t> </a:t>
            </a:r>
            <a:r>
              <a:rPr dirty="0"/>
              <a:t>handling</a:t>
            </a:r>
            <a:r>
              <a:rPr spc="-80" dirty="0"/>
              <a:t> </a:t>
            </a:r>
            <a:r>
              <a:rPr spc="-10" dirty="0"/>
              <a:t>data.</a:t>
            </a:r>
          </a:p>
          <a:p>
            <a:pPr marL="311785" indent="-287020">
              <a:lnSpc>
                <a:spcPct val="100000"/>
              </a:lnSpc>
              <a:spcBef>
                <a:spcPts val="1070"/>
              </a:spcBef>
              <a:buClr>
                <a:srgbClr val="1CACE3"/>
              </a:buClr>
              <a:buFont typeface="Arial MT"/>
              <a:buChar char="•"/>
              <a:tabLst>
                <a:tab pos="311785" algn="l"/>
              </a:tabLst>
            </a:pPr>
            <a:r>
              <a:rPr dirty="0"/>
              <a:t>Support</a:t>
            </a:r>
            <a:r>
              <a:rPr spc="-75" dirty="0"/>
              <a:t> </a:t>
            </a:r>
            <a:r>
              <a:rPr dirty="0"/>
              <a:t>for</a:t>
            </a:r>
            <a:r>
              <a:rPr spc="-80" dirty="0"/>
              <a:t> </a:t>
            </a:r>
            <a:r>
              <a:rPr spc="-10" dirty="0"/>
              <a:t>multi-</a:t>
            </a:r>
            <a:r>
              <a:rPr dirty="0"/>
              <a:t>plot</a:t>
            </a:r>
            <a:r>
              <a:rPr spc="-65" dirty="0"/>
              <a:t> </a:t>
            </a:r>
            <a:r>
              <a:rPr spc="-10" dirty="0"/>
              <a:t>grids.</a:t>
            </a:r>
          </a:p>
          <a:p>
            <a:pPr marL="24765">
              <a:lnSpc>
                <a:spcPct val="100000"/>
              </a:lnSpc>
              <a:spcBef>
                <a:spcPts val="1060"/>
              </a:spcBef>
            </a:pPr>
            <a:r>
              <a:rPr b="1" dirty="0">
                <a:latin typeface="Cambria"/>
                <a:cs typeface="Cambria"/>
              </a:rPr>
              <a:t>Installing</a:t>
            </a:r>
            <a:r>
              <a:rPr b="1" spc="-110" dirty="0">
                <a:latin typeface="Cambria"/>
                <a:cs typeface="Cambria"/>
              </a:rPr>
              <a:t> </a:t>
            </a:r>
            <a:r>
              <a:rPr b="1" spc="-10" dirty="0">
                <a:latin typeface="Cambria"/>
                <a:cs typeface="Cambria"/>
              </a:rPr>
              <a:t>Seaborn</a:t>
            </a:r>
          </a:p>
        </p:txBody>
      </p:sp>
      <p:sp>
        <p:nvSpPr>
          <p:cNvPr id="4" name="object 4"/>
          <p:cNvSpPr txBox="1"/>
          <p:nvPr/>
        </p:nvSpPr>
        <p:spPr>
          <a:xfrm>
            <a:off x="4209288" y="4514088"/>
            <a:ext cx="4180840" cy="594360"/>
          </a:xfrm>
          <a:prstGeom prst="rect">
            <a:avLst/>
          </a:prstGeom>
          <a:solidFill>
            <a:srgbClr val="FFFFFF"/>
          </a:solidFill>
          <a:ln w="15875">
            <a:solidFill>
              <a:srgbClr val="61A29F"/>
            </a:solidFill>
          </a:ln>
        </p:spPr>
        <p:txBody>
          <a:bodyPr vert="horz" wrap="square" lIns="0" tIns="66040" rIns="0" bIns="0" rtlCol="0">
            <a:spAutoFit/>
          </a:bodyPr>
          <a:lstStyle/>
          <a:p>
            <a:pPr marL="279400">
              <a:lnSpc>
                <a:spcPct val="100000"/>
              </a:lnSpc>
              <a:spcBef>
                <a:spcPts val="520"/>
              </a:spcBef>
            </a:pPr>
            <a:r>
              <a:rPr sz="2800" dirty="0">
                <a:solidFill>
                  <a:srgbClr val="383942"/>
                </a:solidFill>
                <a:latin typeface="Consolas"/>
                <a:cs typeface="Consolas"/>
              </a:rPr>
              <a:t>pip</a:t>
            </a:r>
            <a:r>
              <a:rPr sz="2800" spc="-85" dirty="0">
                <a:solidFill>
                  <a:srgbClr val="383942"/>
                </a:solidFill>
                <a:latin typeface="Consolas"/>
                <a:cs typeface="Consolas"/>
              </a:rPr>
              <a:t> </a:t>
            </a:r>
            <a:r>
              <a:rPr sz="2800" dirty="0">
                <a:solidFill>
                  <a:srgbClr val="383942"/>
                </a:solidFill>
                <a:latin typeface="Consolas"/>
                <a:cs typeface="Consolas"/>
              </a:rPr>
              <a:t>install</a:t>
            </a:r>
            <a:r>
              <a:rPr sz="2800" spc="-90" dirty="0">
                <a:solidFill>
                  <a:srgbClr val="383942"/>
                </a:solidFill>
                <a:latin typeface="Consolas"/>
                <a:cs typeface="Consolas"/>
              </a:rPr>
              <a:t> </a:t>
            </a:r>
            <a:r>
              <a:rPr sz="2800" spc="-10" dirty="0">
                <a:solidFill>
                  <a:srgbClr val="383942"/>
                </a:solidFill>
                <a:latin typeface="Consolas"/>
                <a:cs typeface="Consolas"/>
              </a:rPr>
              <a:t>seaborn</a:t>
            </a:r>
            <a:endParaRPr sz="2800">
              <a:latin typeface="Consolas"/>
              <a:cs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Basic</a:t>
            </a:r>
            <a:r>
              <a:rPr spc="-225" dirty="0"/>
              <a:t> </a:t>
            </a:r>
            <a:r>
              <a:rPr spc="-90" dirty="0"/>
              <a:t>Workflow</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35</a:t>
            </a:fld>
            <a:endParaRPr spc="-25" dirty="0"/>
          </a:p>
        </p:txBody>
      </p:sp>
      <p:sp>
        <p:nvSpPr>
          <p:cNvPr id="3" name="object 3"/>
          <p:cNvSpPr txBox="1"/>
          <p:nvPr/>
        </p:nvSpPr>
        <p:spPr>
          <a:xfrm>
            <a:off x="609600" y="1342124"/>
            <a:ext cx="11353800" cy="4910960"/>
          </a:xfrm>
          <a:prstGeom prst="rect">
            <a:avLst/>
          </a:prstGeom>
        </p:spPr>
        <p:txBody>
          <a:bodyPr vert="horz" wrap="square" lIns="0" tIns="133985" rIns="0" bIns="0" rtlCol="0">
            <a:spAutoFit/>
          </a:bodyPr>
          <a:lstStyle/>
          <a:p>
            <a:pPr marL="357505" indent="-349250">
              <a:lnSpc>
                <a:spcPct val="100000"/>
              </a:lnSpc>
              <a:spcBef>
                <a:spcPts val="1055"/>
              </a:spcBef>
              <a:buClr>
                <a:srgbClr val="1CACE3"/>
              </a:buClr>
              <a:buSzPct val="97222"/>
              <a:buAutoNum type="arabicPeriod"/>
              <a:tabLst>
                <a:tab pos="357505" algn="l"/>
              </a:tabLst>
            </a:pPr>
            <a:r>
              <a:rPr sz="3600" dirty="0">
                <a:solidFill>
                  <a:srgbClr val="404040"/>
                </a:solidFill>
                <a:latin typeface="Cambria"/>
                <a:cs typeface="Cambria"/>
              </a:rPr>
              <a:t>Import</a:t>
            </a:r>
            <a:r>
              <a:rPr sz="3600" spc="-70" dirty="0">
                <a:solidFill>
                  <a:srgbClr val="404040"/>
                </a:solidFill>
                <a:latin typeface="Cambria"/>
                <a:cs typeface="Cambria"/>
              </a:rPr>
              <a:t> </a:t>
            </a:r>
            <a:r>
              <a:rPr sz="3600" dirty="0">
                <a:solidFill>
                  <a:srgbClr val="404040"/>
                </a:solidFill>
                <a:latin typeface="Cambria"/>
                <a:cs typeface="Cambria"/>
              </a:rPr>
              <a:t>the</a:t>
            </a:r>
            <a:r>
              <a:rPr sz="3600" spc="-90" dirty="0">
                <a:solidFill>
                  <a:srgbClr val="404040"/>
                </a:solidFill>
                <a:latin typeface="Cambria"/>
                <a:cs typeface="Cambria"/>
              </a:rPr>
              <a:t> </a:t>
            </a:r>
            <a:r>
              <a:rPr sz="3600" dirty="0">
                <a:solidFill>
                  <a:srgbClr val="404040"/>
                </a:solidFill>
                <a:latin typeface="Cambria"/>
                <a:cs typeface="Cambria"/>
              </a:rPr>
              <a:t>library:</a:t>
            </a:r>
            <a:r>
              <a:rPr sz="3600" spc="-70" dirty="0">
                <a:solidFill>
                  <a:srgbClr val="404040"/>
                </a:solidFill>
                <a:latin typeface="Cambria"/>
                <a:cs typeface="Cambria"/>
              </a:rPr>
              <a:t> </a:t>
            </a:r>
            <a:r>
              <a:rPr sz="3600" dirty="0">
                <a:solidFill>
                  <a:schemeClr val="accent1"/>
                </a:solidFill>
                <a:latin typeface="Consolas" panose="020B0609020204030204" pitchFamily="49" charset="0"/>
                <a:cs typeface="Cambria"/>
              </a:rPr>
              <a:t>import</a:t>
            </a:r>
            <a:r>
              <a:rPr sz="3600" spc="-70" dirty="0">
                <a:solidFill>
                  <a:schemeClr val="accent1"/>
                </a:solidFill>
                <a:latin typeface="Consolas" panose="020B0609020204030204" pitchFamily="49" charset="0"/>
                <a:cs typeface="Cambria"/>
              </a:rPr>
              <a:t> </a:t>
            </a:r>
            <a:r>
              <a:rPr sz="3600" dirty="0">
                <a:solidFill>
                  <a:schemeClr val="accent1"/>
                </a:solidFill>
                <a:latin typeface="Consolas" panose="020B0609020204030204" pitchFamily="49" charset="0"/>
                <a:cs typeface="Cambria"/>
              </a:rPr>
              <a:t>seaborn</a:t>
            </a:r>
            <a:r>
              <a:rPr sz="3600" spc="-55" dirty="0">
                <a:solidFill>
                  <a:schemeClr val="accent1"/>
                </a:solidFill>
                <a:latin typeface="Consolas" panose="020B0609020204030204" pitchFamily="49" charset="0"/>
                <a:cs typeface="Cambria"/>
              </a:rPr>
              <a:t> </a:t>
            </a:r>
            <a:r>
              <a:rPr sz="3600" dirty="0">
                <a:solidFill>
                  <a:schemeClr val="accent1"/>
                </a:solidFill>
                <a:latin typeface="Consolas" panose="020B0609020204030204" pitchFamily="49" charset="0"/>
                <a:cs typeface="Cambria"/>
              </a:rPr>
              <a:t>as</a:t>
            </a:r>
            <a:r>
              <a:rPr sz="3600" spc="-45" dirty="0">
                <a:solidFill>
                  <a:schemeClr val="accent1"/>
                </a:solidFill>
                <a:latin typeface="Consolas" panose="020B0609020204030204" pitchFamily="49" charset="0"/>
                <a:cs typeface="Cambria"/>
              </a:rPr>
              <a:t> </a:t>
            </a:r>
            <a:r>
              <a:rPr sz="3600" spc="-20" dirty="0">
                <a:solidFill>
                  <a:schemeClr val="accent1"/>
                </a:solidFill>
                <a:latin typeface="Consolas" panose="020B0609020204030204" pitchFamily="49" charset="0"/>
                <a:cs typeface="Cambria"/>
              </a:rPr>
              <a:t>sns</a:t>
            </a:r>
            <a:r>
              <a:rPr sz="3600" spc="-20" dirty="0">
                <a:solidFill>
                  <a:srgbClr val="404040"/>
                </a:solidFill>
                <a:latin typeface="Cambria"/>
                <a:cs typeface="Cambria"/>
              </a:rPr>
              <a:t>.</a:t>
            </a:r>
            <a:endParaRPr sz="3600" dirty="0">
              <a:latin typeface="Cambria"/>
              <a:cs typeface="Cambria"/>
            </a:endParaRPr>
          </a:p>
          <a:p>
            <a:pPr marL="300355" marR="1569085" indent="-292735">
              <a:lnSpc>
                <a:spcPts val="3890"/>
              </a:lnSpc>
              <a:spcBef>
                <a:spcPts val="1450"/>
              </a:spcBef>
              <a:buClr>
                <a:srgbClr val="1CACE3"/>
              </a:buClr>
              <a:buSzPct val="97222"/>
              <a:buAutoNum type="arabicPeriod"/>
              <a:tabLst>
                <a:tab pos="300355" algn="l"/>
                <a:tab pos="356870" algn="l"/>
              </a:tabLst>
            </a:pPr>
            <a:r>
              <a:rPr sz="3600" dirty="0">
                <a:solidFill>
                  <a:srgbClr val="404040"/>
                </a:solidFill>
                <a:latin typeface="Cambria"/>
                <a:cs typeface="Cambria"/>
              </a:rPr>
              <a:t>	</a:t>
            </a:r>
            <a:r>
              <a:rPr sz="3600" b="1" dirty="0">
                <a:solidFill>
                  <a:schemeClr val="accent1"/>
                </a:solidFill>
                <a:latin typeface="Cambria"/>
                <a:cs typeface="Cambria"/>
              </a:rPr>
              <a:t>Load</a:t>
            </a:r>
            <a:r>
              <a:rPr sz="3600" spc="-65" dirty="0">
                <a:solidFill>
                  <a:srgbClr val="404040"/>
                </a:solidFill>
                <a:latin typeface="Cambria"/>
                <a:cs typeface="Cambria"/>
              </a:rPr>
              <a:t> </a:t>
            </a:r>
            <a:r>
              <a:rPr sz="3600" dirty="0">
                <a:solidFill>
                  <a:srgbClr val="404040"/>
                </a:solidFill>
                <a:latin typeface="Cambria"/>
                <a:cs typeface="Cambria"/>
              </a:rPr>
              <a:t>or</a:t>
            </a:r>
            <a:r>
              <a:rPr sz="3600" spc="-75" dirty="0">
                <a:solidFill>
                  <a:srgbClr val="404040"/>
                </a:solidFill>
                <a:latin typeface="Cambria"/>
                <a:cs typeface="Cambria"/>
              </a:rPr>
              <a:t> </a:t>
            </a:r>
            <a:r>
              <a:rPr sz="3600" dirty="0">
                <a:solidFill>
                  <a:srgbClr val="404040"/>
                </a:solidFill>
                <a:latin typeface="Cambria"/>
                <a:cs typeface="Cambria"/>
              </a:rPr>
              <a:t>prepare</a:t>
            </a:r>
            <a:r>
              <a:rPr sz="3600" spc="-90" dirty="0">
                <a:solidFill>
                  <a:srgbClr val="404040"/>
                </a:solidFill>
                <a:latin typeface="Cambria"/>
                <a:cs typeface="Cambria"/>
              </a:rPr>
              <a:t> </a:t>
            </a:r>
            <a:r>
              <a:rPr sz="3600" dirty="0">
                <a:solidFill>
                  <a:srgbClr val="404040"/>
                </a:solidFill>
                <a:latin typeface="Cambria"/>
                <a:cs typeface="Cambria"/>
              </a:rPr>
              <a:t>your</a:t>
            </a:r>
            <a:r>
              <a:rPr sz="3600" spc="-90" dirty="0">
                <a:solidFill>
                  <a:srgbClr val="404040"/>
                </a:solidFill>
                <a:latin typeface="Cambria"/>
                <a:cs typeface="Cambria"/>
              </a:rPr>
              <a:t> </a:t>
            </a:r>
            <a:r>
              <a:rPr sz="3600" dirty="0">
                <a:solidFill>
                  <a:srgbClr val="404040"/>
                </a:solidFill>
                <a:latin typeface="Cambria"/>
                <a:cs typeface="Cambria"/>
              </a:rPr>
              <a:t>dataset</a:t>
            </a:r>
            <a:r>
              <a:rPr sz="3600" spc="-65" dirty="0">
                <a:solidFill>
                  <a:srgbClr val="404040"/>
                </a:solidFill>
                <a:latin typeface="Cambria"/>
                <a:cs typeface="Cambria"/>
              </a:rPr>
              <a:t> </a:t>
            </a:r>
            <a:r>
              <a:rPr sz="3600" dirty="0">
                <a:solidFill>
                  <a:srgbClr val="404040"/>
                </a:solidFill>
                <a:latin typeface="Cambria"/>
                <a:cs typeface="Cambria"/>
              </a:rPr>
              <a:t>(e.g.,</a:t>
            </a:r>
            <a:r>
              <a:rPr sz="3600" spc="-100" dirty="0">
                <a:solidFill>
                  <a:srgbClr val="404040"/>
                </a:solidFill>
                <a:latin typeface="Cambria"/>
                <a:cs typeface="Cambria"/>
              </a:rPr>
              <a:t> </a:t>
            </a:r>
            <a:r>
              <a:rPr sz="3600" spc="-10" dirty="0">
                <a:solidFill>
                  <a:srgbClr val="404040"/>
                </a:solidFill>
                <a:latin typeface="Cambria"/>
                <a:cs typeface="Cambria"/>
              </a:rPr>
              <a:t>Pandas DataFrame).</a:t>
            </a:r>
            <a:endParaRPr sz="3600" dirty="0">
              <a:latin typeface="Cambria"/>
              <a:cs typeface="Cambria"/>
            </a:endParaRPr>
          </a:p>
          <a:p>
            <a:pPr marL="300355" marR="1423670" indent="-292735">
              <a:lnSpc>
                <a:spcPts val="3890"/>
              </a:lnSpc>
              <a:spcBef>
                <a:spcPts val="1400"/>
              </a:spcBef>
              <a:buClr>
                <a:srgbClr val="1CACE3"/>
              </a:buClr>
              <a:buSzPct val="97222"/>
              <a:buAutoNum type="arabicPeriod"/>
              <a:tabLst>
                <a:tab pos="300355" algn="l"/>
                <a:tab pos="356870" algn="l"/>
              </a:tabLst>
            </a:pPr>
            <a:r>
              <a:rPr sz="3600" dirty="0">
                <a:solidFill>
                  <a:srgbClr val="404040"/>
                </a:solidFill>
                <a:latin typeface="Cambria"/>
                <a:cs typeface="Cambria"/>
              </a:rPr>
              <a:t>	</a:t>
            </a:r>
            <a:r>
              <a:rPr sz="3600" b="1" dirty="0">
                <a:solidFill>
                  <a:schemeClr val="accent1"/>
                </a:solidFill>
                <a:latin typeface="Cambria"/>
                <a:cs typeface="Cambria"/>
              </a:rPr>
              <a:t>Use</a:t>
            </a:r>
            <a:r>
              <a:rPr sz="3600" b="1" spc="-95" dirty="0">
                <a:solidFill>
                  <a:schemeClr val="accent1"/>
                </a:solidFill>
                <a:latin typeface="Cambria"/>
                <a:cs typeface="Cambria"/>
              </a:rPr>
              <a:t> </a:t>
            </a:r>
            <a:r>
              <a:rPr sz="3600" b="1" dirty="0">
                <a:solidFill>
                  <a:schemeClr val="accent1"/>
                </a:solidFill>
                <a:latin typeface="Cambria"/>
                <a:cs typeface="Cambria"/>
              </a:rPr>
              <a:t>Seaborn</a:t>
            </a:r>
            <a:r>
              <a:rPr sz="3600" b="1" spc="-85" dirty="0">
                <a:solidFill>
                  <a:schemeClr val="accent1"/>
                </a:solidFill>
                <a:latin typeface="Cambria"/>
                <a:cs typeface="Cambria"/>
              </a:rPr>
              <a:t> </a:t>
            </a:r>
            <a:r>
              <a:rPr sz="3600" dirty="0">
                <a:solidFill>
                  <a:srgbClr val="404040"/>
                </a:solidFill>
                <a:latin typeface="Cambria"/>
                <a:cs typeface="Cambria"/>
              </a:rPr>
              <a:t>functions</a:t>
            </a:r>
            <a:r>
              <a:rPr sz="3600" spc="-95" dirty="0">
                <a:solidFill>
                  <a:srgbClr val="404040"/>
                </a:solidFill>
                <a:latin typeface="Cambria"/>
                <a:cs typeface="Cambria"/>
              </a:rPr>
              <a:t> </a:t>
            </a:r>
            <a:r>
              <a:rPr sz="3600" dirty="0">
                <a:solidFill>
                  <a:srgbClr val="404040"/>
                </a:solidFill>
                <a:latin typeface="Cambria"/>
                <a:cs typeface="Cambria"/>
              </a:rPr>
              <a:t>like</a:t>
            </a:r>
            <a:r>
              <a:rPr sz="3600" spc="-110" dirty="0">
                <a:solidFill>
                  <a:srgbClr val="404040"/>
                </a:solidFill>
                <a:latin typeface="Cambria"/>
                <a:cs typeface="Cambria"/>
              </a:rPr>
              <a:t> </a:t>
            </a:r>
            <a:r>
              <a:rPr sz="3600" spc="-10" dirty="0">
                <a:solidFill>
                  <a:srgbClr val="404040"/>
                </a:solidFill>
                <a:latin typeface="Consolas" panose="020B0609020204030204" pitchFamily="49" charset="0"/>
                <a:cs typeface="Cambria"/>
              </a:rPr>
              <a:t>sns.barplot()</a:t>
            </a:r>
            <a:r>
              <a:rPr sz="3600" spc="-95" dirty="0">
                <a:solidFill>
                  <a:srgbClr val="404040"/>
                </a:solidFill>
                <a:latin typeface="Consolas" panose="020B0609020204030204" pitchFamily="49" charset="0"/>
                <a:cs typeface="Cambria"/>
              </a:rPr>
              <a:t> </a:t>
            </a:r>
            <a:r>
              <a:rPr sz="3600" spc="-25" dirty="0">
                <a:solidFill>
                  <a:srgbClr val="404040"/>
                </a:solidFill>
                <a:latin typeface="Cambria"/>
                <a:cs typeface="Cambria"/>
              </a:rPr>
              <a:t>or </a:t>
            </a:r>
            <a:r>
              <a:rPr sz="3600" dirty="0">
                <a:solidFill>
                  <a:srgbClr val="404040"/>
                </a:solidFill>
                <a:latin typeface="Cambria"/>
                <a:cs typeface="Cambria"/>
              </a:rPr>
              <a:t>sns.heatmap()</a:t>
            </a:r>
            <a:r>
              <a:rPr sz="3600" spc="-114" dirty="0">
                <a:solidFill>
                  <a:srgbClr val="404040"/>
                </a:solidFill>
                <a:latin typeface="Cambria"/>
                <a:cs typeface="Cambria"/>
              </a:rPr>
              <a:t> </a:t>
            </a:r>
            <a:r>
              <a:rPr sz="3600" dirty="0">
                <a:solidFill>
                  <a:srgbClr val="404040"/>
                </a:solidFill>
                <a:latin typeface="Cambria"/>
                <a:cs typeface="Cambria"/>
              </a:rPr>
              <a:t>to</a:t>
            </a:r>
            <a:r>
              <a:rPr sz="3600" spc="-114" dirty="0">
                <a:solidFill>
                  <a:srgbClr val="404040"/>
                </a:solidFill>
                <a:latin typeface="Cambria"/>
                <a:cs typeface="Cambria"/>
              </a:rPr>
              <a:t> </a:t>
            </a:r>
            <a:r>
              <a:rPr sz="3600" dirty="0">
                <a:solidFill>
                  <a:srgbClr val="404040"/>
                </a:solidFill>
                <a:latin typeface="Cambria"/>
                <a:cs typeface="Cambria"/>
              </a:rPr>
              <a:t>create</a:t>
            </a:r>
            <a:r>
              <a:rPr sz="3600" spc="-130" dirty="0">
                <a:solidFill>
                  <a:srgbClr val="404040"/>
                </a:solidFill>
                <a:latin typeface="Cambria"/>
                <a:cs typeface="Cambria"/>
              </a:rPr>
              <a:t> </a:t>
            </a:r>
            <a:r>
              <a:rPr sz="3600" spc="-10" dirty="0">
                <a:solidFill>
                  <a:srgbClr val="404040"/>
                </a:solidFill>
                <a:latin typeface="Cambria"/>
                <a:cs typeface="Cambria"/>
              </a:rPr>
              <a:t>plots.</a:t>
            </a:r>
            <a:endParaRPr sz="3600" dirty="0">
              <a:latin typeface="Cambria"/>
              <a:cs typeface="Cambria"/>
            </a:endParaRPr>
          </a:p>
          <a:p>
            <a:pPr marL="300355" marR="5080" indent="-292735">
              <a:lnSpc>
                <a:spcPts val="3890"/>
              </a:lnSpc>
              <a:spcBef>
                <a:spcPts val="1405"/>
              </a:spcBef>
              <a:buClr>
                <a:srgbClr val="1CACE3"/>
              </a:buClr>
              <a:buSzPct val="97222"/>
              <a:buAutoNum type="arabicPeriod"/>
              <a:tabLst>
                <a:tab pos="300355" algn="l"/>
                <a:tab pos="356870" algn="l"/>
              </a:tabLst>
            </a:pPr>
            <a:r>
              <a:rPr sz="3600" dirty="0">
                <a:solidFill>
                  <a:srgbClr val="404040"/>
                </a:solidFill>
                <a:latin typeface="Cambria"/>
                <a:cs typeface="Cambria"/>
              </a:rPr>
              <a:t>	</a:t>
            </a:r>
            <a:r>
              <a:rPr sz="3600" b="1" dirty="0">
                <a:solidFill>
                  <a:schemeClr val="accent1"/>
                </a:solidFill>
                <a:latin typeface="Cambria"/>
                <a:cs typeface="Cambria"/>
              </a:rPr>
              <a:t>Customize</a:t>
            </a:r>
            <a:r>
              <a:rPr sz="3600" spc="-90" dirty="0">
                <a:solidFill>
                  <a:srgbClr val="404040"/>
                </a:solidFill>
                <a:latin typeface="Cambria"/>
                <a:cs typeface="Cambria"/>
              </a:rPr>
              <a:t> </a:t>
            </a:r>
            <a:r>
              <a:rPr sz="3600" dirty="0">
                <a:solidFill>
                  <a:srgbClr val="404040"/>
                </a:solidFill>
                <a:latin typeface="Cambria"/>
                <a:cs typeface="Cambria"/>
              </a:rPr>
              <a:t>the</a:t>
            </a:r>
            <a:r>
              <a:rPr sz="3600" spc="-85" dirty="0">
                <a:solidFill>
                  <a:srgbClr val="404040"/>
                </a:solidFill>
                <a:latin typeface="Cambria"/>
                <a:cs typeface="Cambria"/>
              </a:rPr>
              <a:t> </a:t>
            </a:r>
            <a:r>
              <a:rPr sz="3600" dirty="0">
                <a:solidFill>
                  <a:srgbClr val="404040"/>
                </a:solidFill>
                <a:latin typeface="Cambria"/>
                <a:cs typeface="Cambria"/>
              </a:rPr>
              <a:t>plots</a:t>
            </a:r>
            <a:r>
              <a:rPr sz="3600" spc="-60" dirty="0">
                <a:solidFill>
                  <a:srgbClr val="404040"/>
                </a:solidFill>
                <a:latin typeface="Cambria"/>
                <a:cs typeface="Cambria"/>
              </a:rPr>
              <a:t> </a:t>
            </a:r>
            <a:r>
              <a:rPr sz="3600" dirty="0">
                <a:solidFill>
                  <a:srgbClr val="404040"/>
                </a:solidFill>
                <a:latin typeface="Cambria"/>
                <a:cs typeface="Cambria"/>
              </a:rPr>
              <a:t>using</a:t>
            </a:r>
            <a:r>
              <a:rPr sz="3600" spc="-65" dirty="0">
                <a:solidFill>
                  <a:srgbClr val="404040"/>
                </a:solidFill>
                <a:latin typeface="Cambria"/>
                <a:cs typeface="Cambria"/>
              </a:rPr>
              <a:t> </a:t>
            </a:r>
            <a:r>
              <a:rPr sz="3600" dirty="0">
                <a:solidFill>
                  <a:srgbClr val="404040"/>
                </a:solidFill>
                <a:latin typeface="Cambria"/>
                <a:cs typeface="Cambria"/>
              </a:rPr>
              <a:t>arguments,</a:t>
            </a:r>
            <a:r>
              <a:rPr sz="3600" spc="-70" dirty="0">
                <a:solidFill>
                  <a:srgbClr val="404040"/>
                </a:solidFill>
                <a:latin typeface="Cambria"/>
                <a:cs typeface="Cambria"/>
              </a:rPr>
              <a:t> </a:t>
            </a:r>
            <a:r>
              <a:rPr sz="3600" dirty="0">
                <a:solidFill>
                  <a:srgbClr val="404040"/>
                </a:solidFill>
                <a:latin typeface="Cambria"/>
                <a:cs typeface="Cambria"/>
              </a:rPr>
              <a:t>themes,</a:t>
            </a:r>
            <a:r>
              <a:rPr sz="3600" spc="-85" dirty="0">
                <a:solidFill>
                  <a:srgbClr val="404040"/>
                </a:solidFill>
                <a:latin typeface="Cambria"/>
                <a:cs typeface="Cambria"/>
              </a:rPr>
              <a:t> </a:t>
            </a:r>
            <a:r>
              <a:rPr sz="3600" spc="-25" dirty="0">
                <a:solidFill>
                  <a:srgbClr val="404040"/>
                </a:solidFill>
                <a:latin typeface="Cambria"/>
                <a:cs typeface="Cambria"/>
              </a:rPr>
              <a:t>and </a:t>
            </a:r>
            <a:r>
              <a:rPr sz="3600" dirty="0">
                <a:solidFill>
                  <a:srgbClr val="404040"/>
                </a:solidFill>
                <a:latin typeface="Cambria"/>
                <a:cs typeface="Cambria"/>
              </a:rPr>
              <a:t>Matplotlib</a:t>
            </a:r>
            <a:r>
              <a:rPr sz="3600" spc="-50" dirty="0">
                <a:solidFill>
                  <a:srgbClr val="404040"/>
                </a:solidFill>
                <a:latin typeface="Cambria"/>
                <a:cs typeface="Cambria"/>
              </a:rPr>
              <a:t> </a:t>
            </a:r>
            <a:r>
              <a:rPr sz="3600" spc="-10" dirty="0">
                <a:solidFill>
                  <a:srgbClr val="404040"/>
                </a:solidFill>
                <a:latin typeface="Cambria"/>
                <a:cs typeface="Cambria"/>
              </a:rPr>
              <a:t>tools.</a:t>
            </a:r>
            <a:endParaRPr sz="3600" dirty="0">
              <a:latin typeface="Cambria"/>
              <a:cs typeface="Cambria"/>
            </a:endParaRPr>
          </a:p>
          <a:p>
            <a:pPr marL="357505" indent="-349250">
              <a:lnSpc>
                <a:spcPct val="100000"/>
              </a:lnSpc>
              <a:spcBef>
                <a:spcPts val="900"/>
              </a:spcBef>
              <a:buClr>
                <a:srgbClr val="1CACE3"/>
              </a:buClr>
              <a:buSzPct val="97222"/>
              <a:buAutoNum type="arabicPeriod"/>
              <a:tabLst>
                <a:tab pos="357505" algn="l"/>
              </a:tabLst>
            </a:pPr>
            <a:r>
              <a:rPr sz="3600" b="1" dirty="0">
                <a:solidFill>
                  <a:schemeClr val="accent1"/>
                </a:solidFill>
                <a:latin typeface="Cambria"/>
                <a:cs typeface="Cambria"/>
              </a:rPr>
              <a:t>Display</a:t>
            </a:r>
            <a:r>
              <a:rPr sz="3600" spc="-35" dirty="0">
                <a:solidFill>
                  <a:srgbClr val="404040"/>
                </a:solidFill>
                <a:latin typeface="Cambria"/>
                <a:cs typeface="Cambria"/>
              </a:rPr>
              <a:t> </a:t>
            </a:r>
            <a:r>
              <a:rPr sz="3600" dirty="0">
                <a:solidFill>
                  <a:srgbClr val="404040"/>
                </a:solidFill>
                <a:latin typeface="Cambria"/>
                <a:cs typeface="Cambria"/>
              </a:rPr>
              <a:t>the</a:t>
            </a:r>
            <a:r>
              <a:rPr sz="3600" spc="-70" dirty="0">
                <a:solidFill>
                  <a:srgbClr val="404040"/>
                </a:solidFill>
                <a:latin typeface="Cambria"/>
                <a:cs typeface="Cambria"/>
              </a:rPr>
              <a:t> </a:t>
            </a:r>
            <a:r>
              <a:rPr sz="3600" dirty="0">
                <a:solidFill>
                  <a:srgbClr val="404040"/>
                </a:solidFill>
                <a:latin typeface="Cambria"/>
                <a:cs typeface="Cambria"/>
              </a:rPr>
              <a:t>plot</a:t>
            </a:r>
            <a:r>
              <a:rPr sz="3600" spc="-65" dirty="0">
                <a:solidFill>
                  <a:srgbClr val="404040"/>
                </a:solidFill>
                <a:latin typeface="Cambria"/>
                <a:cs typeface="Cambria"/>
              </a:rPr>
              <a:t> </a:t>
            </a:r>
            <a:r>
              <a:rPr sz="3600" dirty="0">
                <a:solidFill>
                  <a:srgbClr val="404040"/>
                </a:solidFill>
                <a:latin typeface="Cambria"/>
                <a:cs typeface="Cambria"/>
              </a:rPr>
              <a:t>using</a:t>
            </a:r>
            <a:r>
              <a:rPr sz="3600" spc="-35" dirty="0">
                <a:solidFill>
                  <a:srgbClr val="404040"/>
                </a:solidFill>
                <a:latin typeface="Cambria"/>
                <a:cs typeface="Cambria"/>
              </a:rPr>
              <a:t> </a:t>
            </a:r>
            <a:r>
              <a:rPr sz="3600" spc="-10" dirty="0">
                <a:solidFill>
                  <a:srgbClr val="404040"/>
                </a:solidFill>
                <a:latin typeface="Consolas" panose="020B0609020204030204" pitchFamily="49" charset="0"/>
                <a:cs typeface="Cambria"/>
              </a:rPr>
              <a:t>plt.show().</a:t>
            </a:r>
            <a:endParaRPr sz="3600" dirty="0">
              <a:latin typeface="Consolas" panose="020B0609020204030204" pitchFamily="49" charset="0"/>
              <a:cs typeface="Cambr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76324" y="250316"/>
            <a:ext cx="5487670" cy="756920"/>
          </a:xfrm>
          <a:prstGeom prst="rect">
            <a:avLst/>
          </a:prstGeom>
        </p:spPr>
        <p:txBody>
          <a:bodyPr vert="horz" wrap="square" lIns="0" tIns="12700" rIns="0" bIns="0" rtlCol="0">
            <a:spAutoFit/>
          </a:bodyPr>
          <a:lstStyle/>
          <a:p>
            <a:pPr marL="12700">
              <a:lnSpc>
                <a:spcPct val="100000"/>
              </a:lnSpc>
              <a:spcBef>
                <a:spcPts val="100"/>
              </a:spcBef>
            </a:pPr>
            <a:r>
              <a:rPr spc="-55" dirty="0"/>
              <a:t>Common</a:t>
            </a:r>
            <a:r>
              <a:rPr spc="-210" dirty="0"/>
              <a:t> </a:t>
            </a:r>
            <a:r>
              <a:rPr spc="-20" dirty="0"/>
              <a:t>Plot</a:t>
            </a:r>
            <a:r>
              <a:rPr spc="-220" dirty="0"/>
              <a:t> </a:t>
            </a:r>
            <a:r>
              <a:rPr spc="-10" dirty="0"/>
              <a:t>Types</a:t>
            </a:r>
          </a:p>
        </p:txBody>
      </p:sp>
      <p:sp>
        <p:nvSpPr>
          <p:cNvPr id="3" name="object 3"/>
          <p:cNvSpPr txBox="1"/>
          <p:nvPr/>
        </p:nvSpPr>
        <p:spPr>
          <a:xfrm>
            <a:off x="1084580" y="1073251"/>
            <a:ext cx="9942830" cy="5029835"/>
          </a:xfrm>
          <a:prstGeom prst="rect">
            <a:avLst/>
          </a:prstGeom>
        </p:spPr>
        <p:txBody>
          <a:bodyPr vert="horz" wrap="square" lIns="0" tIns="149860" rIns="0" bIns="0" rtlCol="0">
            <a:spAutoFit/>
          </a:bodyPr>
          <a:lstStyle/>
          <a:p>
            <a:pPr marL="356870" indent="-344170">
              <a:lnSpc>
                <a:spcPct val="100000"/>
              </a:lnSpc>
              <a:spcBef>
                <a:spcPts val="1180"/>
              </a:spcBef>
              <a:buAutoNum type="arabicPeriod"/>
              <a:tabLst>
                <a:tab pos="356870" algn="l"/>
              </a:tabLst>
            </a:pPr>
            <a:r>
              <a:rPr sz="2600" b="1" dirty="0">
                <a:solidFill>
                  <a:srgbClr val="404040"/>
                </a:solidFill>
                <a:latin typeface="Cambria"/>
                <a:cs typeface="Cambria"/>
              </a:rPr>
              <a:t>Scatter</a:t>
            </a:r>
            <a:r>
              <a:rPr sz="2600" b="1" spc="-50" dirty="0">
                <a:solidFill>
                  <a:srgbClr val="404040"/>
                </a:solidFill>
                <a:latin typeface="Cambria"/>
                <a:cs typeface="Cambria"/>
              </a:rPr>
              <a:t> </a:t>
            </a:r>
            <a:r>
              <a:rPr sz="2600" b="1" spc="-20" dirty="0">
                <a:solidFill>
                  <a:srgbClr val="404040"/>
                </a:solidFill>
                <a:latin typeface="Cambria"/>
                <a:cs typeface="Cambria"/>
              </a:rPr>
              <a:t>Plot</a:t>
            </a:r>
            <a:endParaRPr sz="2600" dirty="0">
              <a:latin typeface="Cambria"/>
              <a:cs typeface="Cambria"/>
            </a:endParaRPr>
          </a:p>
          <a:p>
            <a:pPr marL="300990" lvl="1" indent="-288290">
              <a:lnSpc>
                <a:spcPts val="3060"/>
              </a:lnSpc>
              <a:spcBef>
                <a:spcPts val="1080"/>
              </a:spcBef>
              <a:buClr>
                <a:srgbClr val="1CACE3"/>
              </a:buClr>
              <a:buFont typeface="Arial MT"/>
              <a:buChar char="•"/>
              <a:tabLst>
                <a:tab pos="300990" algn="l"/>
              </a:tabLst>
            </a:pPr>
            <a:r>
              <a:rPr sz="2600" dirty="0">
                <a:solidFill>
                  <a:srgbClr val="404040"/>
                </a:solidFill>
                <a:latin typeface="Cambria"/>
                <a:cs typeface="Cambria"/>
              </a:rPr>
              <a:t>Visualizes</a:t>
            </a:r>
            <a:r>
              <a:rPr sz="2600" spc="-55" dirty="0">
                <a:solidFill>
                  <a:srgbClr val="404040"/>
                </a:solidFill>
                <a:latin typeface="Cambria"/>
                <a:cs typeface="Cambria"/>
              </a:rPr>
              <a:t> </a:t>
            </a:r>
            <a:r>
              <a:rPr sz="2600" dirty="0">
                <a:solidFill>
                  <a:srgbClr val="404040"/>
                </a:solidFill>
                <a:latin typeface="Cambria"/>
                <a:cs typeface="Cambria"/>
              </a:rPr>
              <a:t>relationships</a:t>
            </a:r>
            <a:r>
              <a:rPr sz="2600" spc="-75" dirty="0">
                <a:solidFill>
                  <a:srgbClr val="404040"/>
                </a:solidFill>
                <a:latin typeface="Cambria"/>
                <a:cs typeface="Cambria"/>
              </a:rPr>
              <a:t> </a:t>
            </a:r>
            <a:r>
              <a:rPr sz="2600" dirty="0">
                <a:solidFill>
                  <a:srgbClr val="404040"/>
                </a:solidFill>
                <a:latin typeface="Cambria"/>
                <a:cs typeface="Cambria"/>
              </a:rPr>
              <a:t>between</a:t>
            </a:r>
            <a:r>
              <a:rPr sz="2600" spc="-80" dirty="0">
                <a:solidFill>
                  <a:srgbClr val="404040"/>
                </a:solidFill>
                <a:latin typeface="Cambria"/>
                <a:cs typeface="Cambria"/>
              </a:rPr>
              <a:t> </a:t>
            </a:r>
            <a:r>
              <a:rPr sz="2600" dirty="0">
                <a:solidFill>
                  <a:srgbClr val="404040"/>
                </a:solidFill>
                <a:latin typeface="Cambria"/>
                <a:cs typeface="Cambria"/>
              </a:rPr>
              <a:t>two</a:t>
            </a:r>
            <a:r>
              <a:rPr sz="2600" spc="-40" dirty="0">
                <a:solidFill>
                  <a:srgbClr val="404040"/>
                </a:solidFill>
                <a:latin typeface="Cambria"/>
                <a:cs typeface="Cambria"/>
              </a:rPr>
              <a:t> </a:t>
            </a:r>
            <a:r>
              <a:rPr sz="2600" spc="-10" dirty="0">
                <a:solidFill>
                  <a:srgbClr val="404040"/>
                </a:solidFill>
                <a:latin typeface="Cambria"/>
                <a:cs typeface="Cambria"/>
              </a:rPr>
              <a:t>variables.</a:t>
            </a:r>
            <a:endParaRPr sz="2600" dirty="0">
              <a:latin typeface="Cambria"/>
              <a:cs typeface="Cambria"/>
            </a:endParaRPr>
          </a:p>
          <a:p>
            <a:pPr marL="12700">
              <a:lnSpc>
                <a:spcPts val="2900"/>
              </a:lnSpc>
            </a:pPr>
            <a:r>
              <a:rPr sz="2600" dirty="0">
                <a:solidFill>
                  <a:srgbClr val="AE00DB"/>
                </a:solidFill>
                <a:latin typeface="Courier New"/>
                <a:cs typeface="Courier New"/>
              </a:rPr>
              <a:t>import</a:t>
            </a:r>
            <a:r>
              <a:rPr sz="2600" spc="-30" dirty="0">
                <a:solidFill>
                  <a:srgbClr val="AE00DB"/>
                </a:solidFill>
                <a:latin typeface="Courier New"/>
                <a:cs typeface="Courier New"/>
              </a:rPr>
              <a:t> </a:t>
            </a:r>
            <a:r>
              <a:rPr sz="2600" dirty="0">
                <a:latin typeface="Courier New"/>
                <a:cs typeface="Courier New"/>
              </a:rPr>
              <a:t>seaborn</a:t>
            </a:r>
            <a:r>
              <a:rPr sz="2600" spc="-20" dirty="0">
                <a:latin typeface="Courier New"/>
                <a:cs typeface="Courier New"/>
              </a:rPr>
              <a:t> </a:t>
            </a:r>
            <a:r>
              <a:rPr sz="2600" dirty="0">
                <a:solidFill>
                  <a:srgbClr val="AE00DB"/>
                </a:solidFill>
                <a:latin typeface="Courier New"/>
                <a:cs typeface="Courier New"/>
              </a:rPr>
              <a:t>as</a:t>
            </a:r>
            <a:r>
              <a:rPr sz="2600" spc="-25" dirty="0">
                <a:solidFill>
                  <a:srgbClr val="AE00DB"/>
                </a:solidFill>
                <a:latin typeface="Courier New"/>
                <a:cs typeface="Courier New"/>
              </a:rPr>
              <a:t> </a:t>
            </a:r>
            <a:r>
              <a:rPr sz="2600" spc="-25" dirty="0">
                <a:latin typeface="Courier New"/>
                <a:cs typeface="Courier New"/>
              </a:rPr>
              <a:t>sns</a:t>
            </a:r>
            <a:endParaRPr sz="2600" dirty="0">
              <a:latin typeface="Courier New"/>
              <a:cs typeface="Courier New"/>
            </a:endParaRPr>
          </a:p>
          <a:p>
            <a:pPr marL="12700">
              <a:lnSpc>
                <a:spcPts val="2960"/>
              </a:lnSpc>
            </a:pPr>
            <a:r>
              <a:rPr sz="2600" dirty="0">
                <a:solidFill>
                  <a:srgbClr val="AE00DB"/>
                </a:solidFill>
                <a:latin typeface="Courier New"/>
                <a:cs typeface="Courier New"/>
              </a:rPr>
              <a:t>import</a:t>
            </a:r>
            <a:r>
              <a:rPr sz="2600" spc="-45" dirty="0">
                <a:solidFill>
                  <a:srgbClr val="AE00DB"/>
                </a:solidFill>
                <a:latin typeface="Courier New"/>
                <a:cs typeface="Courier New"/>
              </a:rPr>
              <a:t> </a:t>
            </a:r>
            <a:r>
              <a:rPr sz="2600" dirty="0">
                <a:latin typeface="Courier New"/>
                <a:cs typeface="Courier New"/>
              </a:rPr>
              <a:t>matplotlib.pyplot</a:t>
            </a:r>
            <a:r>
              <a:rPr sz="2600" spc="-40" dirty="0">
                <a:latin typeface="Courier New"/>
                <a:cs typeface="Courier New"/>
              </a:rPr>
              <a:t> </a:t>
            </a:r>
            <a:r>
              <a:rPr sz="2600" dirty="0">
                <a:solidFill>
                  <a:srgbClr val="AE00DB"/>
                </a:solidFill>
                <a:latin typeface="Courier New"/>
                <a:cs typeface="Courier New"/>
              </a:rPr>
              <a:t>as</a:t>
            </a:r>
            <a:r>
              <a:rPr sz="2600" spc="-35" dirty="0">
                <a:solidFill>
                  <a:srgbClr val="AE00DB"/>
                </a:solidFill>
                <a:latin typeface="Courier New"/>
                <a:cs typeface="Courier New"/>
              </a:rPr>
              <a:t> </a:t>
            </a:r>
            <a:r>
              <a:rPr sz="2600" spc="-25" dirty="0">
                <a:latin typeface="Courier New"/>
                <a:cs typeface="Courier New"/>
              </a:rPr>
              <a:t>plt</a:t>
            </a:r>
            <a:endParaRPr sz="2600" dirty="0">
              <a:latin typeface="Courier New"/>
              <a:cs typeface="Courier New"/>
            </a:endParaRPr>
          </a:p>
          <a:p>
            <a:pPr marL="12700" marR="7341234">
              <a:lnSpc>
                <a:spcPts val="2810"/>
              </a:lnSpc>
              <a:spcBef>
                <a:spcPts val="1430"/>
              </a:spcBef>
            </a:pPr>
            <a:r>
              <a:rPr sz="2600" dirty="0">
                <a:solidFill>
                  <a:srgbClr val="008000"/>
                </a:solidFill>
                <a:latin typeface="Courier New"/>
                <a:cs typeface="Courier New"/>
              </a:rPr>
              <a:t>#</a:t>
            </a:r>
            <a:r>
              <a:rPr sz="2600" spc="-15" dirty="0">
                <a:solidFill>
                  <a:srgbClr val="008000"/>
                </a:solidFill>
                <a:latin typeface="Courier New"/>
                <a:cs typeface="Courier New"/>
              </a:rPr>
              <a:t> </a:t>
            </a:r>
            <a:r>
              <a:rPr sz="2600" dirty="0">
                <a:solidFill>
                  <a:srgbClr val="008000"/>
                </a:solidFill>
                <a:latin typeface="Courier New"/>
                <a:cs typeface="Courier New"/>
              </a:rPr>
              <a:t>Sample</a:t>
            </a:r>
            <a:r>
              <a:rPr sz="2600" spc="-5" dirty="0">
                <a:solidFill>
                  <a:srgbClr val="008000"/>
                </a:solidFill>
                <a:latin typeface="Courier New"/>
                <a:cs typeface="Courier New"/>
              </a:rPr>
              <a:t> </a:t>
            </a:r>
            <a:r>
              <a:rPr sz="2600" spc="-20" dirty="0">
                <a:solidFill>
                  <a:srgbClr val="008000"/>
                </a:solidFill>
                <a:latin typeface="Courier New"/>
                <a:cs typeface="Courier New"/>
              </a:rPr>
              <a:t>Data </a:t>
            </a:r>
            <a:r>
              <a:rPr sz="2600" dirty="0">
                <a:latin typeface="Courier New"/>
                <a:cs typeface="Courier New"/>
              </a:rPr>
              <a:t>data</a:t>
            </a:r>
            <a:r>
              <a:rPr sz="2600" spc="-20" dirty="0">
                <a:latin typeface="Courier New"/>
                <a:cs typeface="Courier New"/>
              </a:rPr>
              <a:t> </a:t>
            </a:r>
            <a:r>
              <a:rPr sz="2600" dirty="0">
                <a:latin typeface="Courier New"/>
                <a:cs typeface="Courier New"/>
              </a:rPr>
              <a:t>=</a:t>
            </a:r>
            <a:r>
              <a:rPr sz="2600" spc="5" dirty="0">
                <a:latin typeface="Courier New"/>
                <a:cs typeface="Courier New"/>
              </a:rPr>
              <a:t> </a:t>
            </a:r>
            <a:r>
              <a:rPr sz="2600" spc="-50" dirty="0">
                <a:latin typeface="Courier New"/>
                <a:cs typeface="Courier New"/>
              </a:rPr>
              <a:t>{</a:t>
            </a:r>
            <a:endParaRPr sz="2600" dirty="0">
              <a:latin typeface="Courier New"/>
              <a:cs typeface="Courier New"/>
            </a:endParaRPr>
          </a:p>
          <a:p>
            <a:pPr marL="805180">
              <a:lnSpc>
                <a:spcPts val="2590"/>
              </a:lnSpc>
            </a:pPr>
            <a:r>
              <a:rPr sz="2600" dirty="0">
                <a:solidFill>
                  <a:srgbClr val="A21515"/>
                </a:solidFill>
                <a:latin typeface="Courier New"/>
                <a:cs typeface="Courier New"/>
              </a:rPr>
              <a:t>'Height'</a:t>
            </a:r>
            <a:r>
              <a:rPr sz="2600" dirty="0">
                <a:latin typeface="Courier New"/>
                <a:cs typeface="Courier New"/>
              </a:rPr>
              <a:t>:</a:t>
            </a:r>
            <a:r>
              <a:rPr sz="2600" spc="-30" dirty="0">
                <a:latin typeface="Courier New"/>
                <a:cs typeface="Courier New"/>
              </a:rPr>
              <a:t> </a:t>
            </a:r>
            <a:r>
              <a:rPr sz="2600" dirty="0">
                <a:latin typeface="Courier New"/>
                <a:cs typeface="Courier New"/>
              </a:rPr>
              <a:t>[</a:t>
            </a:r>
            <a:r>
              <a:rPr sz="2600" dirty="0">
                <a:solidFill>
                  <a:srgbClr val="116644"/>
                </a:solidFill>
                <a:latin typeface="Courier New"/>
                <a:cs typeface="Courier New"/>
              </a:rPr>
              <a:t>150</a:t>
            </a:r>
            <a:r>
              <a:rPr sz="2600" dirty="0">
                <a:latin typeface="Courier New"/>
                <a:cs typeface="Courier New"/>
              </a:rPr>
              <a:t>,</a:t>
            </a:r>
            <a:r>
              <a:rPr sz="2600" spc="-20" dirty="0">
                <a:latin typeface="Courier New"/>
                <a:cs typeface="Courier New"/>
              </a:rPr>
              <a:t> </a:t>
            </a:r>
            <a:r>
              <a:rPr sz="2600" dirty="0">
                <a:solidFill>
                  <a:srgbClr val="116644"/>
                </a:solidFill>
                <a:latin typeface="Courier New"/>
                <a:cs typeface="Courier New"/>
              </a:rPr>
              <a:t>160</a:t>
            </a:r>
            <a:r>
              <a:rPr sz="2600" dirty="0">
                <a:latin typeface="Courier New"/>
                <a:cs typeface="Courier New"/>
              </a:rPr>
              <a:t>,</a:t>
            </a:r>
            <a:r>
              <a:rPr sz="2600" spc="-25" dirty="0">
                <a:latin typeface="Courier New"/>
                <a:cs typeface="Courier New"/>
              </a:rPr>
              <a:t> </a:t>
            </a:r>
            <a:r>
              <a:rPr sz="2600" dirty="0">
                <a:solidFill>
                  <a:srgbClr val="116644"/>
                </a:solidFill>
                <a:latin typeface="Courier New"/>
                <a:cs typeface="Courier New"/>
              </a:rPr>
              <a:t>170</a:t>
            </a:r>
            <a:r>
              <a:rPr sz="2600" dirty="0">
                <a:latin typeface="Courier New"/>
                <a:cs typeface="Courier New"/>
              </a:rPr>
              <a:t>,</a:t>
            </a:r>
            <a:r>
              <a:rPr sz="2600" spc="-25" dirty="0">
                <a:latin typeface="Courier New"/>
                <a:cs typeface="Courier New"/>
              </a:rPr>
              <a:t> </a:t>
            </a:r>
            <a:r>
              <a:rPr sz="2600" dirty="0">
                <a:solidFill>
                  <a:srgbClr val="116644"/>
                </a:solidFill>
                <a:latin typeface="Courier New"/>
                <a:cs typeface="Courier New"/>
              </a:rPr>
              <a:t>180</a:t>
            </a:r>
            <a:r>
              <a:rPr sz="2600" dirty="0">
                <a:latin typeface="Courier New"/>
                <a:cs typeface="Courier New"/>
              </a:rPr>
              <a:t>,</a:t>
            </a:r>
            <a:r>
              <a:rPr sz="2600" spc="-15" dirty="0">
                <a:latin typeface="Courier New"/>
                <a:cs typeface="Courier New"/>
              </a:rPr>
              <a:t> </a:t>
            </a:r>
            <a:r>
              <a:rPr sz="2600" spc="-10" dirty="0">
                <a:solidFill>
                  <a:srgbClr val="116644"/>
                </a:solidFill>
                <a:latin typeface="Courier New"/>
                <a:cs typeface="Courier New"/>
              </a:rPr>
              <a:t>190</a:t>
            </a:r>
            <a:r>
              <a:rPr sz="2600" spc="-10" dirty="0">
                <a:latin typeface="Courier New"/>
                <a:cs typeface="Courier New"/>
              </a:rPr>
              <a:t>],</a:t>
            </a:r>
            <a:endParaRPr sz="2600" dirty="0">
              <a:latin typeface="Courier New"/>
              <a:cs typeface="Courier New"/>
            </a:endParaRPr>
          </a:p>
          <a:p>
            <a:pPr marL="805180">
              <a:lnSpc>
                <a:spcPts val="2805"/>
              </a:lnSpc>
            </a:pPr>
            <a:r>
              <a:rPr sz="2600" dirty="0">
                <a:solidFill>
                  <a:srgbClr val="A21515"/>
                </a:solidFill>
                <a:latin typeface="Courier New"/>
                <a:cs typeface="Courier New"/>
              </a:rPr>
              <a:t>'Weight'</a:t>
            </a:r>
            <a:r>
              <a:rPr sz="2600" dirty="0">
                <a:latin typeface="Courier New"/>
                <a:cs typeface="Courier New"/>
              </a:rPr>
              <a:t>:</a:t>
            </a:r>
            <a:r>
              <a:rPr sz="2600" spc="-15" dirty="0">
                <a:latin typeface="Courier New"/>
                <a:cs typeface="Courier New"/>
              </a:rPr>
              <a:t> </a:t>
            </a:r>
            <a:r>
              <a:rPr sz="2600" dirty="0">
                <a:latin typeface="Courier New"/>
                <a:cs typeface="Courier New"/>
              </a:rPr>
              <a:t>[</a:t>
            </a:r>
            <a:r>
              <a:rPr sz="2600" dirty="0">
                <a:solidFill>
                  <a:srgbClr val="116644"/>
                </a:solidFill>
                <a:latin typeface="Courier New"/>
                <a:cs typeface="Courier New"/>
              </a:rPr>
              <a:t>50</a:t>
            </a:r>
            <a:r>
              <a:rPr sz="2600" dirty="0">
                <a:latin typeface="Courier New"/>
                <a:cs typeface="Courier New"/>
              </a:rPr>
              <a:t>,</a:t>
            </a:r>
            <a:r>
              <a:rPr sz="2600" spc="-20" dirty="0">
                <a:latin typeface="Courier New"/>
                <a:cs typeface="Courier New"/>
              </a:rPr>
              <a:t> </a:t>
            </a:r>
            <a:r>
              <a:rPr sz="2600" dirty="0">
                <a:solidFill>
                  <a:srgbClr val="116644"/>
                </a:solidFill>
                <a:latin typeface="Courier New"/>
                <a:cs typeface="Courier New"/>
              </a:rPr>
              <a:t>60</a:t>
            </a:r>
            <a:r>
              <a:rPr sz="2600" dirty="0">
                <a:latin typeface="Courier New"/>
                <a:cs typeface="Courier New"/>
              </a:rPr>
              <a:t>,</a:t>
            </a:r>
            <a:r>
              <a:rPr sz="2600" spc="-20" dirty="0">
                <a:latin typeface="Courier New"/>
                <a:cs typeface="Courier New"/>
              </a:rPr>
              <a:t> </a:t>
            </a:r>
            <a:r>
              <a:rPr sz="2600" dirty="0">
                <a:solidFill>
                  <a:srgbClr val="116644"/>
                </a:solidFill>
                <a:latin typeface="Courier New"/>
                <a:cs typeface="Courier New"/>
              </a:rPr>
              <a:t>70</a:t>
            </a:r>
            <a:r>
              <a:rPr sz="2600" dirty="0">
                <a:latin typeface="Courier New"/>
                <a:cs typeface="Courier New"/>
              </a:rPr>
              <a:t>,</a:t>
            </a:r>
            <a:r>
              <a:rPr sz="2600" spc="-20" dirty="0">
                <a:latin typeface="Courier New"/>
                <a:cs typeface="Courier New"/>
              </a:rPr>
              <a:t> </a:t>
            </a:r>
            <a:r>
              <a:rPr sz="2600" dirty="0">
                <a:solidFill>
                  <a:srgbClr val="116644"/>
                </a:solidFill>
                <a:latin typeface="Courier New"/>
                <a:cs typeface="Courier New"/>
              </a:rPr>
              <a:t>80</a:t>
            </a:r>
            <a:r>
              <a:rPr sz="2600" dirty="0">
                <a:latin typeface="Courier New"/>
                <a:cs typeface="Courier New"/>
              </a:rPr>
              <a:t>,</a:t>
            </a:r>
            <a:r>
              <a:rPr sz="2600" spc="-15" dirty="0">
                <a:latin typeface="Courier New"/>
                <a:cs typeface="Courier New"/>
              </a:rPr>
              <a:t> </a:t>
            </a:r>
            <a:r>
              <a:rPr sz="2600" spc="-25" dirty="0">
                <a:solidFill>
                  <a:srgbClr val="116644"/>
                </a:solidFill>
                <a:latin typeface="Courier New"/>
                <a:cs typeface="Courier New"/>
              </a:rPr>
              <a:t>90</a:t>
            </a:r>
            <a:r>
              <a:rPr sz="2600" spc="-25" dirty="0">
                <a:latin typeface="Courier New"/>
                <a:cs typeface="Courier New"/>
              </a:rPr>
              <a:t>]</a:t>
            </a:r>
            <a:endParaRPr sz="2600" dirty="0">
              <a:latin typeface="Courier New"/>
              <a:cs typeface="Courier New"/>
            </a:endParaRPr>
          </a:p>
          <a:p>
            <a:pPr marL="12700">
              <a:lnSpc>
                <a:spcPts val="2965"/>
              </a:lnSpc>
            </a:pPr>
            <a:r>
              <a:rPr sz="2600" spc="-50" dirty="0">
                <a:latin typeface="Courier New"/>
                <a:cs typeface="Courier New"/>
              </a:rPr>
              <a:t>}</a:t>
            </a:r>
            <a:endParaRPr sz="2600" dirty="0">
              <a:latin typeface="Courier New"/>
              <a:cs typeface="Courier New"/>
            </a:endParaRPr>
          </a:p>
          <a:p>
            <a:pPr marL="12700" marR="5080">
              <a:lnSpc>
                <a:spcPts val="2800"/>
              </a:lnSpc>
              <a:spcBef>
                <a:spcPts val="1440"/>
              </a:spcBef>
            </a:pPr>
            <a:r>
              <a:rPr sz="2600" dirty="0">
                <a:latin typeface="Courier New"/>
                <a:cs typeface="Courier New"/>
              </a:rPr>
              <a:t>sns.scatterplot(x=</a:t>
            </a:r>
            <a:r>
              <a:rPr sz="2600" dirty="0">
                <a:solidFill>
                  <a:srgbClr val="A21515"/>
                </a:solidFill>
                <a:latin typeface="Courier New"/>
                <a:cs typeface="Courier New"/>
              </a:rPr>
              <a:t>'Height'</a:t>
            </a:r>
            <a:r>
              <a:rPr sz="2600" dirty="0">
                <a:latin typeface="Courier New"/>
                <a:cs typeface="Courier New"/>
              </a:rPr>
              <a:t>,</a:t>
            </a:r>
            <a:r>
              <a:rPr sz="2600" spc="-100" dirty="0">
                <a:latin typeface="Courier New"/>
                <a:cs typeface="Courier New"/>
              </a:rPr>
              <a:t> </a:t>
            </a:r>
            <a:r>
              <a:rPr sz="2600" dirty="0">
                <a:latin typeface="Courier New"/>
                <a:cs typeface="Courier New"/>
              </a:rPr>
              <a:t>y=</a:t>
            </a:r>
            <a:r>
              <a:rPr sz="2600" dirty="0">
                <a:solidFill>
                  <a:srgbClr val="A21515"/>
                </a:solidFill>
                <a:latin typeface="Courier New"/>
                <a:cs typeface="Courier New"/>
              </a:rPr>
              <a:t>'Weight'</a:t>
            </a:r>
            <a:r>
              <a:rPr sz="2600" dirty="0">
                <a:latin typeface="Courier New"/>
                <a:cs typeface="Courier New"/>
              </a:rPr>
              <a:t>,</a:t>
            </a:r>
            <a:r>
              <a:rPr sz="2600" spc="-85" dirty="0">
                <a:latin typeface="Courier New"/>
                <a:cs typeface="Courier New"/>
              </a:rPr>
              <a:t> </a:t>
            </a:r>
            <a:r>
              <a:rPr sz="2600" spc="-10" dirty="0">
                <a:latin typeface="Courier New"/>
                <a:cs typeface="Courier New"/>
              </a:rPr>
              <a:t>data=data) </a:t>
            </a:r>
            <a:r>
              <a:rPr sz="2600" dirty="0">
                <a:latin typeface="Courier New"/>
                <a:cs typeface="Courier New"/>
              </a:rPr>
              <a:t>plt.title(</a:t>
            </a:r>
            <a:r>
              <a:rPr sz="2600" dirty="0">
                <a:solidFill>
                  <a:srgbClr val="A21515"/>
                </a:solidFill>
                <a:latin typeface="Courier New"/>
                <a:cs typeface="Courier New"/>
              </a:rPr>
              <a:t>"Scatter</a:t>
            </a:r>
            <a:r>
              <a:rPr sz="2600" spc="-110" dirty="0">
                <a:solidFill>
                  <a:srgbClr val="A21515"/>
                </a:solidFill>
                <a:latin typeface="Courier New"/>
                <a:cs typeface="Courier New"/>
              </a:rPr>
              <a:t> </a:t>
            </a:r>
            <a:r>
              <a:rPr sz="2600" spc="-10" dirty="0">
                <a:solidFill>
                  <a:srgbClr val="A21515"/>
                </a:solidFill>
                <a:latin typeface="Courier New"/>
                <a:cs typeface="Courier New"/>
              </a:rPr>
              <a:t>Plot"</a:t>
            </a:r>
            <a:r>
              <a:rPr sz="2600" spc="-10" dirty="0">
                <a:latin typeface="Courier New"/>
                <a:cs typeface="Courier New"/>
              </a:rPr>
              <a:t>)</a:t>
            </a:r>
            <a:endParaRPr sz="2600" dirty="0">
              <a:latin typeface="Courier New"/>
              <a:cs typeface="Courier New"/>
            </a:endParaRPr>
          </a:p>
          <a:p>
            <a:pPr marL="12700">
              <a:lnSpc>
                <a:spcPts val="2755"/>
              </a:lnSpc>
            </a:pPr>
            <a:r>
              <a:rPr sz="2600" spc="-10" dirty="0">
                <a:latin typeface="Courier New"/>
                <a:cs typeface="Courier New"/>
              </a:rPr>
              <a:t>plt.show()</a:t>
            </a:r>
            <a:endParaRPr sz="2600" dirty="0">
              <a:latin typeface="Courier New"/>
              <a:cs typeface="Courier New"/>
            </a:endParaRPr>
          </a:p>
        </p:txBody>
      </p:sp>
      <p:pic>
        <p:nvPicPr>
          <p:cNvPr id="4" name="object 4"/>
          <p:cNvPicPr/>
          <p:nvPr/>
        </p:nvPicPr>
        <p:blipFill>
          <a:blip r:embed="rId2" cstate="print"/>
          <a:stretch>
            <a:fillRect/>
          </a:stretch>
        </p:blipFill>
        <p:spPr>
          <a:xfrm>
            <a:off x="8868156" y="1225296"/>
            <a:ext cx="3104388" cy="2665476"/>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36</a:t>
            </a:fld>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b="0" dirty="0">
                <a:latin typeface="Cambria"/>
                <a:cs typeface="Cambria"/>
              </a:rPr>
              <a:t>2.</a:t>
            </a:r>
            <a:r>
              <a:rPr b="0" spc="-200" dirty="0">
                <a:latin typeface="Cambria"/>
                <a:cs typeface="Cambria"/>
              </a:rPr>
              <a:t> </a:t>
            </a:r>
            <a:r>
              <a:rPr b="0" spc="-50" dirty="0">
                <a:latin typeface="Cambria"/>
                <a:cs typeface="Cambria"/>
              </a:rPr>
              <a:t>Pair</a:t>
            </a:r>
            <a:r>
              <a:rPr b="0" spc="-185" dirty="0">
                <a:latin typeface="Cambria"/>
                <a:cs typeface="Cambria"/>
              </a:rPr>
              <a:t> </a:t>
            </a:r>
            <a:r>
              <a:rPr b="0" spc="-20" dirty="0">
                <a:latin typeface="Cambria"/>
                <a:cs typeface="Cambria"/>
              </a:rPr>
              <a:t>Plot</a:t>
            </a:r>
          </a:p>
        </p:txBody>
      </p:sp>
      <p:pic>
        <p:nvPicPr>
          <p:cNvPr id="3" name="object 3"/>
          <p:cNvPicPr/>
          <p:nvPr/>
        </p:nvPicPr>
        <p:blipFill>
          <a:blip r:embed="rId2" cstate="print"/>
          <a:stretch>
            <a:fillRect/>
          </a:stretch>
        </p:blipFill>
        <p:spPr>
          <a:xfrm>
            <a:off x="7895843" y="2598420"/>
            <a:ext cx="4056888" cy="3657600"/>
          </a:xfrm>
          <a:prstGeom prst="rect">
            <a:avLst/>
          </a:prstGeom>
        </p:spPr>
      </p:pic>
      <p:sp>
        <p:nvSpPr>
          <p:cNvPr id="4" name="object 4"/>
          <p:cNvSpPr txBox="1"/>
          <p:nvPr/>
        </p:nvSpPr>
        <p:spPr>
          <a:xfrm>
            <a:off x="1084580" y="1037334"/>
            <a:ext cx="7208520" cy="1472565"/>
          </a:xfrm>
          <a:prstGeom prst="rect">
            <a:avLst/>
          </a:prstGeom>
        </p:spPr>
        <p:txBody>
          <a:bodyPr vert="horz" wrap="square" lIns="0" tIns="27305" rIns="0" bIns="0" rtlCol="0">
            <a:spAutoFit/>
          </a:bodyPr>
          <a:lstStyle/>
          <a:p>
            <a:pPr marL="12700" marR="5080">
              <a:lnSpc>
                <a:spcPct val="144300"/>
              </a:lnSpc>
              <a:spcBef>
                <a:spcPts val="215"/>
              </a:spcBef>
            </a:pPr>
            <a:r>
              <a:rPr sz="2400" b="1" dirty="0">
                <a:solidFill>
                  <a:srgbClr val="404040"/>
                </a:solidFill>
                <a:latin typeface="Cambria"/>
                <a:cs typeface="Cambria"/>
              </a:rPr>
              <a:t>Pair</a:t>
            </a:r>
            <a:r>
              <a:rPr sz="2400" b="1" spc="-40" dirty="0">
                <a:solidFill>
                  <a:srgbClr val="404040"/>
                </a:solidFill>
                <a:latin typeface="Cambria"/>
                <a:cs typeface="Cambria"/>
              </a:rPr>
              <a:t> </a:t>
            </a:r>
            <a:r>
              <a:rPr sz="2400" b="1" dirty="0">
                <a:solidFill>
                  <a:srgbClr val="404040"/>
                </a:solidFill>
                <a:latin typeface="Cambria"/>
                <a:cs typeface="Cambria"/>
              </a:rPr>
              <a:t>Plot</a:t>
            </a:r>
            <a:r>
              <a:rPr sz="2000" dirty="0">
                <a:solidFill>
                  <a:srgbClr val="404040"/>
                </a:solidFill>
                <a:latin typeface="Cambria"/>
                <a:cs typeface="Cambria"/>
              </a:rPr>
              <a:t>:</a:t>
            </a:r>
            <a:r>
              <a:rPr sz="2000" spc="-50" dirty="0">
                <a:solidFill>
                  <a:srgbClr val="404040"/>
                </a:solidFill>
                <a:latin typeface="Cambria"/>
                <a:cs typeface="Cambria"/>
              </a:rPr>
              <a:t> </a:t>
            </a:r>
            <a:r>
              <a:rPr sz="2000" dirty="0">
                <a:solidFill>
                  <a:srgbClr val="404040"/>
                </a:solidFill>
                <a:latin typeface="Cambria"/>
                <a:cs typeface="Cambria"/>
              </a:rPr>
              <a:t>Use</a:t>
            </a:r>
            <a:r>
              <a:rPr sz="2000" spc="-35" dirty="0">
                <a:solidFill>
                  <a:srgbClr val="404040"/>
                </a:solidFill>
                <a:latin typeface="Cambria"/>
                <a:cs typeface="Cambria"/>
              </a:rPr>
              <a:t> </a:t>
            </a:r>
            <a:r>
              <a:rPr sz="2000" dirty="0">
                <a:solidFill>
                  <a:srgbClr val="404040"/>
                </a:solidFill>
                <a:latin typeface="Cambria"/>
                <a:cs typeface="Cambria"/>
              </a:rPr>
              <a:t>for</a:t>
            </a:r>
            <a:r>
              <a:rPr sz="2000" spc="-50" dirty="0">
                <a:solidFill>
                  <a:srgbClr val="404040"/>
                </a:solidFill>
                <a:latin typeface="Cambria"/>
                <a:cs typeface="Cambria"/>
              </a:rPr>
              <a:t> </a:t>
            </a:r>
            <a:r>
              <a:rPr sz="2000" spc="-10" dirty="0">
                <a:solidFill>
                  <a:srgbClr val="404040"/>
                </a:solidFill>
                <a:latin typeface="Cambria"/>
                <a:cs typeface="Cambria"/>
              </a:rPr>
              <a:t>relationships</a:t>
            </a:r>
            <a:r>
              <a:rPr sz="2000" spc="-70" dirty="0">
                <a:solidFill>
                  <a:srgbClr val="404040"/>
                </a:solidFill>
                <a:latin typeface="Cambria"/>
                <a:cs typeface="Cambria"/>
              </a:rPr>
              <a:t> </a:t>
            </a:r>
            <a:r>
              <a:rPr sz="2000" dirty="0">
                <a:solidFill>
                  <a:srgbClr val="404040"/>
                </a:solidFill>
                <a:latin typeface="Cambria"/>
                <a:cs typeface="Cambria"/>
              </a:rPr>
              <a:t>between</a:t>
            </a:r>
            <a:r>
              <a:rPr sz="2000" spc="-25" dirty="0">
                <a:solidFill>
                  <a:srgbClr val="404040"/>
                </a:solidFill>
                <a:latin typeface="Cambria"/>
                <a:cs typeface="Cambria"/>
              </a:rPr>
              <a:t> </a:t>
            </a:r>
            <a:r>
              <a:rPr sz="2000" dirty="0">
                <a:solidFill>
                  <a:srgbClr val="404040"/>
                </a:solidFill>
                <a:latin typeface="Cambria"/>
                <a:cs typeface="Cambria"/>
              </a:rPr>
              <a:t>multiple</a:t>
            </a:r>
            <a:r>
              <a:rPr sz="2000" spc="-70" dirty="0">
                <a:solidFill>
                  <a:srgbClr val="404040"/>
                </a:solidFill>
                <a:latin typeface="Cambria"/>
                <a:cs typeface="Cambria"/>
              </a:rPr>
              <a:t> </a:t>
            </a:r>
            <a:r>
              <a:rPr sz="2000" spc="-10" dirty="0">
                <a:solidFill>
                  <a:srgbClr val="404040"/>
                </a:solidFill>
                <a:latin typeface="Cambria"/>
                <a:cs typeface="Cambria"/>
              </a:rPr>
              <a:t>variables. </a:t>
            </a:r>
            <a:r>
              <a:rPr sz="2000" dirty="0">
                <a:solidFill>
                  <a:srgbClr val="404040"/>
                </a:solidFill>
                <a:latin typeface="Cambria"/>
                <a:cs typeface="Cambria"/>
              </a:rPr>
              <a:t>Creates</a:t>
            </a:r>
            <a:r>
              <a:rPr sz="2000" spc="-40" dirty="0">
                <a:solidFill>
                  <a:srgbClr val="404040"/>
                </a:solidFill>
                <a:latin typeface="Cambria"/>
                <a:cs typeface="Cambria"/>
              </a:rPr>
              <a:t> </a:t>
            </a:r>
            <a:r>
              <a:rPr sz="2000" dirty="0">
                <a:solidFill>
                  <a:srgbClr val="404040"/>
                </a:solidFill>
                <a:latin typeface="Cambria"/>
                <a:cs typeface="Cambria"/>
              </a:rPr>
              <a:t>pairwise</a:t>
            </a:r>
            <a:r>
              <a:rPr sz="2000" spc="-25" dirty="0">
                <a:solidFill>
                  <a:srgbClr val="404040"/>
                </a:solidFill>
                <a:latin typeface="Cambria"/>
                <a:cs typeface="Cambria"/>
              </a:rPr>
              <a:t> </a:t>
            </a:r>
            <a:r>
              <a:rPr sz="2000" dirty="0">
                <a:solidFill>
                  <a:srgbClr val="404040"/>
                </a:solidFill>
                <a:latin typeface="Cambria"/>
                <a:cs typeface="Cambria"/>
              </a:rPr>
              <a:t>scatter</a:t>
            </a:r>
            <a:r>
              <a:rPr sz="2000" spc="-40" dirty="0">
                <a:solidFill>
                  <a:srgbClr val="404040"/>
                </a:solidFill>
                <a:latin typeface="Cambria"/>
                <a:cs typeface="Cambria"/>
              </a:rPr>
              <a:t> </a:t>
            </a:r>
            <a:r>
              <a:rPr sz="2000" dirty="0">
                <a:solidFill>
                  <a:srgbClr val="404040"/>
                </a:solidFill>
                <a:latin typeface="Cambria"/>
                <a:cs typeface="Cambria"/>
              </a:rPr>
              <a:t>plots</a:t>
            </a:r>
            <a:r>
              <a:rPr sz="2000" spc="-35" dirty="0">
                <a:solidFill>
                  <a:srgbClr val="404040"/>
                </a:solidFill>
                <a:latin typeface="Cambria"/>
                <a:cs typeface="Cambria"/>
              </a:rPr>
              <a:t> </a:t>
            </a:r>
            <a:r>
              <a:rPr sz="2000" dirty="0">
                <a:solidFill>
                  <a:srgbClr val="404040"/>
                </a:solidFill>
                <a:latin typeface="Cambria"/>
                <a:cs typeface="Cambria"/>
              </a:rPr>
              <a:t>for</a:t>
            </a:r>
            <a:r>
              <a:rPr sz="2000" spc="-25" dirty="0">
                <a:solidFill>
                  <a:srgbClr val="404040"/>
                </a:solidFill>
                <a:latin typeface="Cambria"/>
                <a:cs typeface="Cambria"/>
              </a:rPr>
              <a:t> </a:t>
            </a:r>
            <a:r>
              <a:rPr sz="2000" dirty="0">
                <a:solidFill>
                  <a:srgbClr val="404040"/>
                </a:solidFill>
                <a:latin typeface="Cambria"/>
                <a:cs typeface="Cambria"/>
              </a:rPr>
              <a:t>all</a:t>
            </a:r>
            <a:r>
              <a:rPr sz="2000" spc="-35" dirty="0">
                <a:solidFill>
                  <a:srgbClr val="404040"/>
                </a:solidFill>
                <a:latin typeface="Cambria"/>
                <a:cs typeface="Cambria"/>
              </a:rPr>
              <a:t> </a:t>
            </a:r>
            <a:r>
              <a:rPr sz="2000" dirty="0">
                <a:solidFill>
                  <a:srgbClr val="404040"/>
                </a:solidFill>
                <a:latin typeface="Cambria"/>
                <a:cs typeface="Cambria"/>
              </a:rPr>
              <a:t>numeric</a:t>
            </a:r>
            <a:r>
              <a:rPr sz="2000" spc="-30" dirty="0">
                <a:solidFill>
                  <a:srgbClr val="404040"/>
                </a:solidFill>
                <a:latin typeface="Cambria"/>
                <a:cs typeface="Cambria"/>
              </a:rPr>
              <a:t> </a:t>
            </a:r>
            <a:r>
              <a:rPr sz="2000" dirty="0">
                <a:solidFill>
                  <a:srgbClr val="404040"/>
                </a:solidFill>
                <a:latin typeface="Cambria"/>
                <a:cs typeface="Cambria"/>
              </a:rPr>
              <a:t>columns</a:t>
            </a:r>
            <a:r>
              <a:rPr sz="2000" spc="-20" dirty="0">
                <a:solidFill>
                  <a:srgbClr val="404040"/>
                </a:solidFill>
                <a:latin typeface="Cambria"/>
                <a:cs typeface="Cambria"/>
              </a:rPr>
              <a:t> </a:t>
            </a:r>
            <a:r>
              <a:rPr sz="2000" dirty="0">
                <a:solidFill>
                  <a:srgbClr val="404040"/>
                </a:solidFill>
                <a:latin typeface="Cambria"/>
                <a:cs typeface="Cambria"/>
              </a:rPr>
              <a:t>in</a:t>
            </a:r>
            <a:r>
              <a:rPr sz="2000" spc="-20" dirty="0">
                <a:solidFill>
                  <a:srgbClr val="404040"/>
                </a:solidFill>
                <a:latin typeface="Cambria"/>
                <a:cs typeface="Cambria"/>
              </a:rPr>
              <a:t> </a:t>
            </a:r>
            <a:r>
              <a:rPr sz="2000" dirty="0">
                <a:solidFill>
                  <a:srgbClr val="404040"/>
                </a:solidFill>
                <a:latin typeface="Cambria"/>
                <a:cs typeface="Cambria"/>
              </a:rPr>
              <a:t>a</a:t>
            </a:r>
            <a:r>
              <a:rPr sz="2000" spc="-10" dirty="0">
                <a:solidFill>
                  <a:srgbClr val="404040"/>
                </a:solidFill>
                <a:latin typeface="Cambria"/>
                <a:cs typeface="Cambria"/>
              </a:rPr>
              <a:t> dataset. </a:t>
            </a:r>
            <a:r>
              <a:rPr sz="2000" b="1" dirty="0">
                <a:solidFill>
                  <a:srgbClr val="404040"/>
                </a:solidFill>
                <a:latin typeface="Cambria"/>
                <a:cs typeface="Cambria"/>
              </a:rPr>
              <a:t>Example</a:t>
            </a:r>
            <a:r>
              <a:rPr sz="2000" dirty="0">
                <a:solidFill>
                  <a:srgbClr val="404040"/>
                </a:solidFill>
                <a:latin typeface="Cambria"/>
                <a:cs typeface="Cambria"/>
              </a:rPr>
              <a:t>:</a:t>
            </a:r>
            <a:r>
              <a:rPr sz="2000" spc="-55" dirty="0">
                <a:solidFill>
                  <a:srgbClr val="404040"/>
                </a:solidFill>
                <a:latin typeface="Cambria"/>
                <a:cs typeface="Cambria"/>
              </a:rPr>
              <a:t> </a:t>
            </a:r>
            <a:r>
              <a:rPr sz="2000" dirty="0">
                <a:solidFill>
                  <a:srgbClr val="404040"/>
                </a:solidFill>
                <a:latin typeface="Cambria"/>
                <a:cs typeface="Cambria"/>
              </a:rPr>
              <a:t>Height,</a:t>
            </a:r>
            <a:r>
              <a:rPr sz="2000" spc="-45" dirty="0">
                <a:solidFill>
                  <a:srgbClr val="404040"/>
                </a:solidFill>
                <a:latin typeface="Cambria"/>
                <a:cs typeface="Cambria"/>
              </a:rPr>
              <a:t> </a:t>
            </a:r>
            <a:r>
              <a:rPr sz="2000" spc="-10" dirty="0">
                <a:solidFill>
                  <a:srgbClr val="404040"/>
                </a:solidFill>
                <a:latin typeface="Cambria"/>
                <a:cs typeface="Cambria"/>
              </a:rPr>
              <a:t>Weight,</a:t>
            </a:r>
            <a:r>
              <a:rPr sz="2000" spc="-45" dirty="0">
                <a:solidFill>
                  <a:srgbClr val="404040"/>
                </a:solidFill>
                <a:latin typeface="Cambria"/>
                <a:cs typeface="Cambria"/>
              </a:rPr>
              <a:t> </a:t>
            </a:r>
            <a:r>
              <a:rPr sz="2000" dirty="0">
                <a:solidFill>
                  <a:srgbClr val="404040"/>
                </a:solidFill>
                <a:latin typeface="Cambria"/>
                <a:cs typeface="Cambria"/>
              </a:rPr>
              <a:t>and</a:t>
            </a:r>
            <a:r>
              <a:rPr sz="2000" spc="-35" dirty="0">
                <a:solidFill>
                  <a:srgbClr val="404040"/>
                </a:solidFill>
                <a:latin typeface="Cambria"/>
                <a:cs typeface="Cambria"/>
              </a:rPr>
              <a:t> </a:t>
            </a:r>
            <a:r>
              <a:rPr sz="2000" dirty="0">
                <a:solidFill>
                  <a:srgbClr val="404040"/>
                </a:solidFill>
                <a:latin typeface="Cambria"/>
                <a:cs typeface="Cambria"/>
              </a:rPr>
              <a:t>Age</a:t>
            </a:r>
            <a:r>
              <a:rPr sz="2000" spc="-20" dirty="0">
                <a:solidFill>
                  <a:srgbClr val="404040"/>
                </a:solidFill>
                <a:latin typeface="Cambria"/>
                <a:cs typeface="Cambria"/>
              </a:rPr>
              <a:t> </a:t>
            </a:r>
            <a:r>
              <a:rPr sz="2000" dirty="0">
                <a:solidFill>
                  <a:srgbClr val="404040"/>
                </a:solidFill>
                <a:latin typeface="Cambria"/>
                <a:cs typeface="Cambria"/>
              </a:rPr>
              <a:t>with</a:t>
            </a:r>
            <a:r>
              <a:rPr sz="2000" spc="-45" dirty="0">
                <a:solidFill>
                  <a:srgbClr val="404040"/>
                </a:solidFill>
                <a:latin typeface="Cambria"/>
                <a:cs typeface="Cambria"/>
              </a:rPr>
              <a:t> </a:t>
            </a:r>
            <a:r>
              <a:rPr sz="2000" dirty="0">
                <a:solidFill>
                  <a:srgbClr val="404040"/>
                </a:solidFill>
                <a:latin typeface="Cambria"/>
                <a:cs typeface="Cambria"/>
              </a:rPr>
              <a:t>a</a:t>
            </a:r>
            <a:r>
              <a:rPr sz="2000" spc="-25" dirty="0">
                <a:solidFill>
                  <a:srgbClr val="404040"/>
                </a:solidFill>
                <a:latin typeface="Cambria"/>
                <a:cs typeface="Cambria"/>
              </a:rPr>
              <a:t> </a:t>
            </a:r>
            <a:r>
              <a:rPr sz="2000" dirty="0">
                <a:solidFill>
                  <a:srgbClr val="404040"/>
                </a:solidFill>
                <a:latin typeface="Cambria"/>
                <a:cs typeface="Cambria"/>
              </a:rPr>
              <a:t>categorical</a:t>
            </a:r>
            <a:r>
              <a:rPr sz="2000" spc="-60" dirty="0">
                <a:solidFill>
                  <a:srgbClr val="404040"/>
                </a:solidFill>
                <a:latin typeface="Cambria"/>
                <a:cs typeface="Cambria"/>
              </a:rPr>
              <a:t> </a:t>
            </a:r>
            <a:r>
              <a:rPr sz="2000" spc="-10" dirty="0">
                <a:solidFill>
                  <a:srgbClr val="404040"/>
                </a:solidFill>
                <a:latin typeface="Cambria"/>
                <a:cs typeface="Cambria"/>
              </a:rPr>
              <a:t>column.</a:t>
            </a:r>
            <a:endParaRPr sz="2000" dirty="0">
              <a:latin typeface="Cambria"/>
              <a:cs typeface="Cambria"/>
            </a:endParaRPr>
          </a:p>
        </p:txBody>
      </p:sp>
      <p:pic>
        <p:nvPicPr>
          <p:cNvPr id="5" name="object 5"/>
          <p:cNvPicPr/>
          <p:nvPr/>
        </p:nvPicPr>
        <p:blipFill>
          <a:blip r:embed="rId3" cstate="print"/>
          <a:stretch>
            <a:fillRect/>
          </a:stretch>
        </p:blipFill>
        <p:spPr>
          <a:xfrm>
            <a:off x="1173480" y="2598420"/>
            <a:ext cx="4549140" cy="3688079"/>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37</a:t>
            </a:fld>
            <a:endParaRPr spc="-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76324" y="250316"/>
            <a:ext cx="2929890" cy="756920"/>
          </a:xfrm>
          <a:prstGeom prst="rect">
            <a:avLst/>
          </a:prstGeom>
        </p:spPr>
        <p:txBody>
          <a:bodyPr vert="horz" wrap="square" lIns="0" tIns="12700" rIns="0" bIns="0" rtlCol="0">
            <a:spAutoFit/>
          </a:bodyPr>
          <a:lstStyle/>
          <a:p>
            <a:pPr marL="12700">
              <a:lnSpc>
                <a:spcPct val="100000"/>
              </a:lnSpc>
              <a:spcBef>
                <a:spcPts val="100"/>
              </a:spcBef>
            </a:pPr>
            <a:r>
              <a:rPr b="0" dirty="0">
                <a:latin typeface="Cambria"/>
                <a:cs typeface="Cambria"/>
              </a:rPr>
              <a:t>3.</a:t>
            </a:r>
            <a:r>
              <a:rPr b="0" spc="-190" dirty="0">
                <a:latin typeface="Cambria"/>
                <a:cs typeface="Cambria"/>
              </a:rPr>
              <a:t> </a:t>
            </a:r>
            <a:r>
              <a:rPr b="0" spc="-40" dirty="0">
                <a:latin typeface="Cambria"/>
                <a:cs typeface="Cambria"/>
              </a:rPr>
              <a:t>Heatmap</a:t>
            </a:r>
          </a:p>
        </p:txBody>
      </p:sp>
      <p:sp>
        <p:nvSpPr>
          <p:cNvPr id="3" name="object 3"/>
          <p:cNvSpPr txBox="1"/>
          <p:nvPr/>
        </p:nvSpPr>
        <p:spPr>
          <a:xfrm>
            <a:off x="1084580" y="1040926"/>
            <a:ext cx="6101715" cy="1125855"/>
          </a:xfrm>
          <a:prstGeom prst="rect">
            <a:avLst/>
          </a:prstGeom>
        </p:spPr>
        <p:txBody>
          <a:bodyPr vert="horz" wrap="square" lIns="0" tIns="177800" rIns="0" bIns="0" rtlCol="0">
            <a:spAutoFit/>
          </a:bodyPr>
          <a:lstStyle/>
          <a:p>
            <a:pPr marL="299720" indent="-287020">
              <a:lnSpc>
                <a:spcPct val="100000"/>
              </a:lnSpc>
              <a:spcBef>
                <a:spcPts val="1400"/>
              </a:spcBef>
              <a:buClr>
                <a:srgbClr val="1CACE3"/>
              </a:buClr>
              <a:buFont typeface="Arial MT"/>
              <a:buChar char="•"/>
              <a:tabLst>
                <a:tab pos="299720" algn="l"/>
              </a:tabLst>
            </a:pPr>
            <a:r>
              <a:rPr sz="2800" dirty="0">
                <a:solidFill>
                  <a:srgbClr val="404040"/>
                </a:solidFill>
                <a:latin typeface="Cambria"/>
                <a:cs typeface="Cambria"/>
              </a:rPr>
              <a:t>Visualize</a:t>
            </a:r>
            <a:r>
              <a:rPr sz="2800" spc="-50" dirty="0">
                <a:solidFill>
                  <a:srgbClr val="404040"/>
                </a:solidFill>
                <a:latin typeface="Cambria"/>
                <a:cs typeface="Cambria"/>
              </a:rPr>
              <a:t> </a:t>
            </a:r>
            <a:r>
              <a:rPr sz="2800" spc="-20" dirty="0">
                <a:solidFill>
                  <a:srgbClr val="404040"/>
                </a:solidFill>
                <a:latin typeface="Cambria"/>
                <a:cs typeface="Cambria"/>
              </a:rPr>
              <a:t>matrix-</a:t>
            </a:r>
            <a:r>
              <a:rPr sz="2800" dirty="0">
                <a:solidFill>
                  <a:srgbClr val="404040"/>
                </a:solidFill>
                <a:latin typeface="Cambria"/>
                <a:cs typeface="Cambria"/>
              </a:rPr>
              <a:t>like</a:t>
            </a:r>
            <a:r>
              <a:rPr sz="2800" spc="-45" dirty="0">
                <a:solidFill>
                  <a:srgbClr val="404040"/>
                </a:solidFill>
                <a:latin typeface="Cambria"/>
                <a:cs typeface="Cambria"/>
              </a:rPr>
              <a:t> </a:t>
            </a:r>
            <a:r>
              <a:rPr sz="2800" spc="-10" dirty="0">
                <a:solidFill>
                  <a:srgbClr val="404040"/>
                </a:solidFill>
                <a:latin typeface="Cambria"/>
                <a:cs typeface="Cambria"/>
              </a:rPr>
              <a:t>data.</a:t>
            </a:r>
            <a:endParaRPr sz="2800">
              <a:latin typeface="Cambria"/>
              <a:cs typeface="Cambria"/>
            </a:endParaRPr>
          </a:p>
          <a:p>
            <a:pPr marL="12700">
              <a:lnSpc>
                <a:spcPct val="100000"/>
              </a:lnSpc>
              <a:spcBef>
                <a:spcPts val="1120"/>
              </a:spcBef>
            </a:pPr>
            <a:r>
              <a:rPr sz="2400" dirty="0">
                <a:solidFill>
                  <a:srgbClr val="404040"/>
                </a:solidFill>
                <a:latin typeface="Cambria"/>
                <a:cs typeface="Cambria"/>
              </a:rPr>
              <a:t>Example:</a:t>
            </a:r>
            <a:r>
              <a:rPr sz="2400" spc="-50" dirty="0">
                <a:solidFill>
                  <a:srgbClr val="404040"/>
                </a:solidFill>
                <a:latin typeface="Cambria"/>
                <a:cs typeface="Cambria"/>
              </a:rPr>
              <a:t> </a:t>
            </a:r>
            <a:r>
              <a:rPr sz="2400" spc="-20" dirty="0">
                <a:solidFill>
                  <a:srgbClr val="404040"/>
                </a:solidFill>
                <a:latin typeface="Cambria"/>
                <a:cs typeface="Cambria"/>
              </a:rPr>
              <a:t>Tabular</a:t>
            </a:r>
            <a:r>
              <a:rPr sz="2400" spc="-55" dirty="0">
                <a:solidFill>
                  <a:srgbClr val="404040"/>
                </a:solidFill>
                <a:latin typeface="Cambria"/>
                <a:cs typeface="Cambria"/>
              </a:rPr>
              <a:t> </a:t>
            </a:r>
            <a:r>
              <a:rPr sz="2400" dirty="0">
                <a:solidFill>
                  <a:srgbClr val="404040"/>
                </a:solidFill>
                <a:latin typeface="Cambria"/>
                <a:cs typeface="Cambria"/>
              </a:rPr>
              <a:t>data</a:t>
            </a:r>
            <a:r>
              <a:rPr sz="2400" spc="-70" dirty="0">
                <a:solidFill>
                  <a:srgbClr val="404040"/>
                </a:solidFill>
                <a:latin typeface="Cambria"/>
                <a:cs typeface="Cambria"/>
              </a:rPr>
              <a:t> </a:t>
            </a:r>
            <a:r>
              <a:rPr sz="2400" dirty="0">
                <a:solidFill>
                  <a:srgbClr val="404040"/>
                </a:solidFill>
                <a:latin typeface="Cambria"/>
                <a:cs typeface="Cambria"/>
              </a:rPr>
              <a:t>with</a:t>
            </a:r>
            <a:r>
              <a:rPr sz="2400" spc="-60" dirty="0">
                <a:solidFill>
                  <a:srgbClr val="404040"/>
                </a:solidFill>
                <a:latin typeface="Cambria"/>
                <a:cs typeface="Cambria"/>
              </a:rPr>
              <a:t> </a:t>
            </a:r>
            <a:r>
              <a:rPr sz="2400" dirty="0">
                <a:solidFill>
                  <a:srgbClr val="404040"/>
                </a:solidFill>
                <a:latin typeface="Cambria"/>
                <a:cs typeface="Cambria"/>
              </a:rPr>
              <a:t>rows</a:t>
            </a:r>
            <a:r>
              <a:rPr sz="2400" spc="-60" dirty="0">
                <a:solidFill>
                  <a:srgbClr val="404040"/>
                </a:solidFill>
                <a:latin typeface="Cambria"/>
                <a:cs typeface="Cambria"/>
              </a:rPr>
              <a:t> </a:t>
            </a:r>
            <a:r>
              <a:rPr sz="2400" dirty="0">
                <a:solidFill>
                  <a:srgbClr val="404040"/>
                </a:solidFill>
                <a:latin typeface="Cambria"/>
                <a:cs typeface="Cambria"/>
              </a:rPr>
              <a:t>and</a:t>
            </a:r>
            <a:r>
              <a:rPr sz="2400" spc="-60" dirty="0">
                <a:solidFill>
                  <a:srgbClr val="404040"/>
                </a:solidFill>
                <a:latin typeface="Cambria"/>
                <a:cs typeface="Cambria"/>
              </a:rPr>
              <a:t> </a:t>
            </a:r>
            <a:r>
              <a:rPr sz="2400" spc="-10" dirty="0">
                <a:solidFill>
                  <a:srgbClr val="404040"/>
                </a:solidFill>
                <a:latin typeface="Cambria"/>
                <a:cs typeface="Cambria"/>
              </a:rPr>
              <a:t>columns.</a:t>
            </a:r>
            <a:endParaRPr sz="2400">
              <a:latin typeface="Cambria"/>
              <a:cs typeface="Cambria"/>
            </a:endParaRPr>
          </a:p>
        </p:txBody>
      </p:sp>
      <p:pic>
        <p:nvPicPr>
          <p:cNvPr id="4" name="object 4"/>
          <p:cNvPicPr/>
          <p:nvPr/>
        </p:nvPicPr>
        <p:blipFill>
          <a:blip r:embed="rId2" cstate="print"/>
          <a:stretch>
            <a:fillRect/>
          </a:stretch>
        </p:blipFill>
        <p:spPr>
          <a:xfrm>
            <a:off x="1097280" y="2296667"/>
            <a:ext cx="6585204" cy="4038600"/>
          </a:xfrm>
          <a:prstGeom prst="rect">
            <a:avLst/>
          </a:prstGeom>
        </p:spPr>
      </p:pic>
      <p:pic>
        <p:nvPicPr>
          <p:cNvPr id="5" name="object 5"/>
          <p:cNvPicPr/>
          <p:nvPr/>
        </p:nvPicPr>
        <p:blipFill>
          <a:blip r:embed="rId3" cstate="print"/>
          <a:stretch>
            <a:fillRect/>
          </a:stretch>
        </p:blipFill>
        <p:spPr>
          <a:xfrm>
            <a:off x="8040623" y="2467355"/>
            <a:ext cx="3718560" cy="3165348"/>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spc="-50" dirty="0">
                <a:latin typeface="Cambria"/>
                <a:cs typeface="Cambria"/>
              </a:rPr>
              <a:t>Heatmap</a:t>
            </a:r>
            <a:r>
              <a:rPr b="0" spc="-175" dirty="0">
                <a:latin typeface="Cambria"/>
                <a:cs typeface="Cambria"/>
              </a:rPr>
              <a:t> </a:t>
            </a:r>
            <a:r>
              <a:rPr b="0" spc="-70" dirty="0">
                <a:latin typeface="Cambria"/>
                <a:cs typeface="Cambria"/>
              </a:rPr>
              <a:t>example</a:t>
            </a:r>
            <a:r>
              <a:rPr b="0" spc="-185" dirty="0">
                <a:latin typeface="Cambria"/>
                <a:cs typeface="Cambria"/>
              </a:rPr>
              <a:t> </a:t>
            </a:r>
            <a:r>
              <a:rPr b="0" spc="-50" dirty="0">
                <a:latin typeface="Cambria"/>
                <a:cs typeface="Cambria"/>
              </a:rPr>
              <a:t>2</a:t>
            </a:r>
          </a:p>
        </p:txBody>
      </p:sp>
      <p:sp>
        <p:nvSpPr>
          <p:cNvPr id="3" name="object 3"/>
          <p:cNvSpPr txBox="1"/>
          <p:nvPr/>
        </p:nvSpPr>
        <p:spPr>
          <a:xfrm>
            <a:off x="1084580" y="1029969"/>
            <a:ext cx="4494530" cy="45212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AE00DB"/>
                </a:solidFill>
                <a:latin typeface="Courier New"/>
                <a:cs typeface="Courier New"/>
              </a:rPr>
              <a:t>import</a:t>
            </a:r>
            <a:r>
              <a:rPr sz="2800" spc="-40" dirty="0">
                <a:solidFill>
                  <a:srgbClr val="AE00DB"/>
                </a:solidFill>
                <a:latin typeface="Courier New"/>
                <a:cs typeface="Courier New"/>
              </a:rPr>
              <a:t> </a:t>
            </a:r>
            <a:r>
              <a:rPr sz="2800" dirty="0">
                <a:latin typeface="Courier New"/>
                <a:cs typeface="Courier New"/>
              </a:rPr>
              <a:t>seaborn</a:t>
            </a:r>
            <a:r>
              <a:rPr sz="2800" spc="-30" dirty="0">
                <a:latin typeface="Courier New"/>
                <a:cs typeface="Courier New"/>
              </a:rPr>
              <a:t> </a:t>
            </a:r>
            <a:r>
              <a:rPr sz="2800" dirty="0">
                <a:solidFill>
                  <a:srgbClr val="AE00DB"/>
                </a:solidFill>
                <a:latin typeface="Courier New"/>
                <a:cs typeface="Courier New"/>
              </a:rPr>
              <a:t>as</a:t>
            </a:r>
            <a:r>
              <a:rPr sz="2800" spc="-35" dirty="0">
                <a:solidFill>
                  <a:srgbClr val="AE00DB"/>
                </a:solidFill>
                <a:latin typeface="Courier New"/>
                <a:cs typeface="Courier New"/>
              </a:rPr>
              <a:t> </a:t>
            </a:r>
            <a:r>
              <a:rPr sz="2800" spc="-25" dirty="0">
                <a:latin typeface="Courier New"/>
                <a:cs typeface="Courier New"/>
              </a:rPr>
              <a:t>sns</a:t>
            </a:r>
            <a:endParaRPr sz="2800">
              <a:latin typeface="Courier New"/>
              <a:cs typeface="Courier New"/>
            </a:endParaRPr>
          </a:p>
        </p:txBody>
      </p:sp>
      <p:sp>
        <p:nvSpPr>
          <p:cNvPr id="4" name="object 4"/>
          <p:cNvSpPr txBox="1"/>
          <p:nvPr/>
        </p:nvSpPr>
        <p:spPr>
          <a:xfrm>
            <a:off x="1084580" y="1279296"/>
            <a:ext cx="6195695" cy="4827270"/>
          </a:xfrm>
          <a:prstGeom prst="rect">
            <a:avLst/>
          </a:prstGeom>
        </p:spPr>
        <p:txBody>
          <a:bodyPr vert="horz" wrap="square" lIns="0" tIns="12700" rIns="0" bIns="0" rtlCol="0">
            <a:spAutoFit/>
          </a:bodyPr>
          <a:lstStyle/>
          <a:p>
            <a:pPr marL="12700" marR="2130425">
              <a:lnSpc>
                <a:spcPct val="125000"/>
              </a:lnSpc>
              <a:spcBef>
                <a:spcPts val="100"/>
              </a:spcBef>
            </a:pPr>
            <a:r>
              <a:rPr sz="2800" dirty="0">
                <a:solidFill>
                  <a:srgbClr val="AE00DB"/>
                </a:solidFill>
                <a:latin typeface="Courier New"/>
                <a:cs typeface="Courier New"/>
              </a:rPr>
              <a:t>import</a:t>
            </a:r>
            <a:r>
              <a:rPr sz="2800" spc="-40" dirty="0">
                <a:solidFill>
                  <a:srgbClr val="AE00DB"/>
                </a:solidFill>
                <a:latin typeface="Courier New"/>
                <a:cs typeface="Courier New"/>
              </a:rPr>
              <a:t> </a:t>
            </a:r>
            <a:r>
              <a:rPr sz="2800" dirty="0">
                <a:latin typeface="Courier New"/>
                <a:cs typeface="Courier New"/>
              </a:rPr>
              <a:t>pandas</a:t>
            </a:r>
            <a:r>
              <a:rPr sz="2800" spc="-30" dirty="0">
                <a:latin typeface="Courier New"/>
                <a:cs typeface="Courier New"/>
              </a:rPr>
              <a:t> </a:t>
            </a:r>
            <a:r>
              <a:rPr sz="2800" dirty="0">
                <a:solidFill>
                  <a:srgbClr val="AE00DB"/>
                </a:solidFill>
                <a:latin typeface="Courier New"/>
                <a:cs typeface="Courier New"/>
              </a:rPr>
              <a:t>as</a:t>
            </a:r>
            <a:r>
              <a:rPr sz="2800" spc="-30" dirty="0">
                <a:solidFill>
                  <a:srgbClr val="AE00DB"/>
                </a:solidFill>
                <a:latin typeface="Courier New"/>
                <a:cs typeface="Courier New"/>
              </a:rPr>
              <a:t> </a:t>
            </a:r>
            <a:r>
              <a:rPr sz="2800" spc="-25" dirty="0">
                <a:latin typeface="Courier New"/>
                <a:cs typeface="Courier New"/>
              </a:rPr>
              <a:t>pd </a:t>
            </a:r>
            <a:r>
              <a:rPr sz="2800" dirty="0">
                <a:solidFill>
                  <a:srgbClr val="008000"/>
                </a:solidFill>
                <a:latin typeface="Courier New"/>
                <a:cs typeface="Courier New"/>
              </a:rPr>
              <a:t>#</a:t>
            </a:r>
            <a:r>
              <a:rPr sz="2800" spc="-25" dirty="0">
                <a:solidFill>
                  <a:srgbClr val="008000"/>
                </a:solidFill>
                <a:latin typeface="Courier New"/>
                <a:cs typeface="Courier New"/>
              </a:rPr>
              <a:t> </a:t>
            </a:r>
            <a:r>
              <a:rPr sz="2800" dirty="0">
                <a:solidFill>
                  <a:srgbClr val="008000"/>
                </a:solidFill>
                <a:latin typeface="Courier New"/>
                <a:cs typeface="Courier New"/>
              </a:rPr>
              <a:t>Sample</a:t>
            </a:r>
            <a:r>
              <a:rPr sz="2800" spc="-20" dirty="0">
                <a:solidFill>
                  <a:srgbClr val="008000"/>
                </a:solidFill>
                <a:latin typeface="Courier New"/>
                <a:cs typeface="Courier New"/>
              </a:rPr>
              <a:t> Data</a:t>
            </a:r>
            <a:endParaRPr sz="2800" dirty="0">
              <a:latin typeface="Courier New"/>
              <a:cs typeface="Courier New"/>
            </a:endParaRPr>
          </a:p>
          <a:p>
            <a:pPr marL="12700">
              <a:lnSpc>
                <a:spcPts val="2515"/>
              </a:lnSpc>
            </a:pPr>
            <a:r>
              <a:rPr sz="2800" dirty="0">
                <a:latin typeface="Courier New"/>
                <a:cs typeface="Courier New"/>
              </a:rPr>
              <a:t>data</a:t>
            </a:r>
            <a:r>
              <a:rPr sz="2800" spc="-25" dirty="0">
                <a:latin typeface="Courier New"/>
                <a:cs typeface="Courier New"/>
              </a:rPr>
              <a:t> </a:t>
            </a:r>
            <a:r>
              <a:rPr sz="2800" dirty="0">
                <a:latin typeface="Courier New"/>
                <a:cs typeface="Courier New"/>
              </a:rPr>
              <a:t>=</a:t>
            </a:r>
            <a:r>
              <a:rPr sz="2800" spc="-35" dirty="0">
                <a:latin typeface="Courier New"/>
                <a:cs typeface="Courier New"/>
              </a:rPr>
              <a:t> </a:t>
            </a:r>
            <a:r>
              <a:rPr sz="2800" spc="-10" dirty="0">
                <a:latin typeface="Courier New"/>
                <a:cs typeface="Courier New"/>
              </a:rPr>
              <a:t>pd.DataFrame({</a:t>
            </a:r>
            <a:endParaRPr sz="2800" dirty="0">
              <a:latin typeface="Courier New"/>
              <a:cs typeface="Courier New"/>
            </a:endParaRPr>
          </a:p>
          <a:p>
            <a:pPr marL="864869">
              <a:lnSpc>
                <a:spcPts val="2805"/>
              </a:lnSpc>
            </a:pPr>
            <a:r>
              <a:rPr sz="2800" dirty="0">
                <a:solidFill>
                  <a:srgbClr val="A21515"/>
                </a:solidFill>
                <a:latin typeface="Courier New"/>
                <a:cs typeface="Courier New"/>
              </a:rPr>
              <a:t>'A'</a:t>
            </a:r>
            <a:r>
              <a:rPr sz="2800" dirty="0">
                <a:latin typeface="Courier New"/>
                <a:cs typeface="Courier New"/>
              </a:rPr>
              <a:t>:</a:t>
            </a:r>
            <a:r>
              <a:rPr sz="2800" spc="-15" dirty="0">
                <a:latin typeface="Courier New"/>
                <a:cs typeface="Courier New"/>
              </a:rPr>
              <a:t> </a:t>
            </a:r>
            <a:r>
              <a:rPr sz="2800" dirty="0">
                <a:latin typeface="Courier New"/>
                <a:cs typeface="Courier New"/>
              </a:rPr>
              <a:t>[</a:t>
            </a:r>
            <a:r>
              <a:rPr sz="2800" dirty="0">
                <a:solidFill>
                  <a:srgbClr val="116644"/>
                </a:solidFill>
                <a:latin typeface="Courier New"/>
                <a:cs typeface="Courier New"/>
              </a:rPr>
              <a:t>1</a:t>
            </a:r>
            <a:r>
              <a:rPr sz="2800" dirty="0">
                <a:latin typeface="Courier New"/>
                <a:cs typeface="Courier New"/>
              </a:rPr>
              <a:t>,</a:t>
            </a:r>
            <a:r>
              <a:rPr sz="2800" spc="-25" dirty="0">
                <a:latin typeface="Courier New"/>
                <a:cs typeface="Courier New"/>
              </a:rPr>
              <a:t> </a:t>
            </a:r>
            <a:r>
              <a:rPr sz="2800" dirty="0">
                <a:solidFill>
                  <a:srgbClr val="116644"/>
                </a:solidFill>
                <a:latin typeface="Courier New"/>
                <a:cs typeface="Courier New"/>
              </a:rPr>
              <a:t>2</a:t>
            </a:r>
            <a:r>
              <a:rPr sz="2800" dirty="0">
                <a:latin typeface="Courier New"/>
                <a:cs typeface="Courier New"/>
              </a:rPr>
              <a:t>,</a:t>
            </a:r>
            <a:r>
              <a:rPr sz="2800" spc="-15" dirty="0">
                <a:latin typeface="Courier New"/>
                <a:cs typeface="Courier New"/>
              </a:rPr>
              <a:t> </a:t>
            </a:r>
            <a:r>
              <a:rPr sz="2800" spc="-25" dirty="0">
                <a:solidFill>
                  <a:srgbClr val="116644"/>
                </a:solidFill>
                <a:latin typeface="Courier New"/>
                <a:cs typeface="Courier New"/>
              </a:rPr>
              <a:t>3</a:t>
            </a:r>
            <a:r>
              <a:rPr sz="2800" spc="-25" dirty="0">
                <a:latin typeface="Courier New"/>
                <a:cs typeface="Courier New"/>
              </a:rPr>
              <a:t>],</a:t>
            </a:r>
            <a:endParaRPr sz="2800" dirty="0">
              <a:latin typeface="Courier New"/>
              <a:cs typeface="Courier New"/>
            </a:endParaRPr>
          </a:p>
          <a:p>
            <a:pPr marL="864869">
              <a:lnSpc>
                <a:spcPts val="2800"/>
              </a:lnSpc>
            </a:pPr>
            <a:r>
              <a:rPr sz="2800" dirty="0">
                <a:solidFill>
                  <a:srgbClr val="A21515"/>
                </a:solidFill>
                <a:latin typeface="Courier New"/>
                <a:cs typeface="Courier New"/>
              </a:rPr>
              <a:t>'B'</a:t>
            </a:r>
            <a:r>
              <a:rPr sz="2800" dirty="0">
                <a:latin typeface="Courier New"/>
                <a:cs typeface="Courier New"/>
              </a:rPr>
              <a:t>:</a:t>
            </a:r>
            <a:r>
              <a:rPr sz="2800" spc="-15" dirty="0">
                <a:latin typeface="Courier New"/>
                <a:cs typeface="Courier New"/>
              </a:rPr>
              <a:t> </a:t>
            </a:r>
            <a:r>
              <a:rPr sz="2800" dirty="0">
                <a:latin typeface="Courier New"/>
                <a:cs typeface="Courier New"/>
              </a:rPr>
              <a:t>[</a:t>
            </a:r>
            <a:r>
              <a:rPr sz="2800" dirty="0">
                <a:solidFill>
                  <a:srgbClr val="116644"/>
                </a:solidFill>
                <a:latin typeface="Courier New"/>
                <a:cs typeface="Courier New"/>
              </a:rPr>
              <a:t>4</a:t>
            </a:r>
            <a:r>
              <a:rPr sz="2800" dirty="0">
                <a:latin typeface="Courier New"/>
                <a:cs typeface="Courier New"/>
              </a:rPr>
              <a:t>,</a:t>
            </a:r>
            <a:r>
              <a:rPr sz="2800" spc="-25" dirty="0">
                <a:latin typeface="Courier New"/>
                <a:cs typeface="Courier New"/>
              </a:rPr>
              <a:t> </a:t>
            </a:r>
            <a:r>
              <a:rPr sz="2800" dirty="0">
                <a:solidFill>
                  <a:srgbClr val="116644"/>
                </a:solidFill>
                <a:latin typeface="Courier New"/>
                <a:cs typeface="Courier New"/>
              </a:rPr>
              <a:t>5</a:t>
            </a:r>
            <a:r>
              <a:rPr sz="2800" dirty="0">
                <a:latin typeface="Courier New"/>
                <a:cs typeface="Courier New"/>
              </a:rPr>
              <a:t>,</a:t>
            </a:r>
            <a:r>
              <a:rPr sz="2800" spc="-15" dirty="0">
                <a:latin typeface="Courier New"/>
                <a:cs typeface="Courier New"/>
              </a:rPr>
              <a:t> </a:t>
            </a:r>
            <a:r>
              <a:rPr sz="2800" spc="-25" dirty="0">
                <a:solidFill>
                  <a:srgbClr val="116644"/>
                </a:solidFill>
                <a:latin typeface="Courier New"/>
                <a:cs typeface="Courier New"/>
              </a:rPr>
              <a:t>6</a:t>
            </a:r>
            <a:r>
              <a:rPr sz="2800" spc="-25" dirty="0">
                <a:latin typeface="Courier New"/>
                <a:cs typeface="Courier New"/>
              </a:rPr>
              <a:t>],</a:t>
            </a:r>
            <a:endParaRPr sz="2800" dirty="0">
              <a:latin typeface="Courier New"/>
              <a:cs typeface="Courier New"/>
            </a:endParaRPr>
          </a:p>
          <a:p>
            <a:pPr marL="864869">
              <a:lnSpc>
                <a:spcPts val="2795"/>
              </a:lnSpc>
            </a:pPr>
            <a:r>
              <a:rPr sz="2800" dirty="0">
                <a:solidFill>
                  <a:srgbClr val="A21515"/>
                </a:solidFill>
                <a:latin typeface="Courier New"/>
                <a:cs typeface="Courier New"/>
              </a:rPr>
              <a:t>'C'</a:t>
            </a:r>
            <a:r>
              <a:rPr sz="2800" dirty="0">
                <a:latin typeface="Courier New"/>
                <a:cs typeface="Courier New"/>
              </a:rPr>
              <a:t>:</a:t>
            </a:r>
            <a:r>
              <a:rPr sz="2800" spc="-15" dirty="0">
                <a:latin typeface="Courier New"/>
                <a:cs typeface="Courier New"/>
              </a:rPr>
              <a:t> </a:t>
            </a:r>
            <a:r>
              <a:rPr sz="2800" dirty="0">
                <a:latin typeface="Courier New"/>
                <a:cs typeface="Courier New"/>
              </a:rPr>
              <a:t>[</a:t>
            </a:r>
            <a:r>
              <a:rPr sz="2800" dirty="0">
                <a:solidFill>
                  <a:srgbClr val="116644"/>
                </a:solidFill>
                <a:latin typeface="Courier New"/>
                <a:cs typeface="Courier New"/>
              </a:rPr>
              <a:t>7</a:t>
            </a:r>
            <a:r>
              <a:rPr sz="2800" dirty="0">
                <a:latin typeface="Courier New"/>
                <a:cs typeface="Courier New"/>
              </a:rPr>
              <a:t>,</a:t>
            </a:r>
            <a:r>
              <a:rPr sz="2800" spc="-25" dirty="0">
                <a:latin typeface="Courier New"/>
                <a:cs typeface="Courier New"/>
              </a:rPr>
              <a:t> </a:t>
            </a:r>
            <a:r>
              <a:rPr sz="2800" dirty="0">
                <a:solidFill>
                  <a:srgbClr val="116644"/>
                </a:solidFill>
                <a:latin typeface="Courier New"/>
                <a:cs typeface="Courier New"/>
              </a:rPr>
              <a:t>8</a:t>
            </a:r>
            <a:r>
              <a:rPr sz="2800" dirty="0">
                <a:latin typeface="Courier New"/>
                <a:cs typeface="Courier New"/>
              </a:rPr>
              <a:t>,</a:t>
            </a:r>
            <a:r>
              <a:rPr sz="2800" spc="-15" dirty="0">
                <a:latin typeface="Courier New"/>
                <a:cs typeface="Courier New"/>
              </a:rPr>
              <a:t> </a:t>
            </a:r>
            <a:r>
              <a:rPr sz="2800" spc="-25" dirty="0">
                <a:solidFill>
                  <a:srgbClr val="116644"/>
                </a:solidFill>
                <a:latin typeface="Courier New"/>
                <a:cs typeface="Courier New"/>
              </a:rPr>
              <a:t>9</a:t>
            </a:r>
            <a:r>
              <a:rPr sz="2800" spc="-25" dirty="0">
                <a:latin typeface="Courier New"/>
                <a:cs typeface="Courier New"/>
              </a:rPr>
              <a:t>]</a:t>
            </a:r>
            <a:endParaRPr sz="2800" dirty="0">
              <a:latin typeface="Courier New"/>
              <a:cs typeface="Courier New"/>
            </a:endParaRPr>
          </a:p>
          <a:p>
            <a:pPr marL="12700">
              <a:lnSpc>
                <a:spcPts val="3080"/>
              </a:lnSpc>
            </a:pPr>
            <a:r>
              <a:rPr sz="2800" spc="-25" dirty="0">
                <a:latin typeface="Courier New"/>
                <a:cs typeface="Courier New"/>
              </a:rPr>
              <a:t>})</a:t>
            </a:r>
            <a:endParaRPr sz="2800" dirty="0">
              <a:latin typeface="Courier New"/>
              <a:cs typeface="Courier New"/>
            </a:endParaRPr>
          </a:p>
          <a:p>
            <a:pPr marL="12700" marR="5080">
              <a:lnSpc>
                <a:spcPts val="2810"/>
              </a:lnSpc>
              <a:spcBef>
                <a:spcPts val="1395"/>
              </a:spcBef>
            </a:pPr>
            <a:r>
              <a:rPr sz="2800" dirty="0">
                <a:latin typeface="Courier New"/>
                <a:cs typeface="Courier New"/>
              </a:rPr>
              <a:t>sns.heatmap(data,</a:t>
            </a:r>
            <a:r>
              <a:rPr sz="2800" spc="-114" dirty="0">
                <a:latin typeface="Courier New"/>
                <a:cs typeface="Courier New"/>
              </a:rPr>
              <a:t> </a:t>
            </a:r>
            <a:r>
              <a:rPr sz="2800" spc="-10" dirty="0">
                <a:latin typeface="Courier New"/>
                <a:cs typeface="Courier New"/>
              </a:rPr>
              <a:t>annot=</a:t>
            </a:r>
            <a:r>
              <a:rPr sz="2800" spc="-10" dirty="0">
                <a:solidFill>
                  <a:srgbClr val="0000FF"/>
                </a:solidFill>
                <a:latin typeface="Courier New"/>
                <a:cs typeface="Courier New"/>
              </a:rPr>
              <a:t>True</a:t>
            </a:r>
            <a:r>
              <a:rPr sz="2800" spc="-10" dirty="0">
                <a:latin typeface="Courier New"/>
                <a:cs typeface="Courier New"/>
              </a:rPr>
              <a:t>, cmap=</a:t>
            </a:r>
            <a:r>
              <a:rPr sz="2800" spc="-10" dirty="0">
                <a:solidFill>
                  <a:srgbClr val="A21515"/>
                </a:solidFill>
                <a:latin typeface="Courier New"/>
                <a:cs typeface="Courier New"/>
              </a:rPr>
              <a:t>'</a:t>
            </a:r>
            <a:r>
              <a:rPr sz="2800" spc="-10" dirty="0" err="1">
                <a:solidFill>
                  <a:srgbClr val="A21515"/>
                </a:solidFill>
                <a:latin typeface="Courier New"/>
                <a:cs typeface="Courier New"/>
              </a:rPr>
              <a:t>coolwarm</a:t>
            </a:r>
            <a:r>
              <a:rPr lang="en-IN" sz="2800" spc="-10" dirty="0">
                <a:solidFill>
                  <a:srgbClr val="A21515"/>
                </a:solidFill>
                <a:latin typeface="Courier New"/>
                <a:cs typeface="Courier New"/>
              </a:rPr>
              <a:t>’</a:t>
            </a:r>
            <a:r>
              <a:rPr sz="2800" spc="-10" dirty="0">
                <a:latin typeface="Courier New"/>
                <a:cs typeface="Courier New"/>
              </a:rPr>
              <a:t>)</a:t>
            </a:r>
            <a:endParaRPr sz="2800" dirty="0">
              <a:latin typeface="Courier New"/>
              <a:cs typeface="Courier New"/>
            </a:endParaRPr>
          </a:p>
          <a:p>
            <a:pPr marL="12700" marR="1918970">
              <a:lnSpc>
                <a:spcPts val="2810"/>
              </a:lnSpc>
              <a:spcBef>
                <a:spcPts val="2780"/>
              </a:spcBef>
            </a:pPr>
            <a:r>
              <a:rPr sz="2800" spc="-10" dirty="0">
                <a:latin typeface="Courier New"/>
                <a:cs typeface="Courier New"/>
              </a:rPr>
              <a:t>plt.title(</a:t>
            </a:r>
            <a:r>
              <a:rPr sz="2800" spc="-10" dirty="0">
                <a:solidFill>
                  <a:srgbClr val="A21515"/>
                </a:solidFill>
                <a:latin typeface="Courier New"/>
                <a:cs typeface="Courier New"/>
              </a:rPr>
              <a:t>"Heatmap"</a:t>
            </a:r>
            <a:r>
              <a:rPr sz="2800" spc="-10" dirty="0">
                <a:latin typeface="Courier New"/>
                <a:cs typeface="Courier New"/>
              </a:rPr>
              <a:t>) plt.show()</a:t>
            </a:r>
            <a:endParaRPr sz="2800" dirty="0">
              <a:latin typeface="Courier New"/>
              <a:cs typeface="Courier New"/>
            </a:endParaRPr>
          </a:p>
        </p:txBody>
      </p:sp>
      <p:pic>
        <p:nvPicPr>
          <p:cNvPr id="5" name="object 5"/>
          <p:cNvPicPr/>
          <p:nvPr/>
        </p:nvPicPr>
        <p:blipFill>
          <a:blip r:embed="rId2" cstate="print"/>
          <a:stretch>
            <a:fillRect/>
          </a:stretch>
        </p:blipFill>
        <p:spPr>
          <a:xfrm>
            <a:off x="7315200" y="1685544"/>
            <a:ext cx="4690872" cy="4066032"/>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39</a:t>
            </a:fld>
            <a:endParaRPr spc="-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dirty="0">
                <a:latin typeface="Cambria"/>
                <a:cs typeface="Cambria"/>
              </a:rPr>
              <a:t>4.</a:t>
            </a:r>
            <a:r>
              <a:rPr b="0" spc="-204" dirty="0">
                <a:latin typeface="Cambria"/>
                <a:cs typeface="Cambria"/>
              </a:rPr>
              <a:t> </a:t>
            </a:r>
            <a:r>
              <a:rPr b="0" spc="-40" dirty="0">
                <a:latin typeface="Cambria"/>
                <a:cs typeface="Cambria"/>
              </a:rPr>
              <a:t>Box</a:t>
            </a:r>
            <a:r>
              <a:rPr b="0" spc="-200" dirty="0">
                <a:latin typeface="Cambria"/>
                <a:cs typeface="Cambria"/>
              </a:rPr>
              <a:t> </a:t>
            </a:r>
            <a:r>
              <a:rPr b="0" spc="-20" dirty="0">
                <a:latin typeface="Cambria"/>
                <a:cs typeface="Cambria"/>
              </a:rPr>
              <a:t>Plot</a:t>
            </a:r>
          </a:p>
        </p:txBody>
      </p:sp>
      <p:sp>
        <p:nvSpPr>
          <p:cNvPr id="3" name="object 3"/>
          <p:cNvSpPr txBox="1"/>
          <p:nvPr/>
        </p:nvSpPr>
        <p:spPr>
          <a:xfrm>
            <a:off x="1084580" y="1070508"/>
            <a:ext cx="6536690" cy="1150620"/>
          </a:xfrm>
          <a:prstGeom prst="rect">
            <a:avLst/>
          </a:prstGeom>
        </p:spPr>
        <p:txBody>
          <a:bodyPr vert="horz" wrap="square" lIns="0" tIns="12700" rIns="0" bIns="0" rtlCol="0">
            <a:spAutoFit/>
          </a:bodyPr>
          <a:lstStyle/>
          <a:p>
            <a:pPr marL="12700" marR="5080" indent="287020">
              <a:lnSpc>
                <a:spcPct val="131800"/>
              </a:lnSpc>
              <a:spcBef>
                <a:spcPts val="100"/>
              </a:spcBef>
              <a:buClr>
                <a:srgbClr val="1CACE3"/>
              </a:buClr>
              <a:buFont typeface="Arial MT"/>
              <a:buChar char="•"/>
              <a:tabLst>
                <a:tab pos="299720" algn="l"/>
              </a:tabLst>
            </a:pPr>
            <a:r>
              <a:rPr sz="2800" spc="-10" dirty="0">
                <a:solidFill>
                  <a:srgbClr val="404040"/>
                </a:solidFill>
                <a:latin typeface="Cambria"/>
                <a:cs typeface="Cambria"/>
              </a:rPr>
              <a:t>Analyze</a:t>
            </a:r>
            <a:r>
              <a:rPr sz="2800" spc="-60" dirty="0">
                <a:solidFill>
                  <a:srgbClr val="404040"/>
                </a:solidFill>
                <a:latin typeface="Cambria"/>
                <a:cs typeface="Cambria"/>
              </a:rPr>
              <a:t> </a:t>
            </a:r>
            <a:r>
              <a:rPr sz="2800" spc="-10" dirty="0">
                <a:solidFill>
                  <a:srgbClr val="404040"/>
                </a:solidFill>
                <a:latin typeface="Cambria"/>
                <a:cs typeface="Cambria"/>
              </a:rPr>
              <a:t>distributions</a:t>
            </a:r>
            <a:r>
              <a:rPr sz="2800" spc="-70" dirty="0">
                <a:solidFill>
                  <a:srgbClr val="404040"/>
                </a:solidFill>
                <a:latin typeface="Cambria"/>
                <a:cs typeface="Cambria"/>
              </a:rPr>
              <a:t> </a:t>
            </a:r>
            <a:r>
              <a:rPr sz="2800" dirty="0">
                <a:solidFill>
                  <a:srgbClr val="404040"/>
                </a:solidFill>
                <a:latin typeface="Cambria"/>
                <a:cs typeface="Cambria"/>
              </a:rPr>
              <a:t>and</a:t>
            </a:r>
            <a:r>
              <a:rPr sz="2800" spc="-75" dirty="0">
                <a:solidFill>
                  <a:srgbClr val="404040"/>
                </a:solidFill>
                <a:latin typeface="Cambria"/>
                <a:cs typeface="Cambria"/>
              </a:rPr>
              <a:t> </a:t>
            </a:r>
            <a:r>
              <a:rPr sz="2800" dirty="0">
                <a:solidFill>
                  <a:srgbClr val="404040"/>
                </a:solidFill>
                <a:latin typeface="Cambria"/>
                <a:cs typeface="Cambria"/>
              </a:rPr>
              <a:t>detect</a:t>
            </a:r>
            <a:r>
              <a:rPr sz="2800" spc="-85" dirty="0">
                <a:solidFill>
                  <a:srgbClr val="404040"/>
                </a:solidFill>
                <a:latin typeface="Cambria"/>
                <a:cs typeface="Cambria"/>
              </a:rPr>
              <a:t> </a:t>
            </a:r>
            <a:r>
              <a:rPr sz="2800" spc="-10" dirty="0">
                <a:solidFill>
                  <a:srgbClr val="404040"/>
                </a:solidFill>
                <a:latin typeface="Cambria"/>
                <a:cs typeface="Cambria"/>
              </a:rPr>
              <a:t>outliers. </a:t>
            </a:r>
            <a:r>
              <a:rPr sz="2800" dirty="0">
                <a:solidFill>
                  <a:srgbClr val="404040"/>
                </a:solidFill>
                <a:latin typeface="Cambria"/>
                <a:cs typeface="Cambria"/>
              </a:rPr>
              <a:t>Example:</a:t>
            </a:r>
            <a:r>
              <a:rPr sz="2800" spc="-75" dirty="0">
                <a:solidFill>
                  <a:srgbClr val="404040"/>
                </a:solidFill>
                <a:latin typeface="Cambria"/>
                <a:cs typeface="Cambria"/>
              </a:rPr>
              <a:t> </a:t>
            </a:r>
            <a:r>
              <a:rPr sz="2800" dirty="0">
                <a:solidFill>
                  <a:srgbClr val="404040"/>
                </a:solidFill>
                <a:latin typeface="Cambria"/>
                <a:cs typeface="Cambria"/>
              </a:rPr>
              <a:t>Sales</a:t>
            </a:r>
            <a:r>
              <a:rPr sz="2800" spc="-75" dirty="0">
                <a:solidFill>
                  <a:srgbClr val="404040"/>
                </a:solidFill>
                <a:latin typeface="Cambria"/>
                <a:cs typeface="Cambria"/>
              </a:rPr>
              <a:t> </a:t>
            </a:r>
            <a:r>
              <a:rPr sz="2800" dirty="0">
                <a:solidFill>
                  <a:srgbClr val="404040"/>
                </a:solidFill>
                <a:latin typeface="Cambria"/>
                <a:cs typeface="Cambria"/>
              </a:rPr>
              <a:t>data</a:t>
            </a:r>
            <a:r>
              <a:rPr sz="2800" spc="-70" dirty="0">
                <a:solidFill>
                  <a:srgbClr val="404040"/>
                </a:solidFill>
                <a:latin typeface="Cambria"/>
                <a:cs typeface="Cambria"/>
              </a:rPr>
              <a:t> </a:t>
            </a:r>
            <a:r>
              <a:rPr sz="2800" dirty="0">
                <a:solidFill>
                  <a:srgbClr val="404040"/>
                </a:solidFill>
                <a:latin typeface="Cambria"/>
                <a:cs typeface="Cambria"/>
              </a:rPr>
              <a:t>over</a:t>
            </a:r>
            <a:r>
              <a:rPr sz="2800" spc="-60" dirty="0">
                <a:solidFill>
                  <a:srgbClr val="404040"/>
                </a:solidFill>
                <a:latin typeface="Cambria"/>
                <a:cs typeface="Cambria"/>
              </a:rPr>
              <a:t> </a:t>
            </a:r>
            <a:r>
              <a:rPr sz="2800" spc="-10" dirty="0">
                <a:solidFill>
                  <a:srgbClr val="404040"/>
                </a:solidFill>
                <a:latin typeface="Cambria"/>
                <a:cs typeface="Cambria"/>
              </a:rPr>
              <a:t>different</a:t>
            </a:r>
            <a:r>
              <a:rPr sz="2800" spc="-75" dirty="0">
                <a:solidFill>
                  <a:srgbClr val="404040"/>
                </a:solidFill>
                <a:latin typeface="Cambria"/>
                <a:cs typeface="Cambria"/>
              </a:rPr>
              <a:t> </a:t>
            </a:r>
            <a:r>
              <a:rPr sz="2800" spc="-10" dirty="0">
                <a:solidFill>
                  <a:srgbClr val="404040"/>
                </a:solidFill>
                <a:latin typeface="Cambria"/>
                <a:cs typeface="Cambria"/>
              </a:rPr>
              <a:t>days.</a:t>
            </a:r>
            <a:endParaRPr sz="2800">
              <a:latin typeface="Cambria"/>
              <a:cs typeface="Cambria"/>
            </a:endParaRPr>
          </a:p>
        </p:txBody>
      </p:sp>
      <p:grpSp>
        <p:nvGrpSpPr>
          <p:cNvPr id="4" name="object 4"/>
          <p:cNvGrpSpPr/>
          <p:nvPr/>
        </p:nvGrpSpPr>
        <p:grpSpPr>
          <a:xfrm>
            <a:off x="1097280" y="2250948"/>
            <a:ext cx="10781030" cy="3961129"/>
            <a:chOff x="1097280" y="2250948"/>
            <a:chExt cx="10781030" cy="3961129"/>
          </a:xfrm>
        </p:grpSpPr>
        <p:pic>
          <p:nvPicPr>
            <p:cNvPr id="5" name="object 5"/>
            <p:cNvPicPr/>
            <p:nvPr/>
          </p:nvPicPr>
          <p:blipFill>
            <a:blip r:embed="rId2" cstate="print"/>
            <a:stretch>
              <a:fillRect/>
            </a:stretch>
          </p:blipFill>
          <p:spPr>
            <a:xfrm>
              <a:off x="1097280" y="2250948"/>
              <a:ext cx="6496812" cy="3960876"/>
            </a:xfrm>
            <a:prstGeom prst="rect">
              <a:avLst/>
            </a:prstGeom>
          </p:spPr>
        </p:pic>
        <p:pic>
          <p:nvPicPr>
            <p:cNvPr id="6" name="object 6"/>
            <p:cNvPicPr/>
            <p:nvPr/>
          </p:nvPicPr>
          <p:blipFill>
            <a:blip r:embed="rId3" cstate="print"/>
            <a:stretch>
              <a:fillRect/>
            </a:stretch>
          </p:blipFill>
          <p:spPr>
            <a:xfrm>
              <a:off x="7594091" y="2250948"/>
              <a:ext cx="4283963" cy="3413760"/>
            </a:xfrm>
            <a:prstGeom prst="rect">
              <a:avLst/>
            </a:prstGeom>
          </p:spPr>
        </p:pic>
      </p:gr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40</a:t>
            </a:fld>
            <a:endParaRPr spc="-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0" spc="-40" dirty="0">
                <a:latin typeface="Cambria"/>
                <a:cs typeface="Cambria"/>
              </a:rPr>
              <a:t>Box</a:t>
            </a:r>
            <a:r>
              <a:rPr b="0" spc="-200" dirty="0">
                <a:latin typeface="Cambria"/>
                <a:cs typeface="Cambria"/>
              </a:rPr>
              <a:t> </a:t>
            </a:r>
            <a:r>
              <a:rPr b="0" spc="-20" dirty="0">
                <a:latin typeface="Cambria"/>
                <a:cs typeface="Cambria"/>
              </a:rPr>
              <a:t>Plot</a:t>
            </a:r>
            <a:r>
              <a:rPr b="0" spc="-200" dirty="0">
                <a:latin typeface="Cambria"/>
                <a:cs typeface="Cambria"/>
              </a:rPr>
              <a:t> </a:t>
            </a:r>
            <a:r>
              <a:rPr b="0" spc="-65" dirty="0">
                <a:latin typeface="Cambria"/>
                <a:cs typeface="Cambria"/>
              </a:rPr>
              <a:t>Example</a:t>
            </a:r>
            <a:r>
              <a:rPr b="0" spc="-200" dirty="0">
                <a:latin typeface="Cambria"/>
                <a:cs typeface="Cambria"/>
              </a:rPr>
              <a:t> </a:t>
            </a:r>
            <a:r>
              <a:rPr b="0" spc="-50" dirty="0">
                <a:latin typeface="Cambria"/>
                <a:cs typeface="Cambria"/>
              </a:rPr>
              <a:t>2</a:t>
            </a:r>
          </a:p>
        </p:txBody>
      </p:sp>
      <p:sp>
        <p:nvSpPr>
          <p:cNvPr id="3" name="object 3"/>
          <p:cNvSpPr txBox="1"/>
          <p:nvPr/>
        </p:nvSpPr>
        <p:spPr>
          <a:xfrm>
            <a:off x="1084580" y="1182370"/>
            <a:ext cx="6426835" cy="443611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AE00DB"/>
                </a:solidFill>
                <a:latin typeface="Courier New"/>
                <a:cs typeface="Courier New"/>
              </a:rPr>
              <a:t>import</a:t>
            </a:r>
            <a:r>
              <a:rPr sz="2000" spc="-45" dirty="0">
                <a:solidFill>
                  <a:srgbClr val="AE00DB"/>
                </a:solidFill>
                <a:latin typeface="Courier New"/>
                <a:cs typeface="Courier New"/>
              </a:rPr>
              <a:t> </a:t>
            </a:r>
            <a:r>
              <a:rPr sz="2000" dirty="0">
                <a:latin typeface="Courier New"/>
                <a:cs typeface="Courier New"/>
              </a:rPr>
              <a:t>seaborn</a:t>
            </a:r>
            <a:r>
              <a:rPr sz="2000" spc="-25" dirty="0">
                <a:latin typeface="Courier New"/>
                <a:cs typeface="Courier New"/>
              </a:rPr>
              <a:t> </a:t>
            </a:r>
            <a:r>
              <a:rPr sz="2000" dirty="0">
                <a:solidFill>
                  <a:srgbClr val="AE00DB"/>
                </a:solidFill>
                <a:latin typeface="Courier New"/>
                <a:cs typeface="Courier New"/>
              </a:rPr>
              <a:t>as</a:t>
            </a:r>
            <a:r>
              <a:rPr sz="2000" spc="-25" dirty="0">
                <a:solidFill>
                  <a:srgbClr val="AE00DB"/>
                </a:solidFill>
                <a:latin typeface="Courier New"/>
                <a:cs typeface="Courier New"/>
              </a:rPr>
              <a:t> </a:t>
            </a:r>
            <a:r>
              <a:rPr sz="2000" spc="-25" dirty="0">
                <a:latin typeface="Courier New"/>
                <a:cs typeface="Courier New"/>
              </a:rPr>
              <a:t>sns</a:t>
            </a:r>
            <a:endParaRPr sz="2000" dirty="0">
              <a:latin typeface="Courier New"/>
              <a:cs typeface="Courier New"/>
            </a:endParaRPr>
          </a:p>
          <a:p>
            <a:pPr>
              <a:lnSpc>
                <a:spcPct val="100000"/>
              </a:lnSpc>
              <a:spcBef>
                <a:spcPts val="575"/>
              </a:spcBef>
            </a:pPr>
            <a:endParaRPr sz="2000" dirty="0">
              <a:latin typeface="Courier New"/>
              <a:cs typeface="Courier New"/>
            </a:endParaRPr>
          </a:p>
          <a:p>
            <a:pPr marL="12700">
              <a:lnSpc>
                <a:spcPct val="100000"/>
              </a:lnSpc>
            </a:pPr>
            <a:r>
              <a:rPr sz="2000" dirty="0">
                <a:solidFill>
                  <a:srgbClr val="008000"/>
                </a:solidFill>
                <a:latin typeface="Courier New"/>
                <a:cs typeface="Courier New"/>
              </a:rPr>
              <a:t>#</a:t>
            </a:r>
            <a:r>
              <a:rPr sz="2000" spc="-15" dirty="0">
                <a:solidFill>
                  <a:srgbClr val="008000"/>
                </a:solidFill>
                <a:latin typeface="Courier New"/>
                <a:cs typeface="Courier New"/>
              </a:rPr>
              <a:t> </a:t>
            </a:r>
            <a:r>
              <a:rPr sz="2000" dirty="0">
                <a:solidFill>
                  <a:srgbClr val="008000"/>
                </a:solidFill>
                <a:latin typeface="Courier New"/>
                <a:cs typeface="Courier New"/>
              </a:rPr>
              <a:t>Sample</a:t>
            </a:r>
            <a:r>
              <a:rPr sz="2000" spc="-10" dirty="0">
                <a:solidFill>
                  <a:srgbClr val="008000"/>
                </a:solidFill>
                <a:latin typeface="Courier New"/>
                <a:cs typeface="Courier New"/>
              </a:rPr>
              <a:t> </a:t>
            </a:r>
            <a:r>
              <a:rPr sz="2000" spc="-20" dirty="0">
                <a:solidFill>
                  <a:srgbClr val="008000"/>
                </a:solidFill>
                <a:latin typeface="Courier New"/>
                <a:cs typeface="Courier New"/>
              </a:rPr>
              <a:t>Data</a:t>
            </a:r>
            <a:endParaRPr sz="2000" dirty="0">
              <a:latin typeface="Courier New"/>
              <a:cs typeface="Courier New"/>
            </a:endParaRPr>
          </a:p>
          <a:p>
            <a:pPr marL="12700">
              <a:lnSpc>
                <a:spcPct val="100000"/>
              </a:lnSpc>
              <a:spcBef>
                <a:spcPts val="915"/>
              </a:spcBef>
            </a:pPr>
            <a:r>
              <a:rPr sz="2000" dirty="0">
                <a:latin typeface="Courier New"/>
                <a:cs typeface="Courier New"/>
              </a:rPr>
              <a:t>data</a:t>
            </a:r>
            <a:r>
              <a:rPr sz="2000" spc="-20" dirty="0">
                <a:latin typeface="Courier New"/>
                <a:cs typeface="Courier New"/>
              </a:rPr>
              <a:t> </a:t>
            </a:r>
            <a:r>
              <a:rPr sz="2000" dirty="0">
                <a:latin typeface="Courier New"/>
                <a:cs typeface="Courier New"/>
              </a:rPr>
              <a:t>=</a:t>
            </a:r>
            <a:r>
              <a:rPr sz="2000" spc="-5" dirty="0">
                <a:latin typeface="Courier New"/>
                <a:cs typeface="Courier New"/>
              </a:rPr>
              <a:t> </a:t>
            </a:r>
            <a:r>
              <a:rPr sz="2000" spc="-50" dirty="0">
                <a:latin typeface="Courier New"/>
                <a:cs typeface="Courier New"/>
              </a:rPr>
              <a:t>{</a:t>
            </a:r>
            <a:endParaRPr sz="2000" dirty="0">
              <a:latin typeface="Courier New"/>
              <a:cs typeface="Courier New"/>
            </a:endParaRPr>
          </a:p>
          <a:p>
            <a:pPr marL="622300">
              <a:lnSpc>
                <a:spcPts val="2160"/>
              </a:lnSpc>
              <a:spcBef>
                <a:spcPts val="925"/>
              </a:spcBef>
            </a:pPr>
            <a:r>
              <a:rPr sz="2000" dirty="0">
                <a:solidFill>
                  <a:srgbClr val="A21515"/>
                </a:solidFill>
                <a:latin typeface="Courier New"/>
                <a:cs typeface="Courier New"/>
              </a:rPr>
              <a:t>'Day'</a:t>
            </a:r>
            <a:r>
              <a:rPr sz="2000" dirty="0">
                <a:latin typeface="Courier New"/>
                <a:cs typeface="Courier New"/>
              </a:rPr>
              <a:t>:</a:t>
            </a:r>
            <a:r>
              <a:rPr sz="2000" spc="-40" dirty="0">
                <a:latin typeface="Courier New"/>
                <a:cs typeface="Courier New"/>
              </a:rPr>
              <a:t> </a:t>
            </a:r>
            <a:r>
              <a:rPr sz="2000" dirty="0">
                <a:latin typeface="Courier New"/>
                <a:cs typeface="Courier New"/>
              </a:rPr>
              <a:t>[</a:t>
            </a:r>
            <a:r>
              <a:rPr sz="2000" dirty="0">
                <a:solidFill>
                  <a:srgbClr val="A21515"/>
                </a:solidFill>
                <a:latin typeface="Courier New"/>
                <a:cs typeface="Courier New"/>
              </a:rPr>
              <a:t>'Monday'</a:t>
            </a:r>
            <a:r>
              <a:rPr sz="2000" dirty="0">
                <a:latin typeface="Courier New"/>
                <a:cs typeface="Courier New"/>
              </a:rPr>
              <a:t>,</a:t>
            </a:r>
            <a:r>
              <a:rPr sz="2000" spc="-35" dirty="0">
                <a:latin typeface="Courier New"/>
                <a:cs typeface="Courier New"/>
              </a:rPr>
              <a:t> </a:t>
            </a:r>
            <a:r>
              <a:rPr sz="2000" spc="-10" dirty="0">
                <a:solidFill>
                  <a:srgbClr val="A21515"/>
                </a:solidFill>
                <a:latin typeface="Courier New"/>
                <a:cs typeface="Courier New"/>
              </a:rPr>
              <a:t>'Tuesday'</a:t>
            </a:r>
            <a:r>
              <a:rPr sz="2000" spc="-10" dirty="0">
                <a:latin typeface="Courier New"/>
                <a:cs typeface="Courier New"/>
              </a:rPr>
              <a:t>,</a:t>
            </a:r>
            <a:endParaRPr sz="2000" dirty="0">
              <a:latin typeface="Courier New"/>
              <a:cs typeface="Courier New"/>
            </a:endParaRPr>
          </a:p>
          <a:p>
            <a:pPr marL="12700">
              <a:lnSpc>
                <a:spcPts val="2160"/>
              </a:lnSpc>
            </a:pPr>
            <a:r>
              <a:rPr sz="2000" dirty="0">
                <a:solidFill>
                  <a:srgbClr val="A21515"/>
                </a:solidFill>
                <a:latin typeface="Courier New"/>
                <a:cs typeface="Courier New"/>
              </a:rPr>
              <a:t>'Wednesday'</a:t>
            </a:r>
            <a:r>
              <a:rPr sz="2000" dirty="0">
                <a:latin typeface="Courier New"/>
                <a:cs typeface="Courier New"/>
              </a:rPr>
              <a:t>,</a:t>
            </a:r>
            <a:r>
              <a:rPr sz="2000" spc="-75" dirty="0">
                <a:latin typeface="Courier New"/>
                <a:cs typeface="Courier New"/>
              </a:rPr>
              <a:t> </a:t>
            </a:r>
            <a:r>
              <a:rPr sz="2000" dirty="0">
                <a:solidFill>
                  <a:srgbClr val="A21515"/>
                </a:solidFill>
                <a:latin typeface="Courier New"/>
                <a:cs typeface="Courier New"/>
              </a:rPr>
              <a:t>'Thursday'</a:t>
            </a:r>
            <a:r>
              <a:rPr sz="2000" dirty="0">
                <a:latin typeface="Courier New"/>
                <a:cs typeface="Courier New"/>
              </a:rPr>
              <a:t>,</a:t>
            </a:r>
            <a:r>
              <a:rPr sz="2000" spc="-65" dirty="0">
                <a:latin typeface="Courier New"/>
                <a:cs typeface="Courier New"/>
              </a:rPr>
              <a:t> </a:t>
            </a:r>
            <a:r>
              <a:rPr sz="2000" spc="-10" dirty="0">
                <a:solidFill>
                  <a:srgbClr val="A21515"/>
                </a:solidFill>
                <a:latin typeface="Courier New"/>
                <a:cs typeface="Courier New"/>
              </a:rPr>
              <a:t>'Friday'</a:t>
            </a:r>
            <a:r>
              <a:rPr sz="2000" spc="-10" dirty="0">
                <a:latin typeface="Courier New"/>
                <a:cs typeface="Courier New"/>
              </a:rPr>
              <a:t>],</a:t>
            </a:r>
            <a:endParaRPr sz="2000" dirty="0">
              <a:latin typeface="Courier New"/>
              <a:cs typeface="Courier New"/>
            </a:endParaRPr>
          </a:p>
          <a:p>
            <a:pPr marL="622300">
              <a:lnSpc>
                <a:spcPct val="100000"/>
              </a:lnSpc>
              <a:spcBef>
                <a:spcPts val="925"/>
              </a:spcBef>
            </a:pPr>
            <a:r>
              <a:rPr sz="2000" dirty="0">
                <a:solidFill>
                  <a:srgbClr val="A21515"/>
                </a:solidFill>
                <a:latin typeface="Courier New"/>
                <a:cs typeface="Courier New"/>
              </a:rPr>
              <a:t>'Sales'</a:t>
            </a:r>
            <a:r>
              <a:rPr sz="2000" dirty="0">
                <a:latin typeface="Courier New"/>
                <a:cs typeface="Courier New"/>
              </a:rPr>
              <a:t>:</a:t>
            </a:r>
            <a:r>
              <a:rPr sz="2000" spc="-35" dirty="0">
                <a:latin typeface="Courier New"/>
                <a:cs typeface="Courier New"/>
              </a:rPr>
              <a:t> </a:t>
            </a:r>
            <a:r>
              <a:rPr sz="2000" dirty="0">
                <a:latin typeface="Courier New"/>
                <a:cs typeface="Courier New"/>
              </a:rPr>
              <a:t>[</a:t>
            </a:r>
            <a:r>
              <a:rPr sz="2000" dirty="0">
                <a:solidFill>
                  <a:srgbClr val="116644"/>
                </a:solidFill>
                <a:latin typeface="Courier New"/>
                <a:cs typeface="Courier New"/>
              </a:rPr>
              <a:t>200</a:t>
            </a:r>
            <a:r>
              <a:rPr sz="2000" dirty="0">
                <a:latin typeface="Courier New"/>
                <a:cs typeface="Courier New"/>
              </a:rPr>
              <a:t>,</a:t>
            </a:r>
            <a:r>
              <a:rPr sz="2000" spc="-25" dirty="0">
                <a:latin typeface="Courier New"/>
                <a:cs typeface="Courier New"/>
              </a:rPr>
              <a:t> </a:t>
            </a:r>
            <a:r>
              <a:rPr sz="2000" dirty="0">
                <a:solidFill>
                  <a:srgbClr val="116644"/>
                </a:solidFill>
                <a:latin typeface="Courier New"/>
                <a:cs typeface="Courier New"/>
              </a:rPr>
              <a:t>220</a:t>
            </a:r>
            <a:r>
              <a:rPr sz="2000" dirty="0">
                <a:latin typeface="Courier New"/>
                <a:cs typeface="Courier New"/>
              </a:rPr>
              <a:t>,</a:t>
            </a:r>
            <a:r>
              <a:rPr sz="2000" spc="-25" dirty="0">
                <a:latin typeface="Courier New"/>
                <a:cs typeface="Courier New"/>
              </a:rPr>
              <a:t> </a:t>
            </a:r>
            <a:r>
              <a:rPr sz="2000" dirty="0">
                <a:solidFill>
                  <a:srgbClr val="116644"/>
                </a:solidFill>
                <a:latin typeface="Courier New"/>
                <a:cs typeface="Courier New"/>
              </a:rPr>
              <a:t>250</a:t>
            </a:r>
            <a:r>
              <a:rPr sz="2000" dirty="0">
                <a:latin typeface="Courier New"/>
                <a:cs typeface="Courier New"/>
              </a:rPr>
              <a:t>,</a:t>
            </a:r>
            <a:r>
              <a:rPr sz="2000" spc="-25" dirty="0">
                <a:latin typeface="Courier New"/>
                <a:cs typeface="Courier New"/>
              </a:rPr>
              <a:t> </a:t>
            </a:r>
            <a:r>
              <a:rPr sz="2000" dirty="0">
                <a:solidFill>
                  <a:srgbClr val="116644"/>
                </a:solidFill>
                <a:latin typeface="Courier New"/>
                <a:cs typeface="Courier New"/>
              </a:rPr>
              <a:t>210</a:t>
            </a:r>
            <a:r>
              <a:rPr sz="2000" dirty="0">
                <a:latin typeface="Courier New"/>
                <a:cs typeface="Courier New"/>
              </a:rPr>
              <a:t>,</a:t>
            </a:r>
            <a:r>
              <a:rPr sz="2000" spc="-20" dirty="0">
                <a:latin typeface="Courier New"/>
                <a:cs typeface="Courier New"/>
              </a:rPr>
              <a:t> </a:t>
            </a:r>
            <a:r>
              <a:rPr sz="2000" spc="-20" dirty="0">
                <a:solidFill>
                  <a:srgbClr val="116644"/>
                </a:solidFill>
                <a:latin typeface="Courier New"/>
                <a:cs typeface="Courier New"/>
              </a:rPr>
              <a:t>240</a:t>
            </a:r>
            <a:r>
              <a:rPr sz="2000" spc="-20" dirty="0">
                <a:latin typeface="Courier New"/>
                <a:cs typeface="Courier New"/>
              </a:rPr>
              <a:t>]</a:t>
            </a:r>
            <a:endParaRPr sz="2000" dirty="0">
              <a:latin typeface="Courier New"/>
              <a:cs typeface="Courier New"/>
            </a:endParaRPr>
          </a:p>
          <a:p>
            <a:pPr marL="12700">
              <a:lnSpc>
                <a:spcPct val="100000"/>
              </a:lnSpc>
              <a:spcBef>
                <a:spcPts val="910"/>
              </a:spcBef>
            </a:pPr>
            <a:r>
              <a:rPr sz="2000" spc="-50" dirty="0">
                <a:latin typeface="Courier New"/>
                <a:cs typeface="Courier New"/>
              </a:rPr>
              <a:t>}</a:t>
            </a:r>
            <a:endParaRPr sz="2000" dirty="0">
              <a:latin typeface="Courier New"/>
              <a:cs typeface="Courier New"/>
            </a:endParaRPr>
          </a:p>
          <a:p>
            <a:pPr marL="12700" marR="5080">
              <a:lnSpc>
                <a:spcPct val="138500"/>
              </a:lnSpc>
              <a:spcBef>
                <a:spcPts val="1925"/>
              </a:spcBef>
            </a:pPr>
            <a:r>
              <a:rPr sz="2000" dirty="0">
                <a:latin typeface="Courier New"/>
                <a:cs typeface="Courier New"/>
              </a:rPr>
              <a:t>sns.boxplot(x=</a:t>
            </a:r>
            <a:r>
              <a:rPr sz="2000" dirty="0">
                <a:solidFill>
                  <a:srgbClr val="A21515"/>
                </a:solidFill>
                <a:latin typeface="Courier New"/>
                <a:cs typeface="Courier New"/>
              </a:rPr>
              <a:t>'Day'</a:t>
            </a:r>
            <a:r>
              <a:rPr sz="2000" dirty="0">
                <a:latin typeface="Courier New"/>
                <a:cs typeface="Courier New"/>
              </a:rPr>
              <a:t>,</a:t>
            </a:r>
            <a:r>
              <a:rPr sz="2000" spc="-85" dirty="0">
                <a:latin typeface="Courier New"/>
                <a:cs typeface="Courier New"/>
              </a:rPr>
              <a:t> </a:t>
            </a:r>
            <a:r>
              <a:rPr sz="2000" dirty="0">
                <a:latin typeface="Courier New"/>
                <a:cs typeface="Courier New"/>
              </a:rPr>
              <a:t>y=</a:t>
            </a:r>
            <a:r>
              <a:rPr sz="2000" dirty="0">
                <a:solidFill>
                  <a:srgbClr val="A21515"/>
                </a:solidFill>
                <a:latin typeface="Courier New"/>
                <a:cs typeface="Courier New"/>
              </a:rPr>
              <a:t>'Sales'</a:t>
            </a:r>
            <a:r>
              <a:rPr sz="2000" dirty="0">
                <a:latin typeface="Courier New"/>
                <a:cs typeface="Courier New"/>
              </a:rPr>
              <a:t>,</a:t>
            </a:r>
            <a:r>
              <a:rPr sz="2000" spc="-80" dirty="0">
                <a:latin typeface="Courier New"/>
                <a:cs typeface="Courier New"/>
              </a:rPr>
              <a:t> </a:t>
            </a:r>
            <a:r>
              <a:rPr sz="2000" spc="-10" dirty="0">
                <a:latin typeface="Courier New"/>
                <a:cs typeface="Courier New"/>
              </a:rPr>
              <a:t>data=data) </a:t>
            </a:r>
            <a:r>
              <a:rPr sz="2000" dirty="0">
                <a:latin typeface="Courier New"/>
                <a:cs typeface="Courier New"/>
              </a:rPr>
              <a:t>plt.title(</a:t>
            </a:r>
            <a:r>
              <a:rPr sz="2000" dirty="0">
                <a:solidFill>
                  <a:srgbClr val="A21515"/>
                </a:solidFill>
                <a:latin typeface="Courier New"/>
                <a:cs typeface="Courier New"/>
              </a:rPr>
              <a:t>"Box</a:t>
            </a:r>
            <a:r>
              <a:rPr sz="2000" spc="-95" dirty="0">
                <a:solidFill>
                  <a:srgbClr val="A21515"/>
                </a:solidFill>
                <a:latin typeface="Courier New"/>
                <a:cs typeface="Courier New"/>
              </a:rPr>
              <a:t> </a:t>
            </a:r>
            <a:r>
              <a:rPr sz="2000" spc="-10" dirty="0">
                <a:solidFill>
                  <a:srgbClr val="A21515"/>
                </a:solidFill>
                <a:latin typeface="Courier New"/>
                <a:cs typeface="Courier New"/>
              </a:rPr>
              <a:t>Plot"</a:t>
            </a:r>
            <a:r>
              <a:rPr sz="2000" spc="-10" dirty="0">
                <a:latin typeface="Courier New"/>
                <a:cs typeface="Courier New"/>
              </a:rPr>
              <a:t>)</a:t>
            </a:r>
            <a:endParaRPr sz="2000" dirty="0">
              <a:latin typeface="Courier New"/>
              <a:cs typeface="Courier New"/>
            </a:endParaRPr>
          </a:p>
          <a:p>
            <a:pPr marL="12700">
              <a:lnSpc>
                <a:spcPct val="100000"/>
              </a:lnSpc>
              <a:spcBef>
                <a:spcPts val="910"/>
              </a:spcBef>
            </a:pPr>
            <a:r>
              <a:rPr sz="2000" spc="-10" dirty="0">
                <a:latin typeface="Courier New"/>
                <a:cs typeface="Courier New"/>
              </a:rPr>
              <a:t>plt.show()</a:t>
            </a:r>
            <a:endParaRPr sz="2000" dirty="0">
              <a:latin typeface="Courier New"/>
              <a:cs typeface="Courier New"/>
            </a:endParaRPr>
          </a:p>
        </p:txBody>
      </p:sp>
      <p:pic>
        <p:nvPicPr>
          <p:cNvPr id="4" name="object 4"/>
          <p:cNvPicPr/>
          <p:nvPr/>
        </p:nvPicPr>
        <p:blipFill>
          <a:blip r:embed="rId2" cstate="print"/>
          <a:stretch>
            <a:fillRect/>
          </a:stretch>
        </p:blipFill>
        <p:spPr>
          <a:xfrm>
            <a:off x="7693152" y="1824227"/>
            <a:ext cx="4027932" cy="3209544"/>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41</a:t>
            </a:fld>
            <a:endParaRPr spc="-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65" dirty="0"/>
              <a:t>Customizing</a:t>
            </a:r>
            <a:r>
              <a:rPr spc="-215" dirty="0"/>
              <a:t> </a:t>
            </a:r>
            <a:r>
              <a:rPr spc="-35" dirty="0"/>
              <a:t>Seaborn</a:t>
            </a:r>
            <a:r>
              <a:rPr spc="-195" dirty="0"/>
              <a:t> </a:t>
            </a:r>
            <a:r>
              <a:rPr spc="-10" dirty="0"/>
              <a:t>Plots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42</a:t>
            </a:fld>
            <a:endParaRPr spc="-25" dirty="0"/>
          </a:p>
        </p:txBody>
      </p:sp>
      <p:sp>
        <p:nvSpPr>
          <p:cNvPr id="3" name="object 3"/>
          <p:cNvSpPr txBox="1"/>
          <p:nvPr/>
        </p:nvSpPr>
        <p:spPr>
          <a:xfrm>
            <a:off x="1084580" y="1070508"/>
            <a:ext cx="8800465" cy="4694555"/>
          </a:xfrm>
          <a:prstGeom prst="rect">
            <a:avLst/>
          </a:prstGeom>
        </p:spPr>
        <p:txBody>
          <a:bodyPr vert="horz" wrap="square" lIns="0" tIns="105410" rIns="0" bIns="0" rtlCol="0">
            <a:spAutoFit/>
          </a:bodyPr>
          <a:lstStyle/>
          <a:p>
            <a:pPr marL="12700">
              <a:lnSpc>
                <a:spcPct val="100000"/>
              </a:lnSpc>
              <a:spcBef>
                <a:spcPts val="830"/>
              </a:spcBef>
            </a:pPr>
            <a:r>
              <a:rPr sz="2800" b="1" spc="-10" dirty="0">
                <a:solidFill>
                  <a:srgbClr val="404040"/>
                </a:solidFill>
                <a:latin typeface="Cambria"/>
                <a:cs typeface="Cambria"/>
              </a:rPr>
              <a:t>Themes</a:t>
            </a:r>
            <a:endParaRPr sz="2800" dirty="0">
              <a:latin typeface="Cambria"/>
              <a:cs typeface="Cambria"/>
            </a:endParaRPr>
          </a:p>
          <a:p>
            <a:pPr marL="299720" indent="-287020">
              <a:lnSpc>
                <a:spcPct val="100000"/>
              </a:lnSpc>
              <a:spcBef>
                <a:spcPts val="735"/>
              </a:spcBef>
              <a:buClr>
                <a:srgbClr val="1CACE3"/>
              </a:buClr>
              <a:buFont typeface="Arial MT"/>
              <a:buChar char="•"/>
              <a:tabLst>
                <a:tab pos="299720" algn="l"/>
              </a:tabLst>
            </a:pPr>
            <a:r>
              <a:rPr sz="2800" spc="-25" dirty="0">
                <a:solidFill>
                  <a:srgbClr val="404040"/>
                </a:solidFill>
                <a:latin typeface="Cambria"/>
                <a:cs typeface="Cambria"/>
              </a:rPr>
              <a:t>Available</a:t>
            </a:r>
            <a:r>
              <a:rPr sz="2800" spc="-85" dirty="0">
                <a:solidFill>
                  <a:srgbClr val="404040"/>
                </a:solidFill>
                <a:latin typeface="Cambria"/>
                <a:cs typeface="Cambria"/>
              </a:rPr>
              <a:t> </a:t>
            </a:r>
            <a:r>
              <a:rPr sz="2800" dirty="0">
                <a:solidFill>
                  <a:srgbClr val="404040"/>
                </a:solidFill>
                <a:latin typeface="Cambria"/>
                <a:cs typeface="Cambria"/>
              </a:rPr>
              <a:t>themes:</a:t>
            </a:r>
            <a:r>
              <a:rPr sz="2800" spc="-95" dirty="0">
                <a:solidFill>
                  <a:srgbClr val="404040"/>
                </a:solidFill>
                <a:latin typeface="Cambria"/>
                <a:cs typeface="Cambria"/>
              </a:rPr>
              <a:t> </a:t>
            </a:r>
            <a:r>
              <a:rPr sz="2800" dirty="0">
                <a:solidFill>
                  <a:srgbClr val="404040"/>
                </a:solidFill>
                <a:latin typeface="Cambria"/>
                <a:cs typeface="Cambria"/>
              </a:rPr>
              <a:t>darkgrid,</a:t>
            </a:r>
            <a:r>
              <a:rPr sz="2800" spc="-70" dirty="0">
                <a:solidFill>
                  <a:srgbClr val="404040"/>
                </a:solidFill>
                <a:latin typeface="Cambria"/>
                <a:cs typeface="Cambria"/>
              </a:rPr>
              <a:t> </a:t>
            </a:r>
            <a:r>
              <a:rPr sz="2800" spc="-10" dirty="0">
                <a:solidFill>
                  <a:srgbClr val="404040"/>
                </a:solidFill>
                <a:latin typeface="Cambria"/>
                <a:cs typeface="Cambria"/>
              </a:rPr>
              <a:t>whitegrid,</a:t>
            </a:r>
            <a:r>
              <a:rPr sz="2800" spc="-80" dirty="0">
                <a:solidFill>
                  <a:srgbClr val="404040"/>
                </a:solidFill>
                <a:latin typeface="Cambria"/>
                <a:cs typeface="Cambria"/>
              </a:rPr>
              <a:t> </a:t>
            </a:r>
            <a:r>
              <a:rPr sz="2800" dirty="0">
                <a:solidFill>
                  <a:srgbClr val="404040"/>
                </a:solidFill>
                <a:latin typeface="Cambria"/>
                <a:cs typeface="Cambria"/>
              </a:rPr>
              <a:t>dark,</a:t>
            </a:r>
            <a:r>
              <a:rPr sz="2800" spc="-90" dirty="0">
                <a:solidFill>
                  <a:srgbClr val="404040"/>
                </a:solidFill>
                <a:latin typeface="Cambria"/>
                <a:cs typeface="Cambria"/>
              </a:rPr>
              <a:t> </a:t>
            </a:r>
            <a:r>
              <a:rPr sz="2800" dirty="0">
                <a:solidFill>
                  <a:srgbClr val="404040"/>
                </a:solidFill>
                <a:latin typeface="Cambria"/>
                <a:cs typeface="Cambria"/>
              </a:rPr>
              <a:t>white,</a:t>
            </a:r>
            <a:r>
              <a:rPr sz="2800" spc="-95" dirty="0">
                <a:solidFill>
                  <a:srgbClr val="404040"/>
                </a:solidFill>
                <a:latin typeface="Cambria"/>
                <a:cs typeface="Cambria"/>
              </a:rPr>
              <a:t> </a:t>
            </a:r>
            <a:r>
              <a:rPr sz="2800" spc="-10" dirty="0">
                <a:solidFill>
                  <a:srgbClr val="404040"/>
                </a:solidFill>
                <a:latin typeface="Cambria"/>
                <a:cs typeface="Cambria"/>
              </a:rPr>
              <a:t>ticks.</a:t>
            </a:r>
            <a:endParaRPr sz="2800" dirty="0">
              <a:latin typeface="Cambria"/>
              <a:cs typeface="Cambria"/>
            </a:endParaRPr>
          </a:p>
          <a:p>
            <a:pPr marL="299085" indent="-286385">
              <a:lnSpc>
                <a:spcPct val="100000"/>
              </a:lnSpc>
              <a:spcBef>
                <a:spcPts val="680"/>
              </a:spcBef>
              <a:buClr>
                <a:srgbClr val="1CACE3"/>
              </a:buClr>
              <a:buFont typeface="Arial MT"/>
              <a:buChar char="•"/>
              <a:tabLst>
                <a:tab pos="299085" algn="l"/>
              </a:tabLst>
            </a:pPr>
            <a:r>
              <a:rPr sz="2800" spc="-10" dirty="0">
                <a:solidFill>
                  <a:srgbClr val="006FC1"/>
                </a:solidFill>
                <a:latin typeface="Calibri"/>
                <a:cs typeface="Calibri"/>
              </a:rPr>
              <a:t>sns</a:t>
            </a:r>
            <a:r>
              <a:rPr sz="2800" spc="-10" dirty="0">
                <a:solidFill>
                  <a:srgbClr val="383942"/>
                </a:solidFill>
                <a:latin typeface="Calibri"/>
                <a:cs typeface="Calibri"/>
              </a:rPr>
              <a:t>.</a:t>
            </a:r>
            <a:r>
              <a:rPr sz="2800" spc="-10" dirty="0">
                <a:solidFill>
                  <a:srgbClr val="795E25"/>
                </a:solidFill>
                <a:latin typeface="Calibri"/>
                <a:cs typeface="Calibri"/>
              </a:rPr>
              <a:t>set_theme</a:t>
            </a:r>
            <a:r>
              <a:rPr sz="2800" spc="-10" dirty="0">
                <a:solidFill>
                  <a:srgbClr val="383942"/>
                </a:solidFill>
                <a:latin typeface="Calibri"/>
                <a:cs typeface="Calibri"/>
              </a:rPr>
              <a:t>(</a:t>
            </a:r>
            <a:r>
              <a:rPr sz="2800" spc="-10" dirty="0">
                <a:solidFill>
                  <a:srgbClr val="006FC1"/>
                </a:solidFill>
                <a:latin typeface="Calibri"/>
                <a:cs typeface="Calibri"/>
              </a:rPr>
              <a:t>style</a:t>
            </a:r>
            <a:r>
              <a:rPr sz="2800" spc="-10" dirty="0">
                <a:solidFill>
                  <a:srgbClr val="383942"/>
                </a:solidFill>
                <a:latin typeface="Calibri"/>
                <a:cs typeface="Calibri"/>
              </a:rPr>
              <a:t>=</a:t>
            </a:r>
            <a:r>
              <a:rPr sz="2800" spc="-10" dirty="0">
                <a:solidFill>
                  <a:srgbClr val="A21515"/>
                </a:solidFill>
                <a:latin typeface="Calibri"/>
                <a:cs typeface="Calibri"/>
              </a:rPr>
              <a:t>"whitegrid"</a:t>
            </a:r>
            <a:r>
              <a:rPr sz="2800" spc="-10" dirty="0">
                <a:solidFill>
                  <a:srgbClr val="383942"/>
                </a:solidFill>
                <a:latin typeface="Calibri"/>
                <a:cs typeface="Calibri"/>
              </a:rPr>
              <a:t>)</a:t>
            </a:r>
            <a:endParaRPr sz="2800" dirty="0">
              <a:latin typeface="Calibri"/>
              <a:cs typeface="Calibri"/>
            </a:endParaRPr>
          </a:p>
          <a:p>
            <a:pPr marL="12700">
              <a:lnSpc>
                <a:spcPct val="100000"/>
              </a:lnSpc>
              <a:spcBef>
                <a:spcPts val="775"/>
              </a:spcBef>
            </a:pPr>
            <a:r>
              <a:rPr sz="2800" b="1" dirty="0">
                <a:solidFill>
                  <a:srgbClr val="404040"/>
                </a:solidFill>
                <a:latin typeface="Cambria"/>
                <a:cs typeface="Cambria"/>
              </a:rPr>
              <a:t>Adding</a:t>
            </a:r>
            <a:r>
              <a:rPr sz="2800" b="1" spc="-75" dirty="0">
                <a:solidFill>
                  <a:srgbClr val="404040"/>
                </a:solidFill>
                <a:latin typeface="Cambria"/>
                <a:cs typeface="Cambria"/>
              </a:rPr>
              <a:t> </a:t>
            </a:r>
            <a:r>
              <a:rPr sz="2800" b="1" dirty="0">
                <a:solidFill>
                  <a:srgbClr val="404040"/>
                </a:solidFill>
                <a:latin typeface="Cambria"/>
                <a:cs typeface="Cambria"/>
              </a:rPr>
              <a:t>Titles</a:t>
            </a:r>
            <a:r>
              <a:rPr sz="2800" b="1" spc="-80" dirty="0">
                <a:solidFill>
                  <a:srgbClr val="404040"/>
                </a:solidFill>
                <a:latin typeface="Cambria"/>
                <a:cs typeface="Cambria"/>
              </a:rPr>
              <a:t> </a:t>
            </a:r>
            <a:r>
              <a:rPr sz="2800" b="1" dirty="0">
                <a:solidFill>
                  <a:srgbClr val="404040"/>
                </a:solidFill>
                <a:latin typeface="Cambria"/>
                <a:cs typeface="Cambria"/>
              </a:rPr>
              <a:t>and</a:t>
            </a:r>
            <a:r>
              <a:rPr sz="2800" b="1" spc="-80" dirty="0">
                <a:solidFill>
                  <a:srgbClr val="404040"/>
                </a:solidFill>
                <a:latin typeface="Cambria"/>
                <a:cs typeface="Cambria"/>
              </a:rPr>
              <a:t> </a:t>
            </a:r>
            <a:r>
              <a:rPr sz="2800" b="1" spc="-10" dirty="0">
                <a:solidFill>
                  <a:srgbClr val="404040"/>
                </a:solidFill>
                <a:latin typeface="Cambria"/>
                <a:cs typeface="Cambria"/>
              </a:rPr>
              <a:t>Labels</a:t>
            </a:r>
            <a:endParaRPr sz="2800" dirty="0">
              <a:latin typeface="Cambria"/>
              <a:cs typeface="Cambria"/>
            </a:endParaRPr>
          </a:p>
          <a:p>
            <a:pPr marL="299720" indent="-287020">
              <a:lnSpc>
                <a:spcPct val="100000"/>
              </a:lnSpc>
              <a:spcBef>
                <a:spcPts val="695"/>
              </a:spcBef>
              <a:buClr>
                <a:srgbClr val="1CACE3"/>
              </a:buClr>
              <a:buFont typeface="Arial MT"/>
              <a:buChar char="•"/>
              <a:tabLst>
                <a:tab pos="299720" algn="l"/>
              </a:tabLst>
            </a:pPr>
            <a:r>
              <a:rPr sz="2800" dirty="0">
                <a:solidFill>
                  <a:srgbClr val="006FC1"/>
                </a:solidFill>
                <a:latin typeface="Calibri"/>
                <a:cs typeface="Calibri"/>
              </a:rPr>
              <a:t>plt</a:t>
            </a:r>
            <a:r>
              <a:rPr sz="2800" dirty="0">
                <a:solidFill>
                  <a:srgbClr val="383942"/>
                </a:solidFill>
                <a:latin typeface="Calibri"/>
                <a:cs typeface="Calibri"/>
              </a:rPr>
              <a:t>.</a:t>
            </a:r>
            <a:r>
              <a:rPr sz="2800" dirty="0">
                <a:solidFill>
                  <a:srgbClr val="795E25"/>
                </a:solidFill>
                <a:latin typeface="Calibri"/>
                <a:cs typeface="Calibri"/>
              </a:rPr>
              <a:t>title</a:t>
            </a:r>
            <a:r>
              <a:rPr sz="2800" dirty="0">
                <a:solidFill>
                  <a:srgbClr val="383942"/>
                </a:solidFill>
                <a:latin typeface="Calibri"/>
                <a:cs typeface="Calibri"/>
              </a:rPr>
              <a:t>(</a:t>
            </a:r>
            <a:r>
              <a:rPr sz="2800" dirty="0">
                <a:solidFill>
                  <a:srgbClr val="A21515"/>
                </a:solidFill>
                <a:latin typeface="Calibri"/>
                <a:cs typeface="Calibri"/>
              </a:rPr>
              <a:t>"Title</a:t>
            </a:r>
            <a:r>
              <a:rPr sz="2800" spc="-130" dirty="0">
                <a:solidFill>
                  <a:srgbClr val="A21515"/>
                </a:solidFill>
                <a:latin typeface="Calibri"/>
                <a:cs typeface="Calibri"/>
              </a:rPr>
              <a:t> </a:t>
            </a:r>
            <a:r>
              <a:rPr sz="2800" spc="-10" dirty="0">
                <a:solidFill>
                  <a:srgbClr val="A21515"/>
                </a:solidFill>
                <a:latin typeface="Calibri"/>
                <a:cs typeface="Calibri"/>
              </a:rPr>
              <a:t>Here"</a:t>
            </a:r>
            <a:r>
              <a:rPr sz="2800" spc="-10" dirty="0">
                <a:solidFill>
                  <a:srgbClr val="383942"/>
                </a:solidFill>
                <a:latin typeface="Calibri"/>
                <a:cs typeface="Calibri"/>
              </a:rPr>
              <a:t>)</a:t>
            </a:r>
            <a:endParaRPr sz="2800" dirty="0">
              <a:latin typeface="Calibri"/>
              <a:cs typeface="Calibri"/>
            </a:endParaRPr>
          </a:p>
          <a:p>
            <a:pPr marL="299085" indent="-286385">
              <a:lnSpc>
                <a:spcPct val="100000"/>
              </a:lnSpc>
              <a:spcBef>
                <a:spcPts val="720"/>
              </a:spcBef>
              <a:buClr>
                <a:srgbClr val="1CACE3"/>
              </a:buClr>
              <a:buFont typeface="Arial MT"/>
              <a:buChar char="•"/>
              <a:tabLst>
                <a:tab pos="299085" algn="l"/>
              </a:tabLst>
            </a:pPr>
            <a:r>
              <a:rPr sz="2800" spc="-10" dirty="0">
                <a:solidFill>
                  <a:srgbClr val="006FC1"/>
                </a:solidFill>
                <a:latin typeface="Calibri"/>
                <a:cs typeface="Calibri"/>
              </a:rPr>
              <a:t>plt</a:t>
            </a:r>
            <a:r>
              <a:rPr sz="2800" spc="-10" dirty="0">
                <a:solidFill>
                  <a:srgbClr val="383942"/>
                </a:solidFill>
                <a:latin typeface="Calibri"/>
                <a:cs typeface="Calibri"/>
              </a:rPr>
              <a:t>.</a:t>
            </a:r>
            <a:r>
              <a:rPr sz="2800" spc="-10" dirty="0">
                <a:solidFill>
                  <a:srgbClr val="795E25"/>
                </a:solidFill>
                <a:latin typeface="Calibri"/>
                <a:cs typeface="Calibri"/>
              </a:rPr>
              <a:t>xlabel</a:t>
            </a:r>
            <a:r>
              <a:rPr sz="2800" spc="-10" dirty="0">
                <a:solidFill>
                  <a:srgbClr val="383942"/>
                </a:solidFill>
                <a:latin typeface="Calibri"/>
                <a:cs typeface="Calibri"/>
              </a:rPr>
              <a:t>(</a:t>
            </a:r>
            <a:r>
              <a:rPr sz="2800" spc="-10" dirty="0">
                <a:solidFill>
                  <a:srgbClr val="A21515"/>
                </a:solidFill>
                <a:latin typeface="Calibri"/>
                <a:cs typeface="Calibri"/>
              </a:rPr>
              <a:t>"X-</a:t>
            </a:r>
            <a:r>
              <a:rPr sz="2800" dirty="0">
                <a:solidFill>
                  <a:srgbClr val="A21515"/>
                </a:solidFill>
                <a:latin typeface="Calibri"/>
                <a:cs typeface="Calibri"/>
              </a:rPr>
              <a:t>axis</a:t>
            </a:r>
            <a:r>
              <a:rPr sz="2800" spc="-20" dirty="0">
                <a:solidFill>
                  <a:srgbClr val="A21515"/>
                </a:solidFill>
                <a:latin typeface="Calibri"/>
                <a:cs typeface="Calibri"/>
              </a:rPr>
              <a:t> </a:t>
            </a:r>
            <a:r>
              <a:rPr sz="2800" spc="-10" dirty="0">
                <a:solidFill>
                  <a:srgbClr val="A21515"/>
                </a:solidFill>
                <a:latin typeface="Calibri"/>
                <a:cs typeface="Calibri"/>
              </a:rPr>
              <a:t>Label"</a:t>
            </a:r>
            <a:r>
              <a:rPr sz="2800" spc="-10" dirty="0">
                <a:solidFill>
                  <a:srgbClr val="383942"/>
                </a:solidFill>
                <a:latin typeface="Calibri"/>
                <a:cs typeface="Calibri"/>
              </a:rPr>
              <a:t>)</a:t>
            </a:r>
            <a:endParaRPr sz="2800" dirty="0">
              <a:latin typeface="Calibri"/>
              <a:cs typeface="Calibri"/>
            </a:endParaRPr>
          </a:p>
          <a:p>
            <a:pPr marL="299720" indent="-287020">
              <a:lnSpc>
                <a:spcPct val="100000"/>
              </a:lnSpc>
              <a:spcBef>
                <a:spcPts val="735"/>
              </a:spcBef>
              <a:buClr>
                <a:srgbClr val="1CACE3"/>
              </a:buClr>
              <a:buFont typeface="Arial MT"/>
              <a:buChar char="•"/>
              <a:tabLst>
                <a:tab pos="299720" algn="l"/>
              </a:tabLst>
            </a:pPr>
            <a:r>
              <a:rPr sz="2800" spc="-25" dirty="0">
                <a:solidFill>
                  <a:srgbClr val="006FC1"/>
                </a:solidFill>
                <a:latin typeface="Calibri"/>
                <a:cs typeface="Calibri"/>
              </a:rPr>
              <a:t>plt</a:t>
            </a:r>
            <a:r>
              <a:rPr sz="2800" spc="-25" dirty="0">
                <a:solidFill>
                  <a:srgbClr val="383942"/>
                </a:solidFill>
                <a:latin typeface="Calibri"/>
                <a:cs typeface="Calibri"/>
              </a:rPr>
              <a:t>.</a:t>
            </a:r>
            <a:r>
              <a:rPr sz="2800" spc="-25" dirty="0">
                <a:solidFill>
                  <a:srgbClr val="795E25"/>
                </a:solidFill>
                <a:latin typeface="Calibri"/>
                <a:cs typeface="Calibri"/>
              </a:rPr>
              <a:t>ylabel</a:t>
            </a:r>
            <a:r>
              <a:rPr sz="2800" spc="-25" dirty="0">
                <a:solidFill>
                  <a:srgbClr val="383942"/>
                </a:solidFill>
                <a:latin typeface="Calibri"/>
                <a:cs typeface="Calibri"/>
              </a:rPr>
              <a:t>(</a:t>
            </a:r>
            <a:r>
              <a:rPr sz="2800" spc="-25" dirty="0">
                <a:solidFill>
                  <a:srgbClr val="A21515"/>
                </a:solidFill>
                <a:latin typeface="Calibri"/>
                <a:cs typeface="Calibri"/>
              </a:rPr>
              <a:t>"Y-</a:t>
            </a:r>
            <a:r>
              <a:rPr sz="2800" dirty="0">
                <a:solidFill>
                  <a:srgbClr val="A21515"/>
                </a:solidFill>
                <a:latin typeface="Calibri"/>
                <a:cs typeface="Calibri"/>
              </a:rPr>
              <a:t>axis</a:t>
            </a:r>
            <a:r>
              <a:rPr sz="2800" spc="75" dirty="0">
                <a:solidFill>
                  <a:srgbClr val="A21515"/>
                </a:solidFill>
                <a:latin typeface="Calibri"/>
                <a:cs typeface="Calibri"/>
              </a:rPr>
              <a:t> </a:t>
            </a:r>
            <a:r>
              <a:rPr sz="2800" spc="-10" dirty="0">
                <a:solidFill>
                  <a:srgbClr val="A21515"/>
                </a:solidFill>
                <a:latin typeface="Calibri"/>
                <a:cs typeface="Calibri"/>
              </a:rPr>
              <a:t>Label"</a:t>
            </a:r>
            <a:r>
              <a:rPr sz="2800" spc="-10" dirty="0">
                <a:solidFill>
                  <a:srgbClr val="383942"/>
                </a:solidFill>
                <a:latin typeface="Calibri"/>
                <a:cs typeface="Calibri"/>
              </a:rPr>
              <a:t>)</a:t>
            </a:r>
            <a:endParaRPr sz="2800" dirty="0">
              <a:latin typeface="Calibri"/>
              <a:cs typeface="Calibri"/>
            </a:endParaRPr>
          </a:p>
          <a:p>
            <a:pPr marL="12700">
              <a:lnSpc>
                <a:spcPct val="100000"/>
              </a:lnSpc>
              <a:spcBef>
                <a:spcPts val="765"/>
              </a:spcBef>
            </a:pPr>
            <a:r>
              <a:rPr sz="2800" b="1" dirty="0">
                <a:solidFill>
                  <a:srgbClr val="404040"/>
                </a:solidFill>
                <a:latin typeface="Cambria"/>
                <a:cs typeface="Cambria"/>
              </a:rPr>
              <a:t>Adjusting</a:t>
            </a:r>
            <a:r>
              <a:rPr sz="2800" b="1" spc="-95" dirty="0">
                <a:solidFill>
                  <a:srgbClr val="404040"/>
                </a:solidFill>
                <a:latin typeface="Cambria"/>
                <a:cs typeface="Cambria"/>
              </a:rPr>
              <a:t> </a:t>
            </a:r>
            <a:r>
              <a:rPr sz="2800" b="1" dirty="0">
                <a:solidFill>
                  <a:srgbClr val="404040"/>
                </a:solidFill>
                <a:latin typeface="Cambria"/>
                <a:cs typeface="Cambria"/>
              </a:rPr>
              <a:t>Color</a:t>
            </a:r>
            <a:r>
              <a:rPr sz="2800" b="1" spc="-95" dirty="0">
                <a:solidFill>
                  <a:srgbClr val="404040"/>
                </a:solidFill>
                <a:latin typeface="Cambria"/>
                <a:cs typeface="Cambria"/>
              </a:rPr>
              <a:t> </a:t>
            </a:r>
            <a:r>
              <a:rPr sz="2800" b="1" spc="-10" dirty="0">
                <a:solidFill>
                  <a:srgbClr val="404040"/>
                </a:solidFill>
                <a:latin typeface="Cambria"/>
                <a:cs typeface="Cambria"/>
              </a:rPr>
              <a:t>Palettes</a:t>
            </a:r>
            <a:endParaRPr sz="2800" dirty="0">
              <a:latin typeface="Cambria"/>
              <a:cs typeface="Cambria"/>
            </a:endParaRPr>
          </a:p>
          <a:p>
            <a:pPr marL="299085" indent="-286385">
              <a:lnSpc>
                <a:spcPct val="100000"/>
              </a:lnSpc>
              <a:spcBef>
                <a:spcPts val="685"/>
              </a:spcBef>
              <a:buClr>
                <a:srgbClr val="1CACE3"/>
              </a:buClr>
              <a:buFont typeface="Arial MT"/>
              <a:buChar char="•"/>
              <a:tabLst>
                <a:tab pos="299085" algn="l"/>
              </a:tabLst>
            </a:pPr>
            <a:r>
              <a:rPr sz="2800" spc="-10" dirty="0">
                <a:solidFill>
                  <a:srgbClr val="006FC1"/>
                </a:solidFill>
                <a:latin typeface="Calibri"/>
                <a:cs typeface="Calibri"/>
              </a:rPr>
              <a:t>sns</a:t>
            </a:r>
            <a:r>
              <a:rPr sz="2800" spc="-10" dirty="0">
                <a:solidFill>
                  <a:srgbClr val="383942"/>
                </a:solidFill>
                <a:latin typeface="Calibri"/>
                <a:cs typeface="Calibri"/>
              </a:rPr>
              <a:t>.</a:t>
            </a:r>
            <a:r>
              <a:rPr sz="2800" spc="-10" dirty="0">
                <a:solidFill>
                  <a:srgbClr val="795E25"/>
                </a:solidFill>
                <a:latin typeface="Calibri"/>
                <a:cs typeface="Calibri"/>
              </a:rPr>
              <a:t>set_palette</a:t>
            </a:r>
            <a:r>
              <a:rPr sz="2800" spc="-10" dirty="0">
                <a:solidFill>
                  <a:srgbClr val="383942"/>
                </a:solidFill>
                <a:latin typeface="Calibri"/>
                <a:cs typeface="Calibri"/>
              </a:rPr>
              <a:t>(</a:t>
            </a:r>
            <a:r>
              <a:rPr sz="2800" spc="-10" dirty="0">
                <a:solidFill>
                  <a:srgbClr val="A21515"/>
                </a:solidFill>
                <a:latin typeface="Calibri"/>
                <a:cs typeface="Calibri"/>
              </a:rPr>
              <a:t>"pastel"</a:t>
            </a:r>
            <a:r>
              <a:rPr sz="2800" spc="-10" dirty="0">
                <a:solidFill>
                  <a:srgbClr val="383942"/>
                </a:solidFill>
                <a:latin typeface="Calibri"/>
                <a:cs typeface="Calibri"/>
              </a:rPr>
              <a:t>)</a:t>
            </a:r>
            <a:endParaRPr sz="2800" dirty="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5" dirty="0"/>
              <a:t>Advanced</a:t>
            </a:r>
            <a:r>
              <a:rPr spc="-120" dirty="0"/>
              <a:t> </a:t>
            </a:r>
            <a:r>
              <a:rPr spc="-65" dirty="0"/>
              <a:t>Features</a:t>
            </a:r>
          </a:p>
        </p:txBody>
      </p:sp>
      <p:sp>
        <p:nvSpPr>
          <p:cNvPr id="3" name="object 3"/>
          <p:cNvSpPr txBox="1"/>
          <p:nvPr/>
        </p:nvSpPr>
        <p:spPr>
          <a:xfrm>
            <a:off x="1084580" y="1080261"/>
            <a:ext cx="7534275" cy="5097678"/>
          </a:xfrm>
          <a:prstGeom prst="rect">
            <a:avLst/>
          </a:prstGeom>
        </p:spPr>
        <p:txBody>
          <a:bodyPr vert="horz" wrap="square" lIns="0" tIns="107315" rIns="0" bIns="0" rtlCol="0">
            <a:spAutoFit/>
          </a:bodyPr>
          <a:lstStyle/>
          <a:p>
            <a:pPr marL="300355" indent="-287655">
              <a:lnSpc>
                <a:spcPct val="100000"/>
              </a:lnSpc>
              <a:spcBef>
                <a:spcPts val="845"/>
              </a:spcBef>
              <a:buClr>
                <a:srgbClr val="1CACE3"/>
              </a:buClr>
              <a:buFont typeface="Arial MT"/>
              <a:buChar char="•"/>
              <a:tabLst>
                <a:tab pos="300355" algn="l"/>
              </a:tabLst>
            </a:pPr>
            <a:r>
              <a:rPr sz="1800" b="1" spc="-10" dirty="0">
                <a:solidFill>
                  <a:srgbClr val="404040"/>
                </a:solidFill>
                <a:latin typeface="Cambria"/>
                <a:cs typeface="Cambria"/>
              </a:rPr>
              <a:t>FacetGrid</a:t>
            </a:r>
            <a:endParaRPr sz="1800" dirty="0">
              <a:latin typeface="Cambria"/>
              <a:cs typeface="Cambria"/>
            </a:endParaRPr>
          </a:p>
          <a:p>
            <a:pPr marL="300355" indent="-287655">
              <a:lnSpc>
                <a:spcPct val="100000"/>
              </a:lnSpc>
              <a:spcBef>
                <a:spcPts val="740"/>
              </a:spcBef>
              <a:buClr>
                <a:srgbClr val="1CACE3"/>
              </a:buClr>
              <a:buFont typeface="Arial MT"/>
              <a:buChar char="•"/>
              <a:tabLst>
                <a:tab pos="300355" algn="l"/>
              </a:tabLst>
            </a:pPr>
            <a:r>
              <a:rPr sz="1800" dirty="0">
                <a:solidFill>
                  <a:srgbClr val="404040"/>
                </a:solidFill>
                <a:latin typeface="Cambria"/>
                <a:cs typeface="Cambria"/>
              </a:rPr>
              <a:t>Allows</a:t>
            </a:r>
            <a:r>
              <a:rPr sz="1800" spc="-25" dirty="0">
                <a:solidFill>
                  <a:srgbClr val="404040"/>
                </a:solidFill>
                <a:latin typeface="Cambria"/>
                <a:cs typeface="Cambria"/>
              </a:rPr>
              <a:t> </a:t>
            </a:r>
            <a:r>
              <a:rPr sz="1800" dirty="0">
                <a:solidFill>
                  <a:srgbClr val="404040"/>
                </a:solidFill>
                <a:latin typeface="Cambria"/>
                <a:cs typeface="Cambria"/>
              </a:rPr>
              <a:t>creation</a:t>
            </a:r>
            <a:r>
              <a:rPr sz="1800" spc="-55" dirty="0">
                <a:solidFill>
                  <a:srgbClr val="404040"/>
                </a:solidFill>
                <a:latin typeface="Cambria"/>
                <a:cs typeface="Cambria"/>
              </a:rPr>
              <a:t> </a:t>
            </a:r>
            <a:r>
              <a:rPr sz="1800" dirty="0">
                <a:solidFill>
                  <a:srgbClr val="404040"/>
                </a:solidFill>
                <a:latin typeface="Cambria"/>
                <a:cs typeface="Cambria"/>
              </a:rPr>
              <a:t>of</a:t>
            </a:r>
            <a:r>
              <a:rPr sz="1800" spc="-30" dirty="0">
                <a:solidFill>
                  <a:srgbClr val="404040"/>
                </a:solidFill>
                <a:latin typeface="Cambria"/>
                <a:cs typeface="Cambria"/>
              </a:rPr>
              <a:t> </a:t>
            </a:r>
            <a:r>
              <a:rPr sz="1800" dirty="0">
                <a:solidFill>
                  <a:srgbClr val="404040"/>
                </a:solidFill>
                <a:latin typeface="Cambria"/>
                <a:cs typeface="Cambria"/>
              </a:rPr>
              <a:t>multiple</a:t>
            </a:r>
            <a:r>
              <a:rPr sz="1800" spc="-30" dirty="0">
                <a:solidFill>
                  <a:srgbClr val="404040"/>
                </a:solidFill>
                <a:latin typeface="Cambria"/>
                <a:cs typeface="Cambria"/>
              </a:rPr>
              <a:t> </a:t>
            </a:r>
            <a:r>
              <a:rPr sz="1800" dirty="0">
                <a:solidFill>
                  <a:srgbClr val="404040"/>
                </a:solidFill>
                <a:latin typeface="Cambria"/>
                <a:cs typeface="Cambria"/>
              </a:rPr>
              <a:t>plots</a:t>
            </a:r>
            <a:r>
              <a:rPr sz="1800" spc="-25" dirty="0">
                <a:solidFill>
                  <a:srgbClr val="404040"/>
                </a:solidFill>
                <a:latin typeface="Cambria"/>
                <a:cs typeface="Cambria"/>
              </a:rPr>
              <a:t> </a:t>
            </a:r>
            <a:r>
              <a:rPr sz="1800" dirty="0">
                <a:solidFill>
                  <a:srgbClr val="404040"/>
                </a:solidFill>
                <a:latin typeface="Cambria"/>
                <a:cs typeface="Cambria"/>
              </a:rPr>
              <a:t>based</a:t>
            </a:r>
            <a:r>
              <a:rPr sz="1800" spc="-15" dirty="0">
                <a:solidFill>
                  <a:srgbClr val="404040"/>
                </a:solidFill>
                <a:latin typeface="Cambria"/>
                <a:cs typeface="Cambria"/>
              </a:rPr>
              <a:t> </a:t>
            </a:r>
            <a:r>
              <a:rPr sz="1800" dirty="0">
                <a:solidFill>
                  <a:srgbClr val="404040"/>
                </a:solidFill>
                <a:latin typeface="Cambria"/>
                <a:cs typeface="Cambria"/>
              </a:rPr>
              <a:t>on</a:t>
            </a:r>
            <a:r>
              <a:rPr sz="1800" spc="-40" dirty="0">
                <a:solidFill>
                  <a:srgbClr val="404040"/>
                </a:solidFill>
                <a:latin typeface="Cambria"/>
                <a:cs typeface="Cambria"/>
              </a:rPr>
              <a:t> </a:t>
            </a:r>
            <a:r>
              <a:rPr sz="1800" dirty="0">
                <a:solidFill>
                  <a:srgbClr val="404040"/>
                </a:solidFill>
                <a:latin typeface="Cambria"/>
                <a:cs typeface="Cambria"/>
              </a:rPr>
              <a:t>subsets</a:t>
            </a:r>
            <a:r>
              <a:rPr sz="1800" spc="-10" dirty="0">
                <a:solidFill>
                  <a:srgbClr val="404040"/>
                </a:solidFill>
                <a:latin typeface="Cambria"/>
                <a:cs typeface="Cambria"/>
              </a:rPr>
              <a:t> </a:t>
            </a:r>
            <a:r>
              <a:rPr sz="1800" dirty="0">
                <a:solidFill>
                  <a:srgbClr val="404040"/>
                </a:solidFill>
                <a:latin typeface="Cambria"/>
                <a:cs typeface="Cambria"/>
              </a:rPr>
              <a:t>of</a:t>
            </a:r>
            <a:r>
              <a:rPr sz="1800" spc="-25" dirty="0">
                <a:solidFill>
                  <a:srgbClr val="404040"/>
                </a:solidFill>
                <a:latin typeface="Cambria"/>
                <a:cs typeface="Cambria"/>
              </a:rPr>
              <a:t> </a:t>
            </a:r>
            <a:r>
              <a:rPr sz="1800" spc="-10" dirty="0">
                <a:solidFill>
                  <a:srgbClr val="404040"/>
                </a:solidFill>
                <a:latin typeface="Cambria"/>
                <a:cs typeface="Cambria"/>
              </a:rPr>
              <a:t>data.</a:t>
            </a:r>
            <a:endParaRPr sz="1800" dirty="0">
              <a:latin typeface="Cambria"/>
              <a:cs typeface="Cambria"/>
            </a:endParaRPr>
          </a:p>
          <a:p>
            <a:pPr marL="12700" marR="4644390">
              <a:lnSpc>
                <a:spcPct val="129400"/>
              </a:lnSpc>
            </a:pPr>
            <a:r>
              <a:rPr sz="1800" dirty="0">
                <a:solidFill>
                  <a:srgbClr val="AE00DB"/>
                </a:solidFill>
                <a:latin typeface="Courier New"/>
                <a:cs typeface="Courier New"/>
              </a:rPr>
              <a:t>import</a:t>
            </a:r>
            <a:r>
              <a:rPr sz="1800" spc="-50" dirty="0">
                <a:solidFill>
                  <a:srgbClr val="AE00DB"/>
                </a:solidFill>
                <a:latin typeface="Courier New"/>
                <a:cs typeface="Courier New"/>
              </a:rPr>
              <a:t> </a:t>
            </a:r>
            <a:r>
              <a:rPr sz="1800" dirty="0">
                <a:latin typeface="Courier New"/>
                <a:cs typeface="Courier New"/>
              </a:rPr>
              <a:t>seaborn</a:t>
            </a:r>
            <a:r>
              <a:rPr sz="1800" spc="-50" dirty="0">
                <a:latin typeface="Courier New"/>
                <a:cs typeface="Courier New"/>
              </a:rPr>
              <a:t> </a:t>
            </a:r>
            <a:r>
              <a:rPr sz="1800" dirty="0">
                <a:solidFill>
                  <a:srgbClr val="AE00DB"/>
                </a:solidFill>
                <a:latin typeface="Courier New"/>
                <a:cs typeface="Courier New"/>
              </a:rPr>
              <a:t>as</a:t>
            </a:r>
            <a:r>
              <a:rPr sz="1800" spc="-35" dirty="0">
                <a:solidFill>
                  <a:srgbClr val="AE00DB"/>
                </a:solidFill>
                <a:latin typeface="Courier New"/>
                <a:cs typeface="Courier New"/>
              </a:rPr>
              <a:t> </a:t>
            </a:r>
            <a:r>
              <a:rPr sz="1800" spc="-25" dirty="0">
                <a:latin typeface="Courier New"/>
                <a:cs typeface="Courier New"/>
              </a:rPr>
              <a:t>sns </a:t>
            </a:r>
            <a:r>
              <a:rPr sz="1800" dirty="0">
                <a:solidFill>
                  <a:srgbClr val="AE00DB"/>
                </a:solidFill>
                <a:latin typeface="Courier New"/>
                <a:cs typeface="Courier New"/>
              </a:rPr>
              <a:t>import</a:t>
            </a:r>
            <a:r>
              <a:rPr sz="1800" spc="-55" dirty="0">
                <a:solidFill>
                  <a:srgbClr val="AE00DB"/>
                </a:solidFill>
                <a:latin typeface="Courier New"/>
                <a:cs typeface="Courier New"/>
              </a:rPr>
              <a:t> </a:t>
            </a:r>
            <a:r>
              <a:rPr sz="1800" dirty="0">
                <a:latin typeface="Courier New"/>
                <a:cs typeface="Courier New"/>
              </a:rPr>
              <a:t>pandas</a:t>
            </a:r>
            <a:r>
              <a:rPr sz="1800" spc="-45" dirty="0">
                <a:latin typeface="Courier New"/>
                <a:cs typeface="Courier New"/>
              </a:rPr>
              <a:t> </a:t>
            </a:r>
            <a:r>
              <a:rPr sz="1800" dirty="0">
                <a:solidFill>
                  <a:srgbClr val="AE00DB"/>
                </a:solidFill>
                <a:latin typeface="Courier New"/>
                <a:cs typeface="Courier New"/>
              </a:rPr>
              <a:t>as</a:t>
            </a:r>
            <a:r>
              <a:rPr sz="1800" spc="-45" dirty="0">
                <a:solidFill>
                  <a:srgbClr val="AE00DB"/>
                </a:solidFill>
                <a:latin typeface="Courier New"/>
                <a:cs typeface="Courier New"/>
              </a:rPr>
              <a:t> </a:t>
            </a:r>
            <a:r>
              <a:rPr sz="1800" spc="-25" dirty="0">
                <a:latin typeface="Courier New"/>
                <a:cs typeface="Courier New"/>
              </a:rPr>
              <a:t>pd</a:t>
            </a:r>
            <a:endParaRPr sz="1800" dirty="0">
              <a:latin typeface="Courier New"/>
              <a:cs typeface="Courier New"/>
            </a:endParaRPr>
          </a:p>
          <a:p>
            <a:pPr>
              <a:lnSpc>
                <a:spcPct val="100000"/>
              </a:lnSpc>
              <a:spcBef>
                <a:spcPts val="5"/>
              </a:spcBef>
            </a:pPr>
            <a:endParaRPr sz="1800" dirty="0">
              <a:latin typeface="Courier New"/>
              <a:cs typeface="Courier New"/>
            </a:endParaRPr>
          </a:p>
          <a:p>
            <a:pPr marL="12700">
              <a:lnSpc>
                <a:spcPct val="100000"/>
              </a:lnSpc>
            </a:pPr>
            <a:r>
              <a:rPr sz="1800" dirty="0">
                <a:solidFill>
                  <a:srgbClr val="008000"/>
                </a:solidFill>
                <a:latin typeface="Courier New"/>
                <a:cs typeface="Courier New"/>
              </a:rPr>
              <a:t>#</a:t>
            </a:r>
            <a:r>
              <a:rPr sz="1800" spc="-25" dirty="0">
                <a:solidFill>
                  <a:srgbClr val="008000"/>
                </a:solidFill>
                <a:latin typeface="Courier New"/>
                <a:cs typeface="Courier New"/>
              </a:rPr>
              <a:t> </a:t>
            </a:r>
            <a:r>
              <a:rPr sz="1800" dirty="0">
                <a:solidFill>
                  <a:srgbClr val="008000"/>
                </a:solidFill>
                <a:latin typeface="Courier New"/>
                <a:cs typeface="Courier New"/>
              </a:rPr>
              <a:t>Sample</a:t>
            </a:r>
            <a:r>
              <a:rPr sz="1800" spc="-20" dirty="0">
                <a:solidFill>
                  <a:srgbClr val="008000"/>
                </a:solidFill>
                <a:latin typeface="Courier New"/>
                <a:cs typeface="Courier New"/>
              </a:rPr>
              <a:t> Data</a:t>
            </a:r>
            <a:endParaRPr sz="1800" dirty="0">
              <a:latin typeface="Courier New"/>
              <a:cs typeface="Courier New"/>
            </a:endParaRPr>
          </a:p>
          <a:p>
            <a:pPr marL="12700">
              <a:lnSpc>
                <a:spcPct val="100000"/>
              </a:lnSpc>
              <a:spcBef>
                <a:spcPts val="650"/>
              </a:spcBef>
            </a:pPr>
            <a:r>
              <a:rPr sz="1800" dirty="0">
                <a:latin typeface="Courier New"/>
                <a:cs typeface="Courier New"/>
              </a:rPr>
              <a:t>data</a:t>
            </a:r>
            <a:r>
              <a:rPr sz="1800" spc="-25" dirty="0">
                <a:latin typeface="Courier New"/>
                <a:cs typeface="Courier New"/>
              </a:rPr>
              <a:t> </a:t>
            </a:r>
            <a:r>
              <a:rPr sz="1800" dirty="0">
                <a:latin typeface="Courier New"/>
                <a:cs typeface="Courier New"/>
              </a:rPr>
              <a:t>=</a:t>
            </a:r>
            <a:r>
              <a:rPr sz="1800" spc="-15" dirty="0">
                <a:latin typeface="Courier New"/>
                <a:cs typeface="Courier New"/>
              </a:rPr>
              <a:t> </a:t>
            </a:r>
            <a:r>
              <a:rPr sz="1800" spc="-10" dirty="0">
                <a:latin typeface="Courier New"/>
                <a:cs typeface="Courier New"/>
              </a:rPr>
              <a:t>pd.DataFrame({</a:t>
            </a:r>
            <a:endParaRPr sz="1800" dirty="0">
              <a:latin typeface="Courier New"/>
              <a:cs typeface="Courier New"/>
            </a:endParaRPr>
          </a:p>
          <a:p>
            <a:pPr marL="559435" marR="2463165">
              <a:lnSpc>
                <a:spcPct val="129400"/>
              </a:lnSpc>
            </a:pPr>
            <a:r>
              <a:rPr sz="1800" dirty="0">
                <a:solidFill>
                  <a:srgbClr val="A21515"/>
                </a:solidFill>
                <a:latin typeface="Courier New"/>
                <a:cs typeface="Courier New"/>
              </a:rPr>
              <a:t>'Category'</a:t>
            </a:r>
            <a:r>
              <a:rPr sz="1800" dirty="0">
                <a:latin typeface="Courier New"/>
                <a:cs typeface="Courier New"/>
              </a:rPr>
              <a:t>:</a:t>
            </a:r>
            <a:r>
              <a:rPr sz="1800" spc="-60" dirty="0">
                <a:latin typeface="Courier New"/>
                <a:cs typeface="Courier New"/>
              </a:rPr>
              <a:t> </a:t>
            </a:r>
            <a:r>
              <a:rPr sz="1800" dirty="0">
                <a:latin typeface="Courier New"/>
                <a:cs typeface="Courier New"/>
              </a:rPr>
              <a:t>[</a:t>
            </a:r>
            <a:r>
              <a:rPr sz="1800" dirty="0">
                <a:solidFill>
                  <a:srgbClr val="A21515"/>
                </a:solidFill>
                <a:latin typeface="Courier New"/>
                <a:cs typeface="Courier New"/>
              </a:rPr>
              <a:t>'A'</a:t>
            </a:r>
            <a:r>
              <a:rPr sz="1800" dirty="0">
                <a:latin typeface="Courier New"/>
                <a:cs typeface="Courier New"/>
              </a:rPr>
              <a:t>,</a:t>
            </a:r>
            <a:r>
              <a:rPr sz="1800" spc="-65" dirty="0">
                <a:latin typeface="Courier New"/>
                <a:cs typeface="Courier New"/>
              </a:rPr>
              <a:t> </a:t>
            </a:r>
            <a:r>
              <a:rPr sz="1800" dirty="0">
                <a:solidFill>
                  <a:srgbClr val="A21515"/>
                </a:solidFill>
                <a:latin typeface="Courier New"/>
                <a:cs typeface="Courier New"/>
              </a:rPr>
              <a:t>'A'</a:t>
            </a:r>
            <a:r>
              <a:rPr sz="1800" dirty="0">
                <a:latin typeface="Courier New"/>
                <a:cs typeface="Courier New"/>
              </a:rPr>
              <a:t>,</a:t>
            </a:r>
            <a:r>
              <a:rPr sz="1800" spc="-55" dirty="0">
                <a:latin typeface="Courier New"/>
                <a:cs typeface="Courier New"/>
              </a:rPr>
              <a:t> </a:t>
            </a:r>
            <a:r>
              <a:rPr sz="1800" dirty="0">
                <a:solidFill>
                  <a:srgbClr val="A21515"/>
                </a:solidFill>
                <a:latin typeface="Courier New"/>
                <a:cs typeface="Courier New"/>
              </a:rPr>
              <a:t>'B'</a:t>
            </a:r>
            <a:r>
              <a:rPr sz="1800" dirty="0">
                <a:latin typeface="Courier New"/>
                <a:cs typeface="Courier New"/>
              </a:rPr>
              <a:t>,</a:t>
            </a:r>
            <a:r>
              <a:rPr sz="1800" spc="-55" dirty="0">
                <a:latin typeface="Courier New"/>
                <a:cs typeface="Courier New"/>
              </a:rPr>
              <a:t> </a:t>
            </a:r>
            <a:r>
              <a:rPr sz="1800" spc="-10" dirty="0">
                <a:solidFill>
                  <a:srgbClr val="A21515"/>
                </a:solidFill>
                <a:latin typeface="Courier New"/>
                <a:cs typeface="Courier New"/>
              </a:rPr>
              <a:t>'B'</a:t>
            </a:r>
            <a:r>
              <a:rPr sz="1800" spc="-10" dirty="0">
                <a:latin typeface="Courier New"/>
                <a:cs typeface="Courier New"/>
              </a:rPr>
              <a:t>], </a:t>
            </a:r>
            <a:r>
              <a:rPr sz="1800" dirty="0">
                <a:solidFill>
                  <a:srgbClr val="A21515"/>
                </a:solidFill>
                <a:latin typeface="Courier New"/>
                <a:cs typeface="Courier New"/>
              </a:rPr>
              <a:t>'Value'</a:t>
            </a:r>
            <a:r>
              <a:rPr sz="1800" dirty="0">
                <a:latin typeface="Courier New"/>
                <a:cs typeface="Courier New"/>
              </a:rPr>
              <a:t>:</a:t>
            </a:r>
            <a:r>
              <a:rPr sz="1800" spc="-45" dirty="0">
                <a:latin typeface="Courier New"/>
                <a:cs typeface="Courier New"/>
              </a:rPr>
              <a:t> </a:t>
            </a:r>
            <a:r>
              <a:rPr sz="1800" dirty="0">
                <a:latin typeface="Courier New"/>
                <a:cs typeface="Courier New"/>
              </a:rPr>
              <a:t>[</a:t>
            </a:r>
            <a:r>
              <a:rPr sz="1800" dirty="0">
                <a:solidFill>
                  <a:srgbClr val="116644"/>
                </a:solidFill>
                <a:latin typeface="Courier New"/>
                <a:cs typeface="Courier New"/>
              </a:rPr>
              <a:t>10</a:t>
            </a:r>
            <a:r>
              <a:rPr sz="1800" dirty="0">
                <a:latin typeface="Courier New"/>
                <a:cs typeface="Courier New"/>
              </a:rPr>
              <a:t>,</a:t>
            </a:r>
            <a:r>
              <a:rPr sz="1800" spc="-35" dirty="0">
                <a:latin typeface="Courier New"/>
                <a:cs typeface="Courier New"/>
              </a:rPr>
              <a:t> </a:t>
            </a:r>
            <a:r>
              <a:rPr sz="1800" dirty="0">
                <a:solidFill>
                  <a:srgbClr val="116644"/>
                </a:solidFill>
                <a:latin typeface="Courier New"/>
                <a:cs typeface="Courier New"/>
              </a:rPr>
              <a:t>20</a:t>
            </a:r>
            <a:r>
              <a:rPr sz="1800" dirty="0">
                <a:latin typeface="Courier New"/>
                <a:cs typeface="Courier New"/>
              </a:rPr>
              <a:t>,</a:t>
            </a:r>
            <a:r>
              <a:rPr sz="1800" spc="-60" dirty="0">
                <a:latin typeface="Courier New"/>
                <a:cs typeface="Courier New"/>
              </a:rPr>
              <a:t> </a:t>
            </a:r>
            <a:r>
              <a:rPr sz="1800" dirty="0">
                <a:solidFill>
                  <a:srgbClr val="116644"/>
                </a:solidFill>
                <a:latin typeface="Courier New"/>
                <a:cs typeface="Courier New"/>
              </a:rPr>
              <a:t>15</a:t>
            </a:r>
            <a:r>
              <a:rPr sz="1800" dirty="0">
                <a:latin typeface="Courier New"/>
                <a:cs typeface="Courier New"/>
              </a:rPr>
              <a:t>,</a:t>
            </a:r>
            <a:r>
              <a:rPr sz="1800" spc="-45" dirty="0">
                <a:latin typeface="Courier New"/>
                <a:cs typeface="Courier New"/>
              </a:rPr>
              <a:t> </a:t>
            </a:r>
            <a:r>
              <a:rPr sz="1800" spc="-20" dirty="0">
                <a:solidFill>
                  <a:srgbClr val="116644"/>
                </a:solidFill>
                <a:latin typeface="Courier New"/>
                <a:cs typeface="Courier New"/>
              </a:rPr>
              <a:t>25</a:t>
            </a:r>
            <a:r>
              <a:rPr sz="1800" spc="-20" dirty="0">
                <a:latin typeface="Courier New"/>
                <a:cs typeface="Courier New"/>
              </a:rPr>
              <a:t>],</a:t>
            </a:r>
            <a:endParaRPr sz="1800" dirty="0">
              <a:latin typeface="Courier New"/>
              <a:cs typeface="Courier New"/>
            </a:endParaRPr>
          </a:p>
          <a:p>
            <a:pPr marL="559435">
              <a:lnSpc>
                <a:spcPct val="100000"/>
              </a:lnSpc>
              <a:spcBef>
                <a:spcPts val="650"/>
              </a:spcBef>
            </a:pPr>
            <a:r>
              <a:rPr sz="1800" dirty="0">
                <a:solidFill>
                  <a:srgbClr val="A21515"/>
                </a:solidFill>
                <a:latin typeface="Courier New"/>
                <a:cs typeface="Courier New"/>
              </a:rPr>
              <a:t>'Type'</a:t>
            </a:r>
            <a:r>
              <a:rPr sz="1800" dirty="0">
                <a:latin typeface="Courier New"/>
                <a:cs typeface="Courier New"/>
              </a:rPr>
              <a:t>:</a:t>
            </a:r>
            <a:r>
              <a:rPr sz="1800" spc="-55" dirty="0">
                <a:latin typeface="Courier New"/>
                <a:cs typeface="Courier New"/>
              </a:rPr>
              <a:t> </a:t>
            </a:r>
            <a:r>
              <a:rPr sz="1800" dirty="0">
                <a:latin typeface="Courier New"/>
                <a:cs typeface="Courier New"/>
              </a:rPr>
              <a:t>[</a:t>
            </a:r>
            <a:r>
              <a:rPr sz="1800" dirty="0">
                <a:solidFill>
                  <a:srgbClr val="A21515"/>
                </a:solidFill>
                <a:latin typeface="Courier New"/>
                <a:cs typeface="Courier New"/>
              </a:rPr>
              <a:t>'X'</a:t>
            </a:r>
            <a:r>
              <a:rPr sz="1800" dirty="0">
                <a:latin typeface="Courier New"/>
                <a:cs typeface="Courier New"/>
              </a:rPr>
              <a:t>,</a:t>
            </a:r>
            <a:r>
              <a:rPr sz="1800" spc="-40" dirty="0">
                <a:latin typeface="Courier New"/>
                <a:cs typeface="Courier New"/>
              </a:rPr>
              <a:t> </a:t>
            </a:r>
            <a:r>
              <a:rPr sz="1800" dirty="0">
                <a:solidFill>
                  <a:srgbClr val="A21515"/>
                </a:solidFill>
                <a:latin typeface="Courier New"/>
                <a:cs typeface="Courier New"/>
              </a:rPr>
              <a:t>'Y'</a:t>
            </a:r>
            <a:r>
              <a:rPr sz="1800" dirty="0">
                <a:latin typeface="Courier New"/>
                <a:cs typeface="Courier New"/>
              </a:rPr>
              <a:t>,</a:t>
            </a:r>
            <a:r>
              <a:rPr sz="1800" spc="-50" dirty="0">
                <a:latin typeface="Courier New"/>
                <a:cs typeface="Courier New"/>
              </a:rPr>
              <a:t> </a:t>
            </a:r>
            <a:r>
              <a:rPr sz="1800" dirty="0">
                <a:solidFill>
                  <a:srgbClr val="A21515"/>
                </a:solidFill>
                <a:latin typeface="Courier New"/>
                <a:cs typeface="Courier New"/>
              </a:rPr>
              <a:t>'X'</a:t>
            </a:r>
            <a:r>
              <a:rPr sz="1800" dirty="0">
                <a:latin typeface="Courier New"/>
                <a:cs typeface="Courier New"/>
              </a:rPr>
              <a:t>,</a:t>
            </a:r>
            <a:r>
              <a:rPr sz="1800" spc="-50" dirty="0">
                <a:latin typeface="Courier New"/>
                <a:cs typeface="Courier New"/>
              </a:rPr>
              <a:t> </a:t>
            </a:r>
            <a:r>
              <a:rPr sz="1800" spc="-20" dirty="0">
                <a:solidFill>
                  <a:srgbClr val="A21515"/>
                </a:solidFill>
                <a:latin typeface="Courier New"/>
                <a:cs typeface="Courier New"/>
              </a:rPr>
              <a:t>'Y'</a:t>
            </a:r>
            <a:r>
              <a:rPr sz="1800" spc="-20" dirty="0">
                <a:latin typeface="Courier New"/>
                <a:cs typeface="Courier New"/>
              </a:rPr>
              <a:t>]</a:t>
            </a:r>
            <a:endParaRPr sz="1800" dirty="0">
              <a:latin typeface="Courier New"/>
              <a:cs typeface="Courier New"/>
            </a:endParaRPr>
          </a:p>
          <a:p>
            <a:pPr marL="12700">
              <a:lnSpc>
                <a:spcPct val="100000"/>
              </a:lnSpc>
              <a:spcBef>
                <a:spcPts val="635"/>
              </a:spcBef>
            </a:pPr>
            <a:r>
              <a:rPr sz="1800" spc="-25" dirty="0">
                <a:latin typeface="Courier New"/>
                <a:cs typeface="Courier New"/>
              </a:rPr>
              <a:t>})</a:t>
            </a:r>
            <a:endParaRPr sz="1800" dirty="0">
              <a:latin typeface="Courier New"/>
              <a:cs typeface="Courier New"/>
            </a:endParaRPr>
          </a:p>
          <a:p>
            <a:pPr>
              <a:lnSpc>
                <a:spcPct val="100000"/>
              </a:lnSpc>
            </a:pPr>
            <a:endParaRPr sz="1800" dirty="0">
              <a:latin typeface="Courier New"/>
              <a:cs typeface="Courier New"/>
            </a:endParaRPr>
          </a:p>
          <a:p>
            <a:pPr marL="12700">
              <a:lnSpc>
                <a:spcPct val="100000"/>
              </a:lnSpc>
            </a:pPr>
            <a:r>
              <a:rPr sz="1800" dirty="0">
                <a:latin typeface="Courier New"/>
                <a:cs typeface="Courier New"/>
              </a:rPr>
              <a:t>facet</a:t>
            </a:r>
            <a:r>
              <a:rPr sz="1800" spc="-105" dirty="0">
                <a:latin typeface="Courier New"/>
                <a:cs typeface="Courier New"/>
              </a:rPr>
              <a:t> </a:t>
            </a:r>
            <a:r>
              <a:rPr sz="1800" dirty="0">
                <a:latin typeface="Courier New"/>
                <a:cs typeface="Courier New"/>
              </a:rPr>
              <a:t>=</a:t>
            </a:r>
            <a:r>
              <a:rPr sz="1800" spc="-100" dirty="0">
                <a:latin typeface="Courier New"/>
                <a:cs typeface="Courier New"/>
              </a:rPr>
              <a:t> </a:t>
            </a:r>
            <a:r>
              <a:rPr sz="1800" dirty="0">
                <a:latin typeface="Courier New"/>
                <a:cs typeface="Courier New"/>
              </a:rPr>
              <a:t>sns.</a:t>
            </a:r>
            <a:r>
              <a:rPr sz="1800" dirty="0">
                <a:solidFill>
                  <a:schemeClr val="accent1"/>
                </a:solidFill>
                <a:latin typeface="Courier New"/>
                <a:cs typeface="Courier New"/>
              </a:rPr>
              <a:t>FacetGrid</a:t>
            </a:r>
            <a:r>
              <a:rPr sz="1800" dirty="0">
                <a:latin typeface="Courier New"/>
                <a:cs typeface="Courier New"/>
              </a:rPr>
              <a:t>(data,</a:t>
            </a:r>
            <a:r>
              <a:rPr sz="1800" spc="-90" dirty="0">
                <a:latin typeface="Courier New"/>
                <a:cs typeface="Courier New"/>
              </a:rPr>
              <a:t> </a:t>
            </a:r>
            <a:r>
              <a:rPr sz="1800" dirty="0">
                <a:latin typeface="Courier New"/>
                <a:cs typeface="Courier New"/>
              </a:rPr>
              <a:t>col=</a:t>
            </a:r>
            <a:r>
              <a:rPr sz="1800" dirty="0">
                <a:solidFill>
                  <a:srgbClr val="A21515"/>
                </a:solidFill>
                <a:latin typeface="Courier New"/>
                <a:cs typeface="Courier New"/>
              </a:rPr>
              <a:t>"Category"</a:t>
            </a:r>
            <a:r>
              <a:rPr sz="1800" dirty="0">
                <a:latin typeface="Courier New"/>
                <a:cs typeface="Courier New"/>
              </a:rPr>
              <a:t>,</a:t>
            </a:r>
            <a:r>
              <a:rPr sz="1800" spc="-105" dirty="0">
                <a:latin typeface="Courier New"/>
                <a:cs typeface="Courier New"/>
              </a:rPr>
              <a:t> </a:t>
            </a:r>
            <a:r>
              <a:rPr sz="1800" spc="-10" dirty="0">
                <a:latin typeface="Courier New"/>
                <a:cs typeface="Courier New"/>
              </a:rPr>
              <a:t>hue=</a:t>
            </a:r>
            <a:r>
              <a:rPr sz="1800" spc="-10" dirty="0">
                <a:solidFill>
                  <a:srgbClr val="A21515"/>
                </a:solidFill>
                <a:latin typeface="Courier New"/>
                <a:cs typeface="Courier New"/>
              </a:rPr>
              <a:t>"Type"</a:t>
            </a:r>
            <a:r>
              <a:rPr sz="1800" spc="-10" dirty="0">
                <a:latin typeface="Courier New"/>
                <a:cs typeface="Courier New"/>
              </a:rPr>
              <a:t>)</a:t>
            </a:r>
            <a:endParaRPr sz="1800" dirty="0">
              <a:latin typeface="Courier New"/>
              <a:cs typeface="Courier New"/>
            </a:endParaRPr>
          </a:p>
          <a:p>
            <a:pPr marL="12700">
              <a:lnSpc>
                <a:spcPct val="100000"/>
              </a:lnSpc>
              <a:spcBef>
                <a:spcPts val="640"/>
              </a:spcBef>
            </a:pPr>
            <a:r>
              <a:rPr sz="1800" dirty="0">
                <a:latin typeface="Courier New"/>
                <a:cs typeface="Courier New"/>
              </a:rPr>
              <a:t>facet.</a:t>
            </a:r>
            <a:r>
              <a:rPr sz="1800" dirty="0">
                <a:solidFill>
                  <a:srgbClr val="795E25"/>
                </a:solidFill>
                <a:latin typeface="Courier New"/>
                <a:cs typeface="Courier New"/>
              </a:rPr>
              <a:t>map</a:t>
            </a:r>
            <a:r>
              <a:rPr sz="1800" dirty="0">
                <a:latin typeface="Courier New"/>
                <a:cs typeface="Courier New"/>
              </a:rPr>
              <a:t>(sns.barplot,</a:t>
            </a:r>
            <a:r>
              <a:rPr sz="1800" spc="-155" dirty="0">
                <a:latin typeface="Courier New"/>
                <a:cs typeface="Courier New"/>
              </a:rPr>
              <a:t> </a:t>
            </a:r>
            <a:r>
              <a:rPr sz="1800" dirty="0">
                <a:solidFill>
                  <a:srgbClr val="A21515"/>
                </a:solidFill>
                <a:latin typeface="Courier New"/>
                <a:cs typeface="Courier New"/>
              </a:rPr>
              <a:t>"Type"</a:t>
            </a:r>
            <a:r>
              <a:rPr sz="1800" dirty="0">
                <a:latin typeface="Courier New"/>
                <a:cs typeface="Courier New"/>
              </a:rPr>
              <a:t>,</a:t>
            </a:r>
            <a:r>
              <a:rPr sz="1800" spc="-145" dirty="0">
                <a:latin typeface="Courier New"/>
                <a:cs typeface="Courier New"/>
              </a:rPr>
              <a:t> </a:t>
            </a:r>
            <a:r>
              <a:rPr sz="1800" spc="-10" dirty="0">
                <a:solidFill>
                  <a:srgbClr val="A21515"/>
                </a:solidFill>
                <a:latin typeface="Courier New"/>
                <a:cs typeface="Courier New"/>
              </a:rPr>
              <a:t>"Value"</a:t>
            </a:r>
            <a:r>
              <a:rPr sz="1800" spc="-10" dirty="0">
                <a:latin typeface="Courier New"/>
                <a:cs typeface="Courier New"/>
              </a:rPr>
              <a:t>)</a:t>
            </a:r>
            <a:endParaRPr sz="1800" dirty="0">
              <a:latin typeface="Courier New"/>
              <a:cs typeface="Courier New"/>
            </a:endParaRPr>
          </a:p>
          <a:p>
            <a:pPr marL="12700">
              <a:lnSpc>
                <a:spcPct val="100000"/>
              </a:lnSpc>
              <a:spcBef>
                <a:spcPts val="650"/>
              </a:spcBef>
            </a:pPr>
            <a:r>
              <a:rPr sz="1800" spc="-10" dirty="0">
                <a:latin typeface="Courier New"/>
                <a:cs typeface="Courier New"/>
              </a:rPr>
              <a:t>plt.show()</a:t>
            </a:r>
            <a:endParaRPr sz="1800" dirty="0">
              <a:latin typeface="Courier New"/>
              <a:cs typeface="Courier New"/>
            </a:endParaRPr>
          </a:p>
        </p:txBody>
      </p:sp>
      <p:pic>
        <p:nvPicPr>
          <p:cNvPr id="4" name="object 4"/>
          <p:cNvPicPr/>
          <p:nvPr/>
        </p:nvPicPr>
        <p:blipFill>
          <a:blip r:embed="rId2" cstate="print"/>
          <a:stretch>
            <a:fillRect/>
          </a:stretch>
        </p:blipFill>
        <p:spPr>
          <a:xfrm>
            <a:off x="6324600" y="2048256"/>
            <a:ext cx="5609844" cy="2761488"/>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43</a:t>
            </a:fld>
            <a:endParaRPr spc="-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When</a:t>
            </a:r>
            <a:r>
              <a:rPr spc="-240" dirty="0"/>
              <a:t> </a:t>
            </a:r>
            <a:r>
              <a:rPr dirty="0"/>
              <a:t>to</a:t>
            </a:r>
            <a:r>
              <a:rPr spc="-240" dirty="0"/>
              <a:t> </a:t>
            </a:r>
            <a:r>
              <a:rPr dirty="0"/>
              <a:t>Use</a:t>
            </a:r>
            <a:r>
              <a:rPr spc="-240" dirty="0"/>
              <a:t> </a:t>
            </a:r>
            <a:r>
              <a:rPr spc="-20" dirty="0"/>
              <a:t>Seaborn?</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44</a:t>
            </a:fld>
            <a:endParaRPr spc="-25" dirty="0"/>
          </a:p>
        </p:txBody>
      </p:sp>
      <p:sp>
        <p:nvSpPr>
          <p:cNvPr id="3" name="object 3"/>
          <p:cNvSpPr txBox="1"/>
          <p:nvPr/>
        </p:nvSpPr>
        <p:spPr>
          <a:xfrm>
            <a:off x="1084580" y="1176274"/>
            <a:ext cx="9208135" cy="4070350"/>
          </a:xfrm>
          <a:prstGeom prst="rect">
            <a:avLst/>
          </a:prstGeom>
        </p:spPr>
        <p:txBody>
          <a:bodyPr vert="horz" wrap="square" lIns="0" tIns="89535" rIns="0" bIns="0" rtlCol="0">
            <a:spAutoFit/>
          </a:bodyPr>
          <a:lstStyle/>
          <a:p>
            <a:pPr marL="300355" marR="189865" indent="-288290">
              <a:lnSpc>
                <a:spcPts val="4750"/>
              </a:lnSpc>
              <a:spcBef>
                <a:spcPts val="705"/>
              </a:spcBef>
              <a:buClr>
                <a:srgbClr val="1CACE3"/>
              </a:buClr>
              <a:buFont typeface="Arial MT"/>
              <a:buChar char="•"/>
              <a:tabLst>
                <a:tab pos="300355" algn="l"/>
              </a:tabLst>
            </a:pPr>
            <a:r>
              <a:rPr sz="4400" dirty="0">
                <a:solidFill>
                  <a:srgbClr val="404040"/>
                </a:solidFill>
                <a:latin typeface="Cambria"/>
                <a:cs typeface="Cambria"/>
              </a:rPr>
              <a:t>When</a:t>
            </a:r>
            <a:r>
              <a:rPr sz="4400" spc="-95" dirty="0">
                <a:solidFill>
                  <a:srgbClr val="404040"/>
                </a:solidFill>
                <a:latin typeface="Cambria"/>
                <a:cs typeface="Cambria"/>
              </a:rPr>
              <a:t> </a:t>
            </a:r>
            <a:r>
              <a:rPr sz="4400" dirty="0">
                <a:solidFill>
                  <a:srgbClr val="404040"/>
                </a:solidFill>
                <a:latin typeface="Cambria"/>
                <a:cs typeface="Cambria"/>
              </a:rPr>
              <a:t>creating</a:t>
            </a:r>
            <a:r>
              <a:rPr sz="4400" spc="-85" dirty="0">
                <a:solidFill>
                  <a:srgbClr val="404040"/>
                </a:solidFill>
                <a:latin typeface="Cambria"/>
                <a:cs typeface="Cambria"/>
              </a:rPr>
              <a:t> </a:t>
            </a:r>
            <a:r>
              <a:rPr sz="4400" dirty="0">
                <a:solidFill>
                  <a:srgbClr val="404040"/>
                </a:solidFill>
                <a:latin typeface="Cambria"/>
                <a:cs typeface="Cambria"/>
              </a:rPr>
              <a:t>aesthetically</a:t>
            </a:r>
            <a:r>
              <a:rPr sz="4400" spc="-100" dirty="0">
                <a:solidFill>
                  <a:srgbClr val="404040"/>
                </a:solidFill>
                <a:latin typeface="Cambria"/>
                <a:cs typeface="Cambria"/>
              </a:rPr>
              <a:t> </a:t>
            </a:r>
            <a:r>
              <a:rPr sz="4400" spc="-10" dirty="0">
                <a:solidFill>
                  <a:srgbClr val="404040"/>
                </a:solidFill>
                <a:latin typeface="Cambria"/>
                <a:cs typeface="Cambria"/>
              </a:rPr>
              <a:t>pleasing </a:t>
            </a:r>
            <a:r>
              <a:rPr sz="4400" dirty="0">
                <a:solidFill>
                  <a:srgbClr val="404040"/>
                </a:solidFill>
                <a:latin typeface="Cambria"/>
                <a:cs typeface="Cambria"/>
              </a:rPr>
              <a:t>visualizations</a:t>
            </a:r>
            <a:r>
              <a:rPr sz="4400" spc="-55" dirty="0">
                <a:solidFill>
                  <a:srgbClr val="404040"/>
                </a:solidFill>
                <a:latin typeface="Cambria"/>
                <a:cs typeface="Cambria"/>
              </a:rPr>
              <a:t> </a:t>
            </a:r>
            <a:r>
              <a:rPr sz="4400" spc="-10" dirty="0">
                <a:solidFill>
                  <a:srgbClr val="404040"/>
                </a:solidFill>
                <a:latin typeface="Cambria"/>
                <a:cs typeface="Cambria"/>
              </a:rPr>
              <a:t>quickly.</a:t>
            </a:r>
            <a:endParaRPr sz="4400" dirty="0">
              <a:latin typeface="Cambria"/>
              <a:cs typeface="Cambria"/>
            </a:endParaRPr>
          </a:p>
          <a:p>
            <a:pPr marL="300355" marR="5080" indent="-288290">
              <a:lnSpc>
                <a:spcPts val="4750"/>
              </a:lnSpc>
              <a:spcBef>
                <a:spcPts val="1395"/>
              </a:spcBef>
              <a:buClr>
                <a:srgbClr val="1CACE3"/>
              </a:buClr>
              <a:buFont typeface="Arial MT"/>
              <a:buChar char="•"/>
              <a:tabLst>
                <a:tab pos="300355" algn="l"/>
              </a:tabLst>
            </a:pPr>
            <a:r>
              <a:rPr sz="4400" dirty="0">
                <a:solidFill>
                  <a:srgbClr val="404040"/>
                </a:solidFill>
                <a:latin typeface="Cambria"/>
                <a:cs typeface="Cambria"/>
              </a:rPr>
              <a:t>When</a:t>
            </a:r>
            <a:r>
              <a:rPr sz="4400" spc="-45" dirty="0">
                <a:solidFill>
                  <a:srgbClr val="404040"/>
                </a:solidFill>
                <a:latin typeface="Cambria"/>
                <a:cs typeface="Cambria"/>
              </a:rPr>
              <a:t> </a:t>
            </a:r>
            <a:r>
              <a:rPr sz="4400" dirty="0">
                <a:solidFill>
                  <a:srgbClr val="404040"/>
                </a:solidFill>
                <a:latin typeface="Cambria"/>
                <a:cs typeface="Cambria"/>
              </a:rPr>
              <a:t>visualizing</a:t>
            </a:r>
            <a:r>
              <a:rPr sz="4400" spc="-60" dirty="0">
                <a:solidFill>
                  <a:srgbClr val="404040"/>
                </a:solidFill>
                <a:latin typeface="Cambria"/>
                <a:cs typeface="Cambria"/>
              </a:rPr>
              <a:t> </a:t>
            </a:r>
            <a:r>
              <a:rPr sz="4400" dirty="0">
                <a:solidFill>
                  <a:srgbClr val="404040"/>
                </a:solidFill>
                <a:latin typeface="Cambria"/>
                <a:cs typeface="Cambria"/>
              </a:rPr>
              <a:t>statistical</a:t>
            </a:r>
            <a:r>
              <a:rPr sz="4400" spc="-35" dirty="0">
                <a:solidFill>
                  <a:srgbClr val="404040"/>
                </a:solidFill>
                <a:latin typeface="Cambria"/>
                <a:cs typeface="Cambria"/>
              </a:rPr>
              <a:t> </a:t>
            </a:r>
            <a:r>
              <a:rPr sz="4400" dirty="0">
                <a:solidFill>
                  <a:srgbClr val="404040"/>
                </a:solidFill>
                <a:latin typeface="Cambria"/>
                <a:cs typeface="Cambria"/>
              </a:rPr>
              <a:t>data</a:t>
            </a:r>
            <a:r>
              <a:rPr sz="4400" spc="-35" dirty="0">
                <a:solidFill>
                  <a:srgbClr val="404040"/>
                </a:solidFill>
                <a:latin typeface="Cambria"/>
                <a:cs typeface="Cambria"/>
              </a:rPr>
              <a:t> </a:t>
            </a:r>
            <a:r>
              <a:rPr sz="4400" spc="-20" dirty="0">
                <a:solidFill>
                  <a:srgbClr val="404040"/>
                </a:solidFill>
                <a:latin typeface="Cambria"/>
                <a:cs typeface="Cambria"/>
              </a:rPr>
              <a:t>with </a:t>
            </a:r>
            <a:r>
              <a:rPr sz="4400" dirty="0">
                <a:solidFill>
                  <a:srgbClr val="404040"/>
                </a:solidFill>
                <a:latin typeface="Cambria"/>
                <a:cs typeface="Cambria"/>
              </a:rPr>
              <a:t>complex</a:t>
            </a:r>
            <a:r>
              <a:rPr sz="4400" spc="-70" dirty="0">
                <a:solidFill>
                  <a:srgbClr val="404040"/>
                </a:solidFill>
                <a:latin typeface="Cambria"/>
                <a:cs typeface="Cambria"/>
              </a:rPr>
              <a:t> </a:t>
            </a:r>
            <a:r>
              <a:rPr sz="4400" spc="-10" dirty="0">
                <a:solidFill>
                  <a:srgbClr val="404040"/>
                </a:solidFill>
                <a:latin typeface="Cambria"/>
                <a:cs typeface="Cambria"/>
              </a:rPr>
              <a:t>relationships.</a:t>
            </a:r>
            <a:endParaRPr sz="4400" dirty="0">
              <a:latin typeface="Cambria"/>
              <a:cs typeface="Cambria"/>
            </a:endParaRPr>
          </a:p>
          <a:p>
            <a:pPr marL="300355" marR="309245" indent="-288290">
              <a:lnSpc>
                <a:spcPts val="4750"/>
              </a:lnSpc>
              <a:spcBef>
                <a:spcPts val="1410"/>
              </a:spcBef>
              <a:buClr>
                <a:srgbClr val="1CACE3"/>
              </a:buClr>
              <a:buFont typeface="Arial MT"/>
              <a:buChar char="•"/>
              <a:tabLst>
                <a:tab pos="300355" algn="l"/>
              </a:tabLst>
            </a:pPr>
            <a:r>
              <a:rPr sz="4400" dirty="0">
                <a:solidFill>
                  <a:srgbClr val="404040"/>
                </a:solidFill>
                <a:latin typeface="Cambria"/>
                <a:cs typeface="Cambria"/>
              </a:rPr>
              <a:t>For</a:t>
            </a:r>
            <a:r>
              <a:rPr sz="4400" spc="-140" dirty="0">
                <a:solidFill>
                  <a:srgbClr val="404040"/>
                </a:solidFill>
                <a:latin typeface="Cambria"/>
                <a:cs typeface="Cambria"/>
              </a:rPr>
              <a:t> </a:t>
            </a:r>
            <a:r>
              <a:rPr sz="4400" dirty="0">
                <a:solidFill>
                  <a:srgbClr val="404040"/>
                </a:solidFill>
                <a:latin typeface="Cambria"/>
                <a:cs typeface="Cambria"/>
              </a:rPr>
              <a:t>integrating</a:t>
            </a:r>
            <a:r>
              <a:rPr sz="4400" spc="-140" dirty="0">
                <a:solidFill>
                  <a:srgbClr val="404040"/>
                </a:solidFill>
                <a:latin typeface="Cambria"/>
                <a:cs typeface="Cambria"/>
              </a:rPr>
              <a:t> </a:t>
            </a:r>
            <a:r>
              <a:rPr sz="4400" dirty="0">
                <a:solidFill>
                  <a:srgbClr val="404040"/>
                </a:solidFill>
                <a:latin typeface="Cambria"/>
                <a:cs typeface="Cambria"/>
              </a:rPr>
              <a:t>with</a:t>
            </a:r>
            <a:r>
              <a:rPr sz="4400" spc="-140" dirty="0">
                <a:solidFill>
                  <a:srgbClr val="404040"/>
                </a:solidFill>
                <a:latin typeface="Cambria"/>
                <a:cs typeface="Cambria"/>
              </a:rPr>
              <a:t> </a:t>
            </a:r>
            <a:r>
              <a:rPr sz="4400" dirty="0">
                <a:solidFill>
                  <a:srgbClr val="404040"/>
                </a:solidFill>
                <a:latin typeface="Cambria"/>
                <a:cs typeface="Cambria"/>
              </a:rPr>
              <a:t>Pandas</a:t>
            </a:r>
            <a:r>
              <a:rPr sz="4400" spc="-150" dirty="0">
                <a:solidFill>
                  <a:srgbClr val="404040"/>
                </a:solidFill>
                <a:latin typeface="Cambria"/>
                <a:cs typeface="Cambria"/>
              </a:rPr>
              <a:t> </a:t>
            </a:r>
            <a:r>
              <a:rPr sz="4400" dirty="0">
                <a:solidFill>
                  <a:srgbClr val="404040"/>
                </a:solidFill>
                <a:latin typeface="Cambria"/>
                <a:cs typeface="Cambria"/>
              </a:rPr>
              <a:t>for</a:t>
            </a:r>
            <a:r>
              <a:rPr sz="4400" spc="-135" dirty="0">
                <a:solidFill>
                  <a:srgbClr val="404040"/>
                </a:solidFill>
                <a:latin typeface="Cambria"/>
                <a:cs typeface="Cambria"/>
              </a:rPr>
              <a:t> </a:t>
            </a:r>
            <a:r>
              <a:rPr sz="4400" spc="-20" dirty="0">
                <a:solidFill>
                  <a:srgbClr val="404040"/>
                </a:solidFill>
                <a:latin typeface="Cambria"/>
                <a:cs typeface="Cambria"/>
              </a:rPr>
              <a:t>data </a:t>
            </a:r>
            <a:r>
              <a:rPr sz="4400" dirty="0">
                <a:solidFill>
                  <a:srgbClr val="404040"/>
                </a:solidFill>
                <a:latin typeface="Cambria"/>
                <a:cs typeface="Cambria"/>
              </a:rPr>
              <a:t>analysis</a:t>
            </a:r>
            <a:r>
              <a:rPr sz="4400" spc="-170" dirty="0">
                <a:solidFill>
                  <a:srgbClr val="404040"/>
                </a:solidFill>
                <a:latin typeface="Cambria"/>
                <a:cs typeface="Cambria"/>
              </a:rPr>
              <a:t> </a:t>
            </a:r>
            <a:r>
              <a:rPr sz="4400" spc="-10" dirty="0">
                <a:solidFill>
                  <a:srgbClr val="404040"/>
                </a:solidFill>
                <a:latin typeface="Cambria"/>
                <a:cs typeface="Cambria"/>
              </a:rPr>
              <a:t>workflows</a:t>
            </a:r>
            <a:endParaRPr sz="4400" dirty="0">
              <a:latin typeface="Cambria"/>
              <a:cs typeface="Cambri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5" dirty="0"/>
              <a:t>Limitations</a:t>
            </a:r>
            <a:r>
              <a:rPr spc="-175" dirty="0"/>
              <a:t> </a:t>
            </a:r>
            <a:r>
              <a:rPr dirty="0"/>
              <a:t>&amp;</a:t>
            </a:r>
            <a:r>
              <a:rPr spc="-175" dirty="0"/>
              <a:t> </a:t>
            </a:r>
            <a:r>
              <a:rPr spc="-10" dirty="0"/>
              <a:t>Best</a:t>
            </a:r>
            <a:r>
              <a:rPr spc="-190" dirty="0"/>
              <a:t> </a:t>
            </a:r>
            <a:r>
              <a:rPr spc="-30" dirty="0"/>
              <a:t>Practices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45</a:t>
            </a:fld>
            <a:endParaRPr spc="-25" dirty="0"/>
          </a:p>
        </p:txBody>
      </p:sp>
      <p:sp>
        <p:nvSpPr>
          <p:cNvPr id="3" name="object 3"/>
          <p:cNvSpPr txBox="1"/>
          <p:nvPr/>
        </p:nvSpPr>
        <p:spPr>
          <a:xfrm>
            <a:off x="1084580" y="1070508"/>
            <a:ext cx="9742170" cy="4261485"/>
          </a:xfrm>
          <a:prstGeom prst="rect">
            <a:avLst/>
          </a:prstGeom>
        </p:spPr>
        <p:txBody>
          <a:bodyPr vert="horz" wrap="square" lIns="0" tIns="147955" rIns="0" bIns="0" rtlCol="0">
            <a:spAutoFit/>
          </a:bodyPr>
          <a:lstStyle/>
          <a:p>
            <a:pPr marL="12700">
              <a:lnSpc>
                <a:spcPct val="100000"/>
              </a:lnSpc>
              <a:spcBef>
                <a:spcPts val="1165"/>
              </a:spcBef>
            </a:pPr>
            <a:r>
              <a:rPr sz="2800" b="1" spc="-10" dirty="0">
                <a:solidFill>
                  <a:srgbClr val="404040"/>
                </a:solidFill>
                <a:latin typeface="Cambria"/>
                <a:cs typeface="Cambria"/>
              </a:rPr>
              <a:t>Limitations</a:t>
            </a:r>
            <a:endParaRPr sz="2800" dirty="0">
              <a:latin typeface="Cambria"/>
              <a:cs typeface="Cambria"/>
            </a:endParaRPr>
          </a:p>
          <a:p>
            <a:pPr marL="299720" indent="-287020">
              <a:lnSpc>
                <a:spcPct val="100000"/>
              </a:lnSpc>
              <a:spcBef>
                <a:spcPts val="1070"/>
              </a:spcBef>
              <a:buClr>
                <a:srgbClr val="1CACE3"/>
              </a:buClr>
              <a:buFont typeface="Arial MT"/>
              <a:buChar char="•"/>
              <a:tabLst>
                <a:tab pos="299720" algn="l"/>
              </a:tabLst>
            </a:pPr>
            <a:r>
              <a:rPr sz="2800" dirty="0">
                <a:solidFill>
                  <a:srgbClr val="404040"/>
                </a:solidFill>
                <a:latin typeface="Cambria"/>
                <a:cs typeface="Cambria"/>
              </a:rPr>
              <a:t>Not</a:t>
            </a:r>
            <a:r>
              <a:rPr sz="2800" spc="-80" dirty="0">
                <a:solidFill>
                  <a:srgbClr val="404040"/>
                </a:solidFill>
                <a:latin typeface="Cambria"/>
                <a:cs typeface="Cambria"/>
              </a:rPr>
              <a:t> </a:t>
            </a:r>
            <a:r>
              <a:rPr sz="2800" dirty="0">
                <a:solidFill>
                  <a:srgbClr val="404040"/>
                </a:solidFill>
                <a:latin typeface="Cambria"/>
                <a:cs typeface="Cambria"/>
              </a:rPr>
              <a:t>as</a:t>
            </a:r>
            <a:r>
              <a:rPr sz="2800" spc="-75" dirty="0">
                <a:solidFill>
                  <a:srgbClr val="404040"/>
                </a:solidFill>
                <a:latin typeface="Cambria"/>
                <a:cs typeface="Cambria"/>
              </a:rPr>
              <a:t> </a:t>
            </a:r>
            <a:r>
              <a:rPr sz="2800" dirty="0">
                <a:solidFill>
                  <a:srgbClr val="404040"/>
                </a:solidFill>
                <a:latin typeface="Cambria"/>
                <a:cs typeface="Cambria"/>
              </a:rPr>
              <a:t>flexible</a:t>
            </a:r>
            <a:r>
              <a:rPr sz="2800" spc="-75" dirty="0">
                <a:solidFill>
                  <a:srgbClr val="404040"/>
                </a:solidFill>
                <a:latin typeface="Cambria"/>
                <a:cs typeface="Cambria"/>
              </a:rPr>
              <a:t> </a:t>
            </a:r>
            <a:r>
              <a:rPr sz="2800" dirty="0">
                <a:solidFill>
                  <a:srgbClr val="404040"/>
                </a:solidFill>
                <a:latin typeface="Cambria"/>
                <a:cs typeface="Cambria"/>
              </a:rPr>
              <a:t>as</a:t>
            </a:r>
            <a:r>
              <a:rPr sz="2800" spc="-85" dirty="0">
                <a:solidFill>
                  <a:srgbClr val="404040"/>
                </a:solidFill>
                <a:latin typeface="Cambria"/>
                <a:cs typeface="Cambria"/>
              </a:rPr>
              <a:t> </a:t>
            </a:r>
            <a:r>
              <a:rPr sz="2800" dirty="0">
                <a:solidFill>
                  <a:srgbClr val="404040"/>
                </a:solidFill>
                <a:latin typeface="Cambria"/>
                <a:cs typeface="Cambria"/>
              </a:rPr>
              <a:t>Matplotlib</a:t>
            </a:r>
            <a:r>
              <a:rPr sz="2800" spc="-50" dirty="0">
                <a:solidFill>
                  <a:srgbClr val="404040"/>
                </a:solidFill>
                <a:latin typeface="Cambria"/>
                <a:cs typeface="Cambria"/>
              </a:rPr>
              <a:t> </a:t>
            </a:r>
            <a:r>
              <a:rPr sz="2800" dirty="0">
                <a:solidFill>
                  <a:srgbClr val="404040"/>
                </a:solidFill>
                <a:latin typeface="Cambria"/>
                <a:cs typeface="Cambria"/>
              </a:rPr>
              <a:t>for</a:t>
            </a:r>
            <a:r>
              <a:rPr sz="2800" spc="-75" dirty="0">
                <a:solidFill>
                  <a:srgbClr val="404040"/>
                </a:solidFill>
                <a:latin typeface="Cambria"/>
                <a:cs typeface="Cambria"/>
              </a:rPr>
              <a:t> </a:t>
            </a:r>
            <a:r>
              <a:rPr sz="2800" dirty="0">
                <a:solidFill>
                  <a:srgbClr val="404040"/>
                </a:solidFill>
                <a:latin typeface="Cambria"/>
                <a:cs typeface="Cambria"/>
              </a:rPr>
              <a:t>very</a:t>
            </a:r>
            <a:r>
              <a:rPr sz="2800" spc="-65" dirty="0">
                <a:solidFill>
                  <a:srgbClr val="404040"/>
                </a:solidFill>
                <a:latin typeface="Cambria"/>
                <a:cs typeface="Cambria"/>
              </a:rPr>
              <a:t> </a:t>
            </a:r>
            <a:r>
              <a:rPr sz="2800" spc="-10" dirty="0">
                <a:solidFill>
                  <a:srgbClr val="404040"/>
                </a:solidFill>
                <a:latin typeface="Cambria"/>
                <a:cs typeface="Cambria"/>
              </a:rPr>
              <a:t>customized</a:t>
            </a:r>
            <a:r>
              <a:rPr sz="2800" spc="-75" dirty="0">
                <a:solidFill>
                  <a:srgbClr val="404040"/>
                </a:solidFill>
                <a:latin typeface="Cambria"/>
                <a:cs typeface="Cambria"/>
              </a:rPr>
              <a:t> </a:t>
            </a:r>
            <a:r>
              <a:rPr sz="2800" spc="-10" dirty="0">
                <a:solidFill>
                  <a:srgbClr val="404040"/>
                </a:solidFill>
                <a:latin typeface="Cambria"/>
                <a:cs typeface="Cambria"/>
              </a:rPr>
              <a:t>plots.</a:t>
            </a:r>
            <a:endParaRPr sz="2800" dirty="0">
              <a:latin typeface="Cambria"/>
              <a:cs typeface="Cambria"/>
            </a:endParaRPr>
          </a:p>
          <a:p>
            <a:pPr marL="299085" indent="-286385">
              <a:lnSpc>
                <a:spcPct val="100000"/>
              </a:lnSpc>
              <a:spcBef>
                <a:spcPts val="1055"/>
              </a:spcBef>
              <a:buClr>
                <a:srgbClr val="1CACE3"/>
              </a:buClr>
              <a:buFont typeface="Arial MT"/>
              <a:buChar char="•"/>
              <a:tabLst>
                <a:tab pos="299085" algn="l"/>
              </a:tabLst>
            </a:pPr>
            <a:r>
              <a:rPr sz="2800" spc="-10" dirty="0">
                <a:solidFill>
                  <a:srgbClr val="404040"/>
                </a:solidFill>
                <a:latin typeface="Cambria"/>
                <a:cs typeface="Cambria"/>
              </a:rPr>
              <a:t>Requires</a:t>
            </a:r>
            <a:r>
              <a:rPr sz="2800" spc="-95" dirty="0">
                <a:solidFill>
                  <a:srgbClr val="404040"/>
                </a:solidFill>
                <a:latin typeface="Cambria"/>
                <a:cs typeface="Cambria"/>
              </a:rPr>
              <a:t> </a:t>
            </a:r>
            <a:r>
              <a:rPr sz="2800" dirty="0">
                <a:solidFill>
                  <a:srgbClr val="404040"/>
                </a:solidFill>
                <a:latin typeface="Cambria"/>
                <a:cs typeface="Cambria"/>
              </a:rPr>
              <a:t>Matplotlib</a:t>
            </a:r>
            <a:r>
              <a:rPr sz="2800" spc="-70" dirty="0">
                <a:solidFill>
                  <a:srgbClr val="404040"/>
                </a:solidFill>
                <a:latin typeface="Cambria"/>
                <a:cs typeface="Cambria"/>
              </a:rPr>
              <a:t> </a:t>
            </a:r>
            <a:r>
              <a:rPr sz="2800" dirty="0">
                <a:solidFill>
                  <a:srgbClr val="404040"/>
                </a:solidFill>
                <a:latin typeface="Cambria"/>
                <a:cs typeface="Cambria"/>
              </a:rPr>
              <a:t>for</a:t>
            </a:r>
            <a:r>
              <a:rPr sz="2800" spc="-85" dirty="0">
                <a:solidFill>
                  <a:srgbClr val="404040"/>
                </a:solidFill>
                <a:latin typeface="Cambria"/>
                <a:cs typeface="Cambria"/>
              </a:rPr>
              <a:t> </a:t>
            </a:r>
            <a:r>
              <a:rPr sz="2800" dirty="0">
                <a:solidFill>
                  <a:srgbClr val="404040"/>
                </a:solidFill>
                <a:latin typeface="Cambria"/>
                <a:cs typeface="Cambria"/>
              </a:rPr>
              <a:t>certain</a:t>
            </a:r>
            <a:r>
              <a:rPr sz="2800" spc="-85" dirty="0">
                <a:solidFill>
                  <a:srgbClr val="404040"/>
                </a:solidFill>
                <a:latin typeface="Cambria"/>
                <a:cs typeface="Cambria"/>
              </a:rPr>
              <a:t> </a:t>
            </a:r>
            <a:r>
              <a:rPr sz="2800" spc="-10" dirty="0">
                <a:solidFill>
                  <a:srgbClr val="404040"/>
                </a:solidFill>
                <a:latin typeface="Cambria"/>
                <a:cs typeface="Cambria"/>
              </a:rPr>
              <a:t>advanced</a:t>
            </a:r>
            <a:r>
              <a:rPr sz="2800" spc="-90" dirty="0">
                <a:solidFill>
                  <a:srgbClr val="404040"/>
                </a:solidFill>
                <a:latin typeface="Cambria"/>
                <a:cs typeface="Cambria"/>
              </a:rPr>
              <a:t> </a:t>
            </a:r>
            <a:r>
              <a:rPr sz="2800" spc="-10" dirty="0">
                <a:solidFill>
                  <a:srgbClr val="404040"/>
                </a:solidFill>
                <a:latin typeface="Cambria"/>
                <a:cs typeface="Cambria"/>
              </a:rPr>
              <a:t>features.</a:t>
            </a:r>
            <a:endParaRPr sz="2800" dirty="0">
              <a:latin typeface="Cambria"/>
              <a:cs typeface="Cambria"/>
            </a:endParaRPr>
          </a:p>
          <a:p>
            <a:pPr>
              <a:lnSpc>
                <a:spcPct val="100000"/>
              </a:lnSpc>
              <a:spcBef>
                <a:spcPts val="165"/>
              </a:spcBef>
              <a:buClr>
                <a:srgbClr val="1CACE3"/>
              </a:buClr>
              <a:buFont typeface="Arial MT"/>
              <a:buChar char="•"/>
            </a:pPr>
            <a:endParaRPr sz="2800" dirty="0">
              <a:latin typeface="Cambria"/>
              <a:cs typeface="Cambria"/>
            </a:endParaRPr>
          </a:p>
          <a:p>
            <a:pPr marL="12700">
              <a:lnSpc>
                <a:spcPct val="100000"/>
              </a:lnSpc>
            </a:pPr>
            <a:r>
              <a:rPr sz="2800" b="1" dirty="0">
                <a:solidFill>
                  <a:srgbClr val="404040"/>
                </a:solidFill>
                <a:latin typeface="Cambria"/>
                <a:cs typeface="Cambria"/>
              </a:rPr>
              <a:t>Best</a:t>
            </a:r>
            <a:r>
              <a:rPr sz="2800" b="1" spc="-50" dirty="0">
                <a:solidFill>
                  <a:srgbClr val="404040"/>
                </a:solidFill>
                <a:latin typeface="Cambria"/>
                <a:cs typeface="Cambria"/>
              </a:rPr>
              <a:t> </a:t>
            </a:r>
            <a:r>
              <a:rPr sz="2800" b="1" spc="-10" dirty="0">
                <a:solidFill>
                  <a:srgbClr val="404040"/>
                </a:solidFill>
                <a:latin typeface="Cambria"/>
                <a:cs typeface="Cambria"/>
              </a:rPr>
              <a:t>Practices</a:t>
            </a:r>
            <a:endParaRPr sz="2800" dirty="0">
              <a:latin typeface="Cambria"/>
              <a:cs typeface="Cambria"/>
            </a:endParaRPr>
          </a:p>
          <a:p>
            <a:pPr marL="299085" indent="-286385">
              <a:lnSpc>
                <a:spcPct val="100000"/>
              </a:lnSpc>
              <a:spcBef>
                <a:spcPts val="1055"/>
              </a:spcBef>
              <a:buClr>
                <a:srgbClr val="1CACE3"/>
              </a:buClr>
              <a:buFont typeface="Arial MT"/>
              <a:buChar char="•"/>
              <a:tabLst>
                <a:tab pos="299085" algn="l"/>
              </a:tabLst>
            </a:pPr>
            <a:r>
              <a:rPr sz="2800" dirty="0">
                <a:solidFill>
                  <a:srgbClr val="404040"/>
                </a:solidFill>
                <a:latin typeface="Cambria"/>
                <a:cs typeface="Cambria"/>
              </a:rPr>
              <a:t>Use</a:t>
            </a:r>
            <a:r>
              <a:rPr sz="2800" spc="-30" dirty="0">
                <a:solidFill>
                  <a:srgbClr val="404040"/>
                </a:solidFill>
                <a:latin typeface="Cambria"/>
                <a:cs typeface="Cambria"/>
              </a:rPr>
              <a:t> </a:t>
            </a:r>
            <a:r>
              <a:rPr sz="2800" dirty="0">
                <a:solidFill>
                  <a:srgbClr val="404040"/>
                </a:solidFill>
                <a:latin typeface="Cambria"/>
                <a:cs typeface="Cambria"/>
              </a:rPr>
              <a:t>themes</a:t>
            </a:r>
            <a:r>
              <a:rPr sz="2800" spc="-35" dirty="0">
                <a:solidFill>
                  <a:srgbClr val="404040"/>
                </a:solidFill>
                <a:latin typeface="Cambria"/>
                <a:cs typeface="Cambria"/>
              </a:rPr>
              <a:t> </a:t>
            </a:r>
            <a:r>
              <a:rPr sz="2800" dirty="0">
                <a:solidFill>
                  <a:srgbClr val="404040"/>
                </a:solidFill>
                <a:latin typeface="Cambria"/>
                <a:cs typeface="Cambria"/>
              </a:rPr>
              <a:t>to</a:t>
            </a:r>
            <a:r>
              <a:rPr sz="2800" spc="-25" dirty="0">
                <a:solidFill>
                  <a:srgbClr val="404040"/>
                </a:solidFill>
                <a:latin typeface="Cambria"/>
                <a:cs typeface="Cambria"/>
              </a:rPr>
              <a:t> </a:t>
            </a:r>
            <a:r>
              <a:rPr sz="2800" dirty="0">
                <a:solidFill>
                  <a:srgbClr val="404040"/>
                </a:solidFill>
                <a:latin typeface="Cambria"/>
                <a:cs typeface="Cambria"/>
              </a:rPr>
              <a:t>maintain</a:t>
            </a:r>
            <a:r>
              <a:rPr sz="2800" spc="-30" dirty="0">
                <a:solidFill>
                  <a:srgbClr val="404040"/>
                </a:solidFill>
                <a:latin typeface="Cambria"/>
                <a:cs typeface="Cambria"/>
              </a:rPr>
              <a:t> </a:t>
            </a:r>
            <a:r>
              <a:rPr sz="2800" spc="-10" dirty="0">
                <a:solidFill>
                  <a:srgbClr val="404040"/>
                </a:solidFill>
                <a:latin typeface="Cambria"/>
                <a:cs typeface="Cambria"/>
              </a:rPr>
              <a:t>consistency.</a:t>
            </a:r>
            <a:endParaRPr sz="2800" dirty="0">
              <a:latin typeface="Cambria"/>
              <a:cs typeface="Cambria"/>
            </a:endParaRPr>
          </a:p>
          <a:p>
            <a:pPr marL="299720" indent="-287020">
              <a:lnSpc>
                <a:spcPct val="100000"/>
              </a:lnSpc>
              <a:spcBef>
                <a:spcPts val="1070"/>
              </a:spcBef>
              <a:buClr>
                <a:srgbClr val="1CACE3"/>
              </a:buClr>
              <a:buFont typeface="Arial MT"/>
              <a:buChar char="•"/>
              <a:tabLst>
                <a:tab pos="299720" algn="l"/>
              </a:tabLst>
            </a:pPr>
            <a:r>
              <a:rPr sz="2800" dirty="0">
                <a:solidFill>
                  <a:srgbClr val="404040"/>
                </a:solidFill>
                <a:latin typeface="Cambria"/>
                <a:cs typeface="Cambria"/>
              </a:rPr>
              <a:t>Choose</a:t>
            </a:r>
            <a:r>
              <a:rPr sz="2800" spc="-75" dirty="0">
                <a:solidFill>
                  <a:srgbClr val="404040"/>
                </a:solidFill>
                <a:latin typeface="Cambria"/>
                <a:cs typeface="Cambria"/>
              </a:rPr>
              <a:t> </a:t>
            </a:r>
            <a:r>
              <a:rPr sz="2800" dirty="0">
                <a:solidFill>
                  <a:srgbClr val="404040"/>
                </a:solidFill>
                <a:latin typeface="Cambria"/>
                <a:cs typeface="Cambria"/>
              </a:rPr>
              <a:t>the</a:t>
            </a:r>
            <a:r>
              <a:rPr sz="2800" spc="-70" dirty="0">
                <a:solidFill>
                  <a:srgbClr val="404040"/>
                </a:solidFill>
                <a:latin typeface="Cambria"/>
                <a:cs typeface="Cambria"/>
              </a:rPr>
              <a:t> </a:t>
            </a:r>
            <a:r>
              <a:rPr sz="2800" dirty="0">
                <a:solidFill>
                  <a:srgbClr val="404040"/>
                </a:solidFill>
                <a:latin typeface="Cambria"/>
                <a:cs typeface="Cambria"/>
              </a:rPr>
              <a:t>right</a:t>
            </a:r>
            <a:r>
              <a:rPr sz="2800" spc="-55" dirty="0">
                <a:solidFill>
                  <a:srgbClr val="404040"/>
                </a:solidFill>
                <a:latin typeface="Cambria"/>
                <a:cs typeface="Cambria"/>
              </a:rPr>
              <a:t> </a:t>
            </a:r>
            <a:r>
              <a:rPr sz="2800" dirty="0">
                <a:solidFill>
                  <a:srgbClr val="404040"/>
                </a:solidFill>
                <a:latin typeface="Cambria"/>
                <a:cs typeface="Cambria"/>
              </a:rPr>
              <a:t>plot</a:t>
            </a:r>
            <a:r>
              <a:rPr sz="2800" spc="-60" dirty="0">
                <a:solidFill>
                  <a:srgbClr val="404040"/>
                </a:solidFill>
                <a:latin typeface="Cambria"/>
                <a:cs typeface="Cambria"/>
              </a:rPr>
              <a:t> </a:t>
            </a:r>
            <a:r>
              <a:rPr sz="2800" dirty="0">
                <a:solidFill>
                  <a:srgbClr val="404040"/>
                </a:solidFill>
                <a:latin typeface="Cambria"/>
                <a:cs typeface="Cambria"/>
              </a:rPr>
              <a:t>type</a:t>
            </a:r>
            <a:r>
              <a:rPr sz="2800" spc="-75" dirty="0">
                <a:solidFill>
                  <a:srgbClr val="404040"/>
                </a:solidFill>
                <a:latin typeface="Cambria"/>
                <a:cs typeface="Cambria"/>
              </a:rPr>
              <a:t> </a:t>
            </a:r>
            <a:r>
              <a:rPr sz="2800" dirty="0">
                <a:solidFill>
                  <a:srgbClr val="404040"/>
                </a:solidFill>
                <a:latin typeface="Cambria"/>
                <a:cs typeface="Cambria"/>
              </a:rPr>
              <a:t>for</a:t>
            </a:r>
            <a:r>
              <a:rPr sz="2800" spc="-75" dirty="0">
                <a:solidFill>
                  <a:srgbClr val="404040"/>
                </a:solidFill>
                <a:latin typeface="Cambria"/>
                <a:cs typeface="Cambria"/>
              </a:rPr>
              <a:t> </a:t>
            </a:r>
            <a:r>
              <a:rPr sz="2800" dirty="0">
                <a:solidFill>
                  <a:srgbClr val="404040"/>
                </a:solidFill>
                <a:latin typeface="Cambria"/>
                <a:cs typeface="Cambria"/>
              </a:rPr>
              <a:t>your</a:t>
            </a:r>
            <a:r>
              <a:rPr sz="2800" spc="-55" dirty="0">
                <a:solidFill>
                  <a:srgbClr val="404040"/>
                </a:solidFill>
                <a:latin typeface="Cambria"/>
                <a:cs typeface="Cambria"/>
              </a:rPr>
              <a:t> </a:t>
            </a:r>
            <a:r>
              <a:rPr sz="2800" spc="-10" dirty="0">
                <a:solidFill>
                  <a:srgbClr val="404040"/>
                </a:solidFill>
                <a:latin typeface="Cambria"/>
                <a:cs typeface="Cambria"/>
              </a:rPr>
              <a:t>data.</a:t>
            </a:r>
            <a:endParaRPr sz="2800" dirty="0">
              <a:latin typeface="Cambria"/>
              <a:cs typeface="Cambria"/>
            </a:endParaRPr>
          </a:p>
          <a:p>
            <a:pPr marL="299720" indent="-287020">
              <a:lnSpc>
                <a:spcPct val="100000"/>
              </a:lnSpc>
              <a:spcBef>
                <a:spcPts val="1070"/>
              </a:spcBef>
              <a:buClr>
                <a:srgbClr val="1CACE3"/>
              </a:buClr>
              <a:buFont typeface="Arial MT"/>
              <a:buChar char="•"/>
              <a:tabLst>
                <a:tab pos="299720" algn="l"/>
              </a:tabLst>
            </a:pPr>
            <a:r>
              <a:rPr sz="2800" dirty="0">
                <a:solidFill>
                  <a:srgbClr val="404040"/>
                </a:solidFill>
                <a:latin typeface="Cambria"/>
                <a:cs typeface="Cambria"/>
              </a:rPr>
              <a:t>Combine</a:t>
            </a:r>
            <a:r>
              <a:rPr sz="2800" spc="-100" dirty="0">
                <a:solidFill>
                  <a:srgbClr val="404040"/>
                </a:solidFill>
                <a:latin typeface="Cambria"/>
                <a:cs typeface="Cambria"/>
              </a:rPr>
              <a:t> </a:t>
            </a:r>
            <a:r>
              <a:rPr sz="2800" dirty="0">
                <a:solidFill>
                  <a:srgbClr val="404040"/>
                </a:solidFill>
                <a:latin typeface="Cambria"/>
                <a:cs typeface="Cambria"/>
              </a:rPr>
              <a:t>Seaborn</a:t>
            </a:r>
            <a:r>
              <a:rPr sz="2800" spc="-95" dirty="0">
                <a:solidFill>
                  <a:srgbClr val="404040"/>
                </a:solidFill>
                <a:latin typeface="Cambria"/>
                <a:cs typeface="Cambria"/>
              </a:rPr>
              <a:t> </a:t>
            </a:r>
            <a:r>
              <a:rPr sz="2800" dirty="0">
                <a:solidFill>
                  <a:srgbClr val="404040"/>
                </a:solidFill>
                <a:latin typeface="Cambria"/>
                <a:cs typeface="Cambria"/>
              </a:rPr>
              <a:t>with</a:t>
            </a:r>
            <a:r>
              <a:rPr sz="2800" spc="-80" dirty="0">
                <a:solidFill>
                  <a:srgbClr val="404040"/>
                </a:solidFill>
                <a:latin typeface="Cambria"/>
                <a:cs typeface="Cambria"/>
              </a:rPr>
              <a:t> </a:t>
            </a:r>
            <a:r>
              <a:rPr sz="2800" dirty="0">
                <a:solidFill>
                  <a:srgbClr val="404040"/>
                </a:solidFill>
                <a:latin typeface="Cambria"/>
                <a:cs typeface="Cambria"/>
              </a:rPr>
              <a:t>Matplotlib</a:t>
            </a:r>
            <a:r>
              <a:rPr sz="2800" spc="-80" dirty="0">
                <a:solidFill>
                  <a:srgbClr val="404040"/>
                </a:solidFill>
                <a:latin typeface="Cambria"/>
                <a:cs typeface="Cambria"/>
              </a:rPr>
              <a:t> </a:t>
            </a:r>
            <a:r>
              <a:rPr sz="2800" dirty="0">
                <a:solidFill>
                  <a:srgbClr val="404040"/>
                </a:solidFill>
                <a:latin typeface="Cambria"/>
                <a:cs typeface="Cambria"/>
              </a:rPr>
              <a:t>for</a:t>
            </a:r>
            <a:r>
              <a:rPr sz="2800" spc="-90" dirty="0">
                <a:solidFill>
                  <a:srgbClr val="404040"/>
                </a:solidFill>
                <a:latin typeface="Cambria"/>
                <a:cs typeface="Cambria"/>
              </a:rPr>
              <a:t> </a:t>
            </a:r>
            <a:r>
              <a:rPr sz="2800" spc="-10" dirty="0">
                <a:solidFill>
                  <a:srgbClr val="404040"/>
                </a:solidFill>
                <a:latin typeface="Cambria"/>
                <a:cs typeface="Cambria"/>
              </a:rPr>
              <a:t>advanced</a:t>
            </a:r>
            <a:r>
              <a:rPr sz="2800" spc="-95" dirty="0">
                <a:solidFill>
                  <a:srgbClr val="404040"/>
                </a:solidFill>
                <a:latin typeface="Cambria"/>
                <a:cs typeface="Cambria"/>
              </a:rPr>
              <a:t> </a:t>
            </a:r>
            <a:r>
              <a:rPr sz="2800" spc="-10" dirty="0">
                <a:solidFill>
                  <a:srgbClr val="404040"/>
                </a:solidFill>
                <a:latin typeface="Cambria"/>
                <a:cs typeface="Cambria"/>
              </a:rPr>
              <a:t>customization.</a:t>
            </a:r>
            <a:endParaRPr sz="2800" dirty="0">
              <a:latin typeface="Cambria"/>
              <a:cs typeface="Cambri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Conclusion</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46</a:t>
            </a:fld>
            <a:endParaRPr spc="-25" dirty="0"/>
          </a:p>
        </p:txBody>
      </p:sp>
      <p:sp>
        <p:nvSpPr>
          <p:cNvPr id="3" name="object 3"/>
          <p:cNvSpPr txBox="1">
            <a:spLocks noGrp="1"/>
          </p:cNvSpPr>
          <p:nvPr>
            <p:ph type="body" idx="1"/>
          </p:nvPr>
        </p:nvSpPr>
        <p:spPr>
          <a:prstGeom prst="rect">
            <a:avLst/>
          </a:prstGeom>
        </p:spPr>
        <p:txBody>
          <a:bodyPr vert="horz" wrap="square" lIns="0" tIns="147955" rIns="0" bIns="0" rtlCol="0">
            <a:spAutoFit/>
          </a:bodyPr>
          <a:lstStyle/>
          <a:p>
            <a:pPr marL="311785" indent="-287020">
              <a:lnSpc>
                <a:spcPct val="100000"/>
              </a:lnSpc>
              <a:spcBef>
                <a:spcPts val="1165"/>
              </a:spcBef>
              <a:buClr>
                <a:srgbClr val="1CACE3"/>
              </a:buClr>
              <a:buFont typeface="Arial MT"/>
              <a:buChar char="•"/>
              <a:tabLst>
                <a:tab pos="311785" algn="l"/>
              </a:tabLst>
            </a:pPr>
            <a:r>
              <a:rPr dirty="0"/>
              <a:t>Seaborn</a:t>
            </a:r>
            <a:r>
              <a:rPr spc="-70" dirty="0"/>
              <a:t> </a:t>
            </a:r>
            <a:r>
              <a:rPr dirty="0"/>
              <a:t>simplifies</a:t>
            </a:r>
            <a:r>
              <a:rPr spc="-70" dirty="0"/>
              <a:t> </a:t>
            </a:r>
            <a:r>
              <a:rPr dirty="0"/>
              <a:t>statistical</a:t>
            </a:r>
            <a:r>
              <a:rPr spc="-80" dirty="0"/>
              <a:t> </a:t>
            </a:r>
            <a:r>
              <a:rPr dirty="0"/>
              <a:t>data</a:t>
            </a:r>
            <a:r>
              <a:rPr spc="-65" dirty="0"/>
              <a:t> </a:t>
            </a:r>
            <a:r>
              <a:rPr spc="-10" dirty="0"/>
              <a:t>visualization</a:t>
            </a:r>
            <a:r>
              <a:rPr spc="-80" dirty="0"/>
              <a:t> </a:t>
            </a:r>
            <a:r>
              <a:rPr dirty="0"/>
              <a:t>in</a:t>
            </a:r>
            <a:r>
              <a:rPr spc="-65" dirty="0"/>
              <a:t> </a:t>
            </a:r>
            <a:r>
              <a:rPr spc="-10" dirty="0"/>
              <a:t>Python.</a:t>
            </a:r>
          </a:p>
          <a:p>
            <a:pPr marL="311150" marR="5080" indent="-287020">
              <a:lnSpc>
                <a:spcPts val="3020"/>
              </a:lnSpc>
              <a:spcBef>
                <a:spcPts val="1455"/>
              </a:spcBef>
              <a:buClr>
                <a:srgbClr val="1CACE3"/>
              </a:buClr>
              <a:buFont typeface="Arial MT"/>
              <a:buChar char="•"/>
              <a:tabLst>
                <a:tab pos="312420" algn="l"/>
              </a:tabLst>
            </a:pPr>
            <a:r>
              <a:rPr dirty="0"/>
              <a:t>Its</a:t>
            </a:r>
            <a:r>
              <a:rPr spc="-45" dirty="0"/>
              <a:t> </a:t>
            </a:r>
            <a:r>
              <a:rPr dirty="0"/>
              <a:t>ease</a:t>
            </a:r>
            <a:r>
              <a:rPr spc="-50" dirty="0"/>
              <a:t> </a:t>
            </a:r>
            <a:r>
              <a:rPr dirty="0"/>
              <a:t>of</a:t>
            </a:r>
            <a:r>
              <a:rPr spc="-40" dirty="0"/>
              <a:t> </a:t>
            </a:r>
            <a:r>
              <a:rPr dirty="0"/>
              <a:t>use</a:t>
            </a:r>
            <a:r>
              <a:rPr spc="-40" dirty="0"/>
              <a:t> </a:t>
            </a:r>
            <a:r>
              <a:rPr dirty="0"/>
              <a:t>and</a:t>
            </a:r>
            <a:r>
              <a:rPr spc="-55" dirty="0"/>
              <a:t> </a:t>
            </a:r>
            <a:r>
              <a:rPr spc="-10" dirty="0"/>
              <a:t>integration</a:t>
            </a:r>
            <a:r>
              <a:rPr spc="-30" dirty="0"/>
              <a:t> </a:t>
            </a:r>
            <a:r>
              <a:rPr dirty="0"/>
              <a:t>with</a:t>
            </a:r>
            <a:r>
              <a:rPr spc="-45" dirty="0"/>
              <a:t> </a:t>
            </a:r>
            <a:r>
              <a:rPr dirty="0"/>
              <a:t>Pandas</a:t>
            </a:r>
            <a:r>
              <a:rPr spc="-40" dirty="0"/>
              <a:t> </a:t>
            </a:r>
            <a:r>
              <a:rPr dirty="0"/>
              <a:t>make</a:t>
            </a:r>
            <a:r>
              <a:rPr spc="-50" dirty="0"/>
              <a:t> </a:t>
            </a:r>
            <a:r>
              <a:rPr dirty="0"/>
              <a:t>it</a:t>
            </a:r>
            <a:r>
              <a:rPr spc="-40" dirty="0"/>
              <a:t> </a:t>
            </a:r>
            <a:r>
              <a:rPr dirty="0"/>
              <a:t>ideal</a:t>
            </a:r>
            <a:r>
              <a:rPr spc="-55" dirty="0"/>
              <a:t> </a:t>
            </a:r>
            <a:r>
              <a:rPr dirty="0"/>
              <a:t>for</a:t>
            </a:r>
            <a:r>
              <a:rPr spc="-40" dirty="0"/>
              <a:t> </a:t>
            </a:r>
            <a:r>
              <a:rPr spc="-20" dirty="0"/>
              <a:t>data 	</a:t>
            </a:r>
            <a:r>
              <a:rPr spc="-10" dirty="0"/>
              <a:t>scientists.</a:t>
            </a:r>
          </a:p>
          <a:p>
            <a:pPr marL="24765">
              <a:lnSpc>
                <a:spcPct val="100000"/>
              </a:lnSpc>
              <a:spcBef>
                <a:spcPts val="1020"/>
              </a:spcBef>
            </a:pPr>
            <a:r>
              <a:rPr b="1" dirty="0">
                <a:latin typeface="Cambria"/>
                <a:cs typeface="Cambria"/>
              </a:rPr>
              <a:t>Explore</a:t>
            </a:r>
            <a:r>
              <a:rPr b="1" spc="-100" dirty="0">
                <a:latin typeface="Cambria"/>
                <a:cs typeface="Cambria"/>
              </a:rPr>
              <a:t> </a:t>
            </a:r>
            <a:r>
              <a:rPr b="1" dirty="0">
                <a:latin typeface="Cambria"/>
                <a:cs typeface="Cambria"/>
              </a:rPr>
              <a:t>more</a:t>
            </a:r>
            <a:r>
              <a:rPr b="1" spc="-90" dirty="0">
                <a:latin typeface="Cambria"/>
                <a:cs typeface="Cambria"/>
              </a:rPr>
              <a:t> </a:t>
            </a:r>
            <a:r>
              <a:rPr b="1" dirty="0">
                <a:latin typeface="Cambria"/>
                <a:cs typeface="Cambria"/>
              </a:rPr>
              <a:t>at:</a:t>
            </a:r>
            <a:r>
              <a:rPr b="1" spc="-95" dirty="0">
                <a:latin typeface="Cambria"/>
                <a:cs typeface="Cambria"/>
              </a:rPr>
              <a:t> </a:t>
            </a:r>
            <a:r>
              <a:rPr u="sng" dirty="0">
                <a:solidFill>
                  <a:srgbClr val="6DAC1C"/>
                </a:solidFill>
                <a:uFill>
                  <a:solidFill>
                    <a:srgbClr val="6DAC1C"/>
                  </a:solidFill>
                </a:uFill>
                <a:hlinkClick r:id="rId2"/>
              </a:rPr>
              <a:t>Seaborn</a:t>
            </a:r>
            <a:r>
              <a:rPr u="sng" spc="-100" dirty="0">
                <a:solidFill>
                  <a:srgbClr val="6DAC1C"/>
                </a:solidFill>
                <a:uFill>
                  <a:solidFill>
                    <a:srgbClr val="6DAC1C"/>
                  </a:solidFill>
                </a:uFill>
                <a:hlinkClick r:id="rId2"/>
              </a:rPr>
              <a:t> </a:t>
            </a:r>
            <a:r>
              <a:rPr u="sng" spc="-10" dirty="0">
                <a:solidFill>
                  <a:srgbClr val="6DAC1C"/>
                </a:solidFill>
                <a:uFill>
                  <a:solidFill>
                    <a:srgbClr val="6DAC1C"/>
                  </a:solidFill>
                </a:uFill>
                <a:hlinkClick r:id="rId2"/>
              </a:rPr>
              <a:t>Documentation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180459" y="2994482"/>
            <a:ext cx="4326255" cy="848994"/>
          </a:xfrm>
          <a:prstGeom prst="rect">
            <a:avLst/>
          </a:prstGeom>
        </p:spPr>
        <p:txBody>
          <a:bodyPr vert="horz" wrap="square" lIns="0" tIns="12700" rIns="0" bIns="0" rtlCol="0">
            <a:spAutoFit/>
          </a:bodyPr>
          <a:lstStyle/>
          <a:p>
            <a:pPr marL="12700">
              <a:lnSpc>
                <a:spcPct val="100000"/>
              </a:lnSpc>
              <a:spcBef>
                <a:spcPts val="100"/>
              </a:spcBef>
            </a:pPr>
            <a:r>
              <a:rPr sz="5400" dirty="0"/>
              <a:t>Thank</a:t>
            </a:r>
            <a:r>
              <a:rPr sz="5400" spc="-110" dirty="0"/>
              <a:t> </a:t>
            </a:r>
            <a:r>
              <a:rPr sz="5400" spc="-80" dirty="0"/>
              <a:t>You!</a:t>
            </a:r>
            <a:r>
              <a:rPr sz="5400" spc="-110" dirty="0"/>
              <a:t> </a:t>
            </a:r>
            <a:r>
              <a:rPr sz="5400" b="0" spc="-50" dirty="0">
                <a:latin typeface="Wingdings"/>
                <a:cs typeface="Wingdings"/>
              </a:rPr>
              <a:t></a:t>
            </a:r>
            <a:endParaRPr sz="5400" dirty="0">
              <a:latin typeface="Wingdings"/>
              <a:cs typeface="Wingdings"/>
            </a:endParaRPr>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955"/>
              </a:lnSpc>
            </a:pPr>
            <a:r>
              <a:rPr dirty="0"/>
              <a:t>NIELIT</a:t>
            </a:r>
            <a:r>
              <a:rPr spc="-30" dirty="0"/>
              <a:t> </a:t>
            </a:r>
            <a:r>
              <a:rPr spc="-10" dirty="0"/>
              <a:t>CHANDIGARH</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100"/>
              </a:lnSpc>
            </a:pPr>
            <a:fld id="{81D60167-4931-47E6-BA6A-407CBD079E47}" type="slidenum">
              <a:rPr spc="-25" dirty="0"/>
              <a:t>47</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DAC1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1521</TotalTime>
  <Words>3774</Words>
  <Application>Microsoft Office PowerPoint</Application>
  <PresentationFormat>Widescreen</PresentationFormat>
  <Paragraphs>435</Paragraphs>
  <Slides>47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Arial MT</vt:lpstr>
      <vt:lpstr>Calibri</vt:lpstr>
      <vt:lpstr>Cambria</vt:lpstr>
      <vt:lpstr>Consolas</vt:lpstr>
      <vt:lpstr>Courier New</vt:lpstr>
      <vt:lpstr>Wingdings</vt:lpstr>
      <vt:lpstr>Office Theme</vt:lpstr>
      <vt:lpstr>PowerPoint Presentation</vt:lpstr>
      <vt:lpstr>Introduction to Matplotlib</vt:lpstr>
      <vt:lpstr>Key Features</vt:lpstr>
      <vt:lpstr>Installing Matplotlib</vt:lpstr>
      <vt:lpstr>Common Plot Types</vt:lpstr>
      <vt:lpstr>Line Plot (Visualizes trends over time or sequences.)</vt:lpstr>
      <vt:lpstr>Bar Chart</vt:lpstr>
      <vt:lpstr>Bar Chart (Compares categorical data.)</vt:lpstr>
      <vt:lpstr>Histogram</vt:lpstr>
      <vt:lpstr>Preparing Canvas </vt:lpstr>
      <vt:lpstr>3. Layer the Plots on the Same Axis</vt:lpstr>
      <vt:lpstr>4. Canvas Padding &amp; Margin Control</vt:lpstr>
      <vt:lpstr>5. Axis Padding &amp; Styling</vt:lpstr>
      <vt:lpstr>canvas</vt:lpstr>
      <vt:lpstr>2. Fully Parameterized Canvas Creation</vt:lpstr>
      <vt:lpstr>Scatter Plot</vt:lpstr>
      <vt:lpstr>Customizing Plots</vt:lpstr>
      <vt:lpstr>Advanced Features</vt:lpstr>
      <vt:lpstr>Advanced Formatting &amp; Exporting</vt:lpstr>
      <vt:lpstr>Pie Charts</vt:lpstr>
      <vt:lpstr>Box Plots for Distribution</vt:lpstr>
      <vt:lpstr>Outlier Detection</vt:lpstr>
      <vt:lpstr>Outlier Detection</vt:lpstr>
      <vt:lpstr>PowerPoint Presentation</vt:lpstr>
      <vt:lpstr>The Anatomy of a Box Plot</vt:lpstr>
      <vt:lpstr>PowerPoint Presentation</vt:lpstr>
      <vt:lpstr>PowerPoint Presentation</vt:lpstr>
      <vt:lpstr>Pandas + NumPy + Matplotlib</vt:lpstr>
      <vt:lpstr>PowerPoint Presentation</vt:lpstr>
      <vt:lpstr>PowerPoint Presentation</vt:lpstr>
      <vt:lpstr>Saving Plots</vt:lpstr>
      <vt:lpstr>Best Practices &amp; Conclusion</vt:lpstr>
      <vt:lpstr>Introduction to Seaborn</vt:lpstr>
      <vt:lpstr>Key Features</vt:lpstr>
      <vt:lpstr>Basic Workflow</vt:lpstr>
      <vt:lpstr>Common Plot Types</vt:lpstr>
      <vt:lpstr>2. Pair Plot</vt:lpstr>
      <vt:lpstr>3. Heatmap</vt:lpstr>
      <vt:lpstr>Heatmap example 2</vt:lpstr>
      <vt:lpstr>4. Box Plot</vt:lpstr>
      <vt:lpstr>Box Plot Example 2</vt:lpstr>
      <vt:lpstr>Customizing Seaborn Plots</vt:lpstr>
      <vt:lpstr>Advanced Features</vt:lpstr>
      <vt:lpstr>When to Use Seaborn?</vt:lpstr>
      <vt:lpstr>Limitations &amp; Best Practices</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Anita Budhiraja</dc:creator>
  <cp:lastModifiedBy>imjunior471@gmail.com</cp:lastModifiedBy>
  <cp:revision>19</cp:revision>
  <cp:lastPrinted>2026-06-23T08:35:13Z</cp:lastPrinted>
  <dcterms:created xsi:type="dcterms:W3CDTF">2026-06-16T16:45:34Z</dcterms:created>
  <dcterms:modified xsi:type="dcterms:W3CDTF">2026-07-08T14:12:04Z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2025-03-05T00:00:00Z</vt:filetime>
  </property>
  <property fmtid="{D5CDD505-2E9C-101B-9397-08002B2CF9AE}" pid="4" name="Creator">
    <vt:lpwstr>Microsoft® PowerPoint® for Microsoft 365</vt:lpwstr>
  </property>
  <property fmtid="{D5CDD505-2E9C-101B-9397-08002B2CF9AE}" pid="5" name="LastSaved">
    <vt:filetime>2026-06-16T00:00:00Z</vt:filetime>
  </property>
  <property fmtid="{D5CDD505-2E9C-101B-9397-08002B2CF9AE}" pid="6" name="Producer">
    <vt:lpwstr>Microsoft® PowerPoint® for Microsoft 365</vt:lpwstr>
  </property>
</Properties>
</file>